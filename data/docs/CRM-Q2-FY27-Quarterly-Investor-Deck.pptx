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13.pn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07350" y="2304669"/>
            <a:ext cx="3211322" cy="2248407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040116" y="4942459"/>
            <a:ext cx="506856" cy="513334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68183" y="4875910"/>
            <a:ext cx="241300" cy="244348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473440" y="4569333"/>
            <a:ext cx="109093" cy="110489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472928" y="2036064"/>
            <a:ext cx="109093" cy="110489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925682" y="1737360"/>
            <a:ext cx="371982" cy="376682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05921" y="2275585"/>
            <a:ext cx="207645" cy="210185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339387" y="3906621"/>
            <a:ext cx="1070341" cy="107058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6293" y="1709801"/>
            <a:ext cx="3596004" cy="23869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022C5F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60960">
              <a:lnSpc>
                <a:spcPct val="100000"/>
              </a:lnSpc>
              <a:spcBef>
                <a:spcPts val="90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CEE9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022C5F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60960">
              <a:lnSpc>
                <a:spcPct val="100000"/>
              </a:lnSpc>
              <a:spcBef>
                <a:spcPts val="90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022C5F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60960">
              <a:lnSpc>
                <a:spcPct val="100000"/>
              </a:lnSpc>
              <a:spcBef>
                <a:spcPts val="90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033252" y="565404"/>
            <a:ext cx="635634" cy="445008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8993" y="598296"/>
            <a:ext cx="4358894" cy="5651372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4304064"/>
            <a:ext cx="1116702" cy="1292033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1148461" y="2862579"/>
            <a:ext cx="2807335" cy="2264410"/>
          </a:xfrm>
          <a:custGeom>
            <a:avLst/>
            <a:gdLst/>
            <a:ahLst/>
            <a:cxnLst/>
            <a:rect l="l" t="t" r="r" b="b"/>
            <a:pathLst>
              <a:path w="2807335" h="2264410">
                <a:moveTo>
                  <a:pt x="1803146" y="2119249"/>
                </a:moveTo>
                <a:lnTo>
                  <a:pt x="1795754" y="2073275"/>
                </a:lnTo>
                <a:lnTo>
                  <a:pt x="1775167" y="2033460"/>
                </a:lnTo>
                <a:lnTo>
                  <a:pt x="1743773" y="2002066"/>
                </a:lnTo>
                <a:lnTo>
                  <a:pt x="1703959" y="1981479"/>
                </a:lnTo>
                <a:lnTo>
                  <a:pt x="1658112" y="1974088"/>
                </a:lnTo>
                <a:lnTo>
                  <a:pt x="145034" y="1974088"/>
                </a:lnTo>
                <a:lnTo>
                  <a:pt x="99174" y="1981479"/>
                </a:lnTo>
                <a:lnTo>
                  <a:pt x="59359" y="2002066"/>
                </a:lnTo>
                <a:lnTo>
                  <a:pt x="27965" y="2033460"/>
                </a:lnTo>
                <a:lnTo>
                  <a:pt x="7378" y="2073275"/>
                </a:lnTo>
                <a:lnTo>
                  <a:pt x="0" y="2119249"/>
                </a:lnTo>
                <a:lnTo>
                  <a:pt x="7378" y="2165108"/>
                </a:lnTo>
                <a:lnTo>
                  <a:pt x="27965" y="2204923"/>
                </a:lnTo>
                <a:lnTo>
                  <a:pt x="59359" y="2236317"/>
                </a:lnTo>
                <a:lnTo>
                  <a:pt x="99174" y="2256904"/>
                </a:lnTo>
                <a:lnTo>
                  <a:pt x="145034" y="2264283"/>
                </a:lnTo>
                <a:lnTo>
                  <a:pt x="1658112" y="2264283"/>
                </a:lnTo>
                <a:lnTo>
                  <a:pt x="1703959" y="2256904"/>
                </a:lnTo>
                <a:lnTo>
                  <a:pt x="1743773" y="2236317"/>
                </a:lnTo>
                <a:lnTo>
                  <a:pt x="1775167" y="2204923"/>
                </a:lnTo>
                <a:lnTo>
                  <a:pt x="1795754" y="2165108"/>
                </a:lnTo>
                <a:lnTo>
                  <a:pt x="1803146" y="2119249"/>
                </a:lnTo>
                <a:close/>
              </a:path>
              <a:path w="2807335" h="2264410">
                <a:moveTo>
                  <a:pt x="1803146" y="178054"/>
                </a:moveTo>
                <a:lnTo>
                  <a:pt x="1796770" y="130733"/>
                </a:lnTo>
                <a:lnTo>
                  <a:pt x="1778825" y="88214"/>
                </a:lnTo>
                <a:lnTo>
                  <a:pt x="1750974" y="52171"/>
                </a:lnTo>
                <a:lnTo>
                  <a:pt x="1714931" y="24320"/>
                </a:lnTo>
                <a:lnTo>
                  <a:pt x="1672412" y="6375"/>
                </a:lnTo>
                <a:lnTo>
                  <a:pt x="1625092" y="0"/>
                </a:lnTo>
                <a:lnTo>
                  <a:pt x="178054" y="0"/>
                </a:lnTo>
                <a:lnTo>
                  <a:pt x="130721" y="6375"/>
                </a:lnTo>
                <a:lnTo>
                  <a:pt x="88201" y="24320"/>
                </a:lnTo>
                <a:lnTo>
                  <a:pt x="52158" y="52171"/>
                </a:lnTo>
                <a:lnTo>
                  <a:pt x="24307" y="88214"/>
                </a:lnTo>
                <a:lnTo>
                  <a:pt x="6362" y="130733"/>
                </a:lnTo>
                <a:lnTo>
                  <a:pt x="0" y="178054"/>
                </a:lnTo>
                <a:lnTo>
                  <a:pt x="0" y="1625092"/>
                </a:lnTo>
                <a:lnTo>
                  <a:pt x="6362" y="1672424"/>
                </a:lnTo>
                <a:lnTo>
                  <a:pt x="24307" y="1714944"/>
                </a:lnTo>
                <a:lnTo>
                  <a:pt x="52158" y="1750987"/>
                </a:lnTo>
                <a:lnTo>
                  <a:pt x="88201" y="1778838"/>
                </a:lnTo>
                <a:lnTo>
                  <a:pt x="130721" y="1796783"/>
                </a:lnTo>
                <a:lnTo>
                  <a:pt x="178054" y="1803146"/>
                </a:lnTo>
                <a:lnTo>
                  <a:pt x="1625092" y="1803146"/>
                </a:lnTo>
                <a:lnTo>
                  <a:pt x="1672412" y="1796783"/>
                </a:lnTo>
                <a:lnTo>
                  <a:pt x="1714931" y="1778838"/>
                </a:lnTo>
                <a:lnTo>
                  <a:pt x="1750974" y="1750987"/>
                </a:lnTo>
                <a:lnTo>
                  <a:pt x="1778825" y="1714944"/>
                </a:lnTo>
                <a:lnTo>
                  <a:pt x="1796770" y="1672424"/>
                </a:lnTo>
                <a:lnTo>
                  <a:pt x="1803146" y="1625092"/>
                </a:lnTo>
                <a:lnTo>
                  <a:pt x="1803146" y="178054"/>
                </a:lnTo>
                <a:close/>
              </a:path>
              <a:path w="2807335" h="2264410">
                <a:moveTo>
                  <a:pt x="2807208" y="1164717"/>
                </a:moveTo>
                <a:lnTo>
                  <a:pt x="2802090" y="1120381"/>
                </a:lnTo>
                <a:lnTo>
                  <a:pt x="2787535" y="1079665"/>
                </a:lnTo>
                <a:lnTo>
                  <a:pt x="2764701" y="1043749"/>
                </a:lnTo>
                <a:lnTo>
                  <a:pt x="2734754" y="1013802"/>
                </a:lnTo>
                <a:lnTo>
                  <a:pt x="2698839" y="990968"/>
                </a:lnTo>
                <a:lnTo>
                  <a:pt x="2658122" y="976414"/>
                </a:lnTo>
                <a:lnTo>
                  <a:pt x="2613774" y="971296"/>
                </a:lnTo>
                <a:lnTo>
                  <a:pt x="2168893" y="971296"/>
                </a:lnTo>
                <a:lnTo>
                  <a:pt x="2124557" y="976414"/>
                </a:lnTo>
                <a:lnTo>
                  <a:pt x="2083841" y="990968"/>
                </a:lnTo>
                <a:lnTo>
                  <a:pt x="2047925" y="1013802"/>
                </a:lnTo>
                <a:lnTo>
                  <a:pt x="2017979" y="1043749"/>
                </a:lnTo>
                <a:lnTo>
                  <a:pt x="1995144" y="1079665"/>
                </a:lnTo>
                <a:lnTo>
                  <a:pt x="1980590" y="1120381"/>
                </a:lnTo>
                <a:lnTo>
                  <a:pt x="1975485" y="1164717"/>
                </a:lnTo>
                <a:lnTo>
                  <a:pt x="1975485" y="1609610"/>
                </a:lnTo>
                <a:lnTo>
                  <a:pt x="1980590" y="1653946"/>
                </a:lnTo>
                <a:lnTo>
                  <a:pt x="1995144" y="1694662"/>
                </a:lnTo>
                <a:lnTo>
                  <a:pt x="2017979" y="1730578"/>
                </a:lnTo>
                <a:lnTo>
                  <a:pt x="2047925" y="1760524"/>
                </a:lnTo>
                <a:lnTo>
                  <a:pt x="2083841" y="1783359"/>
                </a:lnTo>
                <a:lnTo>
                  <a:pt x="2124557" y="1797913"/>
                </a:lnTo>
                <a:lnTo>
                  <a:pt x="2168893" y="1803019"/>
                </a:lnTo>
                <a:lnTo>
                  <a:pt x="2613774" y="1803019"/>
                </a:lnTo>
                <a:lnTo>
                  <a:pt x="2658122" y="1797913"/>
                </a:lnTo>
                <a:lnTo>
                  <a:pt x="2698839" y="1783359"/>
                </a:lnTo>
                <a:lnTo>
                  <a:pt x="2734754" y="1760524"/>
                </a:lnTo>
                <a:lnTo>
                  <a:pt x="2764701" y="1730578"/>
                </a:lnTo>
                <a:lnTo>
                  <a:pt x="2787535" y="1694662"/>
                </a:lnTo>
                <a:lnTo>
                  <a:pt x="2802090" y="1653946"/>
                </a:lnTo>
                <a:lnTo>
                  <a:pt x="2807208" y="1609610"/>
                </a:lnTo>
                <a:lnTo>
                  <a:pt x="2807208" y="1164717"/>
                </a:lnTo>
                <a:close/>
              </a:path>
            </a:pathLst>
          </a:custGeom>
          <a:solidFill>
            <a:srgbClr val="0150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2053717" y="4062221"/>
            <a:ext cx="1634489" cy="398145"/>
          </a:xfrm>
          <a:custGeom>
            <a:avLst/>
            <a:gdLst/>
            <a:ahLst/>
            <a:cxnLst/>
            <a:rect l="l" t="t" r="r" b="b"/>
            <a:pathLst>
              <a:path w="1634489" h="398145">
                <a:moveTo>
                  <a:pt x="1495551" y="0"/>
                </a:moveTo>
                <a:lnTo>
                  <a:pt x="138429" y="0"/>
                </a:lnTo>
                <a:lnTo>
                  <a:pt x="94674" y="7057"/>
                </a:lnTo>
                <a:lnTo>
                  <a:pt x="56674" y="26708"/>
                </a:lnTo>
                <a:lnTo>
                  <a:pt x="26708" y="56674"/>
                </a:lnTo>
                <a:lnTo>
                  <a:pt x="7057" y="94675"/>
                </a:lnTo>
                <a:lnTo>
                  <a:pt x="0" y="138430"/>
                </a:lnTo>
                <a:lnTo>
                  <a:pt x="0" y="259715"/>
                </a:lnTo>
                <a:lnTo>
                  <a:pt x="7057" y="303470"/>
                </a:lnTo>
                <a:lnTo>
                  <a:pt x="26708" y="341470"/>
                </a:lnTo>
                <a:lnTo>
                  <a:pt x="56674" y="371436"/>
                </a:lnTo>
                <a:lnTo>
                  <a:pt x="94674" y="391087"/>
                </a:lnTo>
                <a:lnTo>
                  <a:pt x="138429" y="398144"/>
                </a:lnTo>
                <a:lnTo>
                  <a:pt x="1495551" y="398144"/>
                </a:lnTo>
                <a:lnTo>
                  <a:pt x="1539306" y="391087"/>
                </a:lnTo>
                <a:lnTo>
                  <a:pt x="1577307" y="371436"/>
                </a:lnTo>
                <a:lnTo>
                  <a:pt x="1607273" y="341470"/>
                </a:lnTo>
                <a:lnTo>
                  <a:pt x="1626924" y="303470"/>
                </a:lnTo>
                <a:lnTo>
                  <a:pt x="1633981" y="259715"/>
                </a:lnTo>
                <a:lnTo>
                  <a:pt x="1633981" y="138430"/>
                </a:lnTo>
                <a:lnTo>
                  <a:pt x="1626924" y="94675"/>
                </a:lnTo>
                <a:lnTo>
                  <a:pt x="1607273" y="56674"/>
                </a:lnTo>
                <a:lnTo>
                  <a:pt x="1577307" y="26708"/>
                </a:lnTo>
                <a:lnTo>
                  <a:pt x="1539306" y="7057"/>
                </a:lnTo>
                <a:lnTo>
                  <a:pt x="1495551" y="0"/>
                </a:lnTo>
                <a:close/>
              </a:path>
            </a:pathLst>
          </a:custGeom>
          <a:solidFill>
            <a:srgbClr val="F4F9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2053717" y="4062221"/>
            <a:ext cx="1634489" cy="398145"/>
          </a:xfrm>
          <a:custGeom>
            <a:avLst/>
            <a:gdLst/>
            <a:ahLst/>
            <a:cxnLst/>
            <a:rect l="l" t="t" r="r" b="b"/>
            <a:pathLst>
              <a:path w="1634489" h="398145">
                <a:moveTo>
                  <a:pt x="0" y="138430"/>
                </a:moveTo>
                <a:lnTo>
                  <a:pt x="7057" y="94675"/>
                </a:lnTo>
                <a:lnTo>
                  <a:pt x="26708" y="56674"/>
                </a:lnTo>
                <a:lnTo>
                  <a:pt x="56674" y="26708"/>
                </a:lnTo>
                <a:lnTo>
                  <a:pt x="94674" y="7057"/>
                </a:lnTo>
                <a:lnTo>
                  <a:pt x="138429" y="0"/>
                </a:lnTo>
                <a:lnTo>
                  <a:pt x="1495551" y="0"/>
                </a:lnTo>
                <a:lnTo>
                  <a:pt x="1539306" y="7057"/>
                </a:lnTo>
                <a:lnTo>
                  <a:pt x="1577307" y="26708"/>
                </a:lnTo>
                <a:lnTo>
                  <a:pt x="1607273" y="56674"/>
                </a:lnTo>
                <a:lnTo>
                  <a:pt x="1626924" y="94675"/>
                </a:lnTo>
                <a:lnTo>
                  <a:pt x="1633981" y="138430"/>
                </a:lnTo>
                <a:lnTo>
                  <a:pt x="1633981" y="259715"/>
                </a:lnTo>
                <a:lnTo>
                  <a:pt x="1626924" y="303470"/>
                </a:lnTo>
                <a:lnTo>
                  <a:pt x="1607273" y="341470"/>
                </a:lnTo>
                <a:lnTo>
                  <a:pt x="1577307" y="371436"/>
                </a:lnTo>
                <a:lnTo>
                  <a:pt x="1539306" y="391087"/>
                </a:lnTo>
                <a:lnTo>
                  <a:pt x="1495551" y="398144"/>
                </a:lnTo>
                <a:lnTo>
                  <a:pt x="138429" y="398144"/>
                </a:lnTo>
                <a:lnTo>
                  <a:pt x="94674" y="391087"/>
                </a:lnTo>
                <a:lnTo>
                  <a:pt x="56674" y="371436"/>
                </a:lnTo>
                <a:lnTo>
                  <a:pt x="26708" y="341470"/>
                </a:lnTo>
                <a:lnTo>
                  <a:pt x="7057" y="303470"/>
                </a:lnTo>
                <a:lnTo>
                  <a:pt x="0" y="259715"/>
                </a:lnTo>
                <a:lnTo>
                  <a:pt x="0" y="138430"/>
                </a:lnTo>
                <a:close/>
              </a:path>
            </a:pathLst>
          </a:custGeom>
          <a:ln w="9525">
            <a:solidFill>
              <a:srgbClr val="FFFE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2053717" y="4062984"/>
            <a:ext cx="1634489" cy="398145"/>
          </a:xfrm>
          <a:custGeom>
            <a:avLst/>
            <a:gdLst/>
            <a:ahLst/>
            <a:cxnLst/>
            <a:rect l="l" t="t" r="r" b="b"/>
            <a:pathLst>
              <a:path w="1634489" h="398145">
                <a:moveTo>
                  <a:pt x="1487931" y="0"/>
                </a:moveTo>
                <a:lnTo>
                  <a:pt x="146050" y="0"/>
                </a:lnTo>
                <a:lnTo>
                  <a:pt x="99893" y="7447"/>
                </a:lnTo>
                <a:lnTo>
                  <a:pt x="59801" y="28183"/>
                </a:lnTo>
                <a:lnTo>
                  <a:pt x="28183" y="59801"/>
                </a:lnTo>
                <a:lnTo>
                  <a:pt x="7447" y="99893"/>
                </a:lnTo>
                <a:lnTo>
                  <a:pt x="0" y="146050"/>
                </a:lnTo>
                <a:lnTo>
                  <a:pt x="0" y="252094"/>
                </a:lnTo>
                <a:lnTo>
                  <a:pt x="7447" y="298251"/>
                </a:lnTo>
                <a:lnTo>
                  <a:pt x="28183" y="338343"/>
                </a:lnTo>
                <a:lnTo>
                  <a:pt x="59801" y="369960"/>
                </a:lnTo>
                <a:lnTo>
                  <a:pt x="99893" y="390697"/>
                </a:lnTo>
                <a:lnTo>
                  <a:pt x="146050" y="398144"/>
                </a:lnTo>
                <a:lnTo>
                  <a:pt x="1487931" y="398144"/>
                </a:lnTo>
                <a:lnTo>
                  <a:pt x="1534088" y="390697"/>
                </a:lnTo>
                <a:lnTo>
                  <a:pt x="1574180" y="369960"/>
                </a:lnTo>
                <a:lnTo>
                  <a:pt x="1605798" y="338343"/>
                </a:lnTo>
                <a:lnTo>
                  <a:pt x="1626534" y="298251"/>
                </a:lnTo>
                <a:lnTo>
                  <a:pt x="1633981" y="252094"/>
                </a:lnTo>
                <a:lnTo>
                  <a:pt x="1633981" y="146050"/>
                </a:lnTo>
                <a:lnTo>
                  <a:pt x="1626534" y="99893"/>
                </a:lnTo>
                <a:lnTo>
                  <a:pt x="1605798" y="59801"/>
                </a:lnTo>
                <a:lnTo>
                  <a:pt x="1574180" y="28183"/>
                </a:lnTo>
                <a:lnTo>
                  <a:pt x="1534088" y="7447"/>
                </a:lnTo>
                <a:lnTo>
                  <a:pt x="1487931" y="0"/>
                </a:lnTo>
                <a:close/>
              </a:path>
            </a:pathLst>
          </a:custGeom>
          <a:solidFill>
            <a:srgbClr val="FFFEFE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2144522" y="4130294"/>
            <a:ext cx="262255" cy="262255"/>
          </a:xfrm>
          <a:custGeom>
            <a:avLst/>
            <a:gdLst/>
            <a:ahLst/>
            <a:cxnLst/>
            <a:rect l="l" t="t" r="r" b="b"/>
            <a:pathLst>
              <a:path w="262255" h="262254">
                <a:moveTo>
                  <a:pt x="130936" y="0"/>
                </a:moveTo>
                <a:lnTo>
                  <a:pt x="79992" y="10296"/>
                </a:lnTo>
                <a:lnTo>
                  <a:pt x="38369" y="38369"/>
                </a:lnTo>
                <a:lnTo>
                  <a:pt x="10296" y="79992"/>
                </a:lnTo>
                <a:lnTo>
                  <a:pt x="0" y="130936"/>
                </a:lnTo>
                <a:lnTo>
                  <a:pt x="10296" y="181881"/>
                </a:lnTo>
                <a:lnTo>
                  <a:pt x="38369" y="223504"/>
                </a:lnTo>
                <a:lnTo>
                  <a:pt x="79992" y="251577"/>
                </a:lnTo>
                <a:lnTo>
                  <a:pt x="130936" y="261873"/>
                </a:lnTo>
                <a:lnTo>
                  <a:pt x="181881" y="251577"/>
                </a:lnTo>
                <a:lnTo>
                  <a:pt x="223504" y="223504"/>
                </a:lnTo>
                <a:lnTo>
                  <a:pt x="251577" y="181881"/>
                </a:lnTo>
                <a:lnTo>
                  <a:pt x="261873" y="130936"/>
                </a:lnTo>
                <a:lnTo>
                  <a:pt x="251577" y="79992"/>
                </a:lnTo>
                <a:lnTo>
                  <a:pt x="223504" y="38369"/>
                </a:lnTo>
                <a:lnTo>
                  <a:pt x="181881" y="10296"/>
                </a:lnTo>
                <a:lnTo>
                  <a:pt x="130936" y="0"/>
                </a:lnTo>
                <a:close/>
              </a:path>
            </a:pathLst>
          </a:custGeom>
          <a:solidFill>
            <a:srgbClr val="FFFEFE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5" name="bg object 2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210054" y="4195698"/>
            <a:ext cx="130937" cy="130937"/>
          </a:xfrm>
          <a:prstGeom prst="rect">
            <a:avLst/>
          </a:prstGeom>
        </p:spPr>
      </p:pic>
      <p:sp>
        <p:nvSpPr>
          <p:cNvPr id="26" name="bg object 26"/>
          <p:cNvSpPr/>
          <p:nvPr/>
        </p:nvSpPr>
        <p:spPr>
          <a:xfrm>
            <a:off x="2476626" y="4130294"/>
            <a:ext cx="1144905" cy="262255"/>
          </a:xfrm>
          <a:custGeom>
            <a:avLst/>
            <a:gdLst/>
            <a:ahLst/>
            <a:cxnLst/>
            <a:rect l="l" t="t" r="r" b="b"/>
            <a:pathLst>
              <a:path w="1144904" h="262254">
                <a:moveTo>
                  <a:pt x="1062736" y="0"/>
                </a:moveTo>
                <a:lnTo>
                  <a:pt x="81788" y="0"/>
                </a:lnTo>
                <a:lnTo>
                  <a:pt x="49934" y="6421"/>
                </a:lnTo>
                <a:lnTo>
                  <a:pt x="23939" y="23939"/>
                </a:lnTo>
                <a:lnTo>
                  <a:pt x="6421" y="49934"/>
                </a:lnTo>
                <a:lnTo>
                  <a:pt x="0" y="81787"/>
                </a:lnTo>
                <a:lnTo>
                  <a:pt x="0" y="180085"/>
                </a:lnTo>
                <a:lnTo>
                  <a:pt x="6421" y="211939"/>
                </a:lnTo>
                <a:lnTo>
                  <a:pt x="23939" y="237934"/>
                </a:lnTo>
                <a:lnTo>
                  <a:pt x="49934" y="255452"/>
                </a:lnTo>
                <a:lnTo>
                  <a:pt x="81788" y="261873"/>
                </a:lnTo>
                <a:lnTo>
                  <a:pt x="1062736" y="261873"/>
                </a:lnTo>
                <a:lnTo>
                  <a:pt x="1094589" y="255452"/>
                </a:lnTo>
                <a:lnTo>
                  <a:pt x="1120584" y="237934"/>
                </a:lnTo>
                <a:lnTo>
                  <a:pt x="1138102" y="211939"/>
                </a:lnTo>
                <a:lnTo>
                  <a:pt x="1144524" y="180085"/>
                </a:lnTo>
                <a:lnTo>
                  <a:pt x="1144524" y="81787"/>
                </a:lnTo>
                <a:lnTo>
                  <a:pt x="1138102" y="49934"/>
                </a:lnTo>
                <a:lnTo>
                  <a:pt x="1120584" y="23939"/>
                </a:lnTo>
                <a:lnTo>
                  <a:pt x="1094589" y="6421"/>
                </a:lnTo>
                <a:lnTo>
                  <a:pt x="1062736" y="0"/>
                </a:lnTo>
                <a:close/>
              </a:path>
            </a:pathLst>
          </a:custGeom>
          <a:solidFill>
            <a:srgbClr val="FFFEFE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7" name="bg object 2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162506" y="2863011"/>
            <a:ext cx="792601" cy="792601"/>
          </a:xfrm>
          <a:prstGeom prst="rect">
            <a:avLst/>
          </a:prstGeom>
        </p:spPr>
      </p:pic>
      <p:sp>
        <p:nvSpPr>
          <p:cNvPr id="28" name="bg object 28"/>
          <p:cNvSpPr/>
          <p:nvPr/>
        </p:nvSpPr>
        <p:spPr>
          <a:xfrm>
            <a:off x="1199133" y="4881753"/>
            <a:ext cx="890905" cy="200025"/>
          </a:xfrm>
          <a:custGeom>
            <a:avLst/>
            <a:gdLst/>
            <a:ahLst/>
            <a:cxnLst/>
            <a:rect l="l" t="t" r="r" b="b"/>
            <a:pathLst>
              <a:path w="890905" h="200025">
                <a:moveTo>
                  <a:pt x="790574" y="0"/>
                </a:moveTo>
                <a:lnTo>
                  <a:pt x="99949" y="0"/>
                </a:lnTo>
                <a:lnTo>
                  <a:pt x="61079" y="7866"/>
                </a:lnTo>
                <a:lnTo>
                  <a:pt x="29305" y="29305"/>
                </a:lnTo>
                <a:lnTo>
                  <a:pt x="7866" y="61079"/>
                </a:lnTo>
                <a:lnTo>
                  <a:pt x="0" y="99949"/>
                </a:lnTo>
                <a:lnTo>
                  <a:pt x="7866" y="138818"/>
                </a:lnTo>
                <a:lnTo>
                  <a:pt x="29305" y="170592"/>
                </a:lnTo>
                <a:lnTo>
                  <a:pt x="61079" y="192031"/>
                </a:lnTo>
                <a:lnTo>
                  <a:pt x="99949" y="199897"/>
                </a:lnTo>
                <a:lnTo>
                  <a:pt x="790574" y="199897"/>
                </a:lnTo>
                <a:lnTo>
                  <a:pt x="829444" y="192031"/>
                </a:lnTo>
                <a:lnTo>
                  <a:pt x="861218" y="170592"/>
                </a:lnTo>
                <a:lnTo>
                  <a:pt x="882657" y="138818"/>
                </a:lnTo>
                <a:lnTo>
                  <a:pt x="890523" y="99949"/>
                </a:lnTo>
                <a:lnTo>
                  <a:pt x="882657" y="61079"/>
                </a:lnTo>
                <a:lnTo>
                  <a:pt x="861218" y="29305"/>
                </a:lnTo>
                <a:lnTo>
                  <a:pt x="829444" y="7866"/>
                </a:lnTo>
                <a:lnTo>
                  <a:pt x="790574" y="0"/>
                </a:lnTo>
                <a:close/>
              </a:path>
            </a:pathLst>
          </a:custGeom>
          <a:solidFill>
            <a:srgbClr val="066AFE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9" name="bg object 2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307463" y="1964054"/>
            <a:ext cx="392175" cy="398145"/>
          </a:xfrm>
          <a:prstGeom prst="rect">
            <a:avLst/>
          </a:prstGeom>
        </p:spPr>
      </p:pic>
      <p:pic>
        <p:nvPicPr>
          <p:cNvPr id="30" name="bg object 3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022982" y="1865112"/>
            <a:ext cx="226358" cy="261912"/>
          </a:xfrm>
          <a:prstGeom prst="rect">
            <a:avLst/>
          </a:prstGeom>
        </p:spPr>
      </p:pic>
      <p:pic>
        <p:nvPicPr>
          <p:cNvPr id="31" name="bg object 3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373505" y="4365625"/>
            <a:ext cx="196977" cy="199898"/>
          </a:xfrm>
          <a:prstGeom prst="rect">
            <a:avLst/>
          </a:prstGeom>
        </p:spPr>
      </p:pic>
      <p:sp>
        <p:nvSpPr>
          <p:cNvPr id="32" name="bg object 32"/>
          <p:cNvSpPr/>
          <p:nvPr/>
        </p:nvSpPr>
        <p:spPr>
          <a:xfrm>
            <a:off x="1084452" y="2614548"/>
            <a:ext cx="1007110" cy="1007110"/>
          </a:xfrm>
          <a:custGeom>
            <a:avLst/>
            <a:gdLst/>
            <a:ahLst/>
            <a:cxnLst/>
            <a:rect l="l" t="t" r="r" b="b"/>
            <a:pathLst>
              <a:path w="1007110" h="1007110">
                <a:moveTo>
                  <a:pt x="503428" y="0"/>
                </a:moveTo>
                <a:lnTo>
                  <a:pt x="454949" y="2304"/>
                </a:lnTo>
                <a:lnTo>
                  <a:pt x="407773" y="9078"/>
                </a:lnTo>
                <a:lnTo>
                  <a:pt x="362111" y="20110"/>
                </a:lnTo>
                <a:lnTo>
                  <a:pt x="318174" y="35189"/>
                </a:lnTo>
                <a:lnTo>
                  <a:pt x="276173" y="54103"/>
                </a:lnTo>
                <a:lnTo>
                  <a:pt x="236319" y="76642"/>
                </a:lnTo>
                <a:lnTo>
                  <a:pt x="198823" y="102595"/>
                </a:lnTo>
                <a:lnTo>
                  <a:pt x="163896" y="131750"/>
                </a:lnTo>
                <a:lnTo>
                  <a:pt x="131750" y="163896"/>
                </a:lnTo>
                <a:lnTo>
                  <a:pt x="102595" y="198823"/>
                </a:lnTo>
                <a:lnTo>
                  <a:pt x="76642" y="236319"/>
                </a:lnTo>
                <a:lnTo>
                  <a:pt x="54103" y="276173"/>
                </a:lnTo>
                <a:lnTo>
                  <a:pt x="35189" y="318174"/>
                </a:lnTo>
                <a:lnTo>
                  <a:pt x="20110" y="362112"/>
                </a:lnTo>
                <a:lnTo>
                  <a:pt x="9078" y="407774"/>
                </a:lnTo>
                <a:lnTo>
                  <a:pt x="2304" y="454949"/>
                </a:lnTo>
                <a:lnTo>
                  <a:pt x="0" y="503428"/>
                </a:lnTo>
                <a:lnTo>
                  <a:pt x="2304" y="551907"/>
                </a:lnTo>
                <a:lnTo>
                  <a:pt x="9078" y="599086"/>
                </a:lnTo>
                <a:lnTo>
                  <a:pt x="20110" y="644754"/>
                </a:lnTo>
                <a:lnTo>
                  <a:pt x="35189" y="688698"/>
                </a:lnTo>
                <a:lnTo>
                  <a:pt x="54103" y="730708"/>
                </a:lnTo>
                <a:lnTo>
                  <a:pt x="76642" y="770572"/>
                </a:lnTo>
                <a:lnTo>
                  <a:pt x="102595" y="808079"/>
                </a:lnTo>
                <a:lnTo>
                  <a:pt x="131750" y="843017"/>
                </a:lnTo>
                <a:lnTo>
                  <a:pt x="163896" y="875174"/>
                </a:lnTo>
                <a:lnTo>
                  <a:pt x="198823" y="904340"/>
                </a:lnTo>
                <a:lnTo>
                  <a:pt x="236319" y="930304"/>
                </a:lnTo>
                <a:lnTo>
                  <a:pt x="276173" y="952852"/>
                </a:lnTo>
                <a:lnTo>
                  <a:pt x="318174" y="971775"/>
                </a:lnTo>
                <a:lnTo>
                  <a:pt x="362111" y="986861"/>
                </a:lnTo>
                <a:lnTo>
                  <a:pt x="407773" y="997899"/>
                </a:lnTo>
                <a:lnTo>
                  <a:pt x="454949" y="1004676"/>
                </a:lnTo>
                <a:lnTo>
                  <a:pt x="503428" y="1006982"/>
                </a:lnTo>
                <a:lnTo>
                  <a:pt x="551907" y="1004676"/>
                </a:lnTo>
                <a:lnTo>
                  <a:pt x="599086" y="997899"/>
                </a:lnTo>
                <a:lnTo>
                  <a:pt x="644754" y="986861"/>
                </a:lnTo>
                <a:lnTo>
                  <a:pt x="688698" y="971775"/>
                </a:lnTo>
                <a:lnTo>
                  <a:pt x="730708" y="952852"/>
                </a:lnTo>
                <a:lnTo>
                  <a:pt x="770572" y="930304"/>
                </a:lnTo>
                <a:lnTo>
                  <a:pt x="808079" y="904340"/>
                </a:lnTo>
                <a:lnTo>
                  <a:pt x="843016" y="875174"/>
                </a:lnTo>
                <a:lnTo>
                  <a:pt x="875174" y="843017"/>
                </a:lnTo>
                <a:lnTo>
                  <a:pt x="904340" y="808079"/>
                </a:lnTo>
                <a:lnTo>
                  <a:pt x="930303" y="770572"/>
                </a:lnTo>
                <a:lnTo>
                  <a:pt x="952852" y="730708"/>
                </a:lnTo>
                <a:lnTo>
                  <a:pt x="971775" y="688698"/>
                </a:lnTo>
                <a:lnTo>
                  <a:pt x="986861" y="644754"/>
                </a:lnTo>
                <a:lnTo>
                  <a:pt x="997899" y="599086"/>
                </a:lnTo>
                <a:lnTo>
                  <a:pt x="1004676" y="551907"/>
                </a:lnTo>
                <a:lnTo>
                  <a:pt x="1006982" y="503428"/>
                </a:lnTo>
                <a:lnTo>
                  <a:pt x="1004676" y="454949"/>
                </a:lnTo>
                <a:lnTo>
                  <a:pt x="997899" y="407774"/>
                </a:lnTo>
                <a:lnTo>
                  <a:pt x="986861" y="362112"/>
                </a:lnTo>
                <a:lnTo>
                  <a:pt x="971775" y="318174"/>
                </a:lnTo>
                <a:lnTo>
                  <a:pt x="952852" y="276173"/>
                </a:lnTo>
                <a:lnTo>
                  <a:pt x="930303" y="236319"/>
                </a:lnTo>
                <a:lnTo>
                  <a:pt x="904340" y="198823"/>
                </a:lnTo>
                <a:lnTo>
                  <a:pt x="875174" y="163896"/>
                </a:lnTo>
                <a:lnTo>
                  <a:pt x="843016" y="131750"/>
                </a:lnTo>
                <a:lnTo>
                  <a:pt x="808079" y="102595"/>
                </a:lnTo>
                <a:lnTo>
                  <a:pt x="770572" y="76642"/>
                </a:lnTo>
                <a:lnTo>
                  <a:pt x="730708" y="54103"/>
                </a:lnTo>
                <a:lnTo>
                  <a:pt x="688698" y="35189"/>
                </a:lnTo>
                <a:lnTo>
                  <a:pt x="644754" y="20110"/>
                </a:lnTo>
                <a:lnTo>
                  <a:pt x="599086" y="9078"/>
                </a:lnTo>
                <a:lnTo>
                  <a:pt x="551907" y="2304"/>
                </a:lnTo>
                <a:lnTo>
                  <a:pt x="503428" y="0"/>
                </a:lnTo>
                <a:close/>
              </a:path>
            </a:pathLst>
          </a:custGeom>
          <a:solidFill>
            <a:srgbClr val="FFFEFE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3" name="bg object 3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29447" y="1921162"/>
            <a:ext cx="1854478" cy="1968446"/>
          </a:xfrm>
          <a:prstGeom prst="rect">
            <a:avLst/>
          </a:prstGeom>
        </p:spPr>
      </p:pic>
      <p:pic>
        <p:nvPicPr>
          <p:cNvPr id="34" name="bg object 3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230879" y="3486911"/>
            <a:ext cx="694944" cy="75590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022C5F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60960">
              <a:lnSpc>
                <a:spcPct val="100000"/>
              </a:lnSpc>
              <a:spcBef>
                <a:spcPts val="90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60960">
              <a:lnSpc>
                <a:spcPct val="100000"/>
              </a:lnSpc>
              <a:spcBef>
                <a:spcPts val="90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12444" y="374269"/>
            <a:ext cx="11167110" cy="10680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022C5F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98016" y="3285109"/>
            <a:ext cx="9334500" cy="20707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1443589" y="6584950"/>
            <a:ext cx="243840" cy="188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60960">
              <a:lnSpc>
                <a:spcPct val="100000"/>
              </a:lnSpc>
              <a:spcBef>
                <a:spcPts val="90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Relationship Id="rId10" Type="http://schemas.openxmlformats.org/officeDocument/2006/relationships/image" Target="../media/image27.png"/><Relationship Id="rId11" Type="http://schemas.openxmlformats.org/officeDocument/2006/relationships/image" Target="../media/image28.png"/><Relationship Id="rId12" Type="http://schemas.openxmlformats.org/officeDocument/2006/relationships/image" Target="../media/image29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0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36.png"/><Relationship Id="rId8" Type="http://schemas.openxmlformats.org/officeDocument/2006/relationships/image" Target="../media/image37.png"/><Relationship Id="rId9" Type="http://schemas.openxmlformats.org/officeDocument/2006/relationships/image" Target="../media/image38.png"/><Relationship Id="rId10" Type="http://schemas.openxmlformats.org/officeDocument/2006/relationships/image" Target="../media/image39.png"/><Relationship Id="rId11" Type="http://schemas.openxmlformats.org/officeDocument/2006/relationships/image" Target="../media/image40.png"/><Relationship Id="rId12" Type="http://schemas.openxmlformats.org/officeDocument/2006/relationships/image" Target="../media/image41.png"/><Relationship Id="rId13" Type="http://schemas.openxmlformats.org/officeDocument/2006/relationships/image" Target="../media/image42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43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4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47.png"/><Relationship Id="rId7" Type="http://schemas.openxmlformats.org/officeDocument/2006/relationships/image" Target="../media/image2.png"/><Relationship Id="rId8" Type="http://schemas.openxmlformats.org/officeDocument/2006/relationships/image" Target="../media/image48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Relationship Id="rId3" Type="http://schemas.openxmlformats.org/officeDocument/2006/relationships/image" Target="../media/image49.jp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Relationship Id="rId3" Type="http://schemas.openxmlformats.org/officeDocument/2006/relationships/image" Target="../media/image50.jp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51.pn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42.png"/><Relationship Id="rId4" Type="http://schemas.openxmlformats.org/officeDocument/2006/relationships/image" Target="../media/image36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52.png"/><Relationship Id="rId8" Type="http://schemas.openxmlformats.org/officeDocument/2006/relationships/image" Target="../media/image34.png"/><Relationship Id="rId9" Type="http://schemas.openxmlformats.org/officeDocument/2006/relationships/image" Target="../media/image35.png"/><Relationship Id="rId10" Type="http://schemas.openxmlformats.org/officeDocument/2006/relationships/image" Target="../media/image37.png"/><Relationship Id="rId11" Type="http://schemas.openxmlformats.org/officeDocument/2006/relationships/image" Target="../media/image32.png"/><Relationship Id="rId12" Type="http://schemas.openxmlformats.org/officeDocument/2006/relationships/image" Target="../media/image33.png"/><Relationship Id="rId13" Type="http://schemas.openxmlformats.org/officeDocument/2006/relationships/image" Target="../media/image51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Relationship Id="rId6" Type="http://schemas.openxmlformats.org/officeDocument/2006/relationships/image" Target="../media/image57.png"/><Relationship Id="rId7" Type="http://schemas.openxmlformats.org/officeDocument/2006/relationships/image" Target="../media/image58.png"/><Relationship Id="rId8" Type="http://schemas.openxmlformats.org/officeDocument/2006/relationships/image" Target="../media/image59.png"/><Relationship Id="rId9" Type="http://schemas.openxmlformats.org/officeDocument/2006/relationships/image" Target="../media/image60.png"/><Relationship Id="rId10" Type="http://schemas.openxmlformats.org/officeDocument/2006/relationships/image" Target="../media/image61.png"/><Relationship Id="rId11" Type="http://schemas.openxmlformats.org/officeDocument/2006/relationships/image" Target="../media/image62.png"/><Relationship Id="rId12" Type="http://schemas.openxmlformats.org/officeDocument/2006/relationships/image" Target="../media/image63.png"/><Relationship Id="rId13" Type="http://schemas.openxmlformats.org/officeDocument/2006/relationships/image" Target="../media/image64.png"/><Relationship Id="rId14" Type="http://schemas.openxmlformats.org/officeDocument/2006/relationships/image" Target="../media/image65.png"/><Relationship Id="rId15" Type="http://schemas.openxmlformats.org/officeDocument/2006/relationships/image" Target="../media/image66.png"/><Relationship Id="rId16" Type="http://schemas.openxmlformats.org/officeDocument/2006/relationships/image" Target="../media/image67.png"/><Relationship Id="rId17" Type="http://schemas.openxmlformats.org/officeDocument/2006/relationships/image" Target="../media/image68.png"/><Relationship Id="rId18" Type="http://schemas.openxmlformats.org/officeDocument/2006/relationships/image" Target="../media/image69.png"/><Relationship Id="rId19" Type="http://schemas.openxmlformats.org/officeDocument/2006/relationships/image" Target="../media/image70.png"/><Relationship Id="rId20" Type="http://schemas.openxmlformats.org/officeDocument/2006/relationships/image" Target="../media/image71.png"/><Relationship Id="rId21" Type="http://schemas.openxmlformats.org/officeDocument/2006/relationships/image" Target="../media/image72.png"/><Relationship Id="rId22" Type="http://schemas.openxmlformats.org/officeDocument/2006/relationships/image" Target="../media/image73.png"/><Relationship Id="rId23" Type="http://schemas.openxmlformats.org/officeDocument/2006/relationships/image" Target="../media/image74.png"/><Relationship Id="rId24" Type="http://schemas.openxmlformats.org/officeDocument/2006/relationships/image" Target="../media/image75.png"/><Relationship Id="rId25" Type="http://schemas.openxmlformats.org/officeDocument/2006/relationships/image" Target="../media/image76.png"/><Relationship Id="rId26" Type="http://schemas.openxmlformats.org/officeDocument/2006/relationships/image" Target="../media/image77.png"/><Relationship Id="rId27" Type="http://schemas.openxmlformats.org/officeDocument/2006/relationships/image" Target="../media/image78.png"/><Relationship Id="rId28" Type="http://schemas.openxmlformats.org/officeDocument/2006/relationships/image" Target="../media/image79.png"/><Relationship Id="rId29" Type="http://schemas.openxmlformats.org/officeDocument/2006/relationships/image" Target="../media/image80.png"/><Relationship Id="rId30" Type="http://schemas.openxmlformats.org/officeDocument/2006/relationships/image" Target="../media/image81.png"/><Relationship Id="rId31" Type="http://schemas.openxmlformats.org/officeDocument/2006/relationships/image" Target="../media/image82.png"/><Relationship Id="rId32" Type="http://schemas.openxmlformats.org/officeDocument/2006/relationships/image" Target="../media/image83.png"/><Relationship Id="rId33" Type="http://schemas.openxmlformats.org/officeDocument/2006/relationships/image" Target="../media/image84.png"/><Relationship Id="rId34" Type="http://schemas.openxmlformats.org/officeDocument/2006/relationships/image" Target="../media/image85.png"/><Relationship Id="rId35" Type="http://schemas.openxmlformats.org/officeDocument/2006/relationships/image" Target="../media/image86.png"/><Relationship Id="rId36" Type="http://schemas.openxmlformats.org/officeDocument/2006/relationships/image" Target="../media/image87.png"/><Relationship Id="rId37" Type="http://schemas.openxmlformats.org/officeDocument/2006/relationships/image" Target="../media/image88.png"/><Relationship Id="rId38" Type="http://schemas.openxmlformats.org/officeDocument/2006/relationships/image" Target="../media/image89.png"/><Relationship Id="rId39" Type="http://schemas.openxmlformats.org/officeDocument/2006/relationships/image" Target="../media/image90.png"/><Relationship Id="rId40" Type="http://schemas.openxmlformats.org/officeDocument/2006/relationships/image" Target="../media/image91.png"/><Relationship Id="rId41" Type="http://schemas.openxmlformats.org/officeDocument/2006/relationships/image" Target="../media/image92.png"/><Relationship Id="rId42" Type="http://schemas.openxmlformats.org/officeDocument/2006/relationships/image" Target="../media/image93.png"/><Relationship Id="rId43" Type="http://schemas.openxmlformats.org/officeDocument/2006/relationships/image" Target="../media/image94.png"/><Relationship Id="rId44" Type="http://schemas.openxmlformats.org/officeDocument/2006/relationships/image" Target="../media/image95.png"/><Relationship Id="rId45" Type="http://schemas.openxmlformats.org/officeDocument/2006/relationships/image" Target="../media/image96.png"/><Relationship Id="rId46" Type="http://schemas.openxmlformats.org/officeDocument/2006/relationships/image" Target="../media/image97.png"/><Relationship Id="rId47" Type="http://schemas.openxmlformats.org/officeDocument/2006/relationships/image" Target="../media/image98.png"/><Relationship Id="rId48" Type="http://schemas.openxmlformats.org/officeDocument/2006/relationships/image" Target="../media/image99.png"/><Relationship Id="rId49" Type="http://schemas.openxmlformats.org/officeDocument/2006/relationships/image" Target="../media/image100.png"/><Relationship Id="rId50" Type="http://schemas.openxmlformats.org/officeDocument/2006/relationships/image" Target="../media/image101.png"/><Relationship Id="rId51" Type="http://schemas.openxmlformats.org/officeDocument/2006/relationships/image" Target="../media/image102.png"/><Relationship Id="rId52" Type="http://schemas.openxmlformats.org/officeDocument/2006/relationships/image" Target="../media/image103.png"/><Relationship Id="rId53" Type="http://schemas.openxmlformats.org/officeDocument/2006/relationships/image" Target="../media/image104.png"/><Relationship Id="rId54" Type="http://schemas.openxmlformats.org/officeDocument/2006/relationships/image" Target="../media/image105.png"/><Relationship Id="rId55" Type="http://schemas.openxmlformats.org/officeDocument/2006/relationships/image" Target="../media/image106.png"/><Relationship Id="rId56" Type="http://schemas.openxmlformats.org/officeDocument/2006/relationships/image" Target="../media/image107.png"/><Relationship Id="rId57" Type="http://schemas.openxmlformats.org/officeDocument/2006/relationships/image" Target="../media/image108.png"/><Relationship Id="rId58" Type="http://schemas.openxmlformats.org/officeDocument/2006/relationships/image" Target="../media/image109.png"/><Relationship Id="rId59" Type="http://schemas.openxmlformats.org/officeDocument/2006/relationships/image" Target="../media/image110.png"/><Relationship Id="rId60" Type="http://schemas.openxmlformats.org/officeDocument/2006/relationships/image" Target="../media/image111.png"/><Relationship Id="rId61" Type="http://schemas.openxmlformats.org/officeDocument/2006/relationships/image" Target="../media/image112.png"/><Relationship Id="rId62" Type="http://schemas.openxmlformats.org/officeDocument/2006/relationships/image" Target="../media/image113.png"/><Relationship Id="rId63" Type="http://schemas.openxmlformats.org/officeDocument/2006/relationships/image" Target="../media/image114.png"/><Relationship Id="rId64" Type="http://schemas.openxmlformats.org/officeDocument/2006/relationships/image" Target="../media/image115.png"/><Relationship Id="rId65" Type="http://schemas.openxmlformats.org/officeDocument/2006/relationships/image" Target="../media/image116.png"/><Relationship Id="rId66" Type="http://schemas.openxmlformats.org/officeDocument/2006/relationships/image" Target="../media/image117.png"/><Relationship Id="rId67" Type="http://schemas.openxmlformats.org/officeDocument/2006/relationships/image" Target="../media/image118.png"/><Relationship Id="rId68" Type="http://schemas.openxmlformats.org/officeDocument/2006/relationships/image" Target="../media/image119.png"/><Relationship Id="rId69" Type="http://schemas.openxmlformats.org/officeDocument/2006/relationships/image" Target="../media/image120.png"/><Relationship Id="rId70" Type="http://schemas.openxmlformats.org/officeDocument/2006/relationships/image" Target="../media/image121.png"/><Relationship Id="rId71" Type="http://schemas.openxmlformats.org/officeDocument/2006/relationships/image" Target="../media/image122.png"/><Relationship Id="rId72" Type="http://schemas.openxmlformats.org/officeDocument/2006/relationships/image" Target="../media/image123.png"/><Relationship Id="rId73" Type="http://schemas.openxmlformats.org/officeDocument/2006/relationships/image" Target="../media/image124.png"/><Relationship Id="rId74" Type="http://schemas.openxmlformats.org/officeDocument/2006/relationships/image" Target="../media/image125.png"/><Relationship Id="rId75" Type="http://schemas.openxmlformats.org/officeDocument/2006/relationships/image" Target="../media/image126.png"/><Relationship Id="rId76" Type="http://schemas.openxmlformats.org/officeDocument/2006/relationships/image" Target="../media/image127.png"/><Relationship Id="rId77" Type="http://schemas.openxmlformats.org/officeDocument/2006/relationships/image" Target="../media/image128.png"/><Relationship Id="rId78" Type="http://schemas.openxmlformats.org/officeDocument/2006/relationships/image" Target="../media/image129.png"/><Relationship Id="rId79" Type="http://schemas.openxmlformats.org/officeDocument/2006/relationships/image" Target="../media/image130.png"/><Relationship Id="rId80" Type="http://schemas.openxmlformats.org/officeDocument/2006/relationships/image" Target="../media/image131.png"/><Relationship Id="rId81" Type="http://schemas.openxmlformats.org/officeDocument/2006/relationships/image" Target="../media/image132.png"/><Relationship Id="rId82" Type="http://schemas.openxmlformats.org/officeDocument/2006/relationships/image" Target="../media/image133.png"/><Relationship Id="rId83" Type="http://schemas.openxmlformats.org/officeDocument/2006/relationships/image" Target="../media/image134.png"/><Relationship Id="rId84" Type="http://schemas.openxmlformats.org/officeDocument/2006/relationships/image" Target="../media/image135.png"/><Relationship Id="rId85" Type="http://schemas.openxmlformats.org/officeDocument/2006/relationships/image" Target="../media/image136.png"/><Relationship Id="rId86" Type="http://schemas.openxmlformats.org/officeDocument/2006/relationships/image" Target="../media/image137.png"/><Relationship Id="rId87" Type="http://schemas.openxmlformats.org/officeDocument/2006/relationships/image" Target="../media/image138.png"/><Relationship Id="rId88" Type="http://schemas.openxmlformats.org/officeDocument/2006/relationships/image" Target="../media/image139.png"/><Relationship Id="rId89" Type="http://schemas.openxmlformats.org/officeDocument/2006/relationships/image" Target="../media/image140.png"/><Relationship Id="rId90" Type="http://schemas.openxmlformats.org/officeDocument/2006/relationships/image" Target="../media/image141.png"/><Relationship Id="rId91" Type="http://schemas.openxmlformats.org/officeDocument/2006/relationships/image" Target="../media/image142.png"/><Relationship Id="rId92" Type="http://schemas.openxmlformats.org/officeDocument/2006/relationships/image" Target="../media/image143.png"/><Relationship Id="rId93" Type="http://schemas.openxmlformats.org/officeDocument/2006/relationships/image" Target="../media/image144.png"/><Relationship Id="rId94" Type="http://schemas.openxmlformats.org/officeDocument/2006/relationships/image" Target="../media/image145.png"/><Relationship Id="rId95" Type="http://schemas.openxmlformats.org/officeDocument/2006/relationships/image" Target="../media/image146.png"/><Relationship Id="rId96" Type="http://schemas.openxmlformats.org/officeDocument/2006/relationships/image" Target="../media/image147.png"/><Relationship Id="rId97" Type="http://schemas.openxmlformats.org/officeDocument/2006/relationships/image" Target="../media/image148.png"/><Relationship Id="rId98" Type="http://schemas.openxmlformats.org/officeDocument/2006/relationships/image" Target="../media/image149.png"/><Relationship Id="rId99" Type="http://schemas.openxmlformats.org/officeDocument/2006/relationships/image" Target="../media/image150.png"/><Relationship Id="rId100" Type="http://schemas.openxmlformats.org/officeDocument/2006/relationships/image" Target="../media/image151.png"/><Relationship Id="rId101" Type="http://schemas.openxmlformats.org/officeDocument/2006/relationships/image" Target="../media/image152.png"/><Relationship Id="rId102" Type="http://schemas.openxmlformats.org/officeDocument/2006/relationships/image" Target="../media/image153.png"/><Relationship Id="rId103" Type="http://schemas.openxmlformats.org/officeDocument/2006/relationships/image" Target="../media/image154.png"/><Relationship Id="rId104" Type="http://schemas.openxmlformats.org/officeDocument/2006/relationships/image" Target="../media/image155.png"/><Relationship Id="rId105" Type="http://schemas.openxmlformats.org/officeDocument/2006/relationships/image" Target="../media/image156.png"/><Relationship Id="rId106" Type="http://schemas.openxmlformats.org/officeDocument/2006/relationships/image" Target="../media/image157.png"/><Relationship Id="rId107" Type="http://schemas.openxmlformats.org/officeDocument/2006/relationships/image" Target="../media/image158.png"/><Relationship Id="rId108" Type="http://schemas.openxmlformats.org/officeDocument/2006/relationships/image" Target="../media/image159.png"/><Relationship Id="rId109" Type="http://schemas.openxmlformats.org/officeDocument/2006/relationships/image" Target="../media/image160.png"/><Relationship Id="rId110" Type="http://schemas.openxmlformats.org/officeDocument/2006/relationships/image" Target="../media/image161.png"/><Relationship Id="rId111" Type="http://schemas.openxmlformats.org/officeDocument/2006/relationships/image" Target="../media/image162.png"/><Relationship Id="rId112" Type="http://schemas.openxmlformats.org/officeDocument/2006/relationships/image" Target="../media/image163.png"/><Relationship Id="rId113" Type="http://schemas.openxmlformats.org/officeDocument/2006/relationships/image" Target="../media/image164.png"/><Relationship Id="rId114" Type="http://schemas.openxmlformats.org/officeDocument/2006/relationships/image" Target="../media/image165.png"/><Relationship Id="rId115" Type="http://schemas.openxmlformats.org/officeDocument/2006/relationships/image" Target="../media/image166.png"/><Relationship Id="rId116" Type="http://schemas.openxmlformats.org/officeDocument/2006/relationships/image" Target="../media/image167.png"/><Relationship Id="rId117" Type="http://schemas.openxmlformats.org/officeDocument/2006/relationships/image" Target="../media/image168.png"/><Relationship Id="rId118" Type="http://schemas.openxmlformats.org/officeDocument/2006/relationships/image" Target="../media/image169.png"/><Relationship Id="rId119" Type="http://schemas.openxmlformats.org/officeDocument/2006/relationships/image" Target="../media/image170.png"/><Relationship Id="rId120" Type="http://schemas.openxmlformats.org/officeDocument/2006/relationships/image" Target="../media/image171.png"/><Relationship Id="rId121" Type="http://schemas.openxmlformats.org/officeDocument/2006/relationships/image" Target="../media/image172.png"/><Relationship Id="rId122" Type="http://schemas.openxmlformats.org/officeDocument/2006/relationships/image" Target="../media/image173.png"/><Relationship Id="rId123" Type="http://schemas.openxmlformats.org/officeDocument/2006/relationships/image" Target="../media/image174.png"/><Relationship Id="rId124" Type="http://schemas.openxmlformats.org/officeDocument/2006/relationships/image" Target="../media/image175.png"/><Relationship Id="rId125" Type="http://schemas.openxmlformats.org/officeDocument/2006/relationships/image" Target="../media/image176.png"/><Relationship Id="rId126" Type="http://schemas.openxmlformats.org/officeDocument/2006/relationships/image" Target="../media/image177.png"/><Relationship Id="rId127" Type="http://schemas.openxmlformats.org/officeDocument/2006/relationships/image" Target="../media/image178.png"/><Relationship Id="rId128" Type="http://schemas.openxmlformats.org/officeDocument/2006/relationships/image" Target="../media/image179.png"/><Relationship Id="rId129" Type="http://schemas.openxmlformats.org/officeDocument/2006/relationships/image" Target="../media/image180.png"/><Relationship Id="rId130" Type="http://schemas.openxmlformats.org/officeDocument/2006/relationships/image" Target="../media/image181.png"/><Relationship Id="rId131" Type="http://schemas.openxmlformats.org/officeDocument/2006/relationships/image" Target="../media/image182.png"/><Relationship Id="rId132" Type="http://schemas.openxmlformats.org/officeDocument/2006/relationships/image" Target="../media/image183.png"/><Relationship Id="rId133" Type="http://schemas.openxmlformats.org/officeDocument/2006/relationships/image" Target="../media/image184.png"/><Relationship Id="rId134" Type="http://schemas.openxmlformats.org/officeDocument/2006/relationships/image" Target="../media/image185.png"/><Relationship Id="rId135" Type="http://schemas.openxmlformats.org/officeDocument/2006/relationships/image" Target="../media/image186.png"/><Relationship Id="rId136" Type="http://schemas.openxmlformats.org/officeDocument/2006/relationships/image" Target="../media/image187.png"/><Relationship Id="rId137" Type="http://schemas.openxmlformats.org/officeDocument/2006/relationships/image" Target="../media/image188.png"/><Relationship Id="rId138" Type="http://schemas.openxmlformats.org/officeDocument/2006/relationships/image" Target="../media/image189.png"/><Relationship Id="rId139" Type="http://schemas.openxmlformats.org/officeDocument/2006/relationships/image" Target="../media/image190.png"/><Relationship Id="rId140" Type="http://schemas.openxmlformats.org/officeDocument/2006/relationships/image" Target="../media/image191.png"/><Relationship Id="rId141" Type="http://schemas.openxmlformats.org/officeDocument/2006/relationships/image" Target="../media/image192.png"/><Relationship Id="rId142" Type="http://schemas.openxmlformats.org/officeDocument/2006/relationships/image" Target="../media/image193.png"/><Relationship Id="rId143" Type="http://schemas.openxmlformats.org/officeDocument/2006/relationships/image" Target="../media/image194.png"/><Relationship Id="rId144" Type="http://schemas.openxmlformats.org/officeDocument/2006/relationships/image" Target="../media/image195.png"/><Relationship Id="rId145" Type="http://schemas.openxmlformats.org/officeDocument/2006/relationships/image" Target="../media/image196.png"/><Relationship Id="rId146" Type="http://schemas.openxmlformats.org/officeDocument/2006/relationships/image" Target="../media/image197.png"/><Relationship Id="rId147" Type="http://schemas.openxmlformats.org/officeDocument/2006/relationships/image" Target="../media/image198.png"/><Relationship Id="rId148" Type="http://schemas.openxmlformats.org/officeDocument/2006/relationships/image" Target="../media/image199.png"/><Relationship Id="rId149" Type="http://schemas.openxmlformats.org/officeDocument/2006/relationships/image" Target="../media/image200.png"/><Relationship Id="rId150" Type="http://schemas.openxmlformats.org/officeDocument/2006/relationships/image" Target="../media/image201.png"/><Relationship Id="rId151" Type="http://schemas.openxmlformats.org/officeDocument/2006/relationships/image" Target="../media/image202.png"/><Relationship Id="rId152" Type="http://schemas.openxmlformats.org/officeDocument/2006/relationships/image" Target="../media/image203.png"/><Relationship Id="rId153" Type="http://schemas.openxmlformats.org/officeDocument/2006/relationships/image" Target="../media/image204.png"/><Relationship Id="rId154" Type="http://schemas.openxmlformats.org/officeDocument/2006/relationships/image" Target="../media/image205.png"/><Relationship Id="rId155" Type="http://schemas.openxmlformats.org/officeDocument/2006/relationships/image" Target="../media/image206.png"/><Relationship Id="rId156" Type="http://schemas.openxmlformats.org/officeDocument/2006/relationships/image" Target="../media/image207.pn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09220" rIns="0" bIns="0" rtlCol="0" vert="horz">
            <a:spAutoFit/>
          </a:bodyPr>
          <a:lstStyle/>
          <a:p>
            <a:pPr marL="12700" marR="5080">
              <a:lnSpc>
                <a:spcPts val="6050"/>
              </a:lnSpc>
              <a:spcBef>
                <a:spcPts val="860"/>
              </a:spcBef>
            </a:pPr>
            <a:r>
              <a:rPr dirty="0" sz="5600" spc="-30">
                <a:solidFill>
                  <a:srgbClr val="FFFFFF"/>
                </a:solidFill>
              </a:rPr>
              <a:t>Salesforce </a:t>
            </a:r>
            <a:r>
              <a:rPr dirty="0" sz="5600" spc="170">
                <a:solidFill>
                  <a:srgbClr val="FFFFFF"/>
                </a:solidFill>
              </a:rPr>
              <a:t>Q2</a:t>
            </a:r>
            <a:r>
              <a:rPr dirty="0" sz="5600" spc="15">
                <a:solidFill>
                  <a:srgbClr val="FFFFFF"/>
                </a:solidFill>
              </a:rPr>
              <a:t> </a:t>
            </a:r>
            <a:r>
              <a:rPr dirty="0" sz="5600" spc="-285">
                <a:solidFill>
                  <a:srgbClr val="FFFFFF"/>
                </a:solidFill>
              </a:rPr>
              <a:t>FY27</a:t>
            </a:r>
            <a:endParaRPr sz="5600"/>
          </a:p>
          <a:p>
            <a:pPr marL="12700">
              <a:lnSpc>
                <a:spcPts val="5730"/>
              </a:lnSpc>
            </a:pPr>
            <a:r>
              <a:rPr dirty="0" sz="5600" spc="-55">
                <a:solidFill>
                  <a:srgbClr val="FFFFFF"/>
                </a:solidFill>
              </a:rPr>
              <a:t>Earnings</a:t>
            </a:r>
            <a:endParaRPr sz="5600"/>
          </a:p>
        </p:txBody>
      </p:sp>
      <p:sp>
        <p:nvSpPr>
          <p:cNvPr id="2" name="object 2"/>
          <p:cNvSpPr txBox="1"/>
          <p:nvPr/>
        </p:nvSpPr>
        <p:spPr>
          <a:xfrm>
            <a:off x="566293" y="4260596"/>
            <a:ext cx="24212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70" b="1">
                <a:solidFill>
                  <a:srgbClr val="FFFFFF"/>
                </a:solidFill>
                <a:latin typeface="Tahoma"/>
                <a:cs typeface="Tahoma"/>
              </a:rPr>
              <a:t>August</a:t>
            </a:r>
            <a:r>
              <a:rPr dirty="0" sz="2400" spc="-10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-35" b="1">
                <a:solidFill>
                  <a:srgbClr val="FFFFFF"/>
                </a:solidFill>
                <a:latin typeface="Tahoma"/>
                <a:cs typeface="Tahoma"/>
              </a:rPr>
              <a:t>26,</a:t>
            </a:r>
            <a:r>
              <a:rPr dirty="0" sz="2400" spc="-10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-40" b="1">
                <a:solidFill>
                  <a:srgbClr val="FFFFFF"/>
                </a:solidFill>
                <a:latin typeface="Tahoma"/>
                <a:cs typeface="Tahoma"/>
              </a:rPr>
              <a:t>2026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66293" y="2783459"/>
            <a:ext cx="3573779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10"/>
              <a:t>Introduction</a:t>
            </a:r>
            <a:endParaRPr sz="4800"/>
          </a:p>
        </p:txBody>
      </p:sp>
      <p:sp>
        <p:nvSpPr>
          <p:cNvPr id="4" name="object 4"/>
          <p:cNvSpPr txBox="1"/>
          <p:nvPr/>
        </p:nvSpPr>
        <p:spPr>
          <a:xfrm>
            <a:off x="566293" y="3656901"/>
            <a:ext cx="6226175" cy="801370"/>
          </a:xfrm>
          <a:prstGeom prst="rect">
            <a:avLst/>
          </a:prstGeom>
        </p:spPr>
        <p:txBody>
          <a:bodyPr wrap="square" lIns="0" tIns="546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dirty="0" sz="2600" spc="-25" b="1">
                <a:solidFill>
                  <a:srgbClr val="022C5F"/>
                </a:solidFill>
                <a:latin typeface="Tahoma"/>
                <a:cs typeface="Tahoma"/>
              </a:rPr>
              <a:t>Mark</a:t>
            </a:r>
            <a:r>
              <a:rPr dirty="0" sz="2600" spc="-160" b="1">
                <a:solidFill>
                  <a:srgbClr val="022C5F"/>
                </a:solidFill>
                <a:latin typeface="Tahoma"/>
                <a:cs typeface="Tahoma"/>
              </a:rPr>
              <a:t> </a:t>
            </a:r>
            <a:r>
              <a:rPr dirty="0" sz="2600" spc="-10" b="1">
                <a:solidFill>
                  <a:srgbClr val="022C5F"/>
                </a:solidFill>
                <a:latin typeface="Tahoma"/>
                <a:cs typeface="Tahoma"/>
              </a:rPr>
              <a:t>Murphy</a:t>
            </a:r>
            <a:endParaRPr sz="2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 sz="2000" spc="-100">
                <a:solidFill>
                  <a:srgbClr val="022C5F"/>
                </a:solidFill>
                <a:latin typeface="Verdana"/>
                <a:cs typeface="Verdana"/>
              </a:rPr>
              <a:t>Executive</a:t>
            </a:r>
            <a:r>
              <a:rPr dirty="0" sz="2000" spc="-14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2000" spc="-65">
                <a:solidFill>
                  <a:srgbClr val="022C5F"/>
                </a:solidFill>
                <a:latin typeface="Verdana"/>
                <a:cs typeface="Verdana"/>
              </a:rPr>
              <a:t>Vice</a:t>
            </a:r>
            <a:r>
              <a:rPr dirty="0" sz="2000" spc="-1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2000" spc="-70">
                <a:solidFill>
                  <a:srgbClr val="022C5F"/>
                </a:solidFill>
                <a:latin typeface="Verdana"/>
                <a:cs typeface="Verdana"/>
              </a:rPr>
              <a:t>President</a:t>
            </a:r>
            <a:r>
              <a:rPr dirty="0" sz="2000" spc="-1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2000" spc="-30">
                <a:solidFill>
                  <a:srgbClr val="022C5F"/>
                </a:solidFill>
                <a:latin typeface="Verdana"/>
                <a:cs typeface="Verdana"/>
              </a:rPr>
              <a:t>of</a:t>
            </a:r>
            <a:r>
              <a:rPr dirty="0" sz="2000" spc="-1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2000" spc="-50">
                <a:solidFill>
                  <a:srgbClr val="022C5F"/>
                </a:solidFill>
                <a:latin typeface="Verdana"/>
                <a:cs typeface="Verdana"/>
              </a:rPr>
              <a:t>Global</a:t>
            </a:r>
            <a:r>
              <a:rPr dirty="0" sz="2000" spc="-1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2000" spc="-105">
                <a:solidFill>
                  <a:srgbClr val="022C5F"/>
                </a:solidFill>
                <a:latin typeface="Verdana"/>
                <a:cs typeface="Verdana"/>
              </a:rPr>
              <a:t>Investor</a:t>
            </a:r>
            <a:r>
              <a:rPr dirty="0" sz="2000" spc="-1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2000" spc="-45">
                <a:solidFill>
                  <a:srgbClr val="022C5F"/>
                </a:solidFill>
                <a:latin typeface="Verdana"/>
                <a:cs typeface="Verdana"/>
              </a:rPr>
              <a:t>Relations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60960">
              <a:lnSpc>
                <a:spcPct val="100000"/>
              </a:lnSpc>
              <a:spcBef>
                <a:spcPts val="90"/>
              </a:spcBef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33252" y="565404"/>
            <a:ext cx="635634" cy="445008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621030" y="1206500"/>
            <a:ext cx="11034395" cy="5320030"/>
          </a:xfrm>
          <a:custGeom>
            <a:avLst/>
            <a:gdLst/>
            <a:ahLst/>
            <a:cxnLst/>
            <a:rect l="l" t="t" r="r" b="b"/>
            <a:pathLst>
              <a:path w="11034395" h="5320030">
                <a:moveTo>
                  <a:pt x="10888726" y="0"/>
                </a:moveTo>
                <a:lnTo>
                  <a:pt x="145161" y="0"/>
                </a:lnTo>
                <a:lnTo>
                  <a:pt x="99291" y="7403"/>
                </a:lnTo>
                <a:lnTo>
                  <a:pt x="59445" y="28017"/>
                </a:lnTo>
                <a:lnTo>
                  <a:pt x="28017" y="59445"/>
                </a:lnTo>
                <a:lnTo>
                  <a:pt x="7403" y="99291"/>
                </a:lnTo>
                <a:lnTo>
                  <a:pt x="0" y="145160"/>
                </a:lnTo>
                <a:lnTo>
                  <a:pt x="0" y="5174615"/>
                </a:lnTo>
                <a:lnTo>
                  <a:pt x="7403" y="5220484"/>
                </a:lnTo>
                <a:lnTo>
                  <a:pt x="28017" y="5260330"/>
                </a:lnTo>
                <a:lnTo>
                  <a:pt x="59445" y="5291758"/>
                </a:lnTo>
                <a:lnTo>
                  <a:pt x="99291" y="5312372"/>
                </a:lnTo>
                <a:lnTo>
                  <a:pt x="145161" y="5319776"/>
                </a:lnTo>
                <a:lnTo>
                  <a:pt x="10888726" y="5319776"/>
                </a:lnTo>
                <a:lnTo>
                  <a:pt x="10934595" y="5312372"/>
                </a:lnTo>
                <a:lnTo>
                  <a:pt x="10974442" y="5291758"/>
                </a:lnTo>
                <a:lnTo>
                  <a:pt x="11005870" y="5260330"/>
                </a:lnTo>
                <a:lnTo>
                  <a:pt x="11026483" y="5220484"/>
                </a:lnTo>
                <a:lnTo>
                  <a:pt x="11033887" y="5174615"/>
                </a:lnTo>
                <a:lnTo>
                  <a:pt x="11033887" y="145160"/>
                </a:lnTo>
                <a:lnTo>
                  <a:pt x="11026483" y="99291"/>
                </a:lnTo>
                <a:lnTo>
                  <a:pt x="11005870" y="59445"/>
                </a:lnTo>
                <a:lnTo>
                  <a:pt x="10974442" y="28017"/>
                </a:lnTo>
                <a:lnTo>
                  <a:pt x="10934595" y="7403"/>
                </a:lnTo>
                <a:lnTo>
                  <a:pt x="1088872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4572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22C60"/>
                </a:solidFill>
              </a:rPr>
              <a:t>Safe</a:t>
            </a:r>
            <a:r>
              <a:rPr dirty="0" spc="-50">
                <a:solidFill>
                  <a:srgbClr val="022C60"/>
                </a:solidFill>
              </a:rPr>
              <a:t> </a:t>
            </a:r>
            <a:r>
              <a:rPr dirty="0">
                <a:solidFill>
                  <a:srgbClr val="022C60"/>
                </a:solidFill>
              </a:rPr>
              <a:t>Harbor</a:t>
            </a:r>
            <a:r>
              <a:rPr dirty="0" spc="-50">
                <a:solidFill>
                  <a:srgbClr val="022C60"/>
                </a:solidFill>
              </a:rPr>
              <a:t> </a:t>
            </a:r>
            <a:r>
              <a:rPr dirty="0">
                <a:solidFill>
                  <a:srgbClr val="022C60"/>
                </a:solidFill>
              </a:rPr>
              <a:t>&amp;</a:t>
            </a:r>
            <a:r>
              <a:rPr dirty="0" spc="-50">
                <a:solidFill>
                  <a:srgbClr val="022C60"/>
                </a:solidFill>
              </a:rPr>
              <a:t> </a:t>
            </a:r>
            <a:r>
              <a:rPr dirty="0" spc="100">
                <a:solidFill>
                  <a:srgbClr val="022C60"/>
                </a:solidFill>
              </a:rPr>
              <a:t>Non-</a:t>
            </a:r>
            <a:r>
              <a:rPr dirty="0">
                <a:solidFill>
                  <a:srgbClr val="022C60"/>
                </a:solidFill>
              </a:rPr>
              <a:t>GAAP</a:t>
            </a:r>
            <a:r>
              <a:rPr dirty="0" spc="-50">
                <a:solidFill>
                  <a:srgbClr val="022C60"/>
                </a:solidFill>
              </a:rPr>
              <a:t> </a:t>
            </a:r>
            <a:r>
              <a:rPr dirty="0">
                <a:solidFill>
                  <a:srgbClr val="022C60"/>
                </a:solidFill>
              </a:rPr>
              <a:t>Financial</a:t>
            </a:r>
            <a:r>
              <a:rPr dirty="0" spc="-50">
                <a:solidFill>
                  <a:srgbClr val="022C60"/>
                </a:solidFill>
              </a:rPr>
              <a:t> </a:t>
            </a:r>
            <a:r>
              <a:rPr dirty="0" spc="-10">
                <a:solidFill>
                  <a:srgbClr val="022C60"/>
                </a:solidFill>
              </a:rPr>
              <a:t>Measures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39088" y="1643760"/>
            <a:ext cx="10467975" cy="438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"Safe </a:t>
            </a:r>
            <a:r>
              <a:rPr dirty="0" sz="1300" spc="-55">
                <a:solidFill>
                  <a:srgbClr val="013247"/>
                </a:solidFill>
                <a:latin typeface="Verdana"/>
                <a:cs typeface="Verdana"/>
              </a:rPr>
              <a:t>harbor"</a:t>
            </a:r>
            <a:r>
              <a:rPr dirty="0" sz="1300" spc="-7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60">
                <a:solidFill>
                  <a:srgbClr val="013247"/>
                </a:solidFill>
                <a:latin typeface="Verdana"/>
                <a:cs typeface="Verdana"/>
              </a:rPr>
              <a:t>statement</a:t>
            </a:r>
            <a:r>
              <a:rPr dirty="0" sz="1300" spc="-7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45">
                <a:solidFill>
                  <a:srgbClr val="013247"/>
                </a:solidFill>
                <a:latin typeface="Verdana"/>
                <a:cs typeface="Verdana"/>
              </a:rPr>
              <a:t>under</a:t>
            </a:r>
            <a:r>
              <a:rPr dirty="0" sz="1300" spc="-7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50">
                <a:solidFill>
                  <a:srgbClr val="013247"/>
                </a:solidFill>
                <a:latin typeface="Verdana"/>
                <a:cs typeface="Verdana"/>
              </a:rPr>
              <a:t>the</a:t>
            </a:r>
            <a:r>
              <a:rPr dirty="0" sz="1300" spc="-7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70">
                <a:solidFill>
                  <a:srgbClr val="013247"/>
                </a:solidFill>
                <a:latin typeface="Verdana"/>
                <a:cs typeface="Verdana"/>
              </a:rPr>
              <a:t>Private</a:t>
            </a:r>
            <a:r>
              <a:rPr dirty="0" sz="1300" spc="-7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70">
                <a:solidFill>
                  <a:srgbClr val="013247"/>
                </a:solidFill>
                <a:latin typeface="Verdana"/>
                <a:cs typeface="Verdana"/>
              </a:rPr>
              <a:t>Securities</a:t>
            </a:r>
            <a:r>
              <a:rPr dirty="0" sz="1300" spc="-7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55">
                <a:solidFill>
                  <a:srgbClr val="013247"/>
                </a:solidFill>
                <a:latin typeface="Verdana"/>
                <a:cs typeface="Verdana"/>
              </a:rPr>
              <a:t>Litigation</a:t>
            </a:r>
            <a:r>
              <a:rPr dirty="0" sz="1300" spc="-7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55">
                <a:solidFill>
                  <a:srgbClr val="013247"/>
                </a:solidFill>
                <a:latin typeface="Verdana"/>
                <a:cs typeface="Verdana"/>
              </a:rPr>
              <a:t>Reform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45">
                <a:solidFill>
                  <a:srgbClr val="013247"/>
                </a:solidFill>
                <a:latin typeface="Verdana"/>
                <a:cs typeface="Verdana"/>
              </a:rPr>
              <a:t>Act</a:t>
            </a:r>
            <a:r>
              <a:rPr dirty="0" sz="1300" spc="-7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25">
                <a:solidFill>
                  <a:srgbClr val="013247"/>
                </a:solidFill>
                <a:latin typeface="Verdana"/>
                <a:cs typeface="Verdana"/>
              </a:rPr>
              <a:t>of</a:t>
            </a:r>
            <a:r>
              <a:rPr dirty="0" sz="1300" spc="-7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90">
                <a:solidFill>
                  <a:srgbClr val="013247"/>
                </a:solidFill>
                <a:latin typeface="Verdana"/>
                <a:cs typeface="Verdana"/>
              </a:rPr>
              <a:t>1995:</a:t>
            </a:r>
            <a:r>
              <a:rPr dirty="0" sz="1300" spc="-7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70">
                <a:solidFill>
                  <a:srgbClr val="013247"/>
                </a:solidFill>
                <a:latin typeface="Verdana"/>
                <a:cs typeface="Verdana"/>
              </a:rPr>
              <a:t>This</a:t>
            </a:r>
            <a:r>
              <a:rPr dirty="0" sz="1300" spc="-7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55">
                <a:solidFill>
                  <a:srgbClr val="013247"/>
                </a:solidFill>
                <a:latin typeface="Verdana"/>
                <a:cs typeface="Verdana"/>
              </a:rPr>
              <a:t>presentation</a:t>
            </a:r>
            <a:r>
              <a:rPr dirty="0" sz="1300" spc="-7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50">
                <a:solidFill>
                  <a:srgbClr val="013247"/>
                </a:solidFill>
                <a:latin typeface="Verdana"/>
                <a:cs typeface="Verdana"/>
              </a:rPr>
              <a:t>contains</a:t>
            </a:r>
            <a:r>
              <a:rPr dirty="0" sz="1300" spc="-7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70">
                <a:solidFill>
                  <a:srgbClr val="013247"/>
                </a:solidFill>
                <a:latin typeface="Verdana"/>
                <a:cs typeface="Verdana"/>
              </a:rPr>
              <a:t>forward-</a:t>
            </a:r>
            <a:r>
              <a:rPr dirty="0" sz="1300" spc="-10">
                <a:solidFill>
                  <a:srgbClr val="013247"/>
                </a:solidFill>
                <a:latin typeface="Verdana"/>
                <a:cs typeface="Verdana"/>
              </a:rPr>
              <a:t>looking </a:t>
            </a:r>
            <a:r>
              <a:rPr dirty="0" sz="1300" spc="-65">
                <a:solidFill>
                  <a:srgbClr val="013247"/>
                </a:solidFill>
                <a:latin typeface="Verdana"/>
                <a:cs typeface="Verdana"/>
              </a:rPr>
              <a:t>statements</a:t>
            </a:r>
            <a:r>
              <a:rPr dirty="0" sz="1300" spc="-8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40">
                <a:solidFill>
                  <a:srgbClr val="013247"/>
                </a:solidFill>
                <a:latin typeface="Verdana"/>
                <a:cs typeface="Verdana"/>
              </a:rPr>
              <a:t>about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50">
                <a:solidFill>
                  <a:srgbClr val="013247"/>
                </a:solidFill>
                <a:latin typeface="Verdana"/>
                <a:cs typeface="Verdana"/>
              </a:rPr>
              <a:t>the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65">
                <a:solidFill>
                  <a:srgbClr val="013247"/>
                </a:solidFill>
                <a:latin typeface="Verdana"/>
                <a:cs typeface="Verdana"/>
              </a:rPr>
              <a:t>Company’s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45">
                <a:solidFill>
                  <a:srgbClr val="013247"/>
                </a:solidFill>
                <a:latin typeface="Verdana"/>
                <a:cs typeface="Verdana"/>
              </a:rPr>
              <a:t>financial</a:t>
            </a:r>
            <a:r>
              <a:rPr dirty="0" sz="1300" spc="-8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45">
                <a:solidFill>
                  <a:srgbClr val="013247"/>
                </a:solidFill>
                <a:latin typeface="Verdana"/>
                <a:cs typeface="Verdana"/>
              </a:rPr>
              <a:t>and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55">
                <a:solidFill>
                  <a:srgbClr val="013247"/>
                </a:solidFill>
                <a:latin typeface="Verdana"/>
                <a:cs typeface="Verdana"/>
              </a:rPr>
              <a:t>operating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70">
                <a:solidFill>
                  <a:srgbClr val="013247"/>
                </a:solidFill>
                <a:latin typeface="Verdana"/>
                <a:cs typeface="Verdana"/>
              </a:rPr>
              <a:t>results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45">
                <a:solidFill>
                  <a:srgbClr val="013247"/>
                </a:solidFill>
                <a:latin typeface="Verdana"/>
                <a:cs typeface="Verdana"/>
              </a:rPr>
              <a:t>and</a:t>
            </a:r>
            <a:r>
              <a:rPr dirty="0" sz="1300" spc="-8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50">
                <a:solidFill>
                  <a:srgbClr val="013247"/>
                </a:solidFill>
                <a:latin typeface="Verdana"/>
                <a:cs typeface="Verdana"/>
              </a:rPr>
              <a:t>guidance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45">
                <a:solidFill>
                  <a:srgbClr val="013247"/>
                </a:solidFill>
                <a:latin typeface="Verdana"/>
                <a:cs typeface="Verdana"/>
              </a:rPr>
              <a:t>which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50">
                <a:solidFill>
                  <a:srgbClr val="013247"/>
                </a:solidFill>
                <a:latin typeface="Verdana"/>
                <a:cs typeface="Verdana"/>
              </a:rPr>
              <a:t>include,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40">
                <a:solidFill>
                  <a:srgbClr val="013247"/>
                </a:solidFill>
                <a:latin typeface="Verdana"/>
                <a:cs typeface="Verdana"/>
              </a:rPr>
              <a:t>but</a:t>
            </a:r>
            <a:r>
              <a:rPr dirty="0" sz="1300" spc="-8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70">
                <a:solidFill>
                  <a:srgbClr val="013247"/>
                </a:solidFill>
                <a:latin typeface="Verdana"/>
                <a:cs typeface="Verdana"/>
              </a:rPr>
              <a:t>are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35">
                <a:solidFill>
                  <a:srgbClr val="013247"/>
                </a:solidFill>
                <a:latin typeface="Verdana"/>
                <a:cs typeface="Verdana"/>
              </a:rPr>
              <a:t>not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40">
                <a:solidFill>
                  <a:srgbClr val="013247"/>
                </a:solidFill>
                <a:latin typeface="Verdana"/>
                <a:cs typeface="Verdana"/>
              </a:rPr>
              <a:t>limited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65">
                <a:solidFill>
                  <a:srgbClr val="013247"/>
                </a:solidFill>
                <a:latin typeface="Verdana"/>
                <a:cs typeface="Verdana"/>
              </a:rPr>
              <a:t>to,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50">
                <a:solidFill>
                  <a:srgbClr val="013247"/>
                </a:solidFill>
                <a:latin typeface="Verdana"/>
                <a:cs typeface="Verdana"/>
              </a:rPr>
              <a:t>expected</a:t>
            </a:r>
            <a:r>
              <a:rPr dirty="0" sz="1300" spc="-8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40">
                <a:solidFill>
                  <a:srgbClr val="013247"/>
                </a:solidFill>
                <a:latin typeface="Verdana"/>
                <a:cs typeface="Verdana"/>
              </a:rPr>
              <a:t>GAAP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25">
                <a:solidFill>
                  <a:srgbClr val="013247"/>
                </a:solidFill>
                <a:latin typeface="Verdana"/>
                <a:cs typeface="Verdana"/>
              </a:rPr>
              <a:t>and </a:t>
            </a:r>
            <a:r>
              <a:rPr dirty="0" sz="1300" spc="-70">
                <a:solidFill>
                  <a:srgbClr val="013247"/>
                </a:solidFill>
                <a:latin typeface="Verdana"/>
                <a:cs typeface="Verdana"/>
              </a:rPr>
              <a:t>non-</a:t>
            </a:r>
            <a:r>
              <a:rPr dirty="0" sz="1300" spc="-40">
                <a:solidFill>
                  <a:srgbClr val="013247"/>
                </a:solidFill>
                <a:latin typeface="Verdana"/>
                <a:cs typeface="Verdana"/>
              </a:rPr>
              <a:t>GAAP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45">
                <a:solidFill>
                  <a:srgbClr val="013247"/>
                </a:solidFill>
                <a:latin typeface="Verdana"/>
                <a:cs typeface="Verdana"/>
              </a:rPr>
              <a:t>financial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45">
                <a:solidFill>
                  <a:srgbClr val="013247"/>
                </a:solidFill>
                <a:latin typeface="Verdana"/>
                <a:cs typeface="Verdana"/>
              </a:rPr>
              <a:t>and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50">
                <a:solidFill>
                  <a:srgbClr val="013247"/>
                </a:solidFill>
                <a:latin typeface="Verdana"/>
                <a:cs typeface="Verdana"/>
              </a:rPr>
              <a:t>other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55">
                <a:solidFill>
                  <a:srgbClr val="013247"/>
                </a:solidFill>
                <a:latin typeface="Verdana"/>
                <a:cs typeface="Verdana"/>
              </a:rPr>
              <a:t>operating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45">
                <a:solidFill>
                  <a:srgbClr val="013247"/>
                </a:solidFill>
                <a:latin typeface="Verdana"/>
                <a:cs typeface="Verdana"/>
              </a:rPr>
              <a:t>and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70">
                <a:solidFill>
                  <a:srgbClr val="013247"/>
                </a:solidFill>
                <a:latin typeface="Verdana"/>
                <a:cs typeface="Verdana"/>
              </a:rPr>
              <a:t>non-</a:t>
            </a:r>
            <a:r>
              <a:rPr dirty="0" sz="1300" spc="-55">
                <a:solidFill>
                  <a:srgbClr val="013247"/>
                </a:solidFill>
                <a:latin typeface="Verdana"/>
                <a:cs typeface="Verdana"/>
              </a:rPr>
              <a:t>operating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results. </a:t>
            </a:r>
            <a:r>
              <a:rPr dirty="0" sz="1300" spc="-65">
                <a:solidFill>
                  <a:srgbClr val="013247"/>
                </a:solidFill>
                <a:latin typeface="Verdana"/>
                <a:cs typeface="Verdana"/>
              </a:rPr>
              <a:t>The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60">
                <a:solidFill>
                  <a:srgbClr val="013247"/>
                </a:solidFill>
                <a:latin typeface="Verdana"/>
                <a:cs typeface="Verdana"/>
              </a:rPr>
              <a:t>achievement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45">
                <a:solidFill>
                  <a:srgbClr val="013247"/>
                </a:solidFill>
                <a:latin typeface="Verdana"/>
                <a:cs typeface="Verdana"/>
              </a:rPr>
              <a:t>or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70">
                <a:solidFill>
                  <a:srgbClr val="013247"/>
                </a:solidFill>
                <a:latin typeface="Verdana"/>
                <a:cs typeface="Verdana"/>
              </a:rPr>
              <a:t>success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25">
                <a:solidFill>
                  <a:srgbClr val="013247"/>
                </a:solidFill>
                <a:latin typeface="Verdana"/>
                <a:cs typeface="Verdana"/>
              </a:rPr>
              <a:t>of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50">
                <a:solidFill>
                  <a:srgbClr val="013247"/>
                </a:solidFill>
                <a:latin typeface="Verdana"/>
                <a:cs typeface="Verdana"/>
              </a:rPr>
              <a:t>the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70">
                <a:solidFill>
                  <a:srgbClr val="013247"/>
                </a:solidFill>
                <a:latin typeface="Verdana"/>
                <a:cs typeface="Verdana"/>
              </a:rPr>
              <a:t>matters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60">
                <a:solidFill>
                  <a:srgbClr val="013247"/>
                </a:solidFill>
                <a:latin typeface="Verdana"/>
                <a:cs typeface="Verdana"/>
              </a:rPr>
              <a:t>covered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95">
                <a:solidFill>
                  <a:srgbClr val="013247"/>
                </a:solidFill>
                <a:latin typeface="Verdana"/>
                <a:cs typeface="Verdana"/>
              </a:rPr>
              <a:t>by </a:t>
            </a:r>
            <a:r>
              <a:rPr dirty="0" sz="1300" spc="-55">
                <a:solidFill>
                  <a:srgbClr val="013247"/>
                </a:solidFill>
                <a:latin typeface="Verdana"/>
                <a:cs typeface="Verdana"/>
              </a:rPr>
              <a:t>such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10">
                <a:solidFill>
                  <a:srgbClr val="013247"/>
                </a:solidFill>
                <a:latin typeface="Verdana"/>
                <a:cs typeface="Verdana"/>
              </a:rPr>
              <a:t>forward-</a:t>
            </a:r>
            <a:r>
              <a:rPr dirty="0" sz="1300" spc="-50">
                <a:solidFill>
                  <a:srgbClr val="013247"/>
                </a:solidFill>
                <a:latin typeface="Verdana"/>
                <a:cs typeface="Verdana"/>
              </a:rPr>
              <a:t>looking</a:t>
            </a:r>
            <a:r>
              <a:rPr dirty="0" sz="1300" spc="-8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65">
                <a:solidFill>
                  <a:srgbClr val="013247"/>
                </a:solidFill>
                <a:latin typeface="Verdana"/>
                <a:cs typeface="Verdana"/>
              </a:rPr>
              <a:t>statements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75">
                <a:solidFill>
                  <a:srgbClr val="013247"/>
                </a:solidFill>
                <a:latin typeface="Verdana"/>
                <a:cs typeface="Verdana"/>
              </a:rPr>
              <a:t>involves</a:t>
            </a:r>
            <a:r>
              <a:rPr dirty="0" sz="1300" spc="-8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95">
                <a:solidFill>
                  <a:srgbClr val="013247"/>
                </a:solidFill>
                <a:latin typeface="Verdana"/>
                <a:cs typeface="Verdana"/>
              </a:rPr>
              <a:t>risks,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55">
                <a:solidFill>
                  <a:srgbClr val="013247"/>
                </a:solidFill>
                <a:latin typeface="Verdana"/>
                <a:cs typeface="Verdana"/>
              </a:rPr>
              <a:t>uncertainties</a:t>
            </a:r>
            <a:r>
              <a:rPr dirty="0" sz="1300" spc="-8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45">
                <a:solidFill>
                  <a:srgbClr val="013247"/>
                </a:solidFill>
                <a:latin typeface="Verdana"/>
                <a:cs typeface="Verdana"/>
              </a:rPr>
              <a:t>and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65">
                <a:solidFill>
                  <a:srgbClr val="013247"/>
                </a:solidFill>
                <a:latin typeface="Verdana"/>
                <a:cs typeface="Verdana"/>
              </a:rPr>
              <a:t>assumptions.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65">
                <a:solidFill>
                  <a:srgbClr val="013247"/>
                </a:solidFill>
                <a:latin typeface="Verdana"/>
                <a:cs typeface="Verdana"/>
              </a:rPr>
              <a:t>If</a:t>
            </a:r>
            <a:r>
              <a:rPr dirty="0" sz="1300" spc="-8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95">
                <a:solidFill>
                  <a:srgbClr val="013247"/>
                </a:solidFill>
                <a:latin typeface="Verdana"/>
                <a:cs typeface="Verdana"/>
              </a:rPr>
              <a:t>any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55">
                <a:solidFill>
                  <a:srgbClr val="013247"/>
                </a:solidFill>
                <a:latin typeface="Verdana"/>
                <a:cs typeface="Verdana"/>
              </a:rPr>
              <a:t>such</a:t>
            </a:r>
            <a:r>
              <a:rPr dirty="0" sz="1300" spc="-8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90">
                <a:solidFill>
                  <a:srgbClr val="013247"/>
                </a:solidFill>
                <a:latin typeface="Verdana"/>
                <a:cs typeface="Verdana"/>
              </a:rPr>
              <a:t>risks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45">
                <a:solidFill>
                  <a:srgbClr val="013247"/>
                </a:solidFill>
                <a:latin typeface="Verdana"/>
                <a:cs typeface="Verdana"/>
              </a:rPr>
              <a:t>or</a:t>
            </a:r>
            <a:r>
              <a:rPr dirty="0" sz="1300" spc="-8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55">
                <a:solidFill>
                  <a:srgbClr val="013247"/>
                </a:solidFill>
                <a:latin typeface="Verdana"/>
                <a:cs typeface="Verdana"/>
              </a:rPr>
              <a:t>uncertainties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60">
                <a:solidFill>
                  <a:srgbClr val="013247"/>
                </a:solidFill>
                <a:latin typeface="Verdana"/>
                <a:cs typeface="Verdana"/>
              </a:rPr>
              <a:t>materialize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45">
                <a:solidFill>
                  <a:srgbClr val="013247"/>
                </a:solidFill>
                <a:latin typeface="Verdana"/>
                <a:cs typeface="Verdana"/>
              </a:rPr>
              <a:t>or</a:t>
            </a:r>
            <a:r>
              <a:rPr dirty="0" sz="1300" spc="-8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40">
                <a:solidFill>
                  <a:srgbClr val="013247"/>
                </a:solidFill>
                <a:latin typeface="Verdana"/>
                <a:cs typeface="Verdana"/>
              </a:rPr>
              <a:t>if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95">
                <a:solidFill>
                  <a:srgbClr val="013247"/>
                </a:solidFill>
                <a:latin typeface="Verdana"/>
                <a:cs typeface="Verdana"/>
              </a:rPr>
              <a:t>any</a:t>
            </a:r>
            <a:r>
              <a:rPr dirty="0" sz="1300" spc="-8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25">
                <a:solidFill>
                  <a:srgbClr val="013247"/>
                </a:solidFill>
                <a:latin typeface="Verdana"/>
                <a:cs typeface="Verdana"/>
              </a:rPr>
              <a:t>of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25">
                <a:solidFill>
                  <a:srgbClr val="013247"/>
                </a:solidFill>
                <a:latin typeface="Verdana"/>
                <a:cs typeface="Verdana"/>
              </a:rPr>
              <a:t>the </a:t>
            </a:r>
            <a:r>
              <a:rPr dirty="0" sz="1300" spc="-60">
                <a:solidFill>
                  <a:srgbClr val="013247"/>
                </a:solidFill>
                <a:latin typeface="Verdana"/>
                <a:cs typeface="Verdana"/>
              </a:rPr>
              <a:t>assumptions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65">
                <a:solidFill>
                  <a:srgbClr val="013247"/>
                </a:solidFill>
                <a:latin typeface="Verdana"/>
                <a:cs typeface="Verdana"/>
              </a:rPr>
              <a:t>prove</a:t>
            </a:r>
            <a:r>
              <a:rPr dirty="0" sz="1300" spc="-7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55">
                <a:solidFill>
                  <a:srgbClr val="013247"/>
                </a:solidFill>
                <a:latin typeface="Verdana"/>
                <a:cs typeface="Verdana"/>
              </a:rPr>
              <a:t>incorrect,</a:t>
            </a:r>
            <a:r>
              <a:rPr dirty="0" sz="1300" spc="-7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70">
                <a:solidFill>
                  <a:srgbClr val="013247"/>
                </a:solidFill>
                <a:latin typeface="Verdana"/>
                <a:cs typeface="Verdana"/>
              </a:rPr>
              <a:t>results</a:t>
            </a:r>
            <a:r>
              <a:rPr dirty="0" sz="1300" spc="-7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45">
                <a:solidFill>
                  <a:srgbClr val="013247"/>
                </a:solidFill>
                <a:latin typeface="Verdana"/>
                <a:cs typeface="Verdana"/>
              </a:rPr>
              <a:t>or</a:t>
            </a:r>
            <a:r>
              <a:rPr dirty="0" sz="1300" spc="-7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45">
                <a:solidFill>
                  <a:srgbClr val="013247"/>
                </a:solidFill>
                <a:latin typeface="Verdana"/>
                <a:cs typeface="Verdana"/>
              </a:rPr>
              <a:t>outcomes</a:t>
            </a:r>
            <a:r>
              <a:rPr dirty="0" sz="1300" spc="-7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25">
                <a:solidFill>
                  <a:srgbClr val="013247"/>
                </a:solidFill>
                <a:latin typeface="Verdana"/>
                <a:cs typeface="Verdana"/>
              </a:rPr>
              <a:t>could</a:t>
            </a:r>
            <a:r>
              <a:rPr dirty="0" sz="1300" spc="-7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45">
                <a:solidFill>
                  <a:srgbClr val="013247"/>
                </a:solidFill>
                <a:latin typeface="Verdana"/>
                <a:cs typeface="Verdana"/>
              </a:rPr>
              <a:t>differ</a:t>
            </a:r>
            <a:r>
              <a:rPr dirty="0" sz="1300" spc="-7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70">
                <a:solidFill>
                  <a:srgbClr val="013247"/>
                </a:solidFill>
                <a:latin typeface="Verdana"/>
                <a:cs typeface="Verdana"/>
              </a:rPr>
              <a:t>materially</a:t>
            </a:r>
            <a:r>
              <a:rPr dirty="0" sz="1300" spc="-7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45">
                <a:solidFill>
                  <a:srgbClr val="013247"/>
                </a:solidFill>
                <a:latin typeface="Verdana"/>
                <a:cs typeface="Verdana"/>
              </a:rPr>
              <a:t>from</a:t>
            </a:r>
            <a:r>
              <a:rPr dirty="0" sz="1300" spc="-7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55">
                <a:solidFill>
                  <a:srgbClr val="013247"/>
                </a:solidFill>
                <a:latin typeface="Verdana"/>
                <a:cs typeface="Verdana"/>
              </a:rPr>
              <a:t>those</a:t>
            </a:r>
            <a:r>
              <a:rPr dirty="0" sz="1300" spc="-7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65">
                <a:solidFill>
                  <a:srgbClr val="013247"/>
                </a:solidFill>
                <a:latin typeface="Verdana"/>
                <a:cs typeface="Verdana"/>
              </a:rPr>
              <a:t>expressed</a:t>
            </a:r>
            <a:r>
              <a:rPr dirty="0" sz="1300" spc="-7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45">
                <a:solidFill>
                  <a:srgbClr val="013247"/>
                </a:solidFill>
                <a:latin typeface="Verdana"/>
                <a:cs typeface="Verdana"/>
              </a:rPr>
              <a:t>or</a:t>
            </a:r>
            <a:r>
              <a:rPr dirty="0" sz="1300" spc="-7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35">
                <a:solidFill>
                  <a:srgbClr val="013247"/>
                </a:solidFill>
                <a:latin typeface="Verdana"/>
                <a:cs typeface="Verdana"/>
              </a:rPr>
              <a:t>implied</a:t>
            </a:r>
            <a:r>
              <a:rPr dirty="0" sz="1300" spc="-7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95">
                <a:solidFill>
                  <a:srgbClr val="013247"/>
                </a:solidFill>
                <a:latin typeface="Verdana"/>
                <a:cs typeface="Verdana"/>
              </a:rPr>
              <a:t>by</a:t>
            </a:r>
            <a:r>
              <a:rPr dirty="0" sz="1300" spc="-7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65">
                <a:solidFill>
                  <a:srgbClr val="013247"/>
                </a:solidFill>
                <a:latin typeface="Verdana"/>
                <a:cs typeface="Verdana"/>
              </a:rPr>
              <a:t>these</a:t>
            </a:r>
            <a:r>
              <a:rPr dirty="0" sz="1300" spc="-7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70">
                <a:solidFill>
                  <a:srgbClr val="013247"/>
                </a:solidFill>
                <a:latin typeface="Verdana"/>
                <a:cs typeface="Verdana"/>
              </a:rPr>
              <a:t>forward-</a:t>
            </a:r>
            <a:r>
              <a:rPr dirty="0" sz="1300" spc="-10">
                <a:solidFill>
                  <a:srgbClr val="013247"/>
                </a:solidFill>
                <a:latin typeface="Verdana"/>
                <a:cs typeface="Verdana"/>
              </a:rPr>
              <a:t>looking </a:t>
            </a:r>
            <a:r>
              <a:rPr dirty="0" sz="1300" spc="-75">
                <a:solidFill>
                  <a:srgbClr val="013247"/>
                </a:solidFill>
                <a:latin typeface="Verdana"/>
                <a:cs typeface="Verdana"/>
              </a:rPr>
              <a:t>statements.</a:t>
            </a:r>
            <a:r>
              <a:rPr dirty="0" sz="1300" spc="-8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65">
                <a:solidFill>
                  <a:srgbClr val="013247"/>
                </a:solidFill>
                <a:latin typeface="Verdana"/>
                <a:cs typeface="Verdana"/>
              </a:rPr>
              <a:t>The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90">
                <a:solidFill>
                  <a:srgbClr val="013247"/>
                </a:solidFill>
                <a:latin typeface="Verdana"/>
                <a:cs typeface="Verdana"/>
              </a:rPr>
              <a:t>risks</a:t>
            </a:r>
            <a:r>
              <a:rPr dirty="0" sz="1300" spc="-8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45">
                <a:solidFill>
                  <a:srgbClr val="013247"/>
                </a:solidFill>
                <a:latin typeface="Verdana"/>
                <a:cs typeface="Verdana"/>
              </a:rPr>
              <a:t>and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55">
                <a:solidFill>
                  <a:srgbClr val="013247"/>
                </a:solidFill>
                <a:latin typeface="Verdana"/>
                <a:cs typeface="Verdana"/>
              </a:rPr>
              <a:t>uncertainties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60">
                <a:solidFill>
                  <a:srgbClr val="013247"/>
                </a:solidFill>
                <a:latin typeface="Verdana"/>
                <a:cs typeface="Verdana"/>
              </a:rPr>
              <a:t>referred</a:t>
            </a:r>
            <a:r>
              <a:rPr dirty="0" sz="1300" spc="-8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35">
                <a:solidFill>
                  <a:srgbClr val="013247"/>
                </a:solidFill>
                <a:latin typeface="Verdana"/>
                <a:cs typeface="Verdana"/>
              </a:rPr>
              <a:t>to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60">
                <a:solidFill>
                  <a:srgbClr val="013247"/>
                </a:solidFill>
                <a:latin typeface="Verdana"/>
                <a:cs typeface="Verdana"/>
              </a:rPr>
              <a:t>above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50">
                <a:solidFill>
                  <a:srgbClr val="013247"/>
                </a:solidFill>
                <a:latin typeface="Verdana"/>
                <a:cs typeface="Verdana"/>
              </a:rPr>
              <a:t>include,</a:t>
            </a:r>
            <a:r>
              <a:rPr dirty="0" sz="1300" spc="-8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40">
                <a:solidFill>
                  <a:srgbClr val="013247"/>
                </a:solidFill>
                <a:latin typeface="Verdana"/>
                <a:cs typeface="Verdana"/>
              </a:rPr>
              <a:t>but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70">
                <a:solidFill>
                  <a:srgbClr val="013247"/>
                </a:solidFill>
                <a:latin typeface="Verdana"/>
                <a:cs typeface="Verdana"/>
              </a:rPr>
              <a:t>are</a:t>
            </a:r>
            <a:r>
              <a:rPr dirty="0" sz="1300" spc="-8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35">
                <a:solidFill>
                  <a:srgbClr val="013247"/>
                </a:solidFill>
                <a:latin typeface="Verdana"/>
                <a:cs typeface="Verdana"/>
              </a:rPr>
              <a:t>not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40">
                <a:solidFill>
                  <a:srgbClr val="013247"/>
                </a:solidFill>
                <a:latin typeface="Verdana"/>
                <a:cs typeface="Verdana"/>
              </a:rPr>
              <a:t>limited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105">
                <a:solidFill>
                  <a:srgbClr val="013247"/>
                </a:solidFill>
                <a:latin typeface="Verdana"/>
                <a:cs typeface="Verdana"/>
              </a:rPr>
              <a:t>to:</a:t>
            </a:r>
            <a:r>
              <a:rPr dirty="0" sz="1300" spc="-8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50">
                <a:solidFill>
                  <a:srgbClr val="013247"/>
                </a:solidFill>
                <a:latin typeface="Verdana"/>
                <a:cs typeface="Verdana"/>
              </a:rPr>
              <a:t>the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50">
                <a:solidFill>
                  <a:srgbClr val="013247"/>
                </a:solidFill>
                <a:latin typeface="Verdana"/>
                <a:cs typeface="Verdana"/>
              </a:rPr>
              <a:t>effect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25">
                <a:solidFill>
                  <a:srgbClr val="013247"/>
                </a:solidFill>
                <a:latin typeface="Verdana"/>
                <a:cs typeface="Verdana"/>
              </a:rPr>
              <a:t>of</a:t>
            </a:r>
            <a:r>
              <a:rPr dirty="0" sz="1300" spc="-8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50">
                <a:solidFill>
                  <a:srgbClr val="013247"/>
                </a:solidFill>
                <a:latin typeface="Verdana"/>
                <a:cs typeface="Verdana"/>
              </a:rPr>
              <a:t>the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45">
                <a:solidFill>
                  <a:srgbClr val="013247"/>
                </a:solidFill>
                <a:latin typeface="Verdana"/>
                <a:cs typeface="Verdana"/>
              </a:rPr>
              <a:t>acquisition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25">
                <a:solidFill>
                  <a:srgbClr val="013247"/>
                </a:solidFill>
                <a:latin typeface="Verdana"/>
                <a:cs typeface="Verdana"/>
              </a:rPr>
              <a:t>of</a:t>
            </a:r>
            <a:r>
              <a:rPr dirty="0" sz="1300" spc="-8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55">
                <a:solidFill>
                  <a:srgbClr val="013247"/>
                </a:solidFill>
                <a:latin typeface="Verdana"/>
                <a:cs typeface="Verdana"/>
              </a:rPr>
              <a:t>Informatica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25">
                <a:solidFill>
                  <a:srgbClr val="013247"/>
                </a:solidFill>
                <a:latin typeface="Verdana"/>
                <a:cs typeface="Verdana"/>
              </a:rPr>
              <a:t>on </a:t>
            </a:r>
            <a:r>
              <a:rPr dirty="0" sz="1300" spc="-45">
                <a:solidFill>
                  <a:srgbClr val="013247"/>
                </a:solidFill>
                <a:latin typeface="Verdana"/>
                <a:cs typeface="Verdana"/>
              </a:rPr>
              <a:t>our</a:t>
            </a:r>
            <a:r>
              <a:rPr dirty="0" sz="1300" spc="-8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55">
                <a:solidFill>
                  <a:srgbClr val="013247"/>
                </a:solidFill>
                <a:latin typeface="Verdana"/>
                <a:cs typeface="Verdana"/>
              </a:rPr>
              <a:t>operating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results,</a:t>
            </a:r>
            <a:r>
              <a:rPr dirty="0" sz="1300" spc="-8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50">
                <a:solidFill>
                  <a:srgbClr val="013247"/>
                </a:solidFill>
                <a:latin typeface="Verdana"/>
                <a:cs typeface="Verdana"/>
              </a:rPr>
              <a:t>the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70">
                <a:solidFill>
                  <a:srgbClr val="013247"/>
                </a:solidFill>
                <a:latin typeface="Verdana"/>
                <a:cs typeface="Verdana"/>
              </a:rPr>
              <a:t>market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45">
                <a:solidFill>
                  <a:srgbClr val="013247"/>
                </a:solidFill>
                <a:latin typeface="Verdana"/>
                <a:cs typeface="Verdana"/>
              </a:rPr>
              <a:t>price</a:t>
            </a:r>
            <a:r>
              <a:rPr dirty="0" sz="1300" spc="-8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25">
                <a:solidFill>
                  <a:srgbClr val="013247"/>
                </a:solidFill>
                <a:latin typeface="Verdana"/>
                <a:cs typeface="Verdana"/>
              </a:rPr>
              <a:t>of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45">
                <a:solidFill>
                  <a:srgbClr val="013247"/>
                </a:solidFill>
                <a:latin typeface="Verdana"/>
                <a:cs typeface="Verdana"/>
              </a:rPr>
              <a:t>our</a:t>
            </a:r>
            <a:r>
              <a:rPr dirty="0" sz="1300" spc="-8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30">
                <a:solidFill>
                  <a:srgbClr val="013247"/>
                </a:solidFill>
                <a:latin typeface="Verdana"/>
                <a:cs typeface="Verdana"/>
              </a:rPr>
              <a:t>common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75">
                <a:solidFill>
                  <a:srgbClr val="013247"/>
                </a:solidFill>
                <a:latin typeface="Verdana"/>
                <a:cs typeface="Verdana"/>
              </a:rPr>
              <a:t>stock,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45">
                <a:solidFill>
                  <a:srgbClr val="013247"/>
                </a:solidFill>
                <a:latin typeface="Verdana"/>
                <a:cs typeface="Verdana"/>
              </a:rPr>
              <a:t>and</a:t>
            </a:r>
            <a:r>
              <a:rPr dirty="0" sz="1300" spc="-8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45">
                <a:solidFill>
                  <a:srgbClr val="013247"/>
                </a:solidFill>
                <a:latin typeface="Verdana"/>
                <a:cs typeface="Verdana"/>
              </a:rPr>
              <a:t>our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60">
                <a:solidFill>
                  <a:srgbClr val="013247"/>
                </a:solidFill>
                <a:latin typeface="Verdana"/>
                <a:cs typeface="Verdana"/>
              </a:rPr>
              <a:t>ability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35">
                <a:solidFill>
                  <a:srgbClr val="013247"/>
                </a:solidFill>
                <a:latin typeface="Verdana"/>
                <a:cs typeface="Verdana"/>
              </a:rPr>
              <a:t>to</a:t>
            </a:r>
            <a:r>
              <a:rPr dirty="0" sz="1300" spc="-8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60">
                <a:solidFill>
                  <a:srgbClr val="013247"/>
                </a:solidFill>
                <a:latin typeface="Verdana"/>
                <a:cs typeface="Verdana"/>
              </a:rPr>
              <a:t>retain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45">
                <a:solidFill>
                  <a:srgbClr val="013247"/>
                </a:solidFill>
                <a:latin typeface="Verdana"/>
                <a:cs typeface="Verdana"/>
              </a:rPr>
              <a:t>and</a:t>
            </a:r>
            <a:r>
              <a:rPr dirty="0" sz="1300" spc="-8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55">
                <a:solidFill>
                  <a:srgbClr val="013247"/>
                </a:solidFill>
                <a:latin typeface="Verdana"/>
                <a:cs typeface="Verdana"/>
              </a:rPr>
              <a:t>hire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110">
                <a:solidFill>
                  <a:srgbClr val="013247"/>
                </a:solidFill>
                <a:latin typeface="Verdana"/>
                <a:cs typeface="Verdana"/>
              </a:rPr>
              <a:t>key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70">
                <a:solidFill>
                  <a:srgbClr val="013247"/>
                </a:solidFill>
                <a:latin typeface="Verdana"/>
                <a:cs typeface="Verdana"/>
              </a:rPr>
              <a:t>personnel;</a:t>
            </a:r>
            <a:r>
              <a:rPr dirty="0" sz="1300" spc="-8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55">
                <a:solidFill>
                  <a:srgbClr val="013247"/>
                </a:solidFill>
                <a:latin typeface="Verdana"/>
                <a:cs typeface="Verdana"/>
              </a:rPr>
              <a:t>uncertainties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65">
                <a:solidFill>
                  <a:srgbClr val="013247"/>
                </a:solidFill>
                <a:latin typeface="Verdana"/>
                <a:cs typeface="Verdana"/>
              </a:rPr>
              <a:t>regarding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25">
                <a:solidFill>
                  <a:srgbClr val="013247"/>
                </a:solidFill>
                <a:latin typeface="Verdana"/>
                <a:cs typeface="Verdana"/>
              </a:rPr>
              <a:t>Al </a:t>
            </a:r>
            <a:r>
              <a:rPr dirty="0" sz="1300" spc="-50">
                <a:solidFill>
                  <a:srgbClr val="013247"/>
                </a:solidFill>
                <a:latin typeface="Verdana"/>
                <a:cs typeface="Verdana"/>
              </a:rPr>
              <a:t>technologies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45">
                <a:solidFill>
                  <a:srgbClr val="013247"/>
                </a:solidFill>
                <a:latin typeface="Verdana"/>
                <a:cs typeface="Verdana"/>
              </a:rPr>
              <a:t>and</a:t>
            </a:r>
            <a:r>
              <a:rPr dirty="0" sz="1300" spc="-7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70">
                <a:solidFill>
                  <a:srgbClr val="013247"/>
                </a:solidFill>
                <a:latin typeface="Verdana"/>
                <a:cs typeface="Verdana"/>
              </a:rPr>
              <a:t>its</a:t>
            </a:r>
            <a:r>
              <a:rPr dirty="0" sz="1300" spc="-7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55">
                <a:solidFill>
                  <a:srgbClr val="013247"/>
                </a:solidFill>
                <a:latin typeface="Verdana"/>
                <a:cs typeface="Verdana"/>
              </a:rPr>
              <a:t>integration</a:t>
            </a:r>
            <a:r>
              <a:rPr dirty="0" sz="1300" spc="-7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35">
                <a:solidFill>
                  <a:srgbClr val="013247"/>
                </a:solidFill>
                <a:latin typeface="Verdana"/>
                <a:cs typeface="Verdana"/>
              </a:rPr>
              <a:t>into</a:t>
            </a:r>
            <a:r>
              <a:rPr dirty="0" sz="1300" spc="-7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45">
                <a:solidFill>
                  <a:srgbClr val="013247"/>
                </a:solidFill>
                <a:latin typeface="Verdana"/>
                <a:cs typeface="Verdana"/>
              </a:rPr>
              <a:t>our</a:t>
            </a:r>
            <a:r>
              <a:rPr dirty="0" sz="1300" spc="-7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35">
                <a:solidFill>
                  <a:srgbClr val="013247"/>
                </a:solidFill>
                <a:latin typeface="Verdana"/>
                <a:cs typeface="Verdana"/>
              </a:rPr>
              <a:t>product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75">
                <a:solidFill>
                  <a:srgbClr val="013247"/>
                </a:solidFill>
                <a:latin typeface="Verdana"/>
                <a:cs typeface="Verdana"/>
              </a:rPr>
              <a:t>offerings; </a:t>
            </a:r>
            <a:r>
              <a:rPr dirty="0" sz="1300" spc="-50">
                <a:solidFill>
                  <a:srgbClr val="013247"/>
                </a:solidFill>
                <a:latin typeface="Verdana"/>
                <a:cs typeface="Verdana"/>
              </a:rPr>
              <a:t>the</a:t>
            </a:r>
            <a:r>
              <a:rPr dirty="0" sz="1300" spc="-7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50">
                <a:solidFill>
                  <a:srgbClr val="013247"/>
                </a:solidFill>
                <a:latin typeface="Verdana"/>
                <a:cs typeface="Verdana"/>
              </a:rPr>
              <a:t>effect</a:t>
            </a:r>
            <a:r>
              <a:rPr dirty="0" sz="1300" spc="-7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25">
                <a:solidFill>
                  <a:srgbClr val="013247"/>
                </a:solidFill>
                <a:latin typeface="Verdana"/>
                <a:cs typeface="Verdana"/>
              </a:rPr>
              <a:t>of</a:t>
            </a:r>
            <a:r>
              <a:rPr dirty="0" sz="1300" spc="-75">
                <a:solidFill>
                  <a:srgbClr val="013247"/>
                </a:solidFill>
                <a:latin typeface="Verdana"/>
                <a:cs typeface="Verdana"/>
              </a:rPr>
              <a:t> evolving </a:t>
            </a:r>
            <a:r>
              <a:rPr dirty="0" sz="1300" spc="-45">
                <a:solidFill>
                  <a:srgbClr val="013247"/>
                </a:solidFill>
                <a:latin typeface="Verdana"/>
                <a:cs typeface="Verdana"/>
              </a:rPr>
              <a:t>domestic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45">
                <a:solidFill>
                  <a:srgbClr val="013247"/>
                </a:solidFill>
                <a:latin typeface="Verdana"/>
                <a:cs typeface="Verdana"/>
              </a:rPr>
              <a:t>and</a:t>
            </a:r>
            <a:r>
              <a:rPr dirty="0" sz="1300" spc="-7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55">
                <a:solidFill>
                  <a:srgbClr val="013247"/>
                </a:solidFill>
                <a:latin typeface="Verdana"/>
                <a:cs typeface="Verdana"/>
              </a:rPr>
              <a:t>foreign</a:t>
            </a:r>
            <a:r>
              <a:rPr dirty="0" sz="1300" spc="-7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65">
                <a:solidFill>
                  <a:srgbClr val="013247"/>
                </a:solidFill>
                <a:latin typeface="Verdana"/>
                <a:cs typeface="Verdana"/>
              </a:rPr>
              <a:t>government</a:t>
            </a:r>
            <a:r>
              <a:rPr dirty="0" sz="1300" spc="-7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10">
                <a:solidFill>
                  <a:srgbClr val="013247"/>
                </a:solidFill>
                <a:latin typeface="Verdana"/>
                <a:cs typeface="Verdana"/>
              </a:rPr>
              <a:t>regulations; </a:t>
            </a:r>
            <a:r>
              <a:rPr dirty="0" sz="1300" spc="-70">
                <a:solidFill>
                  <a:srgbClr val="013247"/>
                </a:solidFill>
                <a:latin typeface="Verdana"/>
                <a:cs typeface="Verdana"/>
              </a:rPr>
              <a:t>regulatory</a:t>
            </a:r>
            <a:r>
              <a:rPr dirty="0" sz="1300" spc="-7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55">
                <a:solidFill>
                  <a:srgbClr val="013247"/>
                </a:solidFill>
                <a:latin typeface="Verdana"/>
                <a:cs typeface="Verdana"/>
              </a:rPr>
              <a:t>developments</a:t>
            </a:r>
            <a:r>
              <a:rPr dirty="0" sz="1300" spc="-7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45">
                <a:solidFill>
                  <a:srgbClr val="013247"/>
                </a:solidFill>
                <a:latin typeface="Verdana"/>
                <a:cs typeface="Verdana"/>
              </a:rPr>
              <a:t>and</a:t>
            </a:r>
            <a:r>
              <a:rPr dirty="0" sz="1300" spc="-70">
                <a:solidFill>
                  <a:srgbClr val="013247"/>
                </a:solidFill>
                <a:latin typeface="Verdana"/>
                <a:cs typeface="Verdana"/>
              </a:rPr>
              <a:t> regulatory </a:t>
            </a:r>
            <a:r>
              <a:rPr dirty="0" sz="1300" spc="-65">
                <a:solidFill>
                  <a:srgbClr val="013247"/>
                </a:solidFill>
                <a:latin typeface="Verdana"/>
                <a:cs typeface="Verdana"/>
              </a:rPr>
              <a:t>investigations</a:t>
            </a:r>
            <a:r>
              <a:rPr dirty="0" sz="1300" spc="-70">
                <a:solidFill>
                  <a:srgbClr val="013247"/>
                </a:solidFill>
                <a:latin typeface="Verdana"/>
                <a:cs typeface="Verdana"/>
              </a:rPr>
              <a:t> involving </a:t>
            </a:r>
            <a:r>
              <a:rPr dirty="0" sz="1300" spc="-75">
                <a:solidFill>
                  <a:srgbClr val="013247"/>
                </a:solidFill>
                <a:latin typeface="Verdana"/>
                <a:cs typeface="Verdana"/>
              </a:rPr>
              <a:t>us</a:t>
            </a:r>
            <a:r>
              <a:rPr dirty="0" sz="1300" spc="-7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45">
                <a:solidFill>
                  <a:srgbClr val="013247"/>
                </a:solidFill>
                <a:latin typeface="Verdana"/>
                <a:cs typeface="Verdana"/>
              </a:rPr>
              <a:t>or</a:t>
            </a:r>
            <a:r>
              <a:rPr dirty="0" sz="1300" spc="-7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55">
                <a:solidFill>
                  <a:srgbClr val="013247"/>
                </a:solidFill>
                <a:latin typeface="Verdana"/>
                <a:cs typeface="Verdana"/>
              </a:rPr>
              <a:t>affecting</a:t>
            </a:r>
            <a:r>
              <a:rPr dirty="0" sz="1300" spc="-7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45">
                <a:solidFill>
                  <a:srgbClr val="013247"/>
                </a:solidFill>
                <a:latin typeface="Verdana"/>
                <a:cs typeface="Verdana"/>
              </a:rPr>
              <a:t>our</a:t>
            </a:r>
            <a:r>
              <a:rPr dirty="0" sz="1300" spc="-7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90">
                <a:solidFill>
                  <a:srgbClr val="013247"/>
                </a:solidFill>
                <a:latin typeface="Verdana"/>
                <a:cs typeface="Verdana"/>
              </a:rPr>
              <a:t>industry;</a:t>
            </a:r>
            <a:r>
              <a:rPr dirty="0" sz="1300" spc="-7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45">
                <a:solidFill>
                  <a:srgbClr val="013247"/>
                </a:solidFill>
                <a:latin typeface="Verdana"/>
                <a:cs typeface="Verdana"/>
              </a:rPr>
              <a:t>our</a:t>
            </a:r>
            <a:r>
              <a:rPr dirty="0" sz="1300" spc="-7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60">
                <a:solidFill>
                  <a:srgbClr val="013247"/>
                </a:solidFill>
                <a:latin typeface="Verdana"/>
                <a:cs typeface="Verdana"/>
              </a:rPr>
              <a:t>ability</a:t>
            </a:r>
            <a:r>
              <a:rPr dirty="0" sz="1300" spc="-7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35">
                <a:solidFill>
                  <a:srgbClr val="013247"/>
                </a:solidFill>
                <a:latin typeface="Verdana"/>
                <a:cs typeface="Verdana"/>
              </a:rPr>
              <a:t>to</a:t>
            </a:r>
            <a:r>
              <a:rPr dirty="0" sz="1300" spc="-70">
                <a:solidFill>
                  <a:srgbClr val="013247"/>
                </a:solidFill>
                <a:latin typeface="Verdana"/>
                <a:cs typeface="Verdana"/>
              </a:rPr>
              <a:t> successfully </a:t>
            </a:r>
            <a:r>
              <a:rPr dirty="0" sz="1300" spc="-40">
                <a:solidFill>
                  <a:srgbClr val="013247"/>
                </a:solidFill>
                <a:latin typeface="Verdana"/>
                <a:cs typeface="Verdana"/>
              </a:rPr>
              <a:t>introduce</a:t>
            </a:r>
            <a:r>
              <a:rPr dirty="0" sz="1300" spc="-7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25">
                <a:solidFill>
                  <a:srgbClr val="013247"/>
                </a:solidFill>
                <a:latin typeface="Verdana"/>
                <a:cs typeface="Verdana"/>
              </a:rPr>
              <a:t>new 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services</a:t>
            </a:r>
            <a:r>
              <a:rPr dirty="0" sz="1300" spc="-8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45">
                <a:solidFill>
                  <a:srgbClr val="013247"/>
                </a:solidFill>
                <a:latin typeface="Verdana"/>
                <a:cs typeface="Verdana"/>
              </a:rPr>
              <a:t>and</a:t>
            </a:r>
            <a:r>
              <a:rPr dirty="0" sz="1300" spc="-8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35">
                <a:solidFill>
                  <a:srgbClr val="013247"/>
                </a:solidFill>
                <a:latin typeface="Verdana"/>
                <a:cs typeface="Verdana"/>
              </a:rPr>
              <a:t>product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75">
                <a:solidFill>
                  <a:srgbClr val="013247"/>
                </a:solidFill>
                <a:latin typeface="Verdana"/>
                <a:cs typeface="Verdana"/>
              </a:rPr>
              <a:t>features,</a:t>
            </a:r>
            <a:r>
              <a:rPr dirty="0" sz="1300" spc="-8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45">
                <a:solidFill>
                  <a:srgbClr val="013247"/>
                </a:solidFill>
                <a:latin typeface="Verdana"/>
                <a:cs typeface="Verdana"/>
              </a:rPr>
              <a:t>including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55">
                <a:solidFill>
                  <a:srgbClr val="013247"/>
                </a:solidFill>
                <a:latin typeface="Verdana"/>
                <a:cs typeface="Verdana"/>
              </a:rPr>
              <a:t>related</a:t>
            </a:r>
            <a:r>
              <a:rPr dirty="0" sz="1300" spc="-8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35">
                <a:solidFill>
                  <a:srgbClr val="013247"/>
                </a:solidFill>
                <a:latin typeface="Verdana"/>
                <a:cs typeface="Verdana"/>
              </a:rPr>
              <a:t>to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65">
                <a:solidFill>
                  <a:srgbClr val="013247"/>
                </a:solidFill>
                <a:latin typeface="Verdana"/>
                <a:cs typeface="Verdana"/>
              </a:rPr>
              <a:t>AI</a:t>
            </a:r>
            <a:r>
              <a:rPr dirty="0" sz="1300" spc="-8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45">
                <a:solidFill>
                  <a:srgbClr val="013247"/>
                </a:solidFill>
                <a:latin typeface="Verdana"/>
                <a:cs typeface="Verdana"/>
              </a:rPr>
              <a:t>and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70">
                <a:solidFill>
                  <a:srgbClr val="013247"/>
                </a:solidFill>
                <a:latin typeface="Verdana"/>
                <a:cs typeface="Verdana"/>
              </a:rPr>
              <a:t>Agentforce;</a:t>
            </a:r>
            <a:r>
              <a:rPr dirty="0" sz="1300" spc="-8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45">
                <a:solidFill>
                  <a:srgbClr val="013247"/>
                </a:solidFill>
                <a:latin typeface="Verdana"/>
                <a:cs typeface="Verdana"/>
              </a:rPr>
              <a:t>our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60">
                <a:solidFill>
                  <a:srgbClr val="013247"/>
                </a:solidFill>
                <a:latin typeface="Verdana"/>
                <a:cs typeface="Verdana"/>
              </a:rPr>
              <a:t>ability</a:t>
            </a:r>
            <a:r>
              <a:rPr dirty="0" sz="1300" spc="-8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35">
                <a:solidFill>
                  <a:srgbClr val="013247"/>
                </a:solidFill>
                <a:latin typeface="Verdana"/>
                <a:cs typeface="Verdana"/>
              </a:rPr>
              <a:t>to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55">
                <a:solidFill>
                  <a:srgbClr val="013247"/>
                </a:solidFill>
                <a:latin typeface="Verdana"/>
                <a:cs typeface="Verdana"/>
              </a:rPr>
              <a:t>execute</a:t>
            </a:r>
            <a:r>
              <a:rPr dirty="0" sz="1300" spc="-8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45">
                <a:solidFill>
                  <a:srgbClr val="013247"/>
                </a:solidFill>
                <a:latin typeface="Verdana"/>
                <a:cs typeface="Verdana"/>
              </a:rPr>
              <a:t>our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65">
                <a:solidFill>
                  <a:srgbClr val="013247"/>
                </a:solidFill>
                <a:latin typeface="Verdana"/>
                <a:cs typeface="Verdana"/>
              </a:rPr>
              <a:t>business</a:t>
            </a:r>
            <a:r>
              <a:rPr dirty="0" sz="1300" spc="-85">
                <a:solidFill>
                  <a:srgbClr val="013247"/>
                </a:solidFill>
                <a:latin typeface="Verdana"/>
                <a:cs typeface="Verdana"/>
              </a:rPr>
              <a:t> plans;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45">
                <a:solidFill>
                  <a:srgbClr val="013247"/>
                </a:solidFill>
                <a:latin typeface="Verdana"/>
                <a:cs typeface="Verdana"/>
              </a:rPr>
              <a:t>our</a:t>
            </a:r>
            <a:r>
              <a:rPr dirty="0" sz="1300" spc="-8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60">
                <a:solidFill>
                  <a:srgbClr val="013247"/>
                </a:solidFill>
                <a:latin typeface="Verdana"/>
                <a:cs typeface="Verdana"/>
              </a:rPr>
              <a:t>ability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35">
                <a:solidFill>
                  <a:srgbClr val="013247"/>
                </a:solidFill>
                <a:latin typeface="Verdana"/>
                <a:cs typeface="Verdana"/>
              </a:rPr>
              <a:t>to</a:t>
            </a:r>
            <a:r>
              <a:rPr dirty="0" sz="1300" spc="-8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55">
                <a:solidFill>
                  <a:srgbClr val="013247"/>
                </a:solidFill>
                <a:latin typeface="Verdana"/>
                <a:cs typeface="Verdana"/>
              </a:rPr>
              <a:t>meet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25">
                <a:solidFill>
                  <a:srgbClr val="013247"/>
                </a:solidFill>
                <a:latin typeface="Verdana"/>
                <a:cs typeface="Verdana"/>
              </a:rPr>
              <a:t>our </a:t>
            </a:r>
            <a:r>
              <a:rPr dirty="0" sz="1300" spc="-75">
                <a:solidFill>
                  <a:srgbClr val="013247"/>
                </a:solidFill>
                <a:latin typeface="Verdana"/>
                <a:cs typeface="Verdana"/>
              </a:rPr>
              <a:t>long-</a:t>
            </a:r>
            <a:r>
              <a:rPr dirty="0" sz="1300" spc="-60">
                <a:solidFill>
                  <a:srgbClr val="013247"/>
                </a:solidFill>
                <a:latin typeface="Verdana"/>
                <a:cs typeface="Verdana"/>
              </a:rPr>
              <a:t>term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70">
                <a:solidFill>
                  <a:srgbClr val="013247"/>
                </a:solidFill>
                <a:latin typeface="Verdana"/>
                <a:cs typeface="Verdana"/>
              </a:rPr>
              <a:t>revenue</a:t>
            </a:r>
            <a:r>
              <a:rPr dirty="0" sz="1300" spc="-75">
                <a:solidFill>
                  <a:srgbClr val="013247"/>
                </a:solidFill>
                <a:latin typeface="Verdana"/>
                <a:cs typeface="Verdana"/>
              </a:rPr>
              <a:t> target </a:t>
            </a:r>
            <a:r>
              <a:rPr dirty="0" sz="1300" spc="-45">
                <a:solidFill>
                  <a:srgbClr val="013247"/>
                </a:solidFill>
                <a:latin typeface="Verdana"/>
                <a:cs typeface="Verdana"/>
              </a:rPr>
              <a:t>and</a:t>
            </a:r>
            <a:r>
              <a:rPr dirty="0" sz="1300" spc="-7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45">
                <a:solidFill>
                  <a:srgbClr val="013247"/>
                </a:solidFill>
                <a:latin typeface="Verdana"/>
                <a:cs typeface="Verdana"/>
              </a:rPr>
              <a:t>profitable</a:t>
            </a:r>
            <a:r>
              <a:rPr dirty="0" sz="1300" spc="-7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60">
                <a:solidFill>
                  <a:srgbClr val="013247"/>
                </a:solidFill>
                <a:latin typeface="Verdana"/>
                <a:cs typeface="Verdana"/>
              </a:rPr>
              <a:t>growth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framework;</a:t>
            </a:r>
            <a:r>
              <a:rPr dirty="0" sz="1300" spc="-7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50">
                <a:solidFill>
                  <a:srgbClr val="013247"/>
                </a:solidFill>
                <a:latin typeface="Verdana"/>
                <a:cs typeface="Verdana"/>
              </a:rPr>
              <a:t>the</a:t>
            </a:r>
            <a:r>
              <a:rPr dirty="0" sz="1300" spc="-7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45">
                <a:solidFill>
                  <a:srgbClr val="013247"/>
                </a:solidFill>
                <a:latin typeface="Verdana"/>
                <a:cs typeface="Verdana"/>
              </a:rPr>
              <a:t>pace</a:t>
            </a:r>
            <a:r>
              <a:rPr dirty="0" sz="1300" spc="-7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25">
                <a:solidFill>
                  <a:srgbClr val="013247"/>
                </a:solidFill>
                <a:latin typeface="Verdana"/>
                <a:cs typeface="Verdana"/>
              </a:rPr>
              <a:t>of</a:t>
            </a:r>
            <a:r>
              <a:rPr dirty="0" sz="1300" spc="-7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60">
                <a:solidFill>
                  <a:srgbClr val="013247"/>
                </a:solidFill>
                <a:latin typeface="Verdana"/>
                <a:cs typeface="Verdana"/>
              </a:rPr>
              <a:t>change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45">
                <a:solidFill>
                  <a:srgbClr val="013247"/>
                </a:solidFill>
                <a:latin typeface="Verdana"/>
                <a:cs typeface="Verdana"/>
              </a:rPr>
              <a:t>and</a:t>
            </a:r>
            <a:r>
              <a:rPr dirty="0" sz="1300" spc="-7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50">
                <a:solidFill>
                  <a:srgbClr val="013247"/>
                </a:solidFill>
                <a:latin typeface="Verdana"/>
                <a:cs typeface="Verdana"/>
              </a:rPr>
              <a:t>innovation</a:t>
            </a:r>
            <a:r>
              <a:rPr dirty="0" sz="1300" spc="-7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40">
                <a:solidFill>
                  <a:srgbClr val="013247"/>
                </a:solidFill>
                <a:latin typeface="Verdana"/>
                <a:cs typeface="Verdana"/>
              </a:rPr>
              <a:t>in</a:t>
            </a:r>
            <a:r>
              <a:rPr dirty="0" sz="1300" spc="-7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60">
                <a:solidFill>
                  <a:srgbClr val="013247"/>
                </a:solidFill>
                <a:latin typeface="Verdana"/>
                <a:cs typeface="Verdana"/>
              </a:rPr>
              <a:t>enterprise</a:t>
            </a:r>
            <a:r>
              <a:rPr dirty="0" sz="1300" spc="-7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25">
                <a:solidFill>
                  <a:srgbClr val="013247"/>
                </a:solidFill>
                <a:latin typeface="Verdana"/>
                <a:cs typeface="Verdana"/>
              </a:rPr>
              <a:t>cloud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45">
                <a:solidFill>
                  <a:srgbClr val="013247"/>
                </a:solidFill>
                <a:latin typeface="Verdana"/>
                <a:cs typeface="Verdana"/>
              </a:rPr>
              <a:t>computing</a:t>
            </a:r>
            <a:r>
              <a:rPr dirty="0" sz="1300" spc="-7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10">
                <a:solidFill>
                  <a:srgbClr val="013247"/>
                </a:solidFill>
                <a:latin typeface="Verdana"/>
                <a:cs typeface="Verdana"/>
              </a:rPr>
              <a:t>services; </a:t>
            </a:r>
            <a:r>
              <a:rPr dirty="0" sz="1300" spc="-45">
                <a:solidFill>
                  <a:srgbClr val="013247"/>
                </a:solidFill>
                <a:latin typeface="Verdana"/>
                <a:cs typeface="Verdana"/>
              </a:rPr>
              <a:t>our</a:t>
            </a:r>
            <a:r>
              <a:rPr dirty="0" sz="1300" spc="-7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60">
                <a:solidFill>
                  <a:srgbClr val="013247"/>
                </a:solidFill>
                <a:latin typeface="Verdana"/>
                <a:cs typeface="Verdana"/>
              </a:rPr>
              <a:t>ability</a:t>
            </a:r>
            <a:r>
              <a:rPr dirty="0" sz="1300" spc="-7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35">
                <a:solidFill>
                  <a:srgbClr val="013247"/>
                </a:solidFill>
                <a:latin typeface="Verdana"/>
                <a:cs typeface="Verdana"/>
              </a:rPr>
              <a:t>to</a:t>
            </a:r>
            <a:r>
              <a:rPr dirty="0" sz="1300" spc="-7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50">
                <a:solidFill>
                  <a:srgbClr val="013247"/>
                </a:solidFill>
                <a:latin typeface="Verdana"/>
                <a:cs typeface="Verdana"/>
              </a:rPr>
              <a:t>maintain</a:t>
            </a:r>
            <a:r>
              <a:rPr dirty="0" sz="1300" spc="-7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45">
                <a:solidFill>
                  <a:srgbClr val="013247"/>
                </a:solidFill>
                <a:latin typeface="Verdana"/>
                <a:cs typeface="Verdana"/>
              </a:rPr>
              <a:t>and</a:t>
            </a:r>
            <a:r>
              <a:rPr dirty="0" sz="1300" spc="-7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50">
                <a:solidFill>
                  <a:srgbClr val="013247"/>
                </a:solidFill>
                <a:latin typeface="Verdana"/>
                <a:cs typeface="Verdana"/>
              </a:rPr>
              <a:t>enhance</a:t>
            </a:r>
            <a:r>
              <a:rPr dirty="0" sz="1300" spc="-7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45">
                <a:solidFill>
                  <a:srgbClr val="013247"/>
                </a:solidFill>
                <a:latin typeface="Verdana"/>
                <a:cs typeface="Verdana"/>
              </a:rPr>
              <a:t>our</a:t>
            </a:r>
            <a:r>
              <a:rPr dirty="0" sz="1300" spc="-7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85">
                <a:solidFill>
                  <a:srgbClr val="013247"/>
                </a:solidFill>
                <a:latin typeface="Verdana"/>
                <a:cs typeface="Verdana"/>
              </a:rPr>
              <a:t>brands;</a:t>
            </a:r>
            <a:r>
              <a:rPr dirty="0" sz="1300" spc="-7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45">
                <a:solidFill>
                  <a:srgbClr val="013247"/>
                </a:solidFill>
                <a:latin typeface="Verdana"/>
                <a:cs typeface="Verdana"/>
              </a:rPr>
              <a:t>and</a:t>
            </a:r>
            <a:r>
              <a:rPr dirty="0" sz="1300" spc="-7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55">
                <a:solidFill>
                  <a:srgbClr val="013247"/>
                </a:solidFill>
                <a:latin typeface="Verdana"/>
                <a:cs typeface="Verdana"/>
              </a:rPr>
              <a:t>expectations</a:t>
            </a:r>
            <a:r>
              <a:rPr dirty="0" sz="1300" spc="-7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65">
                <a:solidFill>
                  <a:srgbClr val="013247"/>
                </a:solidFill>
                <a:latin typeface="Verdana"/>
                <a:cs typeface="Verdana"/>
              </a:rPr>
              <a:t>regarding</a:t>
            </a:r>
            <a:r>
              <a:rPr dirty="0" sz="1300" spc="-7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55">
                <a:solidFill>
                  <a:srgbClr val="013247"/>
                </a:solidFill>
                <a:latin typeface="Verdana"/>
                <a:cs typeface="Verdana"/>
              </a:rPr>
              <a:t>closing</a:t>
            </a:r>
            <a:r>
              <a:rPr dirty="0" sz="1300" spc="-7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40">
                <a:solidFill>
                  <a:srgbClr val="013247"/>
                </a:solidFill>
                <a:latin typeface="Verdana"/>
                <a:cs typeface="Verdana"/>
              </a:rPr>
              <a:t>contemplated</a:t>
            </a:r>
            <a:r>
              <a:rPr dirty="0" sz="1300" spc="-7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50">
                <a:solidFill>
                  <a:srgbClr val="013247"/>
                </a:solidFill>
                <a:latin typeface="Verdana"/>
                <a:cs typeface="Verdana"/>
              </a:rPr>
              <a:t>acquisitions</a:t>
            </a:r>
            <a:r>
              <a:rPr dirty="0" sz="1300" spc="-7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45">
                <a:solidFill>
                  <a:srgbClr val="013247"/>
                </a:solidFill>
                <a:latin typeface="Verdana"/>
                <a:cs typeface="Verdana"/>
              </a:rPr>
              <a:t>and</a:t>
            </a:r>
            <a:r>
              <a:rPr dirty="0" sz="1300" spc="-7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45">
                <a:solidFill>
                  <a:srgbClr val="013247"/>
                </a:solidFill>
                <a:latin typeface="Verdana"/>
                <a:cs typeface="Verdana"/>
              </a:rPr>
              <a:t>contributions</a:t>
            </a:r>
            <a:r>
              <a:rPr dirty="0" sz="1300" spc="-7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20">
                <a:solidFill>
                  <a:srgbClr val="013247"/>
                </a:solidFill>
                <a:latin typeface="Verdana"/>
                <a:cs typeface="Verdana"/>
              </a:rPr>
              <a:t>from </a:t>
            </a:r>
            <a:r>
              <a:rPr dirty="0" sz="1300" spc="-45">
                <a:solidFill>
                  <a:srgbClr val="013247"/>
                </a:solidFill>
                <a:latin typeface="Verdana"/>
                <a:cs typeface="Verdana"/>
              </a:rPr>
              <a:t>acquired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55">
                <a:solidFill>
                  <a:srgbClr val="013247"/>
                </a:solidFill>
                <a:latin typeface="Verdana"/>
                <a:cs typeface="Verdana"/>
              </a:rPr>
              <a:t>companies.</a:t>
            </a:r>
            <a:r>
              <a:rPr dirty="0" sz="1300" spc="-9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60">
                <a:solidFill>
                  <a:srgbClr val="013247"/>
                </a:solidFill>
                <a:latin typeface="Verdana"/>
                <a:cs typeface="Verdana"/>
              </a:rPr>
              <a:t>Further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45">
                <a:solidFill>
                  <a:srgbClr val="013247"/>
                </a:solidFill>
                <a:latin typeface="Verdana"/>
                <a:cs typeface="Verdana"/>
              </a:rPr>
              <a:t>information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25">
                <a:solidFill>
                  <a:srgbClr val="013247"/>
                </a:solidFill>
                <a:latin typeface="Verdana"/>
                <a:cs typeface="Verdana"/>
              </a:rPr>
              <a:t>on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65">
                <a:solidFill>
                  <a:srgbClr val="013247"/>
                </a:solidFill>
                <a:latin typeface="Verdana"/>
                <a:cs typeface="Verdana"/>
              </a:rPr>
              <a:t>these</a:t>
            </a:r>
            <a:r>
              <a:rPr dirty="0" sz="1300" spc="-7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45">
                <a:solidFill>
                  <a:srgbClr val="013247"/>
                </a:solidFill>
                <a:latin typeface="Verdana"/>
                <a:cs typeface="Verdana"/>
              </a:rPr>
              <a:t>and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50">
                <a:solidFill>
                  <a:srgbClr val="013247"/>
                </a:solidFill>
                <a:latin typeface="Verdana"/>
                <a:cs typeface="Verdana"/>
              </a:rPr>
              <a:t>other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60">
                <a:solidFill>
                  <a:srgbClr val="013247"/>
                </a:solidFill>
                <a:latin typeface="Verdana"/>
                <a:cs typeface="Verdana"/>
              </a:rPr>
              <a:t>factors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60">
                <a:solidFill>
                  <a:srgbClr val="013247"/>
                </a:solidFill>
                <a:latin typeface="Verdana"/>
                <a:cs typeface="Verdana"/>
              </a:rPr>
              <a:t>that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25">
                <a:solidFill>
                  <a:srgbClr val="013247"/>
                </a:solidFill>
                <a:latin typeface="Verdana"/>
                <a:cs typeface="Verdana"/>
              </a:rPr>
              <a:t>could</a:t>
            </a:r>
            <a:r>
              <a:rPr dirty="0" sz="1300" spc="-7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50">
                <a:solidFill>
                  <a:srgbClr val="013247"/>
                </a:solidFill>
                <a:latin typeface="Verdana"/>
                <a:cs typeface="Verdana"/>
              </a:rPr>
              <a:t>affect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50">
                <a:solidFill>
                  <a:srgbClr val="013247"/>
                </a:solidFill>
                <a:latin typeface="Verdana"/>
                <a:cs typeface="Verdana"/>
              </a:rPr>
              <a:t>the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65">
                <a:solidFill>
                  <a:srgbClr val="013247"/>
                </a:solidFill>
                <a:latin typeface="Verdana"/>
                <a:cs typeface="Verdana"/>
              </a:rPr>
              <a:t>Company’s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55">
                <a:solidFill>
                  <a:srgbClr val="013247"/>
                </a:solidFill>
                <a:latin typeface="Verdana"/>
                <a:cs typeface="Verdana"/>
              </a:rPr>
              <a:t>actual</a:t>
            </a:r>
            <a:r>
              <a:rPr dirty="0" sz="1300" spc="-7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70">
                <a:solidFill>
                  <a:srgbClr val="013247"/>
                </a:solidFill>
                <a:latin typeface="Verdana"/>
                <a:cs typeface="Verdana"/>
              </a:rPr>
              <a:t>results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45">
                <a:solidFill>
                  <a:srgbClr val="013247"/>
                </a:solidFill>
                <a:latin typeface="Verdana"/>
                <a:cs typeface="Verdana"/>
              </a:rPr>
              <a:t>or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45">
                <a:solidFill>
                  <a:srgbClr val="013247"/>
                </a:solidFill>
                <a:latin typeface="Verdana"/>
                <a:cs typeface="Verdana"/>
              </a:rPr>
              <a:t>outcomes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25">
                <a:solidFill>
                  <a:srgbClr val="013247"/>
                </a:solidFill>
                <a:latin typeface="Verdana"/>
                <a:cs typeface="Verdana"/>
              </a:rPr>
              <a:t>is </a:t>
            </a:r>
            <a:r>
              <a:rPr dirty="0" sz="1300" spc="-35">
                <a:solidFill>
                  <a:srgbClr val="013247"/>
                </a:solidFill>
                <a:latin typeface="Verdana"/>
                <a:cs typeface="Verdana"/>
              </a:rPr>
              <a:t>included</a:t>
            </a:r>
            <a:r>
              <a:rPr dirty="0" sz="1300" spc="-9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40">
                <a:solidFill>
                  <a:srgbClr val="013247"/>
                </a:solidFill>
                <a:latin typeface="Verdana"/>
                <a:cs typeface="Verdana"/>
              </a:rPr>
              <a:t>in</a:t>
            </a:r>
            <a:r>
              <a:rPr dirty="0" sz="1300" spc="-8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50">
                <a:solidFill>
                  <a:srgbClr val="013247"/>
                </a:solidFill>
                <a:latin typeface="Verdana"/>
                <a:cs typeface="Verdana"/>
              </a:rPr>
              <a:t>the</a:t>
            </a:r>
            <a:r>
              <a:rPr dirty="0" sz="1300" spc="-8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60">
                <a:solidFill>
                  <a:srgbClr val="013247"/>
                </a:solidFill>
                <a:latin typeface="Verdana"/>
                <a:cs typeface="Verdana"/>
              </a:rPr>
              <a:t>reports</a:t>
            </a:r>
            <a:r>
              <a:rPr dirty="0" sz="1300" spc="-9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25">
                <a:solidFill>
                  <a:srgbClr val="013247"/>
                </a:solidFill>
                <a:latin typeface="Verdana"/>
                <a:cs typeface="Verdana"/>
              </a:rPr>
              <a:t>on</a:t>
            </a:r>
            <a:r>
              <a:rPr dirty="0" sz="1300" spc="-8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60">
                <a:solidFill>
                  <a:srgbClr val="013247"/>
                </a:solidFill>
                <a:latin typeface="Verdana"/>
                <a:cs typeface="Verdana"/>
              </a:rPr>
              <a:t>Forms</a:t>
            </a:r>
            <a:r>
              <a:rPr dirty="0" sz="1300" spc="-8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90">
                <a:solidFill>
                  <a:srgbClr val="013247"/>
                </a:solidFill>
                <a:latin typeface="Verdana"/>
                <a:cs typeface="Verdana"/>
              </a:rPr>
              <a:t>10-</a:t>
            </a:r>
            <a:r>
              <a:rPr dirty="0" sz="1300" spc="-120">
                <a:solidFill>
                  <a:srgbClr val="013247"/>
                </a:solidFill>
                <a:latin typeface="Verdana"/>
                <a:cs typeface="Verdana"/>
              </a:rPr>
              <a:t>K,</a:t>
            </a:r>
            <a:r>
              <a:rPr dirty="0" sz="1300" spc="-90">
                <a:solidFill>
                  <a:srgbClr val="013247"/>
                </a:solidFill>
                <a:latin typeface="Verdana"/>
                <a:cs typeface="Verdana"/>
              </a:rPr>
              <a:t> 10-</a:t>
            </a:r>
            <a:r>
              <a:rPr dirty="0" sz="1300">
                <a:solidFill>
                  <a:srgbClr val="013247"/>
                </a:solidFill>
                <a:latin typeface="Verdana"/>
                <a:cs typeface="Verdana"/>
              </a:rPr>
              <a:t>Q</a:t>
            </a:r>
            <a:r>
              <a:rPr dirty="0" sz="1300" spc="-8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45">
                <a:solidFill>
                  <a:srgbClr val="013247"/>
                </a:solidFill>
                <a:latin typeface="Verdana"/>
                <a:cs typeface="Verdana"/>
              </a:rPr>
              <a:t>and</a:t>
            </a:r>
            <a:r>
              <a:rPr dirty="0" sz="1300" spc="-8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114">
                <a:solidFill>
                  <a:srgbClr val="013247"/>
                </a:solidFill>
                <a:latin typeface="Verdana"/>
                <a:cs typeface="Verdana"/>
              </a:rPr>
              <a:t>8-</a:t>
            </a:r>
            <a:r>
              <a:rPr dirty="0" sz="1300" spc="-105">
                <a:solidFill>
                  <a:srgbClr val="013247"/>
                </a:solidFill>
                <a:latin typeface="Verdana"/>
                <a:cs typeface="Verdana"/>
              </a:rPr>
              <a:t>K</a:t>
            </a:r>
            <a:r>
              <a:rPr dirty="0" sz="1300" spc="-9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45">
                <a:solidFill>
                  <a:srgbClr val="013247"/>
                </a:solidFill>
                <a:latin typeface="Verdana"/>
                <a:cs typeface="Verdana"/>
              </a:rPr>
              <a:t>and</a:t>
            </a:r>
            <a:r>
              <a:rPr dirty="0" sz="1300" spc="-8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40">
                <a:solidFill>
                  <a:srgbClr val="013247"/>
                </a:solidFill>
                <a:latin typeface="Verdana"/>
                <a:cs typeface="Verdana"/>
              </a:rPr>
              <a:t>in</a:t>
            </a:r>
            <a:r>
              <a:rPr dirty="0" sz="1300" spc="-8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50">
                <a:solidFill>
                  <a:srgbClr val="013247"/>
                </a:solidFill>
                <a:latin typeface="Verdana"/>
                <a:cs typeface="Verdana"/>
              </a:rPr>
              <a:t>other</a:t>
            </a:r>
            <a:r>
              <a:rPr dirty="0" sz="1300" spc="-9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60">
                <a:solidFill>
                  <a:srgbClr val="013247"/>
                </a:solidFill>
                <a:latin typeface="Verdana"/>
                <a:cs typeface="Verdana"/>
              </a:rPr>
              <a:t>filings</a:t>
            </a:r>
            <a:r>
              <a:rPr dirty="0" sz="1300" spc="-8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50">
                <a:solidFill>
                  <a:srgbClr val="013247"/>
                </a:solidFill>
                <a:latin typeface="Verdana"/>
                <a:cs typeface="Verdana"/>
              </a:rPr>
              <a:t>it</a:t>
            </a:r>
            <a:r>
              <a:rPr dirty="0" sz="1300" spc="-8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75">
                <a:solidFill>
                  <a:srgbClr val="013247"/>
                </a:solidFill>
                <a:latin typeface="Verdana"/>
                <a:cs typeface="Verdana"/>
              </a:rPr>
              <a:t>makes</a:t>
            </a:r>
            <a:r>
              <a:rPr dirty="0" sz="1300" spc="-9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50">
                <a:solidFill>
                  <a:srgbClr val="013247"/>
                </a:solidFill>
                <a:latin typeface="Verdana"/>
                <a:cs typeface="Verdana"/>
              </a:rPr>
              <a:t>with</a:t>
            </a:r>
            <a:r>
              <a:rPr dirty="0" sz="1300" spc="-8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50">
                <a:solidFill>
                  <a:srgbClr val="013247"/>
                </a:solidFill>
                <a:latin typeface="Verdana"/>
                <a:cs typeface="Verdana"/>
              </a:rPr>
              <a:t>the</a:t>
            </a:r>
            <a:r>
              <a:rPr dirty="0" sz="1300" spc="-8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70">
                <a:solidFill>
                  <a:srgbClr val="013247"/>
                </a:solidFill>
                <a:latin typeface="Verdana"/>
                <a:cs typeface="Verdana"/>
              </a:rPr>
              <a:t>Securities</a:t>
            </a:r>
            <a:r>
              <a:rPr dirty="0" sz="1300" spc="-8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45">
                <a:solidFill>
                  <a:srgbClr val="013247"/>
                </a:solidFill>
                <a:latin typeface="Verdana"/>
                <a:cs typeface="Verdana"/>
              </a:rPr>
              <a:t>and</a:t>
            </a:r>
            <a:r>
              <a:rPr dirty="0" sz="1300" spc="-9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70">
                <a:solidFill>
                  <a:srgbClr val="013247"/>
                </a:solidFill>
                <a:latin typeface="Verdana"/>
                <a:cs typeface="Verdana"/>
              </a:rPr>
              <a:t>Exchange</a:t>
            </a:r>
            <a:r>
              <a:rPr dirty="0" sz="1300" spc="-8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50">
                <a:solidFill>
                  <a:srgbClr val="013247"/>
                </a:solidFill>
                <a:latin typeface="Verdana"/>
                <a:cs typeface="Verdana"/>
              </a:rPr>
              <a:t>Commission</a:t>
            </a:r>
            <a:r>
              <a:rPr dirty="0" sz="1300" spc="-8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20">
                <a:solidFill>
                  <a:srgbClr val="013247"/>
                </a:solidFill>
                <a:latin typeface="Verdana"/>
                <a:cs typeface="Verdana"/>
              </a:rPr>
              <a:t>from </a:t>
            </a:r>
            <a:r>
              <a:rPr dirty="0" sz="1300" spc="-50">
                <a:solidFill>
                  <a:srgbClr val="013247"/>
                </a:solidFill>
                <a:latin typeface="Verdana"/>
                <a:cs typeface="Verdana"/>
              </a:rPr>
              <a:t>time</a:t>
            </a:r>
            <a:r>
              <a:rPr dirty="0" sz="1300" spc="-9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35">
                <a:solidFill>
                  <a:srgbClr val="013247"/>
                </a:solidFill>
                <a:latin typeface="Verdana"/>
                <a:cs typeface="Verdana"/>
              </a:rPr>
              <a:t>to</a:t>
            </a:r>
            <a:r>
              <a:rPr dirty="0" sz="1300" spc="-8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65">
                <a:solidFill>
                  <a:srgbClr val="013247"/>
                </a:solidFill>
                <a:latin typeface="Verdana"/>
                <a:cs typeface="Verdana"/>
              </a:rPr>
              <a:t>time.</a:t>
            </a:r>
            <a:r>
              <a:rPr dirty="0" sz="1300" spc="-8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70">
                <a:solidFill>
                  <a:srgbClr val="013247"/>
                </a:solidFill>
                <a:latin typeface="Verdana"/>
                <a:cs typeface="Verdana"/>
              </a:rPr>
              <a:t>These</a:t>
            </a:r>
            <a:r>
              <a:rPr dirty="0" sz="1300" spc="-9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45">
                <a:solidFill>
                  <a:srgbClr val="013247"/>
                </a:solidFill>
                <a:latin typeface="Verdana"/>
                <a:cs typeface="Verdana"/>
              </a:rPr>
              <a:t>documents</a:t>
            </a:r>
            <a:r>
              <a:rPr dirty="0" sz="1300" spc="-8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70">
                <a:solidFill>
                  <a:srgbClr val="013247"/>
                </a:solidFill>
                <a:latin typeface="Verdana"/>
                <a:cs typeface="Verdana"/>
              </a:rPr>
              <a:t>are</a:t>
            </a:r>
            <a:r>
              <a:rPr dirty="0" sz="1300" spc="-8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65">
                <a:solidFill>
                  <a:srgbClr val="013247"/>
                </a:solidFill>
                <a:latin typeface="Verdana"/>
                <a:cs typeface="Verdana"/>
              </a:rPr>
              <a:t>available</a:t>
            </a:r>
            <a:r>
              <a:rPr dirty="0" sz="1300" spc="-9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25">
                <a:solidFill>
                  <a:srgbClr val="013247"/>
                </a:solidFill>
                <a:latin typeface="Verdana"/>
                <a:cs typeface="Verdana"/>
              </a:rPr>
              <a:t>on</a:t>
            </a:r>
            <a:r>
              <a:rPr dirty="0" sz="1300" spc="-8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50">
                <a:solidFill>
                  <a:srgbClr val="013247"/>
                </a:solidFill>
                <a:latin typeface="Verdana"/>
                <a:cs typeface="Verdana"/>
              </a:rPr>
              <a:t>the</a:t>
            </a:r>
            <a:r>
              <a:rPr dirty="0" sz="1300" spc="-8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110">
                <a:solidFill>
                  <a:srgbClr val="013247"/>
                </a:solidFill>
                <a:latin typeface="Verdana"/>
                <a:cs typeface="Verdana"/>
              </a:rPr>
              <a:t>SEC</a:t>
            </a:r>
            <a:r>
              <a:rPr dirty="0" sz="1300" spc="-8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60">
                <a:solidFill>
                  <a:srgbClr val="013247"/>
                </a:solidFill>
                <a:latin typeface="Verdana"/>
                <a:cs typeface="Verdana"/>
              </a:rPr>
              <a:t>Filings</a:t>
            </a:r>
            <a:r>
              <a:rPr dirty="0" sz="1300" spc="-9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50">
                <a:solidFill>
                  <a:srgbClr val="013247"/>
                </a:solidFill>
                <a:latin typeface="Verdana"/>
                <a:cs typeface="Verdana"/>
              </a:rPr>
              <a:t>section</a:t>
            </a:r>
            <a:r>
              <a:rPr dirty="0" sz="1300" spc="-8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25">
                <a:solidFill>
                  <a:srgbClr val="013247"/>
                </a:solidFill>
                <a:latin typeface="Verdana"/>
                <a:cs typeface="Verdana"/>
              </a:rPr>
              <a:t>of</a:t>
            </a:r>
            <a:r>
              <a:rPr dirty="0" sz="1300" spc="-8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50">
                <a:solidFill>
                  <a:srgbClr val="013247"/>
                </a:solidFill>
                <a:latin typeface="Verdana"/>
                <a:cs typeface="Verdana"/>
              </a:rPr>
              <a:t>the</a:t>
            </a:r>
            <a:r>
              <a:rPr dirty="0" sz="1300" spc="-9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55">
                <a:solidFill>
                  <a:srgbClr val="013247"/>
                </a:solidFill>
                <a:latin typeface="Verdana"/>
                <a:cs typeface="Verdana"/>
              </a:rPr>
              <a:t>Financials</a:t>
            </a:r>
            <a:r>
              <a:rPr dirty="0" sz="1300" spc="-8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50">
                <a:solidFill>
                  <a:srgbClr val="013247"/>
                </a:solidFill>
                <a:latin typeface="Verdana"/>
                <a:cs typeface="Verdana"/>
              </a:rPr>
              <a:t>section</a:t>
            </a:r>
            <a:r>
              <a:rPr dirty="0" sz="1300" spc="-8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25">
                <a:solidFill>
                  <a:srgbClr val="013247"/>
                </a:solidFill>
                <a:latin typeface="Verdana"/>
                <a:cs typeface="Verdana"/>
              </a:rPr>
              <a:t>of</a:t>
            </a:r>
            <a:r>
              <a:rPr dirty="0" sz="1300" spc="-8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50">
                <a:solidFill>
                  <a:srgbClr val="013247"/>
                </a:solidFill>
                <a:latin typeface="Verdana"/>
                <a:cs typeface="Verdana"/>
              </a:rPr>
              <a:t>the</a:t>
            </a:r>
            <a:r>
              <a:rPr dirty="0" sz="1300" spc="-9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65">
                <a:solidFill>
                  <a:srgbClr val="013247"/>
                </a:solidFill>
                <a:latin typeface="Verdana"/>
                <a:cs typeface="Verdana"/>
              </a:rPr>
              <a:t>Company’s</a:t>
            </a:r>
            <a:r>
              <a:rPr dirty="0" sz="1300" spc="-8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55">
                <a:solidFill>
                  <a:srgbClr val="013247"/>
                </a:solidFill>
                <a:latin typeface="Verdana"/>
                <a:cs typeface="Verdana"/>
              </a:rPr>
              <a:t>website</a:t>
            </a:r>
            <a:r>
              <a:rPr dirty="0" sz="1300" spc="-8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25">
                <a:solidFill>
                  <a:srgbClr val="013247"/>
                </a:solidFill>
                <a:latin typeface="Verdana"/>
                <a:cs typeface="Verdana"/>
              </a:rPr>
              <a:t>at </a:t>
            </a:r>
            <a:r>
              <a:rPr dirty="0" sz="1300" spc="-55">
                <a:solidFill>
                  <a:srgbClr val="013247"/>
                </a:solidFill>
                <a:latin typeface="Verdana"/>
                <a:cs typeface="Verdana"/>
              </a:rPr>
              <a:t>investor.salesforce.com/financials/.</a:t>
            </a:r>
            <a:r>
              <a:rPr dirty="0" sz="1300" spc="-9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75">
                <a:solidFill>
                  <a:srgbClr val="013247"/>
                </a:solidFill>
                <a:latin typeface="Verdana"/>
                <a:cs typeface="Verdana"/>
              </a:rPr>
              <a:t>Salesforce,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75">
                <a:solidFill>
                  <a:srgbClr val="013247"/>
                </a:solidFill>
                <a:latin typeface="Verdana"/>
                <a:cs typeface="Verdana"/>
              </a:rPr>
              <a:t>Inc.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assumes </a:t>
            </a:r>
            <a:r>
              <a:rPr dirty="0" sz="1300" spc="-25">
                <a:solidFill>
                  <a:srgbClr val="013247"/>
                </a:solidFill>
                <a:latin typeface="Verdana"/>
                <a:cs typeface="Verdana"/>
              </a:rPr>
              <a:t>no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40">
                <a:solidFill>
                  <a:srgbClr val="013247"/>
                </a:solidFill>
                <a:latin typeface="Verdana"/>
                <a:cs typeface="Verdana"/>
              </a:rPr>
              <a:t>obligation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45">
                <a:solidFill>
                  <a:srgbClr val="013247"/>
                </a:solidFill>
                <a:latin typeface="Verdana"/>
                <a:cs typeface="Verdana"/>
              </a:rPr>
              <a:t>and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45">
                <a:solidFill>
                  <a:srgbClr val="013247"/>
                </a:solidFill>
                <a:latin typeface="Verdana"/>
                <a:cs typeface="Verdana"/>
              </a:rPr>
              <a:t>does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35">
                <a:solidFill>
                  <a:srgbClr val="013247"/>
                </a:solidFill>
                <a:latin typeface="Verdana"/>
                <a:cs typeface="Verdana"/>
              </a:rPr>
              <a:t>not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40">
                <a:solidFill>
                  <a:srgbClr val="013247"/>
                </a:solidFill>
                <a:latin typeface="Verdana"/>
                <a:cs typeface="Verdana"/>
              </a:rPr>
              <a:t>intend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35">
                <a:solidFill>
                  <a:srgbClr val="013247"/>
                </a:solidFill>
                <a:latin typeface="Verdana"/>
                <a:cs typeface="Verdana"/>
              </a:rPr>
              <a:t>to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revise </a:t>
            </a:r>
            <a:r>
              <a:rPr dirty="0" sz="1300" spc="-45">
                <a:solidFill>
                  <a:srgbClr val="013247"/>
                </a:solidFill>
                <a:latin typeface="Verdana"/>
                <a:cs typeface="Verdana"/>
              </a:rPr>
              <a:t>or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45">
                <a:solidFill>
                  <a:srgbClr val="013247"/>
                </a:solidFill>
                <a:latin typeface="Verdana"/>
                <a:cs typeface="Verdana"/>
              </a:rPr>
              <a:t>update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50">
                <a:solidFill>
                  <a:srgbClr val="013247"/>
                </a:solidFill>
                <a:latin typeface="Verdana"/>
                <a:cs typeface="Verdana"/>
              </a:rPr>
              <a:t>publicly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95">
                <a:solidFill>
                  <a:srgbClr val="013247"/>
                </a:solidFill>
                <a:latin typeface="Verdana"/>
                <a:cs typeface="Verdana"/>
              </a:rPr>
              <a:t>any </a:t>
            </a:r>
            <a:r>
              <a:rPr dirty="0" sz="1300" spc="-10">
                <a:solidFill>
                  <a:srgbClr val="013247"/>
                </a:solidFill>
                <a:latin typeface="Verdana"/>
                <a:cs typeface="Verdana"/>
              </a:rPr>
              <a:t>forward-</a:t>
            </a:r>
            <a:r>
              <a:rPr dirty="0" sz="1300" spc="-50">
                <a:solidFill>
                  <a:srgbClr val="013247"/>
                </a:solidFill>
                <a:latin typeface="Verdana"/>
                <a:cs typeface="Verdana"/>
              </a:rPr>
              <a:t>looking</a:t>
            </a:r>
            <a:r>
              <a:rPr dirty="0" sz="1300" spc="-8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65">
                <a:solidFill>
                  <a:srgbClr val="013247"/>
                </a:solidFill>
                <a:latin typeface="Verdana"/>
                <a:cs typeface="Verdana"/>
              </a:rPr>
              <a:t>statements</a:t>
            </a:r>
            <a:r>
              <a:rPr dirty="0" sz="1300" spc="-8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45">
                <a:solidFill>
                  <a:srgbClr val="013247"/>
                </a:solidFill>
                <a:latin typeface="Verdana"/>
                <a:cs typeface="Verdana"/>
              </a:rPr>
              <a:t>for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95">
                <a:solidFill>
                  <a:srgbClr val="013247"/>
                </a:solidFill>
                <a:latin typeface="Verdana"/>
                <a:cs typeface="Verdana"/>
              </a:rPr>
              <a:t>any</a:t>
            </a:r>
            <a:r>
              <a:rPr dirty="0" sz="1300" spc="-8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70">
                <a:solidFill>
                  <a:srgbClr val="013247"/>
                </a:solidFill>
                <a:latin typeface="Verdana"/>
                <a:cs typeface="Verdana"/>
              </a:rPr>
              <a:t>reason,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55">
                <a:solidFill>
                  <a:srgbClr val="013247"/>
                </a:solidFill>
                <a:latin typeface="Verdana"/>
                <a:cs typeface="Verdana"/>
              </a:rPr>
              <a:t>except</a:t>
            </a:r>
            <a:r>
              <a:rPr dirty="0" sz="1300" spc="-8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95">
                <a:solidFill>
                  <a:srgbClr val="013247"/>
                </a:solidFill>
                <a:latin typeface="Verdana"/>
                <a:cs typeface="Verdana"/>
              </a:rPr>
              <a:t>as</a:t>
            </a:r>
            <a:r>
              <a:rPr dirty="0" sz="1300" spc="-8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50">
                <a:solidFill>
                  <a:srgbClr val="013247"/>
                </a:solidFill>
                <a:latin typeface="Verdana"/>
                <a:cs typeface="Verdana"/>
              </a:rPr>
              <a:t>required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95">
                <a:solidFill>
                  <a:srgbClr val="013247"/>
                </a:solidFill>
                <a:latin typeface="Verdana"/>
                <a:cs typeface="Verdana"/>
              </a:rPr>
              <a:t>by</a:t>
            </a:r>
            <a:r>
              <a:rPr dirty="0" sz="1300" spc="-8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20">
                <a:solidFill>
                  <a:srgbClr val="013247"/>
                </a:solidFill>
                <a:latin typeface="Verdana"/>
                <a:cs typeface="Verdana"/>
              </a:rPr>
              <a:t>law.</a:t>
            </a:r>
            <a:endParaRPr sz="1300">
              <a:latin typeface="Verdana"/>
              <a:cs typeface="Verdana"/>
            </a:endParaRPr>
          </a:p>
          <a:p>
            <a:pPr marL="12700" marR="76835">
              <a:lnSpc>
                <a:spcPct val="100000"/>
              </a:lnSpc>
              <a:spcBef>
                <a:spcPts val="1560"/>
              </a:spcBef>
            </a:pPr>
            <a:r>
              <a:rPr dirty="0" sz="1300" spc="-70">
                <a:solidFill>
                  <a:srgbClr val="013247"/>
                </a:solidFill>
                <a:latin typeface="Verdana"/>
                <a:cs typeface="Verdana"/>
              </a:rPr>
              <a:t>This</a:t>
            </a:r>
            <a:r>
              <a:rPr dirty="0" sz="1300" spc="-7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55">
                <a:solidFill>
                  <a:srgbClr val="013247"/>
                </a:solidFill>
                <a:latin typeface="Verdana"/>
                <a:cs typeface="Verdana"/>
              </a:rPr>
              <a:t>presentation</a:t>
            </a:r>
            <a:r>
              <a:rPr dirty="0" sz="1300" spc="-7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45">
                <a:solidFill>
                  <a:srgbClr val="013247"/>
                </a:solidFill>
                <a:latin typeface="Verdana"/>
                <a:cs typeface="Verdana"/>
              </a:rPr>
              <a:t>includes</a:t>
            </a:r>
            <a:r>
              <a:rPr dirty="0" sz="1300" spc="-7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30">
                <a:solidFill>
                  <a:srgbClr val="013247"/>
                </a:solidFill>
                <a:latin typeface="Verdana"/>
                <a:cs typeface="Verdana"/>
              </a:rPr>
              <a:t>both</a:t>
            </a:r>
            <a:r>
              <a:rPr dirty="0" sz="1300" spc="-7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40">
                <a:solidFill>
                  <a:srgbClr val="013247"/>
                </a:solidFill>
                <a:latin typeface="Verdana"/>
                <a:cs typeface="Verdana"/>
              </a:rPr>
              <a:t>GAAP</a:t>
            </a:r>
            <a:r>
              <a:rPr dirty="0" sz="1300" spc="-7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45">
                <a:solidFill>
                  <a:srgbClr val="013247"/>
                </a:solidFill>
                <a:latin typeface="Verdana"/>
                <a:cs typeface="Verdana"/>
              </a:rPr>
              <a:t>and</a:t>
            </a:r>
            <a:r>
              <a:rPr dirty="0" sz="1300" spc="-70">
                <a:solidFill>
                  <a:srgbClr val="013247"/>
                </a:solidFill>
                <a:latin typeface="Verdana"/>
                <a:cs typeface="Verdana"/>
              </a:rPr>
              <a:t> non-</a:t>
            </a:r>
            <a:r>
              <a:rPr dirty="0" sz="1300" spc="-40">
                <a:solidFill>
                  <a:srgbClr val="013247"/>
                </a:solidFill>
                <a:latin typeface="Verdana"/>
                <a:cs typeface="Verdana"/>
              </a:rPr>
              <a:t>GAAP</a:t>
            </a:r>
            <a:r>
              <a:rPr dirty="0" sz="1300" spc="-7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45">
                <a:solidFill>
                  <a:srgbClr val="013247"/>
                </a:solidFill>
                <a:latin typeface="Verdana"/>
                <a:cs typeface="Verdana"/>
              </a:rPr>
              <a:t>financial</a:t>
            </a:r>
            <a:r>
              <a:rPr dirty="0" sz="1300" spc="-7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measures.</a:t>
            </a:r>
            <a:r>
              <a:rPr dirty="0" sz="1300" spc="-7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40">
                <a:solidFill>
                  <a:srgbClr val="013247"/>
                </a:solidFill>
                <a:latin typeface="Verdana"/>
                <a:cs typeface="Verdana"/>
              </a:rPr>
              <a:t>An</a:t>
            </a:r>
            <a:r>
              <a:rPr dirty="0" sz="1300" spc="-7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50">
                <a:solidFill>
                  <a:srgbClr val="013247"/>
                </a:solidFill>
                <a:latin typeface="Verdana"/>
                <a:cs typeface="Verdana"/>
              </a:rPr>
              <a:t>explanation</a:t>
            </a:r>
            <a:r>
              <a:rPr dirty="0" sz="1300" spc="-7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25">
                <a:solidFill>
                  <a:srgbClr val="013247"/>
                </a:solidFill>
                <a:latin typeface="Verdana"/>
                <a:cs typeface="Verdana"/>
              </a:rPr>
              <a:t>of</a:t>
            </a:r>
            <a:r>
              <a:rPr dirty="0" sz="1300" spc="-7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70">
                <a:solidFill>
                  <a:srgbClr val="013247"/>
                </a:solidFill>
                <a:latin typeface="Verdana"/>
                <a:cs typeface="Verdana"/>
              </a:rPr>
              <a:t>non-</a:t>
            </a:r>
            <a:r>
              <a:rPr dirty="0" sz="1300" spc="-40">
                <a:solidFill>
                  <a:srgbClr val="013247"/>
                </a:solidFill>
                <a:latin typeface="Verdana"/>
                <a:cs typeface="Verdana"/>
              </a:rPr>
              <a:t>GAAP</a:t>
            </a:r>
            <a:r>
              <a:rPr dirty="0" sz="1300" spc="-7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45">
                <a:solidFill>
                  <a:srgbClr val="013247"/>
                </a:solidFill>
                <a:latin typeface="Verdana"/>
                <a:cs typeface="Verdana"/>
              </a:rPr>
              <a:t>financial</a:t>
            </a:r>
            <a:r>
              <a:rPr dirty="0" sz="1300" spc="-7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measures,</a:t>
            </a:r>
            <a:r>
              <a:rPr dirty="0" sz="1300" spc="-7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95">
                <a:solidFill>
                  <a:srgbClr val="013247"/>
                </a:solidFill>
                <a:latin typeface="Verdana"/>
                <a:cs typeface="Verdana"/>
              </a:rPr>
              <a:t>why</a:t>
            </a:r>
            <a:r>
              <a:rPr dirty="0" sz="1300" spc="-7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25">
                <a:solidFill>
                  <a:srgbClr val="013247"/>
                </a:solidFill>
                <a:latin typeface="Verdana"/>
                <a:cs typeface="Verdana"/>
              </a:rPr>
              <a:t>we </a:t>
            </a:r>
            <a:r>
              <a:rPr dirty="0" sz="1300" spc="-60">
                <a:solidFill>
                  <a:srgbClr val="013247"/>
                </a:solidFill>
                <a:latin typeface="Verdana"/>
                <a:cs typeface="Verdana"/>
              </a:rPr>
              <a:t>believe</a:t>
            </a:r>
            <a:r>
              <a:rPr dirty="0" sz="1300" spc="-8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65">
                <a:solidFill>
                  <a:srgbClr val="013247"/>
                </a:solidFill>
                <a:latin typeface="Verdana"/>
                <a:cs typeface="Verdana"/>
              </a:rPr>
              <a:t>these</a:t>
            </a:r>
            <a:r>
              <a:rPr dirty="0" sz="1300" spc="-8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70">
                <a:solidFill>
                  <a:srgbClr val="013247"/>
                </a:solidFill>
                <a:latin typeface="Verdana"/>
                <a:cs typeface="Verdana"/>
              </a:rPr>
              <a:t>measures</a:t>
            </a:r>
            <a:r>
              <a:rPr dirty="0" sz="1300" spc="-8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50">
                <a:solidFill>
                  <a:srgbClr val="013247"/>
                </a:solidFill>
                <a:latin typeface="Verdana"/>
                <a:cs typeface="Verdana"/>
              </a:rPr>
              <a:t>can</a:t>
            </a:r>
            <a:r>
              <a:rPr dirty="0" sz="1300" spc="-8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35">
                <a:solidFill>
                  <a:srgbClr val="013247"/>
                </a:solidFill>
                <a:latin typeface="Verdana"/>
                <a:cs typeface="Verdana"/>
              </a:rPr>
              <a:t>be</a:t>
            </a:r>
            <a:r>
              <a:rPr dirty="0" sz="1300" spc="-8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50">
                <a:solidFill>
                  <a:srgbClr val="013247"/>
                </a:solidFill>
                <a:latin typeface="Verdana"/>
                <a:cs typeface="Verdana"/>
              </a:rPr>
              <a:t>helpful,</a:t>
            </a:r>
            <a:r>
              <a:rPr dirty="0" sz="1300" spc="-8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45">
                <a:solidFill>
                  <a:srgbClr val="013247"/>
                </a:solidFill>
                <a:latin typeface="Verdana"/>
                <a:cs typeface="Verdana"/>
              </a:rPr>
              <a:t>and</a:t>
            </a:r>
            <a:r>
              <a:rPr dirty="0" sz="1300" spc="-8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75">
                <a:solidFill>
                  <a:srgbClr val="013247"/>
                </a:solidFill>
                <a:latin typeface="Verdana"/>
                <a:cs typeface="Verdana"/>
              </a:rPr>
              <a:t>a</a:t>
            </a:r>
            <a:r>
              <a:rPr dirty="0" sz="1300" spc="-8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40">
                <a:solidFill>
                  <a:srgbClr val="013247"/>
                </a:solidFill>
                <a:latin typeface="Verdana"/>
                <a:cs typeface="Verdana"/>
              </a:rPr>
              <a:t>reconciliation</a:t>
            </a:r>
            <a:r>
              <a:rPr dirty="0" sz="1300" spc="-8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25">
                <a:solidFill>
                  <a:srgbClr val="013247"/>
                </a:solidFill>
                <a:latin typeface="Verdana"/>
                <a:cs typeface="Verdana"/>
              </a:rPr>
              <a:t>of</a:t>
            </a:r>
            <a:r>
              <a:rPr dirty="0" sz="1300" spc="-8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70">
                <a:solidFill>
                  <a:srgbClr val="013247"/>
                </a:solidFill>
                <a:latin typeface="Verdana"/>
                <a:cs typeface="Verdana"/>
              </a:rPr>
              <a:t>non-</a:t>
            </a:r>
            <a:r>
              <a:rPr dirty="0" sz="1300" spc="-40">
                <a:solidFill>
                  <a:srgbClr val="013247"/>
                </a:solidFill>
                <a:latin typeface="Verdana"/>
                <a:cs typeface="Verdana"/>
              </a:rPr>
              <a:t>GAAP</a:t>
            </a:r>
            <a:r>
              <a:rPr dirty="0" sz="1300" spc="-8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45">
                <a:solidFill>
                  <a:srgbClr val="013247"/>
                </a:solidFill>
                <a:latin typeface="Verdana"/>
                <a:cs typeface="Verdana"/>
              </a:rPr>
              <a:t>financial</a:t>
            </a:r>
            <a:r>
              <a:rPr dirty="0" sz="1300" spc="-8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70">
                <a:solidFill>
                  <a:srgbClr val="013247"/>
                </a:solidFill>
                <a:latin typeface="Verdana"/>
                <a:cs typeface="Verdana"/>
              </a:rPr>
              <a:t>measures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35">
                <a:solidFill>
                  <a:srgbClr val="013247"/>
                </a:solidFill>
                <a:latin typeface="Verdana"/>
                <a:cs typeface="Verdana"/>
              </a:rPr>
              <a:t>to</a:t>
            </a:r>
            <a:r>
              <a:rPr dirty="0" sz="1300" spc="-8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50">
                <a:solidFill>
                  <a:srgbClr val="013247"/>
                </a:solidFill>
                <a:latin typeface="Verdana"/>
                <a:cs typeface="Verdana"/>
              </a:rPr>
              <a:t>the</a:t>
            </a:r>
            <a:r>
              <a:rPr dirty="0" sz="1300" spc="-8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55">
                <a:solidFill>
                  <a:srgbClr val="013247"/>
                </a:solidFill>
                <a:latin typeface="Verdana"/>
                <a:cs typeface="Verdana"/>
              </a:rPr>
              <a:t>most</a:t>
            </a:r>
            <a:r>
              <a:rPr dirty="0" sz="1300" spc="-8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45">
                <a:solidFill>
                  <a:srgbClr val="013247"/>
                </a:solidFill>
                <a:latin typeface="Verdana"/>
                <a:cs typeface="Verdana"/>
              </a:rPr>
              <a:t>comparable</a:t>
            </a:r>
            <a:r>
              <a:rPr dirty="0" sz="1300" spc="-8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40">
                <a:solidFill>
                  <a:srgbClr val="013247"/>
                </a:solidFill>
                <a:latin typeface="Verdana"/>
                <a:cs typeface="Verdana"/>
              </a:rPr>
              <a:t>GAAP</a:t>
            </a:r>
            <a:r>
              <a:rPr dirty="0" sz="1300" spc="-8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10">
                <a:solidFill>
                  <a:srgbClr val="013247"/>
                </a:solidFill>
                <a:latin typeface="Verdana"/>
                <a:cs typeface="Verdana"/>
              </a:rPr>
              <a:t>measures, </a:t>
            </a:r>
            <a:r>
              <a:rPr dirty="0" sz="1300" spc="-50">
                <a:solidFill>
                  <a:srgbClr val="013247"/>
                </a:solidFill>
                <a:latin typeface="Verdana"/>
                <a:cs typeface="Verdana"/>
              </a:rPr>
              <a:t>when</a:t>
            </a:r>
            <a:r>
              <a:rPr dirty="0" sz="1300" spc="-8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50">
                <a:solidFill>
                  <a:srgbClr val="013247"/>
                </a:solidFill>
                <a:latin typeface="Verdana"/>
                <a:cs typeface="Verdana"/>
              </a:rPr>
              <a:t>applicable,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70">
                <a:solidFill>
                  <a:srgbClr val="013247"/>
                </a:solidFill>
                <a:latin typeface="Verdana"/>
                <a:cs typeface="Verdana"/>
              </a:rPr>
              <a:t>are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35">
                <a:solidFill>
                  <a:srgbClr val="013247"/>
                </a:solidFill>
                <a:latin typeface="Verdana"/>
                <a:cs typeface="Verdana"/>
              </a:rPr>
              <a:t>included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40">
                <a:solidFill>
                  <a:srgbClr val="013247"/>
                </a:solidFill>
                <a:latin typeface="Verdana"/>
                <a:cs typeface="Verdana"/>
              </a:rPr>
              <a:t>in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50">
                <a:solidFill>
                  <a:srgbClr val="013247"/>
                </a:solidFill>
                <a:latin typeface="Verdana"/>
                <a:cs typeface="Verdana"/>
              </a:rPr>
              <a:t>the</a:t>
            </a:r>
            <a:r>
              <a:rPr dirty="0" sz="1300" spc="-8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40">
                <a:solidFill>
                  <a:srgbClr val="013247"/>
                </a:solidFill>
                <a:latin typeface="Verdana"/>
                <a:cs typeface="Verdana"/>
              </a:rPr>
              <a:t>Appendix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35">
                <a:solidFill>
                  <a:srgbClr val="013247"/>
                </a:solidFill>
                <a:latin typeface="Verdana"/>
                <a:cs typeface="Verdana"/>
              </a:rPr>
              <a:t>to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60">
                <a:solidFill>
                  <a:srgbClr val="013247"/>
                </a:solidFill>
                <a:latin typeface="Verdana"/>
                <a:cs typeface="Verdana"/>
              </a:rPr>
              <a:t>this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55">
                <a:solidFill>
                  <a:srgbClr val="013247"/>
                </a:solidFill>
                <a:latin typeface="Verdana"/>
                <a:cs typeface="Verdana"/>
              </a:rPr>
              <a:t>presentation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45">
                <a:solidFill>
                  <a:srgbClr val="013247"/>
                </a:solidFill>
                <a:latin typeface="Verdana"/>
                <a:cs typeface="Verdana"/>
              </a:rPr>
              <a:t>and</a:t>
            </a:r>
            <a:r>
              <a:rPr dirty="0" sz="1300" spc="-8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40">
                <a:solidFill>
                  <a:srgbClr val="013247"/>
                </a:solidFill>
                <a:latin typeface="Verdana"/>
                <a:cs typeface="Verdana"/>
              </a:rPr>
              <a:t>in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45">
                <a:solidFill>
                  <a:srgbClr val="013247"/>
                </a:solidFill>
                <a:latin typeface="Verdana"/>
                <a:cs typeface="Verdana"/>
              </a:rPr>
              <a:t>our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55">
                <a:solidFill>
                  <a:srgbClr val="013247"/>
                </a:solidFill>
                <a:latin typeface="Verdana"/>
                <a:cs typeface="Verdana"/>
              </a:rPr>
              <a:t>most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55">
                <a:solidFill>
                  <a:srgbClr val="013247"/>
                </a:solidFill>
                <a:latin typeface="Verdana"/>
                <a:cs typeface="Verdana"/>
              </a:rPr>
              <a:t>recent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70">
                <a:solidFill>
                  <a:srgbClr val="013247"/>
                </a:solidFill>
                <a:latin typeface="Verdana"/>
                <a:cs typeface="Verdana"/>
              </a:rPr>
              <a:t>earnings</a:t>
            </a:r>
            <a:r>
              <a:rPr dirty="0" sz="1300" spc="-8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75">
                <a:solidFill>
                  <a:srgbClr val="013247"/>
                </a:solidFill>
                <a:latin typeface="Verdana"/>
                <a:cs typeface="Verdana"/>
              </a:rPr>
              <a:t>press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75">
                <a:solidFill>
                  <a:srgbClr val="013247"/>
                </a:solidFill>
                <a:latin typeface="Verdana"/>
                <a:cs typeface="Verdana"/>
              </a:rPr>
              <a:t>release,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45">
                <a:solidFill>
                  <a:srgbClr val="013247"/>
                </a:solidFill>
                <a:latin typeface="Verdana"/>
                <a:cs typeface="Verdana"/>
              </a:rPr>
              <a:t>which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70">
                <a:solidFill>
                  <a:srgbClr val="013247"/>
                </a:solidFill>
                <a:latin typeface="Verdana"/>
                <a:cs typeface="Verdana"/>
              </a:rPr>
              <a:t>are</a:t>
            </a:r>
            <a:r>
              <a:rPr dirty="0" sz="1300" spc="-80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65">
                <a:solidFill>
                  <a:srgbClr val="013247"/>
                </a:solidFill>
                <a:latin typeface="Verdana"/>
                <a:cs typeface="Verdana"/>
              </a:rPr>
              <a:t>available</a:t>
            </a:r>
            <a:r>
              <a:rPr dirty="0" sz="1300" spc="-85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300" spc="-25">
                <a:solidFill>
                  <a:srgbClr val="013247"/>
                </a:solidFill>
                <a:latin typeface="Verdana"/>
                <a:cs typeface="Verdana"/>
              </a:rPr>
              <a:t>at investor.salesforce.com/financials/.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60960">
              <a:lnSpc>
                <a:spcPct val="100000"/>
              </a:lnSpc>
              <a:spcBef>
                <a:spcPts val="90"/>
              </a:spcBef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66293" y="2783459"/>
            <a:ext cx="5414645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130">
                <a:solidFill>
                  <a:srgbClr val="022C60"/>
                </a:solidFill>
              </a:rPr>
              <a:t>Q2</a:t>
            </a:r>
            <a:r>
              <a:rPr dirty="0" sz="4800" spc="-65">
                <a:solidFill>
                  <a:srgbClr val="022C60"/>
                </a:solidFill>
              </a:rPr>
              <a:t> </a:t>
            </a:r>
            <a:r>
              <a:rPr dirty="0" sz="4800" spc="-180">
                <a:solidFill>
                  <a:srgbClr val="022C60"/>
                </a:solidFill>
              </a:rPr>
              <a:t>FY27</a:t>
            </a:r>
            <a:r>
              <a:rPr dirty="0" sz="4800" spc="-65">
                <a:solidFill>
                  <a:srgbClr val="022C60"/>
                </a:solidFill>
              </a:rPr>
              <a:t> </a:t>
            </a:r>
            <a:r>
              <a:rPr dirty="0" sz="4800" spc="-110">
                <a:solidFill>
                  <a:srgbClr val="022C60"/>
                </a:solidFill>
              </a:rPr>
              <a:t>Highlights</a:t>
            </a:r>
            <a:endParaRPr sz="4800"/>
          </a:p>
        </p:txBody>
      </p:sp>
      <p:sp>
        <p:nvSpPr>
          <p:cNvPr id="4" name="object 4"/>
          <p:cNvSpPr txBox="1"/>
          <p:nvPr/>
        </p:nvSpPr>
        <p:spPr>
          <a:xfrm>
            <a:off x="566293" y="3656901"/>
            <a:ext cx="2059939" cy="801370"/>
          </a:xfrm>
          <a:prstGeom prst="rect">
            <a:avLst/>
          </a:prstGeom>
        </p:spPr>
        <p:txBody>
          <a:bodyPr wrap="square" lIns="0" tIns="546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dirty="0" sz="2600" spc="-20" b="1">
                <a:solidFill>
                  <a:srgbClr val="022C5F"/>
                </a:solidFill>
                <a:latin typeface="Tahoma"/>
                <a:cs typeface="Tahoma"/>
              </a:rPr>
              <a:t>Marc</a:t>
            </a:r>
            <a:r>
              <a:rPr dirty="0" sz="2600" spc="-155" b="1">
                <a:solidFill>
                  <a:srgbClr val="022C5F"/>
                </a:solidFill>
                <a:latin typeface="Tahoma"/>
                <a:cs typeface="Tahoma"/>
              </a:rPr>
              <a:t> </a:t>
            </a:r>
            <a:r>
              <a:rPr dirty="0" sz="2600" spc="-40" b="1">
                <a:solidFill>
                  <a:srgbClr val="022C5F"/>
                </a:solidFill>
                <a:latin typeface="Tahoma"/>
                <a:cs typeface="Tahoma"/>
              </a:rPr>
              <a:t>Benioff</a:t>
            </a:r>
            <a:endParaRPr sz="2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 sz="2000" spc="-80">
                <a:solidFill>
                  <a:srgbClr val="022C5F"/>
                </a:solidFill>
                <a:latin typeface="Verdana"/>
                <a:cs typeface="Verdana"/>
              </a:rPr>
              <a:t>Chair</a:t>
            </a:r>
            <a:r>
              <a:rPr dirty="0" sz="2000" spc="-16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2000" spc="-60">
                <a:solidFill>
                  <a:srgbClr val="022C5F"/>
                </a:solidFill>
                <a:latin typeface="Verdana"/>
                <a:cs typeface="Verdana"/>
              </a:rPr>
              <a:t>and</a:t>
            </a:r>
            <a:r>
              <a:rPr dirty="0" sz="2000" spc="-16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2000" spc="-25">
                <a:solidFill>
                  <a:srgbClr val="022C5F"/>
                </a:solidFill>
                <a:latin typeface="Verdana"/>
                <a:cs typeface="Verdana"/>
              </a:rPr>
              <a:t>CEO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60960">
              <a:lnSpc>
                <a:spcPct val="100000"/>
              </a:lnSpc>
              <a:spcBef>
                <a:spcPts val="90"/>
              </a:spcBef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60960">
              <a:lnSpc>
                <a:spcPct val="100000"/>
              </a:lnSpc>
              <a:spcBef>
                <a:spcPts val="90"/>
              </a:spcBef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60960">
              <a:lnSpc>
                <a:spcPct val="100000"/>
              </a:lnSpc>
              <a:spcBef>
                <a:spcPts val="90"/>
              </a:spcBef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60960">
              <a:lnSpc>
                <a:spcPct val="100000"/>
              </a:lnSpc>
              <a:spcBef>
                <a:spcPts val="90"/>
              </a:spcBef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66293" y="2335910"/>
            <a:ext cx="5414645" cy="1415415"/>
          </a:xfrm>
          <a:prstGeom prst="rect"/>
        </p:spPr>
        <p:txBody>
          <a:bodyPr wrap="square" lIns="0" tIns="95885" rIns="0" bIns="0" rtlCol="0" vert="horz">
            <a:spAutoFit/>
          </a:bodyPr>
          <a:lstStyle/>
          <a:p>
            <a:pPr marL="12700" marR="5080">
              <a:lnSpc>
                <a:spcPts val="5180"/>
              </a:lnSpc>
              <a:spcBef>
                <a:spcPts val="755"/>
              </a:spcBef>
            </a:pPr>
            <a:r>
              <a:rPr dirty="0" sz="4800" spc="130">
                <a:solidFill>
                  <a:srgbClr val="022C60"/>
                </a:solidFill>
              </a:rPr>
              <a:t>Q2</a:t>
            </a:r>
            <a:r>
              <a:rPr dirty="0" sz="4800" spc="-65">
                <a:solidFill>
                  <a:srgbClr val="022C60"/>
                </a:solidFill>
              </a:rPr>
              <a:t> </a:t>
            </a:r>
            <a:r>
              <a:rPr dirty="0" sz="4800" spc="-180">
                <a:solidFill>
                  <a:srgbClr val="022C60"/>
                </a:solidFill>
              </a:rPr>
              <a:t>FY27</a:t>
            </a:r>
            <a:r>
              <a:rPr dirty="0" sz="4800" spc="-65">
                <a:solidFill>
                  <a:srgbClr val="022C60"/>
                </a:solidFill>
              </a:rPr>
              <a:t> </a:t>
            </a:r>
            <a:r>
              <a:rPr dirty="0" sz="4800" spc="-114"/>
              <a:t>Highlights </a:t>
            </a:r>
            <a:r>
              <a:rPr dirty="0" sz="4800"/>
              <a:t>&amp;</a:t>
            </a:r>
            <a:r>
              <a:rPr dirty="0" sz="4800" spc="-200"/>
              <a:t> </a:t>
            </a:r>
            <a:r>
              <a:rPr dirty="0" sz="4800" spc="160"/>
              <a:t>Guidance</a:t>
            </a:r>
            <a:endParaRPr sz="4800"/>
          </a:p>
        </p:txBody>
      </p:sp>
      <p:sp>
        <p:nvSpPr>
          <p:cNvPr id="4" name="object 4"/>
          <p:cNvSpPr txBox="1"/>
          <p:nvPr/>
        </p:nvSpPr>
        <p:spPr>
          <a:xfrm>
            <a:off x="566293" y="3867848"/>
            <a:ext cx="6103620" cy="801370"/>
          </a:xfrm>
          <a:prstGeom prst="rect">
            <a:avLst/>
          </a:prstGeom>
        </p:spPr>
        <p:txBody>
          <a:bodyPr wrap="square" lIns="0" tIns="546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dirty="0" sz="2600" spc="-35" b="1">
                <a:solidFill>
                  <a:srgbClr val="022C5F"/>
                </a:solidFill>
                <a:latin typeface="Tahoma"/>
                <a:cs typeface="Tahoma"/>
              </a:rPr>
              <a:t>Robin</a:t>
            </a:r>
            <a:r>
              <a:rPr dirty="0" sz="2600" spc="-155" b="1">
                <a:solidFill>
                  <a:srgbClr val="022C5F"/>
                </a:solidFill>
                <a:latin typeface="Tahoma"/>
                <a:cs typeface="Tahoma"/>
              </a:rPr>
              <a:t> </a:t>
            </a:r>
            <a:r>
              <a:rPr dirty="0" sz="2600" spc="-10" b="1">
                <a:solidFill>
                  <a:srgbClr val="022C5F"/>
                </a:solidFill>
                <a:latin typeface="Tahoma"/>
                <a:cs typeface="Tahoma"/>
              </a:rPr>
              <a:t>Washington</a:t>
            </a:r>
            <a:endParaRPr sz="2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 sz="2000" spc="-70">
                <a:solidFill>
                  <a:srgbClr val="022C5F"/>
                </a:solidFill>
                <a:latin typeface="Verdana"/>
                <a:cs typeface="Verdana"/>
              </a:rPr>
              <a:t>President</a:t>
            </a:r>
            <a:r>
              <a:rPr dirty="0" sz="2000" spc="-15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2000" spc="-60">
                <a:solidFill>
                  <a:srgbClr val="022C5F"/>
                </a:solidFill>
                <a:latin typeface="Verdana"/>
                <a:cs typeface="Verdana"/>
              </a:rPr>
              <a:t>and</a:t>
            </a:r>
            <a:r>
              <a:rPr dirty="0" sz="2000" spc="-14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2000" spc="-55">
                <a:solidFill>
                  <a:srgbClr val="022C5F"/>
                </a:solidFill>
                <a:latin typeface="Verdana"/>
                <a:cs typeface="Verdana"/>
              </a:rPr>
              <a:t>Chief</a:t>
            </a:r>
            <a:r>
              <a:rPr dirty="0" sz="2000" spc="-14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2000" spc="-70">
                <a:solidFill>
                  <a:srgbClr val="022C5F"/>
                </a:solidFill>
                <a:latin typeface="Verdana"/>
                <a:cs typeface="Verdana"/>
              </a:rPr>
              <a:t>Operating</a:t>
            </a:r>
            <a:r>
              <a:rPr dirty="0" sz="2000" spc="-15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2000" spc="-60">
                <a:solidFill>
                  <a:srgbClr val="022C5F"/>
                </a:solidFill>
                <a:latin typeface="Verdana"/>
                <a:cs typeface="Verdana"/>
              </a:rPr>
              <a:t>and</a:t>
            </a:r>
            <a:r>
              <a:rPr dirty="0" sz="2000" spc="-14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2000" spc="-65">
                <a:solidFill>
                  <a:srgbClr val="022C5F"/>
                </a:solidFill>
                <a:latin typeface="Verdana"/>
                <a:cs typeface="Verdana"/>
              </a:rPr>
              <a:t>Financial</a:t>
            </a:r>
            <a:r>
              <a:rPr dirty="0" sz="2000" spc="-14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2000" spc="-10">
                <a:solidFill>
                  <a:srgbClr val="022C5F"/>
                </a:solidFill>
                <a:latin typeface="Verdana"/>
                <a:cs typeface="Verdana"/>
              </a:rPr>
              <a:t>Officer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60960">
              <a:lnSpc>
                <a:spcPct val="100000"/>
              </a:lnSpc>
              <a:spcBef>
                <a:spcPts val="90"/>
              </a:spcBef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0" y="0"/>
            <a:ext cx="12192000" cy="5943600"/>
            <a:chOff x="0" y="0"/>
            <a:chExt cx="12192000" cy="594360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12192000" cy="5943600"/>
            </a:xfrm>
            <a:custGeom>
              <a:avLst/>
              <a:gdLst/>
              <a:ahLst/>
              <a:cxnLst/>
              <a:rect l="l" t="t" r="r" b="b"/>
              <a:pathLst>
                <a:path w="12192000" h="5943600">
                  <a:moveTo>
                    <a:pt x="0" y="5943600"/>
                  </a:moveTo>
                  <a:lnTo>
                    <a:pt x="12192000" y="5943600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5943600"/>
                  </a:lnTo>
                  <a:close/>
                </a:path>
              </a:pathLst>
            </a:custGeom>
            <a:solidFill>
              <a:srgbClr val="CEE9F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033252" y="565404"/>
              <a:ext cx="635634" cy="44500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72656" y="2095500"/>
              <a:ext cx="4019803" cy="167309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505873" y="1781096"/>
              <a:ext cx="1805939" cy="3159125"/>
            </a:xfrm>
            <a:custGeom>
              <a:avLst/>
              <a:gdLst/>
              <a:ahLst/>
              <a:cxnLst/>
              <a:rect l="l" t="t" r="r" b="b"/>
              <a:pathLst>
                <a:path w="1805940" h="3159125">
                  <a:moveTo>
                    <a:pt x="1197345" y="3158968"/>
                  </a:moveTo>
                  <a:lnTo>
                    <a:pt x="367" y="1806534"/>
                  </a:lnTo>
                  <a:lnTo>
                    <a:pt x="0" y="0"/>
                  </a:lnTo>
                  <a:lnTo>
                    <a:pt x="48815" y="645"/>
                  </a:lnTo>
                  <a:lnTo>
                    <a:pt x="97390" y="2594"/>
                  </a:lnTo>
                  <a:lnTo>
                    <a:pt x="145702" y="5831"/>
                  </a:lnTo>
                  <a:lnTo>
                    <a:pt x="193732" y="10343"/>
                  </a:lnTo>
                  <a:lnTo>
                    <a:pt x="241460" y="16115"/>
                  </a:lnTo>
                  <a:lnTo>
                    <a:pt x="288866" y="23134"/>
                  </a:lnTo>
                  <a:lnTo>
                    <a:pt x="335929" y="31386"/>
                  </a:lnTo>
                  <a:lnTo>
                    <a:pt x="382628" y="40857"/>
                  </a:lnTo>
                  <a:lnTo>
                    <a:pt x="428945" y="51532"/>
                  </a:lnTo>
                  <a:lnTo>
                    <a:pt x="474858" y="63399"/>
                  </a:lnTo>
                  <a:lnTo>
                    <a:pt x="520347" y="76442"/>
                  </a:lnTo>
                  <a:lnTo>
                    <a:pt x="565393" y="90648"/>
                  </a:lnTo>
                  <a:lnTo>
                    <a:pt x="609975" y="106003"/>
                  </a:lnTo>
                  <a:lnTo>
                    <a:pt x="654072" y="122493"/>
                  </a:lnTo>
                  <a:lnTo>
                    <a:pt x="697664" y="140105"/>
                  </a:lnTo>
                  <a:lnTo>
                    <a:pt x="740732" y="158823"/>
                  </a:lnTo>
                  <a:lnTo>
                    <a:pt x="783256" y="178634"/>
                  </a:lnTo>
                  <a:lnTo>
                    <a:pt x="825213" y="199525"/>
                  </a:lnTo>
                  <a:lnTo>
                    <a:pt x="866586" y="221481"/>
                  </a:lnTo>
                  <a:lnTo>
                    <a:pt x="907353" y="244488"/>
                  </a:lnTo>
                  <a:lnTo>
                    <a:pt x="947494" y="268532"/>
                  </a:lnTo>
                  <a:lnTo>
                    <a:pt x="986989" y="293599"/>
                  </a:lnTo>
                  <a:lnTo>
                    <a:pt x="1025817" y="319676"/>
                  </a:lnTo>
                  <a:lnTo>
                    <a:pt x="1063960" y="346749"/>
                  </a:lnTo>
                  <a:lnTo>
                    <a:pt x="1101395" y="374802"/>
                  </a:lnTo>
                  <a:lnTo>
                    <a:pt x="1138104" y="403824"/>
                  </a:lnTo>
                  <a:lnTo>
                    <a:pt x="1174065" y="433798"/>
                  </a:lnTo>
                  <a:lnTo>
                    <a:pt x="1209259" y="464713"/>
                  </a:lnTo>
                  <a:lnTo>
                    <a:pt x="1243666" y="496552"/>
                  </a:lnTo>
                  <a:lnTo>
                    <a:pt x="1277264" y="529304"/>
                  </a:lnTo>
                  <a:lnTo>
                    <a:pt x="1310035" y="562953"/>
                  </a:lnTo>
                  <a:lnTo>
                    <a:pt x="1341957" y="597486"/>
                  </a:lnTo>
                  <a:lnTo>
                    <a:pt x="1373011" y="632888"/>
                  </a:lnTo>
                  <a:lnTo>
                    <a:pt x="1403176" y="669147"/>
                  </a:lnTo>
                  <a:lnTo>
                    <a:pt x="1432432" y="706247"/>
                  </a:lnTo>
                  <a:lnTo>
                    <a:pt x="1460759" y="744175"/>
                  </a:lnTo>
                  <a:lnTo>
                    <a:pt x="1488137" y="782916"/>
                  </a:lnTo>
                  <a:lnTo>
                    <a:pt x="1514545" y="822458"/>
                  </a:lnTo>
                  <a:lnTo>
                    <a:pt x="1539964" y="862786"/>
                  </a:lnTo>
                  <a:lnTo>
                    <a:pt x="1564372" y="903886"/>
                  </a:lnTo>
                  <a:lnTo>
                    <a:pt x="1587750" y="945743"/>
                  </a:lnTo>
                  <a:lnTo>
                    <a:pt x="1610078" y="988345"/>
                  </a:lnTo>
                  <a:lnTo>
                    <a:pt x="1631335" y="1031677"/>
                  </a:lnTo>
                  <a:lnTo>
                    <a:pt x="1651501" y="1075725"/>
                  </a:lnTo>
                  <a:lnTo>
                    <a:pt x="1670556" y="1120475"/>
                  </a:lnTo>
                  <a:lnTo>
                    <a:pt x="1688479" y="1165914"/>
                  </a:lnTo>
                  <a:lnTo>
                    <a:pt x="1705177" y="1211817"/>
                  </a:lnTo>
                  <a:lnTo>
                    <a:pt x="1720572" y="1257956"/>
                  </a:lnTo>
                  <a:lnTo>
                    <a:pt x="1734670" y="1304307"/>
                  </a:lnTo>
                  <a:lnTo>
                    <a:pt x="1747477" y="1350846"/>
                  </a:lnTo>
                  <a:lnTo>
                    <a:pt x="1758998" y="1397549"/>
                  </a:lnTo>
                  <a:lnTo>
                    <a:pt x="1769240" y="1444391"/>
                  </a:lnTo>
                  <a:lnTo>
                    <a:pt x="1778209" y="1491350"/>
                  </a:lnTo>
                  <a:lnTo>
                    <a:pt x="1785910" y="1538402"/>
                  </a:lnTo>
                  <a:lnTo>
                    <a:pt x="1792349" y="1585521"/>
                  </a:lnTo>
                  <a:lnTo>
                    <a:pt x="1797532" y="1632686"/>
                  </a:lnTo>
                  <a:lnTo>
                    <a:pt x="1801465" y="1679871"/>
                  </a:lnTo>
                  <a:lnTo>
                    <a:pt x="1804155" y="1727053"/>
                  </a:lnTo>
                  <a:lnTo>
                    <a:pt x="1805606" y="1774208"/>
                  </a:lnTo>
                  <a:lnTo>
                    <a:pt x="1805824" y="1821312"/>
                  </a:lnTo>
                  <a:lnTo>
                    <a:pt x="1804817" y="1868341"/>
                  </a:lnTo>
                  <a:lnTo>
                    <a:pt x="1802588" y="1915272"/>
                  </a:lnTo>
                  <a:lnTo>
                    <a:pt x="1799145" y="1962080"/>
                  </a:lnTo>
                  <a:lnTo>
                    <a:pt x="1794493" y="2008742"/>
                  </a:lnTo>
                  <a:lnTo>
                    <a:pt x="1788639" y="2055234"/>
                  </a:lnTo>
                  <a:lnTo>
                    <a:pt x="1781587" y="2101532"/>
                  </a:lnTo>
                  <a:lnTo>
                    <a:pt x="1773344" y="2147612"/>
                  </a:lnTo>
                  <a:lnTo>
                    <a:pt x="1763916" y="2193450"/>
                  </a:lnTo>
                  <a:lnTo>
                    <a:pt x="1753308" y="2239022"/>
                  </a:lnTo>
                  <a:lnTo>
                    <a:pt x="1741527" y="2284305"/>
                  </a:lnTo>
                  <a:lnTo>
                    <a:pt x="1728578" y="2329275"/>
                  </a:lnTo>
                  <a:lnTo>
                    <a:pt x="1714467" y="2373907"/>
                  </a:lnTo>
                  <a:lnTo>
                    <a:pt x="1699201" y="2418178"/>
                  </a:lnTo>
                  <a:lnTo>
                    <a:pt x="1682785" y="2462064"/>
                  </a:lnTo>
                  <a:lnTo>
                    <a:pt x="1665224" y="2505541"/>
                  </a:lnTo>
                  <a:lnTo>
                    <a:pt x="1646525" y="2548585"/>
                  </a:lnTo>
                  <a:lnTo>
                    <a:pt x="1626694" y="2591173"/>
                  </a:lnTo>
                  <a:lnTo>
                    <a:pt x="1605737" y="2633281"/>
                  </a:lnTo>
                  <a:lnTo>
                    <a:pt x="1583658" y="2674884"/>
                  </a:lnTo>
                  <a:lnTo>
                    <a:pt x="1560465" y="2715958"/>
                  </a:lnTo>
                  <a:lnTo>
                    <a:pt x="1536164" y="2756481"/>
                  </a:lnTo>
                  <a:lnTo>
                    <a:pt x="1510759" y="2796428"/>
                  </a:lnTo>
                  <a:lnTo>
                    <a:pt x="1484257" y="2835775"/>
                  </a:lnTo>
                  <a:lnTo>
                    <a:pt x="1456665" y="2874498"/>
                  </a:lnTo>
                  <a:lnTo>
                    <a:pt x="1427986" y="2912574"/>
                  </a:lnTo>
                  <a:lnTo>
                    <a:pt x="1398229" y="2949978"/>
                  </a:lnTo>
                  <a:lnTo>
                    <a:pt x="1367398" y="2986687"/>
                  </a:lnTo>
                  <a:lnTo>
                    <a:pt x="1335499" y="3022677"/>
                  </a:lnTo>
                  <a:lnTo>
                    <a:pt x="1302538" y="3057924"/>
                  </a:lnTo>
                  <a:lnTo>
                    <a:pt x="1268522" y="3092404"/>
                  </a:lnTo>
                  <a:lnTo>
                    <a:pt x="1233455" y="3126094"/>
                  </a:lnTo>
                  <a:lnTo>
                    <a:pt x="1197345" y="3158968"/>
                  </a:lnTo>
                  <a:close/>
                </a:path>
              </a:pathLst>
            </a:custGeom>
            <a:solidFill>
              <a:srgbClr val="ECF1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529143" y="1857422"/>
              <a:ext cx="3002915" cy="3613150"/>
            </a:xfrm>
            <a:custGeom>
              <a:avLst/>
              <a:gdLst/>
              <a:ahLst/>
              <a:cxnLst/>
              <a:rect l="l" t="t" r="r" b="b"/>
              <a:pathLst>
                <a:path w="3002915" h="3613150">
                  <a:moveTo>
                    <a:pt x="1787139" y="3612996"/>
                  </a:moveTo>
                  <a:lnTo>
                    <a:pt x="1740370" y="3611926"/>
                  </a:lnTo>
                  <a:lnTo>
                    <a:pt x="1693615" y="3609645"/>
                  </a:lnTo>
                  <a:lnTo>
                    <a:pt x="1646898" y="3606149"/>
                  </a:lnTo>
                  <a:lnTo>
                    <a:pt x="1600243" y="3601438"/>
                  </a:lnTo>
                  <a:lnTo>
                    <a:pt x="1553676" y="3595509"/>
                  </a:lnTo>
                  <a:lnTo>
                    <a:pt x="1507221" y="3588361"/>
                  </a:lnTo>
                  <a:lnTo>
                    <a:pt x="1460903" y="3579990"/>
                  </a:lnTo>
                  <a:lnTo>
                    <a:pt x="1414745" y="3570396"/>
                  </a:lnTo>
                  <a:lnTo>
                    <a:pt x="1368773" y="3559576"/>
                  </a:lnTo>
                  <a:lnTo>
                    <a:pt x="1323011" y="3547528"/>
                  </a:lnTo>
                  <a:lnTo>
                    <a:pt x="1277484" y="3534250"/>
                  </a:lnTo>
                  <a:lnTo>
                    <a:pt x="1232216" y="3519741"/>
                  </a:lnTo>
                  <a:lnTo>
                    <a:pt x="1187232" y="3503998"/>
                  </a:lnTo>
                  <a:lnTo>
                    <a:pt x="1142557" y="3487020"/>
                  </a:lnTo>
                  <a:lnTo>
                    <a:pt x="1098214" y="3468803"/>
                  </a:lnTo>
                  <a:lnTo>
                    <a:pt x="1054229" y="3449348"/>
                  </a:lnTo>
                  <a:lnTo>
                    <a:pt x="1010627" y="3428650"/>
                  </a:lnTo>
                  <a:lnTo>
                    <a:pt x="967431" y="3406709"/>
                  </a:lnTo>
                  <a:lnTo>
                    <a:pt x="924666" y="3383522"/>
                  </a:lnTo>
                  <a:lnTo>
                    <a:pt x="882357" y="3359088"/>
                  </a:lnTo>
                  <a:lnTo>
                    <a:pt x="840529" y="3333404"/>
                  </a:lnTo>
                  <a:lnTo>
                    <a:pt x="799407" y="3306603"/>
                  </a:lnTo>
                  <a:lnTo>
                    <a:pt x="759208" y="3278831"/>
                  </a:lnTo>
                  <a:lnTo>
                    <a:pt x="719939" y="3250112"/>
                  </a:lnTo>
                  <a:lnTo>
                    <a:pt x="681610" y="3220469"/>
                  </a:lnTo>
                  <a:lnTo>
                    <a:pt x="644230" y="3189926"/>
                  </a:lnTo>
                  <a:lnTo>
                    <a:pt x="607807" y="3158505"/>
                  </a:lnTo>
                  <a:lnTo>
                    <a:pt x="572350" y="3126229"/>
                  </a:lnTo>
                  <a:lnTo>
                    <a:pt x="537867" y="3093121"/>
                  </a:lnTo>
                  <a:lnTo>
                    <a:pt x="504369" y="3059205"/>
                  </a:lnTo>
                  <a:lnTo>
                    <a:pt x="471862" y="3024503"/>
                  </a:lnTo>
                  <a:lnTo>
                    <a:pt x="440356" y="2989039"/>
                  </a:lnTo>
                  <a:lnTo>
                    <a:pt x="409860" y="2952836"/>
                  </a:lnTo>
                  <a:lnTo>
                    <a:pt x="380382" y="2915916"/>
                  </a:lnTo>
                  <a:lnTo>
                    <a:pt x="351932" y="2878303"/>
                  </a:lnTo>
                  <a:lnTo>
                    <a:pt x="324517" y="2840020"/>
                  </a:lnTo>
                  <a:lnTo>
                    <a:pt x="298147" y="2801089"/>
                  </a:lnTo>
                  <a:lnTo>
                    <a:pt x="272830" y="2761535"/>
                  </a:lnTo>
                  <a:lnTo>
                    <a:pt x="248576" y="2721379"/>
                  </a:lnTo>
                  <a:lnTo>
                    <a:pt x="225392" y="2680646"/>
                  </a:lnTo>
                  <a:lnTo>
                    <a:pt x="203288" y="2639357"/>
                  </a:lnTo>
                  <a:lnTo>
                    <a:pt x="182273" y="2597537"/>
                  </a:lnTo>
                  <a:lnTo>
                    <a:pt x="162354" y="2555208"/>
                  </a:lnTo>
                  <a:lnTo>
                    <a:pt x="143542" y="2512393"/>
                  </a:lnTo>
                  <a:lnTo>
                    <a:pt x="125843" y="2469116"/>
                  </a:lnTo>
                  <a:lnTo>
                    <a:pt x="109269" y="2425399"/>
                  </a:lnTo>
                  <a:lnTo>
                    <a:pt x="93826" y="2381265"/>
                  </a:lnTo>
                  <a:lnTo>
                    <a:pt x="79524" y="2336738"/>
                  </a:lnTo>
                  <a:lnTo>
                    <a:pt x="66372" y="2291841"/>
                  </a:lnTo>
                  <a:lnTo>
                    <a:pt x="54378" y="2246596"/>
                  </a:lnTo>
                  <a:lnTo>
                    <a:pt x="43551" y="2201027"/>
                  </a:lnTo>
                  <a:lnTo>
                    <a:pt x="33900" y="2155157"/>
                  </a:lnTo>
                  <a:lnTo>
                    <a:pt x="25434" y="2109008"/>
                  </a:lnTo>
                  <a:lnTo>
                    <a:pt x="18160" y="2062604"/>
                  </a:lnTo>
                  <a:lnTo>
                    <a:pt x="12089" y="2015969"/>
                  </a:lnTo>
                  <a:lnTo>
                    <a:pt x="7229" y="1969124"/>
                  </a:lnTo>
                  <a:lnTo>
                    <a:pt x="3588" y="1922093"/>
                  </a:lnTo>
                  <a:lnTo>
                    <a:pt x="1175" y="1874900"/>
                  </a:lnTo>
                  <a:lnTo>
                    <a:pt x="0" y="1827566"/>
                  </a:lnTo>
                  <a:lnTo>
                    <a:pt x="70" y="1780116"/>
                  </a:lnTo>
                  <a:lnTo>
                    <a:pt x="1394" y="1732572"/>
                  </a:lnTo>
                  <a:lnTo>
                    <a:pt x="3982" y="1684958"/>
                  </a:lnTo>
                  <a:lnTo>
                    <a:pt x="7842" y="1637296"/>
                  </a:lnTo>
                  <a:lnTo>
                    <a:pt x="12982" y="1589609"/>
                  </a:lnTo>
                  <a:lnTo>
                    <a:pt x="19412" y="1541921"/>
                  </a:lnTo>
                  <a:lnTo>
                    <a:pt x="27140" y="1494255"/>
                  </a:lnTo>
                  <a:lnTo>
                    <a:pt x="36175" y="1446633"/>
                  </a:lnTo>
                  <a:lnTo>
                    <a:pt x="46526" y="1399079"/>
                  </a:lnTo>
                  <a:lnTo>
                    <a:pt x="58201" y="1351616"/>
                  </a:lnTo>
                  <a:lnTo>
                    <a:pt x="71209" y="1304266"/>
                  </a:lnTo>
                  <a:lnTo>
                    <a:pt x="85488" y="1257285"/>
                  </a:lnTo>
                  <a:lnTo>
                    <a:pt x="100954" y="1210920"/>
                  </a:lnTo>
                  <a:lnTo>
                    <a:pt x="117588" y="1165185"/>
                  </a:lnTo>
                  <a:lnTo>
                    <a:pt x="135371" y="1120097"/>
                  </a:lnTo>
                  <a:lnTo>
                    <a:pt x="154282" y="1075670"/>
                  </a:lnTo>
                  <a:lnTo>
                    <a:pt x="174303" y="1031918"/>
                  </a:lnTo>
                  <a:lnTo>
                    <a:pt x="195412" y="988856"/>
                  </a:lnTo>
                  <a:lnTo>
                    <a:pt x="217592" y="946500"/>
                  </a:lnTo>
                  <a:lnTo>
                    <a:pt x="240821" y="904863"/>
                  </a:lnTo>
                  <a:lnTo>
                    <a:pt x="265081" y="863962"/>
                  </a:lnTo>
                  <a:lnTo>
                    <a:pt x="290351" y="823810"/>
                  </a:lnTo>
                  <a:lnTo>
                    <a:pt x="316612" y="784423"/>
                  </a:lnTo>
                  <a:lnTo>
                    <a:pt x="343844" y="745815"/>
                  </a:lnTo>
                  <a:lnTo>
                    <a:pt x="372027" y="708001"/>
                  </a:lnTo>
                  <a:lnTo>
                    <a:pt x="401143" y="670996"/>
                  </a:lnTo>
                  <a:lnTo>
                    <a:pt x="431170" y="634815"/>
                  </a:lnTo>
                  <a:lnTo>
                    <a:pt x="462089" y="599472"/>
                  </a:lnTo>
                  <a:lnTo>
                    <a:pt x="493882" y="564983"/>
                  </a:lnTo>
                  <a:lnTo>
                    <a:pt x="526527" y="531363"/>
                  </a:lnTo>
                  <a:lnTo>
                    <a:pt x="560005" y="498625"/>
                  </a:lnTo>
                  <a:lnTo>
                    <a:pt x="594297" y="466785"/>
                  </a:lnTo>
                  <a:lnTo>
                    <a:pt x="629382" y="435858"/>
                  </a:lnTo>
                  <a:lnTo>
                    <a:pt x="665242" y="405859"/>
                  </a:lnTo>
                  <a:lnTo>
                    <a:pt x="701856" y="376801"/>
                  </a:lnTo>
                  <a:lnTo>
                    <a:pt x="739205" y="348702"/>
                  </a:lnTo>
                  <a:lnTo>
                    <a:pt x="777269" y="321574"/>
                  </a:lnTo>
                  <a:lnTo>
                    <a:pt x="816028" y="295433"/>
                  </a:lnTo>
                  <a:lnTo>
                    <a:pt x="855463" y="270293"/>
                  </a:lnTo>
                  <a:lnTo>
                    <a:pt x="895553" y="246170"/>
                  </a:lnTo>
                  <a:lnTo>
                    <a:pt x="936280" y="223079"/>
                  </a:lnTo>
                  <a:lnTo>
                    <a:pt x="977624" y="201033"/>
                  </a:lnTo>
                  <a:lnTo>
                    <a:pt x="1019564" y="180048"/>
                  </a:lnTo>
                  <a:lnTo>
                    <a:pt x="1062081" y="160140"/>
                  </a:lnTo>
                  <a:lnTo>
                    <a:pt x="1105156" y="141321"/>
                  </a:lnTo>
                  <a:lnTo>
                    <a:pt x="1148768" y="123609"/>
                  </a:lnTo>
                  <a:lnTo>
                    <a:pt x="1192898" y="107016"/>
                  </a:lnTo>
                  <a:lnTo>
                    <a:pt x="1237527" y="91559"/>
                  </a:lnTo>
                  <a:lnTo>
                    <a:pt x="1282634" y="77251"/>
                  </a:lnTo>
                  <a:lnTo>
                    <a:pt x="1328200" y="64108"/>
                  </a:lnTo>
                  <a:lnTo>
                    <a:pt x="1374205" y="52145"/>
                  </a:lnTo>
                  <a:lnTo>
                    <a:pt x="1420630" y="41376"/>
                  </a:lnTo>
                  <a:lnTo>
                    <a:pt x="1467455" y="31816"/>
                  </a:lnTo>
                  <a:lnTo>
                    <a:pt x="1514660" y="23480"/>
                  </a:lnTo>
                  <a:lnTo>
                    <a:pt x="1562225" y="16383"/>
                  </a:lnTo>
                  <a:lnTo>
                    <a:pt x="1610130" y="10540"/>
                  </a:lnTo>
                  <a:lnTo>
                    <a:pt x="1658357" y="5965"/>
                  </a:lnTo>
                  <a:lnTo>
                    <a:pt x="1706885" y="2674"/>
                  </a:lnTo>
                  <a:lnTo>
                    <a:pt x="1755695" y="680"/>
                  </a:lnTo>
                  <a:lnTo>
                    <a:pt x="1804766" y="0"/>
                  </a:lnTo>
                  <a:lnTo>
                    <a:pt x="1805468" y="1806534"/>
                  </a:lnTo>
                  <a:lnTo>
                    <a:pt x="3002446" y="3158968"/>
                  </a:lnTo>
                  <a:lnTo>
                    <a:pt x="2965270" y="3191026"/>
                  </a:lnTo>
                  <a:lnTo>
                    <a:pt x="2927421" y="3221928"/>
                  </a:lnTo>
                  <a:lnTo>
                    <a:pt x="2888922" y="3251672"/>
                  </a:lnTo>
                  <a:lnTo>
                    <a:pt x="2849798" y="3280255"/>
                  </a:lnTo>
                  <a:lnTo>
                    <a:pt x="2810073" y="3307676"/>
                  </a:lnTo>
                  <a:lnTo>
                    <a:pt x="2769772" y="3333932"/>
                  </a:lnTo>
                  <a:lnTo>
                    <a:pt x="2728919" y="3359023"/>
                  </a:lnTo>
                  <a:lnTo>
                    <a:pt x="2687540" y="3382944"/>
                  </a:lnTo>
                  <a:lnTo>
                    <a:pt x="2645658" y="3405696"/>
                  </a:lnTo>
                  <a:lnTo>
                    <a:pt x="2603299" y="3427276"/>
                  </a:lnTo>
                  <a:lnTo>
                    <a:pt x="2560486" y="3447681"/>
                  </a:lnTo>
                  <a:lnTo>
                    <a:pt x="2517245" y="3466910"/>
                  </a:lnTo>
                  <a:lnTo>
                    <a:pt x="2473600" y="3484961"/>
                  </a:lnTo>
                  <a:lnTo>
                    <a:pt x="2429575" y="3501832"/>
                  </a:lnTo>
                  <a:lnTo>
                    <a:pt x="2385195" y="3517520"/>
                  </a:lnTo>
                  <a:lnTo>
                    <a:pt x="2340485" y="3532025"/>
                  </a:lnTo>
                  <a:lnTo>
                    <a:pt x="2295469" y="3545343"/>
                  </a:lnTo>
                  <a:lnTo>
                    <a:pt x="2250172" y="3557474"/>
                  </a:lnTo>
                  <a:lnTo>
                    <a:pt x="2204618" y="3568414"/>
                  </a:lnTo>
                  <a:lnTo>
                    <a:pt x="2158832" y="3578162"/>
                  </a:lnTo>
                  <a:lnTo>
                    <a:pt x="2112839" y="3586716"/>
                  </a:lnTo>
                  <a:lnTo>
                    <a:pt x="2066663" y="3594074"/>
                  </a:lnTo>
                  <a:lnTo>
                    <a:pt x="2020328" y="3600234"/>
                  </a:lnTo>
                  <a:lnTo>
                    <a:pt x="1973859" y="3605195"/>
                  </a:lnTo>
                  <a:lnTo>
                    <a:pt x="1927282" y="3608953"/>
                  </a:lnTo>
                  <a:lnTo>
                    <a:pt x="1880619" y="3611507"/>
                  </a:lnTo>
                  <a:lnTo>
                    <a:pt x="1833897" y="3612855"/>
                  </a:lnTo>
                  <a:lnTo>
                    <a:pt x="1787139" y="3612996"/>
                  </a:lnTo>
                  <a:close/>
                </a:path>
              </a:pathLst>
            </a:custGeom>
            <a:solidFill>
              <a:srgbClr val="001D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0" y="4336415"/>
              <a:ext cx="2750185" cy="731520"/>
            </a:xfrm>
            <a:custGeom>
              <a:avLst/>
              <a:gdLst/>
              <a:ahLst/>
              <a:cxnLst/>
              <a:rect l="l" t="t" r="r" b="b"/>
              <a:pathLst>
                <a:path w="2750185" h="731520">
                  <a:moveTo>
                    <a:pt x="2384425" y="0"/>
                  </a:moveTo>
                  <a:lnTo>
                    <a:pt x="0" y="0"/>
                  </a:lnTo>
                  <a:lnTo>
                    <a:pt x="0" y="731519"/>
                  </a:lnTo>
                  <a:lnTo>
                    <a:pt x="2384425" y="731519"/>
                  </a:lnTo>
                  <a:lnTo>
                    <a:pt x="2430290" y="728668"/>
                  </a:lnTo>
                  <a:lnTo>
                    <a:pt x="2474460" y="720344"/>
                  </a:lnTo>
                  <a:lnTo>
                    <a:pt x="2516590" y="706890"/>
                  </a:lnTo>
                  <a:lnTo>
                    <a:pt x="2556337" y="688650"/>
                  </a:lnTo>
                  <a:lnTo>
                    <a:pt x="2593359" y="665967"/>
                  </a:lnTo>
                  <a:lnTo>
                    <a:pt x="2627311" y="639184"/>
                  </a:lnTo>
                  <a:lnTo>
                    <a:pt x="2657850" y="608645"/>
                  </a:lnTo>
                  <a:lnTo>
                    <a:pt x="2684632" y="574694"/>
                  </a:lnTo>
                  <a:lnTo>
                    <a:pt x="2707315" y="537672"/>
                  </a:lnTo>
                  <a:lnTo>
                    <a:pt x="2725556" y="497925"/>
                  </a:lnTo>
                  <a:lnTo>
                    <a:pt x="2739009" y="455795"/>
                  </a:lnTo>
                  <a:lnTo>
                    <a:pt x="2747334" y="411625"/>
                  </a:lnTo>
                  <a:lnTo>
                    <a:pt x="2750185" y="365759"/>
                  </a:lnTo>
                  <a:lnTo>
                    <a:pt x="2747334" y="319894"/>
                  </a:lnTo>
                  <a:lnTo>
                    <a:pt x="2739009" y="275724"/>
                  </a:lnTo>
                  <a:lnTo>
                    <a:pt x="2725556" y="233594"/>
                  </a:lnTo>
                  <a:lnTo>
                    <a:pt x="2707315" y="193846"/>
                  </a:lnTo>
                  <a:lnTo>
                    <a:pt x="2684632" y="156825"/>
                  </a:lnTo>
                  <a:lnTo>
                    <a:pt x="2657850" y="122873"/>
                  </a:lnTo>
                  <a:lnTo>
                    <a:pt x="2627311" y="92334"/>
                  </a:lnTo>
                  <a:lnTo>
                    <a:pt x="2593359" y="65552"/>
                  </a:lnTo>
                  <a:lnTo>
                    <a:pt x="2556337" y="42868"/>
                  </a:lnTo>
                  <a:lnTo>
                    <a:pt x="2516590" y="24628"/>
                  </a:lnTo>
                  <a:lnTo>
                    <a:pt x="2474460" y="11175"/>
                  </a:lnTo>
                  <a:lnTo>
                    <a:pt x="2430290" y="2850"/>
                  </a:lnTo>
                  <a:lnTo>
                    <a:pt x="2384425" y="0"/>
                  </a:lnTo>
                  <a:close/>
                </a:path>
              </a:pathLst>
            </a:custGeom>
            <a:solidFill>
              <a:srgbClr val="012AB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4295" rIns="0" bIns="0" rtlCol="0" vert="horz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85"/>
              </a:spcBef>
            </a:pPr>
            <a:r>
              <a:rPr dirty="0" spc="110">
                <a:solidFill>
                  <a:srgbClr val="001E5A"/>
                </a:solidFill>
              </a:rPr>
              <a:t>Q2</a:t>
            </a:r>
            <a:r>
              <a:rPr dirty="0" spc="-60">
                <a:solidFill>
                  <a:srgbClr val="001E5A"/>
                </a:solidFill>
              </a:rPr>
              <a:t> </a:t>
            </a:r>
            <a:r>
              <a:rPr dirty="0" spc="-140">
                <a:solidFill>
                  <a:srgbClr val="001E5A"/>
                </a:solidFill>
              </a:rPr>
              <a:t>FY27</a:t>
            </a:r>
            <a:r>
              <a:rPr dirty="0" spc="-25">
                <a:solidFill>
                  <a:srgbClr val="001E5A"/>
                </a:solidFill>
              </a:rPr>
              <a:t> </a:t>
            </a:r>
            <a:r>
              <a:rPr dirty="0" spc="60">
                <a:solidFill>
                  <a:srgbClr val="001E5A"/>
                </a:solidFill>
              </a:rPr>
              <a:t>Agentforce</a:t>
            </a:r>
            <a:r>
              <a:rPr dirty="0" spc="-25">
                <a:solidFill>
                  <a:srgbClr val="001E5A"/>
                </a:solidFill>
              </a:rPr>
              <a:t> </a:t>
            </a:r>
            <a:r>
              <a:rPr dirty="0">
                <a:solidFill>
                  <a:srgbClr val="001E5A"/>
                </a:solidFill>
              </a:rPr>
              <a:t>&amp;</a:t>
            </a:r>
            <a:r>
              <a:rPr dirty="0" spc="-30">
                <a:solidFill>
                  <a:srgbClr val="001E5A"/>
                </a:solidFill>
              </a:rPr>
              <a:t> </a:t>
            </a:r>
            <a:r>
              <a:rPr dirty="0" spc="120">
                <a:solidFill>
                  <a:srgbClr val="001E5A"/>
                </a:solidFill>
              </a:rPr>
              <a:t>Data</a:t>
            </a:r>
            <a:r>
              <a:rPr dirty="0" spc="-25">
                <a:solidFill>
                  <a:srgbClr val="001E5A"/>
                </a:solidFill>
              </a:rPr>
              <a:t> </a:t>
            </a:r>
            <a:r>
              <a:rPr dirty="0">
                <a:solidFill>
                  <a:srgbClr val="001E5A"/>
                </a:solidFill>
              </a:rPr>
              <a:t>360</a:t>
            </a:r>
            <a:r>
              <a:rPr dirty="0" spc="-25">
                <a:solidFill>
                  <a:srgbClr val="001E5A"/>
                </a:solidFill>
              </a:rPr>
              <a:t> </a:t>
            </a:r>
            <a:r>
              <a:rPr dirty="0" spc="-330">
                <a:solidFill>
                  <a:srgbClr val="001E5A"/>
                </a:solidFill>
              </a:rPr>
              <a:t>ARR</a:t>
            </a:r>
            <a:r>
              <a:rPr dirty="0" spc="5">
                <a:solidFill>
                  <a:srgbClr val="001E5A"/>
                </a:solidFill>
              </a:rPr>
              <a:t> </a:t>
            </a:r>
            <a:r>
              <a:rPr dirty="0" spc="150">
                <a:solidFill>
                  <a:srgbClr val="001E5A"/>
                </a:solidFill>
              </a:rPr>
              <a:t>reached </a:t>
            </a:r>
            <a:r>
              <a:rPr dirty="0" spc="50">
                <a:solidFill>
                  <a:srgbClr val="001E5A"/>
                </a:solidFill>
              </a:rPr>
              <a:t>nearly</a:t>
            </a:r>
            <a:r>
              <a:rPr dirty="0" spc="-45">
                <a:solidFill>
                  <a:srgbClr val="001E5A"/>
                </a:solidFill>
              </a:rPr>
              <a:t> </a:t>
            </a:r>
            <a:r>
              <a:rPr dirty="0">
                <a:solidFill>
                  <a:srgbClr val="001E5A"/>
                </a:solidFill>
              </a:rPr>
              <a:t>)3.9B,</a:t>
            </a:r>
            <a:r>
              <a:rPr dirty="0" spc="-45">
                <a:solidFill>
                  <a:srgbClr val="001E5A"/>
                </a:solidFill>
              </a:rPr>
              <a:t> </a:t>
            </a:r>
            <a:r>
              <a:rPr dirty="0">
                <a:solidFill>
                  <a:srgbClr val="001E5A"/>
                </a:solidFill>
              </a:rPr>
              <a:t>with</a:t>
            </a:r>
            <a:r>
              <a:rPr dirty="0" spc="-45">
                <a:solidFill>
                  <a:srgbClr val="001E5A"/>
                </a:solidFill>
              </a:rPr>
              <a:t> </a:t>
            </a:r>
            <a:r>
              <a:rPr dirty="0" spc="-105">
                <a:solidFill>
                  <a:srgbClr val="001E5A"/>
                </a:solidFill>
              </a:rPr>
              <a:t>Triple</a:t>
            </a:r>
            <a:r>
              <a:rPr dirty="0" spc="-40">
                <a:solidFill>
                  <a:srgbClr val="001E5A"/>
                </a:solidFill>
              </a:rPr>
              <a:t> </a:t>
            </a:r>
            <a:r>
              <a:rPr dirty="0" spc="-20">
                <a:solidFill>
                  <a:srgbClr val="001E5A"/>
                </a:solidFill>
              </a:rPr>
              <a:t>Digit</a:t>
            </a:r>
            <a:r>
              <a:rPr dirty="0" spc="-45">
                <a:solidFill>
                  <a:srgbClr val="001E5A"/>
                </a:solidFill>
              </a:rPr>
              <a:t> </a:t>
            </a:r>
            <a:r>
              <a:rPr dirty="0" spc="100">
                <a:solidFill>
                  <a:srgbClr val="001E5A"/>
                </a:solidFill>
              </a:rPr>
              <a:t>Y/Y</a:t>
            </a:r>
            <a:r>
              <a:rPr dirty="0" spc="-45">
                <a:solidFill>
                  <a:srgbClr val="001E5A"/>
                </a:solidFill>
              </a:rPr>
              <a:t> </a:t>
            </a:r>
            <a:r>
              <a:rPr dirty="0" spc="-10">
                <a:solidFill>
                  <a:srgbClr val="001E5A"/>
                </a:solidFill>
              </a:rPr>
              <a:t>Growth</a:t>
            </a:r>
          </a:p>
        </p:txBody>
      </p:sp>
      <p:grpSp>
        <p:nvGrpSpPr>
          <p:cNvPr id="13" name="object 13"/>
          <p:cNvGrpSpPr/>
          <p:nvPr/>
        </p:nvGrpSpPr>
        <p:grpSpPr>
          <a:xfrm>
            <a:off x="347090" y="1666066"/>
            <a:ext cx="11368405" cy="4052570"/>
            <a:chOff x="347090" y="1666066"/>
            <a:chExt cx="11368405" cy="4052570"/>
          </a:xfrm>
        </p:grpSpPr>
        <p:sp>
          <p:nvSpPr>
            <p:cNvPr id="14" name="object 14"/>
            <p:cNvSpPr/>
            <p:nvPr/>
          </p:nvSpPr>
          <p:spPr>
            <a:xfrm>
              <a:off x="2750184" y="1916683"/>
              <a:ext cx="762635" cy="3792220"/>
            </a:xfrm>
            <a:custGeom>
              <a:avLst/>
              <a:gdLst/>
              <a:ahLst/>
              <a:cxnLst/>
              <a:rect l="l" t="t" r="r" b="b"/>
              <a:pathLst>
                <a:path w="762635" h="3792220">
                  <a:moveTo>
                    <a:pt x="268604" y="0"/>
                  </a:moveTo>
                  <a:lnTo>
                    <a:pt x="268604" y="3792093"/>
                  </a:lnTo>
                </a:path>
                <a:path w="762635" h="3792220">
                  <a:moveTo>
                    <a:pt x="268604" y="0"/>
                  </a:moveTo>
                  <a:lnTo>
                    <a:pt x="762126" y="0"/>
                  </a:lnTo>
                </a:path>
                <a:path w="762635" h="3792220">
                  <a:moveTo>
                    <a:pt x="268604" y="3789045"/>
                  </a:moveTo>
                  <a:lnTo>
                    <a:pt x="762126" y="3789045"/>
                  </a:lnTo>
                </a:path>
                <a:path w="762635" h="3792220">
                  <a:moveTo>
                    <a:pt x="0" y="1896110"/>
                  </a:moveTo>
                  <a:lnTo>
                    <a:pt x="269239" y="1896110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56941" y="2905379"/>
              <a:ext cx="389381" cy="38442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4896" y="5087239"/>
              <a:ext cx="246634" cy="24345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7090" y="4882261"/>
              <a:ext cx="148462" cy="14655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16031" y="1666066"/>
              <a:ext cx="3199331" cy="3834463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45121" y="2630551"/>
              <a:ext cx="380238" cy="380238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985506" y="2635376"/>
              <a:ext cx="370458" cy="37033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478774" y="2635377"/>
              <a:ext cx="407289" cy="407415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008999" y="2624582"/>
              <a:ext cx="429259" cy="429260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7538593" y="2217801"/>
            <a:ext cx="23342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002674"/>
                </a:solidFill>
                <a:latin typeface="Tahoma"/>
                <a:cs typeface="Tahoma"/>
              </a:rPr>
              <a:t>Gen</a:t>
            </a:r>
            <a:r>
              <a:rPr dirty="0" sz="1800" spc="-135" b="1">
                <a:solidFill>
                  <a:srgbClr val="002674"/>
                </a:solidFill>
                <a:latin typeface="Tahoma"/>
                <a:cs typeface="Tahoma"/>
              </a:rPr>
              <a:t> </a:t>
            </a:r>
            <a:r>
              <a:rPr dirty="0" sz="1800" b="1">
                <a:solidFill>
                  <a:srgbClr val="002674"/>
                </a:solidFill>
                <a:latin typeface="Tahoma"/>
                <a:cs typeface="Tahoma"/>
              </a:rPr>
              <a:t>AI</a:t>
            </a:r>
            <a:r>
              <a:rPr dirty="0" sz="1800" spc="250" b="1">
                <a:solidFill>
                  <a:srgbClr val="002674"/>
                </a:solidFill>
                <a:latin typeface="Tahoma"/>
                <a:cs typeface="Tahoma"/>
              </a:rPr>
              <a:t> </a:t>
            </a:r>
            <a:r>
              <a:rPr dirty="0" sz="1800" spc="-190" b="1">
                <a:solidFill>
                  <a:srgbClr val="002674"/>
                </a:solidFill>
                <a:latin typeface="Tahoma"/>
                <a:cs typeface="Tahoma"/>
              </a:rPr>
              <a:t>&amp;</a:t>
            </a:r>
            <a:r>
              <a:rPr dirty="0" sz="1800" spc="-45" b="1">
                <a:solidFill>
                  <a:srgbClr val="002674"/>
                </a:solidFill>
                <a:latin typeface="Tahoma"/>
                <a:cs typeface="Tahoma"/>
              </a:rPr>
              <a:t> </a:t>
            </a:r>
            <a:r>
              <a:rPr dirty="0" sz="1800" spc="-35" b="1">
                <a:solidFill>
                  <a:srgbClr val="002674"/>
                </a:solidFill>
                <a:latin typeface="Tahoma"/>
                <a:cs typeface="Tahoma"/>
              </a:rPr>
              <a:t>Agentforce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88518" y="2826230"/>
            <a:ext cx="1708785" cy="2139950"/>
          </a:xfrm>
          <a:prstGeom prst="rect">
            <a:avLst/>
          </a:prstGeom>
        </p:spPr>
        <p:txBody>
          <a:bodyPr wrap="square" lIns="0" tIns="271145" rIns="0" bIns="0" rtlCol="0" vert="horz">
            <a:spAutoFit/>
          </a:bodyPr>
          <a:lstStyle/>
          <a:p>
            <a:pPr algn="ctr" marL="134620">
              <a:lnSpc>
                <a:spcPct val="100000"/>
              </a:lnSpc>
              <a:spcBef>
                <a:spcPts val="2135"/>
              </a:spcBef>
            </a:pPr>
            <a:r>
              <a:rPr dirty="0" sz="4800" spc="-155" b="1">
                <a:solidFill>
                  <a:srgbClr val="001E5A"/>
                </a:solidFill>
                <a:latin typeface="Tahoma"/>
                <a:cs typeface="Tahoma"/>
              </a:rPr>
              <a:t>)3.9B</a:t>
            </a:r>
            <a:endParaRPr sz="4800">
              <a:latin typeface="Tahoma"/>
              <a:cs typeface="Tahoma"/>
            </a:endParaRPr>
          </a:p>
          <a:p>
            <a:pPr algn="ctr" marL="134620">
              <a:lnSpc>
                <a:spcPct val="100000"/>
              </a:lnSpc>
              <a:spcBef>
                <a:spcPts val="805"/>
              </a:spcBef>
            </a:pPr>
            <a:r>
              <a:rPr dirty="0" sz="1900" spc="-25">
                <a:solidFill>
                  <a:srgbClr val="001E5A"/>
                </a:solidFill>
                <a:latin typeface="Verdana"/>
                <a:cs typeface="Verdana"/>
              </a:rPr>
              <a:t>ARR</a:t>
            </a:r>
            <a:endParaRPr sz="1900">
              <a:latin typeface="Verdana"/>
              <a:cs typeface="Verdana"/>
            </a:endParaRPr>
          </a:p>
          <a:p>
            <a:pPr marL="12700" marR="77470">
              <a:lnSpc>
                <a:spcPts val="1300"/>
              </a:lnSpc>
              <a:spcBef>
                <a:spcPts val="1895"/>
              </a:spcBef>
            </a:pPr>
            <a:r>
              <a:rPr dirty="0" sz="1200" spc="-45">
                <a:solidFill>
                  <a:srgbClr val="FFFFFF"/>
                </a:solidFill>
                <a:latin typeface="Verdana"/>
                <a:cs typeface="Verdana"/>
              </a:rPr>
              <a:t>Agentforce</a:t>
            </a:r>
            <a:r>
              <a:rPr dirty="0" sz="1200" spc="-85">
                <a:solidFill>
                  <a:srgbClr val="FFFFFF"/>
                </a:solidFill>
                <a:latin typeface="Verdana"/>
                <a:cs typeface="Verdana"/>
              </a:rPr>
              <a:t> &amp; </a:t>
            </a:r>
            <a:r>
              <a:rPr dirty="0" sz="1200" spc="-70">
                <a:solidFill>
                  <a:srgbClr val="FFFFFF"/>
                </a:solidFill>
                <a:latin typeface="Verdana"/>
                <a:cs typeface="Verdana"/>
              </a:rPr>
              <a:t>Data</a:t>
            </a:r>
            <a:r>
              <a:rPr dirty="0" sz="1200" spc="-8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00" spc="-40">
                <a:solidFill>
                  <a:srgbClr val="FFFFFF"/>
                </a:solidFill>
                <a:latin typeface="Verdana"/>
                <a:cs typeface="Verdana"/>
              </a:rPr>
              <a:t>360 </a:t>
            </a:r>
            <a:r>
              <a:rPr dirty="0" sz="1200" spc="-75">
                <a:solidFill>
                  <a:srgbClr val="FFFFFF"/>
                </a:solidFill>
                <a:latin typeface="Verdana"/>
                <a:cs typeface="Verdana"/>
              </a:rPr>
              <a:t>ARR</a:t>
            </a:r>
            <a:r>
              <a:rPr dirty="0" sz="1200" spc="-8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00" spc="-60">
                <a:solidFill>
                  <a:srgbClr val="FFFFFF"/>
                </a:solidFill>
                <a:latin typeface="Verdana"/>
                <a:cs typeface="Verdana"/>
              </a:rPr>
              <a:t>Incl.</a:t>
            </a:r>
            <a:r>
              <a:rPr dirty="0" sz="1200" spc="-8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Verdana"/>
                <a:cs typeface="Verdana"/>
              </a:rPr>
              <a:t>Informatica </a:t>
            </a:r>
            <a:r>
              <a:rPr dirty="0" sz="1200" spc="-25">
                <a:solidFill>
                  <a:srgbClr val="FFFFFF"/>
                </a:solidFill>
                <a:latin typeface="Verdana"/>
                <a:cs typeface="Verdana"/>
              </a:rPr>
              <a:t>Cloud</a:t>
            </a:r>
            <a:r>
              <a:rPr dirty="0" sz="1200" spc="-7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00" spc="-65">
                <a:solidFill>
                  <a:srgbClr val="FFFFFF"/>
                </a:solidFill>
                <a:latin typeface="Verdana"/>
                <a:cs typeface="Verdana"/>
              </a:rPr>
              <a:t>over </a:t>
            </a:r>
            <a:r>
              <a:rPr dirty="0" sz="1200">
                <a:solidFill>
                  <a:srgbClr val="FFFFFF"/>
                </a:solidFill>
                <a:latin typeface="Verdana"/>
                <a:cs typeface="Verdana"/>
              </a:rPr>
              <a:t>210%</a:t>
            </a:r>
            <a:r>
              <a:rPr dirty="0" sz="1200" spc="-6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00" spc="-25">
                <a:solidFill>
                  <a:srgbClr val="FFFFFF"/>
                </a:solidFill>
                <a:latin typeface="Verdana"/>
                <a:cs typeface="Verdana"/>
              </a:rPr>
              <a:t>Y/Y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021328" y="2922167"/>
            <a:ext cx="1368425" cy="1323340"/>
          </a:xfrm>
          <a:prstGeom prst="rect">
            <a:avLst/>
          </a:prstGeom>
        </p:spPr>
        <p:txBody>
          <a:bodyPr wrap="square" lIns="0" tIns="1905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dirty="0" sz="2800" spc="-10" b="1">
                <a:solidFill>
                  <a:srgbClr val="FFFFFF"/>
                </a:solidFill>
                <a:latin typeface="Tahoma"/>
                <a:cs typeface="Tahoma"/>
              </a:rPr>
              <a:t>)2.4B</a:t>
            </a:r>
            <a:endParaRPr sz="2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dirty="0" sz="1000" spc="-55">
                <a:solidFill>
                  <a:srgbClr val="FFFFFF"/>
                </a:solidFill>
                <a:latin typeface="Verdana"/>
                <a:cs typeface="Verdana"/>
              </a:rPr>
              <a:t>Data</a:t>
            </a:r>
            <a:r>
              <a:rPr dirty="0" sz="1000" spc="-7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000" spc="-25">
                <a:solidFill>
                  <a:srgbClr val="FFFFFF"/>
                </a:solidFill>
                <a:latin typeface="Verdana"/>
                <a:cs typeface="Verdana"/>
              </a:rPr>
              <a:t>36O</a:t>
            </a:r>
            <a:r>
              <a:rPr dirty="0" sz="1000" spc="-7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000" spc="-25">
                <a:solidFill>
                  <a:srgbClr val="FFFFFF"/>
                </a:solidFill>
                <a:latin typeface="Verdana"/>
                <a:cs typeface="Verdana"/>
              </a:rPr>
              <a:t>ARR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dirty="0" sz="1000" spc="-40">
                <a:solidFill>
                  <a:srgbClr val="FFFFFF"/>
                </a:solidFill>
                <a:latin typeface="Verdana"/>
                <a:cs typeface="Verdana"/>
              </a:rPr>
              <a:t>(Up</a:t>
            </a:r>
            <a:r>
              <a:rPr dirty="0" sz="1000" spc="-6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000" spc="-60">
                <a:solidFill>
                  <a:srgbClr val="FFFFFF"/>
                </a:solidFill>
                <a:latin typeface="Verdana"/>
                <a:cs typeface="Verdana"/>
              </a:rPr>
              <a:t>over </a:t>
            </a:r>
            <a:r>
              <a:rPr dirty="0" sz="1000">
                <a:solidFill>
                  <a:srgbClr val="FFFFFF"/>
                </a:solidFill>
                <a:latin typeface="Verdana"/>
                <a:cs typeface="Verdana"/>
              </a:rPr>
              <a:t>200%</a:t>
            </a:r>
            <a:r>
              <a:rPr dirty="0" sz="1000" spc="-6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000" spc="-20">
                <a:solidFill>
                  <a:srgbClr val="FFFFFF"/>
                </a:solidFill>
                <a:latin typeface="Verdana"/>
                <a:cs typeface="Verdana"/>
              </a:rPr>
              <a:t>Y/Y)</a:t>
            </a:r>
            <a:endParaRPr sz="1000">
              <a:latin typeface="Verdana"/>
              <a:cs typeface="Verdana"/>
            </a:endParaRPr>
          </a:p>
          <a:p>
            <a:pPr marL="12700" marR="5080">
              <a:lnSpc>
                <a:spcPct val="100000"/>
              </a:lnSpc>
              <a:spcBef>
                <a:spcPts val="155"/>
              </a:spcBef>
            </a:pPr>
            <a:r>
              <a:rPr dirty="0" sz="1000" spc="-55" i="1">
                <a:solidFill>
                  <a:srgbClr val="FFFFFF"/>
                </a:solidFill>
                <a:latin typeface="Verdana"/>
                <a:cs typeface="Verdana"/>
              </a:rPr>
              <a:t>Includes</a:t>
            </a:r>
            <a:r>
              <a:rPr dirty="0" sz="1000" spc="-35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000" spc="-10" i="1">
                <a:solidFill>
                  <a:srgbClr val="FFFFFF"/>
                </a:solidFill>
                <a:latin typeface="Verdana"/>
                <a:cs typeface="Verdana"/>
              </a:rPr>
              <a:t>$1.1B </a:t>
            </a:r>
            <a:r>
              <a:rPr dirty="0" sz="1000" spc="-40" i="1">
                <a:solidFill>
                  <a:srgbClr val="FFFFFF"/>
                </a:solidFill>
                <a:latin typeface="Verdana"/>
                <a:cs typeface="Verdana"/>
              </a:rPr>
              <a:t>Informatica</a:t>
            </a:r>
            <a:r>
              <a:rPr dirty="0" sz="1000" spc="-60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000" spc="-35" i="1">
                <a:solidFill>
                  <a:srgbClr val="FFFFFF"/>
                </a:solidFill>
                <a:latin typeface="Verdana"/>
                <a:cs typeface="Verdana"/>
              </a:rPr>
              <a:t>Cloud</a:t>
            </a:r>
            <a:r>
              <a:rPr dirty="0" sz="1000" spc="-55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000" spc="-75" i="1">
                <a:solidFill>
                  <a:srgbClr val="FFFFFF"/>
                </a:solidFill>
                <a:latin typeface="Verdana"/>
                <a:cs typeface="Verdana"/>
              </a:rPr>
              <a:t>ARR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040878" y="3116198"/>
            <a:ext cx="132905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45" b="1">
                <a:solidFill>
                  <a:srgbClr val="0150D8"/>
                </a:solidFill>
                <a:latin typeface="Tahoma"/>
                <a:cs typeface="Tahoma"/>
              </a:rPr>
              <a:t>Headless</a:t>
            </a:r>
            <a:r>
              <a:rPr dirty="0" sz="1600" spc="-55" b="1">
                <a:solidFill>
                  <a:srgbClr val="0150D8"/>
                </a:solidFill>
                <a:latin typeface="Tahoma"/>
                <a:cs typeface="Tahoma"/>
              </a:rPr>
              <a:t> </a:t>
            </a:r>
            <a:r>
              <a:rPr dirty="0" sz="1600" spc="-30" b="1">
                <a:solidFill>
                  <a:srgbClr val="0150D8"/>
                </a:solidFill>
                <a:latin typeface="Tahoma"/>
                <a:cs typeface="Tahoma"/>
              </a:rPr>
              <a:t>360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2" name="object 2"/>
          <p:cNvSpPr/>
          <p:nvPr/>
        </p:nvSpPr>
        <p:spPr>
          <a:xfrm>
            <a:off x="0" y="6449186"/>
            <a:ext cx="12192000" cy="408940"/>
          </a:xfrm>
          <a:custGeom>
            <a:avLst/>
            <a:gdLst/>
            <a:ahLst/>
            <a:cxnLst/>
            <a:rect l="l" t="t" r="r" b="b"/>
            <a:pathLst>
              <a:path w="12192000" h="408940">
                <a:moveTo>
                  <a:pt x="0" y="408813"/>
                </a:moveTo>
                <a:lnTo>
                  <a:pt x="12192000" y="408813"/>
                </a:lnTo>
                <a:lnTo>
                  <a:pt x="12192000" y="0"/>
                </a:lnTo>
                <a:lnTo>
                  <a:pt x="0" y="0"/>
                </a:lnTo>
                <a:lnTo>
                  <a:pt x="0" y="408813"/>
                </a:lnTo>
                <a:close/>
              </a:path>
            </a:pathLst>
          </a:custGeom>
          <a:solidFill>
            <a:srgbClr val="CEE9FE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7" name="object 27"/>
          <p:cNvGrpSpPr/>
          <p:nvPr/>
        </p:nvGrpSpPr>
        <p:grpSpPr>
          <a:xfrm>
            <a:off x="0" y="2624582"/>
            <a:ext cx="12192000" cy="3824604"/>
            <a:chOff x="0" y="2624582"/>
            <a:chExt cx="12192000" cy="3824604"/>
          </a:xfrm>
        </p:grpSpPr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330953" y="4483861"/>
              <a:ext cx="286003" cy="329692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089908" y="4541392"/>
              <a:ext cx="214757" cy="214756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833986" y="5380609"/>
              <a:ext cx="148462" cy="146557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561194" y="2624582"/>
              <a:ext cx="403859" cy="40386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558651" y="5594350"/>
              <a:ext cx="246634" cy="243459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0" y="5943599"/>
              <a:ext cx="12192000" cy="506095"/>
            </a:xfrm>
            <a:custGeom>
              <a:avLst/>
              <a:gdLst/>
              <a:ahLst/>
              <a:cxnLst/>
              <a:rect l="l" t="t" r="r" b="b"/>
              <a:pathLst>
                <a:path w="12192000" h="506095">
                  <a:moveTo>
                    <a:pt x="12192000" y="505587"/>
                  </a:moveTo>
                  <a:lnTo>
                    <a:pt x="12192000" y="0"/>
                  </a:lnTo>
                  <a:lnTo>
                    <a:pt x="0" y="0"/>
                  </a:lnTo>
                  <a:lnTo>
                    <a:pt x="0" y="505587"/>
                  </a:lnTo>
                  <a:lnTo>
                    <a:pt x="12192000" y="505587"/>
                  </a:lnTo>
                  <a:close/>
                </a:path>
              </a:pathLst>
            </a:custGeom>
            <a:solidFill>
              <a:srgbClr val="012AB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5612257" y="2574502"/>
            <a:ext cx="1489710" cy="1006475"/>
          </a:xfrm>
          <a:prstGeom prst="rect">
            <a:avLst/>
          </a:prstGeom>
        </p:spPr>
        <p:txBody>
          <a:bodyPr wrap="square" lIns="0" tIns="144145" rIns="0" bIns="0" rtlCol="0" vert="horz">
            <a:spAutoFit/>
          </a:bodyPr>
          <a:lstStyle/>
          <a:p>
            <a:pPr marL="292100">
              <a:lnSpc>
                <a:spcPct val="100000"/>
              </a:lnSpc>
              <a:spcBef>
                <a:spcPts val="1135"/>
              </a:spcBef>
            </a:pPr>
            <a:r>
              <a:rPr dirty="0" sz="2800" spc="-10" b="1">
                <a:solidFill>
                  <a:srgbClr val="002674"/>
                </a:solidFill>
                <a:latin typeface="Tahoma"/>
                <a:cs typeface="Tahoma"/>
              </a:rPr>
              <a:t>)1.5B</a:t>
            </a:r>
            <a:endParaRPr sz="2800">
              <a:latin typeface="Tahoma"/>
              <a:cs typeface="Tahoma"/>
            </a:endParaRPr>
          </a:p>
          <a:p>
            <a:pPr marL="12700" marR="5080" indent="175895">
              <a:lnSpc>
                <a:spcPct val="100000"/>
              </a:lnSpc>
              <a:spcBef>
                <a:spcPts val="445"/>
              </a:spcBef>
            </a:pPr>
            <a:r>
              <a:rPr dirty="0" sz="1200" spc="-45">
                <a:solidFill>
                  <a:srgbClr val="002674"/>
                </a:solidFill>
                <a:latin typeface="Verdana"/>
                <a:cs typeface="Verdana"/>
              </a:rPr>
              <a:t>Agentforce</a:t>
            </a:r>
            <a:r>
              <a:rPr dirty="0" sz="1200" spc="-65">
                <a:solidFill>
                  <a:srgbClr val="002674"/>
                </a:solidFill>
                <a:latin typeface="Verdana"/>
                <a:cs typeface="Verdana"/>
              </a:rPr>
              <a:t> </a:t>
            </a:r>
            <a:r>
              <a:rPr dirty="0" sz="1200" spc="-25">
                <a:solidFill>
                  <a:srgbClr val="002674"/>
                </a:solidFill>
                <a:latin typeface="Verdana"/>
                <a:cs typeface="Verdana"/>
              </a:rPr>
              <a:t>ARR </a:t>
            </a:r>
            <a:r>
              <a:rPr dirty="0" sz="1200" spc="-45">
                <a:solidFill>
                  <a:srgbClr val="002674"/>
                </a:solidFill>
                <a:latin typeface="Verdana"/>
                <a:cs typeface="Verdana"/>
              </a:rPr>
              <a:t>(Up</a:t>
            </a:r>
            <a:r>
              <a:rPr dirty="0" sz="1200" spc="-75">
                <a:solidFill>
                  <a:srgbClr val="002674"/>
                </a:solidFill>
                <a:latin typeface="Verdana"/>
                <a:cs typeface="Verdana"/>
              </a:rPr>
              <a:t> </a:t>
            </a:r>
            <a:r>
              <a:rPr dirty="0" sz="1200" spc="-65">
                <a:solidFill>
                  <a:srgbClr val="002674"/>
                </a:solidFill>
                <a:latin typeface="Verdana"/>
                <a:cs typeface="Verdana"/>
              </a:rPr>
              <a:t>over</a:t>
            </a:r>
            <a:r>
              <a:rPr dirty="0" sz="1200" spc="-80">
                <a:solidFill>
                  <a:srgbClr val="002674"/>
                </a:solidFill>
                <a:latin typeface="Verdana"/>
                <a:cs typeface="Verdana"/>
              </a:rPr>
              <a:t> </a:t>
            </a:r>
            <a:r>
              <a:rPr dirty="0" sz="1200">
                <a:solidFill>
                  <a:srgbClr val="002674"/>
                </a:solidFill>
                <a:latin typeface="Verdana"/>
                <a:cs typeface="Verdana"/>
              </a:rPr>
              <a:t>240%</a:t>
            </a:r>
            <a:r>
              <a:rPr dirty="0" sz="1200" spc="-75">
                <a:solidFill>
                  <a:srgbClr val="002674"/>
                </a:solidFill>
                <a:latin typeface="Verdana"/>
                <a:cs typeface="Verdana"/>
              </a:rPr>
              <a:t> </a:t>
            </a:r>
            <a:r>
              <a:rPr dirty="0" sz="1200" spc="-45">
                <a:solidFill>
                  <a:srgbClr val="002674"/>
                </a:solidFill>
                <a:latin typeface="Verdana"/>
                <a:cs typeface="Verdana"/>
              </a:rPr>
              <a:t>Y/Y)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02640" y="6038850"/>
            <a:ext cx="1148969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Going</a:t>
            </a:r>
            <a:r>
              <a:rPr dirty="0" sz="1500" spc="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forward,</a:t>
            </a:r>
            <a:r>
              <a:rPr dirty="0" sz="1500" spc="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moving</a:t>
            </a:r>
            <a:r>
              <a:rPr dirty="0" sz="1500" spc="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500" spc="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milestone</a:t>
            </a:r>
            <a:r>
              <a:rPr dirty="0" sz="1500" spc="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based</a:t>
            </a:r>
            <a:r>
              <a:rPr dirty="0" sz="1500" spc="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reporting.</a:t>
            </a:r>
            <a:r>
              <a:rPr dirty="0" sz="1500" spc="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Agentforce</a:t>
            </a:r>
            <a:r>
              <a:rPr dirty="0" sz="1500" spc="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45" b="1">
                <a:solidFill>
                  <a:srgbClr val="FFFFFF"/>
                </a:solidFill>
                <a:latin typeface="Arial"/>
                <a:cs typeface="Arial"/>
              </a:rPr>
              <a:t>ARR</a:t>
            </a:r>
            <a:r>
              <a:rPr dirty="0" sz="1500" spc="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includes</a:t>
            </a:r>
            <a:r>
              <a:rPr dirty="0" sz="1500" spc="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Headless</a:t>
            </a:r>
            <a:r>
              <a:rPr dirty="0" sz="1500" spc="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360</a:t>
            </a:r>
            <a:r>
              <a:rPr dirty="0" sz="1500" spc="65" b="1">
                <a:solidFill>
                  <a:srgbClr val="FFFFFF"/>
                </a:solidFill>
                <a:latin typeface="Arial"/>
                <a:cs typeface="Arial"/>
              </a:rPr>
              <a:t> and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Slackbot</a:t>
            </a:r>
            <a:r>
              <a:rPr dirty="0" sz="1500" spc="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effective</a:t>
            </a:r>
            <a:r>
              <a:rPr dirty="0" sz="1500" spc="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Q2</a:t>
            </a:r>
            <a:r>
              <a:rPr dirty="0" sz="1500" spc="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Arial"/>
                <a:cs typeface="Arial"/>
              </a:rPr>
              <a:t>FY27.</a:t>
            </a:r>
            <a:endParaRPr sz="15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70026" y="6513703"/>
            <a:ext cx="7046595" cy="2571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910"/>
              </a:lnSpc>
              <a:spcBef>
                <a:spcPts val="100"/>
              </a:spcBef>
            </a:pPr>
            <a:r>
              <a:rPr dirty="0" sz="800" spc="-35">
                <a:solidFill>
                  <a:srgbClr val="001E5A"/>
                </a:solidFill>
                <a:latin typeface="Verdana"/>
                <a:cs typeface="Verdana"/>
              </a:rPr>
              <a:t>Informatica</a:t>
            </a:r>
            <a:r>
              <a:rPr dirty="0" sz="800" spc="-50">
                <a:solidFill>
                  <a:srgbClr val="001E5A"/>
                </a:solidFill>
                <a:latin typeface="Verdana"/>
                <a:cs typeface="Verdana"/>
              </a:rPr>
              <a:t> </a:t>
            </a:r>
            <a:r>
              <a:rPr dirty="0" sz="800" spc="-25">
                <a:solidFill>
                  <a:srgbClr val="001E5A"/>
                </a:solidFill>
                <a:latin typeface="Verdana"/>
                <a:cs typeface="Verdana"/>
              </a:rPr>
              <a:t>Cloud</a:t>
            </a:r>
            <a:r>
              <a:rPr dirty="0" sz="800" spc="-40">
                <a:solidFill>
                  <a:srgbClr val="001E5A"/>
                </a:solidFill>
                <a:latin typeface="Verdana"/>
                <a:cs typeface="Verdana"/>
              </a:rPr>
              <a:t> </a:t>
            </a:r>
            <a:r>
              <a:rPr dirty="0" sz="800" spc="-55">
                <a:solidFill>
                  <a:srgbClr val="001E5A"/>
                </a:solidFill>
                <a:latin typeface="Verdana"/>
                <a:cs typeface="Verdana"/>
              </a:rPr>
              <a:t>ARR</a:t>
            </a:r>
            <a:r>
              <a:rPr dirty="0" sz="800" spc="-35">
                <a:solidFill>
                  <a:srgbClr val="001E5A"/>
                </a:solidFill>
                <a:latin typeface="Verdana"/>
                <a:cs typeface="Verdana"/>
              </a:rPr>
              <a:t> </a:t>
            </a:r>
            <a:r>
              <a:rPr dirty="0" sz="800" spc="-25">
                <a:solidFill>
                  <a:srgbClr val="001E5A"/>
                </a:solidFill>
                <a:latin typeface="Verdana"/>
                <a:cs typeface="Verdana"/>
              </a:rPr>
              <a:t>includes</a:t>
            </a:r>
            <a:r>
              <a:rPr dirty="0" sz="800" spc="-30">
                <a:solidFill>
                  <a:srgbClr val="001E5A"/>
                </a:solidFill>
                <a:latin typeface="Verdana"/>
                <a:cs typeface="Verdana"/>
              </a:rPr>
              <a:t> </a:t>
            </a:r>
            <a:r>
              <a:rPr dirty="0" sz="800" spc="-25">
                <a:solidFill>
                  <a:srgbClr val="001E5A"/>
                </a:solidFill>
                <a:latin typeface="Verdana"/>
                <a:cs typeface="Verdana"/>
              </a:rPr>
              <a:t>Cloud</a:t>
            </a:r>
            <a:r>
              <a:rPr dirty="0" sz="800" spc="-40">
                <a:solidFill>
                  <a:srgbClr val="001E5A"/>
                </a:solidFill>
                <a:latin typeface="Verdana"/>
                <a:cs typeface="Verdana"/>
              </a:rPr>
              <a:t> </a:t>
            </a:r>
            <a:r>
              <a:rPr dirty="0" sz="800" spc="-45">
                <a:solidFill>
                  <a:srgbClr val="001E5A"/>
                </a:solidFill>
                <a:latin typeface="Verdana"/>
                <a:cs typeface="Verdana"/>
              </a:rPr>
              <a:t>business</a:t>
            </a:r>
            <a:r>
              <a:rPr dirty="0" sz="800" spc="-35">
                <a:solidFill>
                  <a:srgbClr val="001E5A"/>
                </a:solidFill>
                <a:latin typeface="Verdana"/>
                <a:cs typeface="Verdana"/>
              </a:rPr>
              <a:t> </a:t>
            </a:r>
            <a:r>
              <a:rPr dirty="0" sz="800" spc="-50">
                <a:solidFill>
                  <a:srgbClr val="001E5A"/>
                </a:solidFill>
                <a:latin typeface="Verdana"/>
                <a:cs typeface="Verdana"/>
              </a:rPr>
              <a:t>only,</a:t>
            </a:r>
            <a:r>
              <a:rPr dirty="0" sz="800" spc="-35">
                <a:solidFill>
                  <a:srgbClr val="001E5A"/>
                </a:solidFill>
                <a:latin typeface="Verdana"/>
                <a:cs typeface="Verdana"/>
              </a:rPr>
              <a:t> excluding</a:t>
            </a:r>
            <a:r>
              <a:rPr dirty="0" sz="800" spc="-30">
                <a:solidFill>
                  <a:srgbClr val="001E5A"/>
                </a:solidFill>
                <a:latin typeface="Verdana"/>
                <a:cs typeface="Verdana"/>
              </a:rPr>
              <a:t> </a:t>
            </a:r>
            <a:r>
              <a:rPr dirty="0" sz="800" spc="-45">
                <a:solidFill>
                  <a:srgbClr val="001E5A"/>
                </a:solidFill>
                <a:latin typeface="Verdana"/>
                <a:cs typeface="Verdana"/>
              </a:rPr>
              <a:t>On-</a:t>
            </a:r>
            <a:r>
              <a:rPr dirty="0" sz="800" spc="-30">
                <a:solidFill>
                  <a:srgbClr val="001E5A"/>
                </a:solidFill>
                <a:latin typeface="Verdana"/>
                <a:cs typeface="Verdana"/>
              </a:rPr>
              <a:t>Prem</a:t>
            </a:r>
            <a:r>
              <a:rPr dirty="0" sz="800" spc="-35">
                <a:solidFill>
                  <a:srgbClr val="001E5A"/>
                </a:solidFill>
                <a:latin typeface="Verdana"/>
                <a:cs typeface="Verdana"/>
              </a:rPr>
              <a:t> and</a:t>
            </a:r>
            <a:r>
              <a:rPr dirty="0" sz="800" spc="-40">
                <a:solidFill>
                  <a:srgbClr val="001E5A"/>
                </a:solidFill>
                <a:latin typeface="Verdana"/>
                <a:cs typeface="Verdana"/>
              </a:rPr>
              <a:t> </a:t>
            </a:r>
            <a:r>
              <a:rPr dirty="0" sz="800" spc="-50">
                <a:solidFill>
                  <a:srgbClr val="001E5A"/>
                </a:solidFill>
                <a:latin typeface="Verdana"/>
                <a:cs typeface="Verdana"/>
              </a:rPr>
              <a:t>ProServe</a:t>
            </a:r>
            <a:r>
              <a:rPr dirty="0" sz="800" spc="-35">
                <a:solidFill>
                  <a:srgbClr val="001E5A"/>
                </a:solidFill>
                <a:latin typeface="Verdana"/>
                <a:cs typeface="Verdana"/>
              </a:rPr>
              <a:t> </a:t>
            </a:r>
            <a:r>
              <a:rPr dirty="0" sz="800" spc="-20">
                <a:solidFill>
                  <a:srgbClr val="001E5A"/>
                </a:solidFill>
                <a:latin typeface="Verdana"/>
                <a:cs typeface="Verdana"/>
              </a:rPr>
              <a:t>ARR.</a:t>
            </a:r>
            <a:endParaRPr sz="800">
              <a:latin typeface="Verdana"/>
              <a:cs typeface="Verdana"/>
            </a:endParaRPr>
          </a:p>
          <a:p>
            <a:pPr marL="12700">
              <a:lnSpc>
                <a:spcPts val="910"/>
              </a:lnSpc>
            </a:pPr>
            <a:r>
              <a:rPr dirty="0" sz="800" spc="-45">
                <a:solidFill>
                  <a:srgbClr val="001E5A"/>
                </a:solidFill>
                <a:latin typeface="Verdana"/>
                <a:cs typeface="Verdana"/>
              </a:rPr>
              <a:t>In</a:t>
            </a:r>
            <a:r>
              <a:rPr dirty="0" sz="800" spc="-40">
                <a:solidFill>
                  <a:srgbClr val="001E5A"/>
                </a:solidFill>
                <a:latin typeface="Verdana"/>
                <a:cs typeface="Verdana"/>
              </a:rPr>
              <a:t> </a:t>
            </a:r>
            <a:r>
              <a:rPr dirty="0" sz="800" spc="-10">
                <a:solidFill>
                  <a:srgbClr val="001E5A"/>
                </a:solidFill>
                <a:latin typeface="Verdana"/>
                <a:cs typeface="Verdana"/>
              </a:rPr>
              <a:t>Q3</a:t>
            </a:r>
            <a:r>
              <a:rPr dirty="0" sz="800" spc="-40">
                <a:solidFill>
                  <a:srgbClr val="001E5A"/>
                </a:solidFill>
                <a:latin typeface="Verdana"/>
                <a:cs typeface="Verdana"/>
              </a:rPr>
              <a:t> </a:t>
            </a:r>
            <a:r>
              <a:rPr dirty="0" sz="800" spc="-45">
                <a:solidFill>
                  <a:srgbClr val="001E5A"/>
                </a:solidFill>
                <a:latin typeface="Verdana"/>
                <a:cs typeface="Verdana"/>
              </a:rPr>
              <a:t>FY26,</a:t>
            </a:r>
            <a:r>
              <a:rPr dirty="0" sz="800" spc="-40">
                <a:solidFill>
                  <a:srgbClr val="001E5A"/>
                </a:solidFill>
                <a:latin typeface="Verdana"/>
                <a:cs typeface="Verdana"/>
              </a:rPr>
              <a:t> </a:t>
            </a:r>
            <a:r>
              <a:rPr dirty="0" sz="800" spc="-30">
                <a:solidFill>
                  <a:srgbClr val="001E5A"/>
                </a:solidFill>
                <a:latin typeface="Verdana"/>
                <a:cs typeface="Verdana"/>
              </a:rPr>
              <a:t>the</a:t>
            </a:r>
            <a:r>
              <a:rPr dirty="0" sz="800" spc="-50">
                <a:solidFill>
                  <a:srgbClr val="001E5A"/>
                </a:solidFill>
                <a:latin typeface="Verdana"/>
                <a:cs typeface="Verdana"/>
              </a:rPr>
              <a:t> </a:t>
            </a:r>
            <a:r>
              <a:rPr dirty="0" sz="800" spc="-40">
                <a:solidFill>
                  <a:srgbClr val="001E5A"/>
                </a:solidFill>
                <a:latin typeface="Verdana"/>
                <a:cs typeface="Verdana"/>
              </a:rPr>
              <a:t>Company </a:t>
            </a:r>
            <a:r>
              <a:rPr dirty="0" sz="800" spc="-35">
                <a:solidFill>
                  <a:srgbClr val="001E5A"/>
                </a:solidFill>
                <a:latin typeface="Verdana"/>
                <a:cs typeface="Verdana"/>
              </a:rPr>
              <a:t>renamed</a:t>
            </a:r>
            <a:r>
              <a:rPr dirty="0" sz="800" spc="-45">
                <a:solidFill>
                  <a:srgbClr val="001E5A"/>
                </a:solidFill>
                <a:latin typeface="Verdana"/>
                <a:cs typeface="Verdana"/>
              </a:rPr>
              <a:t> its</a:t>
            </a:r>
            <a:r>
              <a:rPr dirty="0" sz="800" spc="-40">
                <a:solidFill>
                  <a:srgbClr val="001E5A"/>
                </a:solidFill>
                <a:latin typeface="Verdana"/>
                <a:cs typeface="Verdana"/>
              </a:rPr>
              <a:t> service</a:t>
            </a:r>
            <a:r>
              <a:rPr dirty="0" sz="800" spc="-45">
                <a:solidFill>
                  <a:srgbClr val="001E5A"/>
                </a:solidFill>
                <a:latin typeface="Verdana"/>
                <a:cs typeface="Verdana"/>
              </a:rPr>
              <a:t> </a:t>
            </a:r>
            <a:r>
              <a:rPr dirty="0" sz="800" spc="-40">
                <a:solidFill>
                  <a:srgbClr val="001E5A"/>
                </a:solidFill>
                <a:latin typeface="Verdana"/>
                <a:cs typeface="Verdana"/>
              </a:rPr>
              <a:t>offerings </a:t>
            </a:r>
            <a:r>
              <a:rPr dirty="0" sz="800" spc="-20">
                <a:solidFill>
                  <a:srgbClr val="001E5A"/>
                </a:solidFill>
                <a:latin typeface="Verdana"/>
                <a:cs typeface="Verdana"/>
              </a:rPr>
              <a:t>to</a:t>
            </a:r>
            <a:r>
              <a:rPr dirty="0" sz="800" spc="-45">
                <a:solidFill>
                  <a:srgbClr val="001E5A"/>
                </a:solidFill>
                <a:latin typeface="Verdana"/>
                <a:cs typeface="Verdana"/>
              </a:rPr>
              <a:t> </a:t>
            </a:r>
            <a:r>
              <a:rPr dirty="0" sz="800" spc="-35">
                <a:solidFill>
                  <a:srgbClr val="001E5A"/>
                </a:solidFill>
                <a:latin typeface="Verdana"/>
                <a:cs typeface="Verdana"/>
              </a:rPr>
              <a:t>reference</a:t>
            </a:r>
            <a:r>
              <a:rPr dirty="0" sz="800" spc="-45">
                <a:solidFill>
                  <a:srgbClr val="001E5A"/>
                </a:solidFill>
                <a:latin typeface="Verdana"/>
                <a:cs typeface="Verdana"/>
              </a:rPr>
              <a:t> </a:t>
            </a:r>
            <a:r>
              <a:rPr dirty="0" sz="800" spc="-40">
                <a:solidFill>
                  <a:srgbClr val="001E5A"/>
                </a:solidFill>
                <a:latin typeface="Verdana"/>
                <a:cs typeface="Verdana"/>
              </a:rPr>
              <a:t>Agentforce. There</a:t>
            </a:r>
            <a:r>
              <a:rPr dirty="0" sz="800" spc="-50">
                <a:solidFill>
                  <a:srgbClr val="001E5A"/>
                </a:solidFill>
                <a:latin typeface="Verdana"/>
                <a:cs typeface="Verdana"/>
              </a:rPr>
              <a:t> </a:t>
            </a:r>
            <a:r>
              <a:rPr dirty="0" sz="800" spc="-55">
                <a:solidFill>
                  <a:srgbClr val="001E5A"/>
                </a:solidFill>
                <a:latin typeface="Verdana"/>
                <a:cs typeface="Verdana"/>
              </a:rPr>
              <a:t>was</a:t>
            </a:r>
            <a:r>
              <a:rPr dirty="0" sz="800" spc="-40">
                <a:solidFill>
                  <a:srgbClr val="001E5A"/>
                </a:solidFill>
                <a:latin typeface="Verdana"/>
                <a:cs typeface="Verdana"/>
              </a:rPr>
              <a:t> </a:t>
            </a:r>
            <a:r>
              <a:rPr dirty="0" sz="800" spc="-20">
                <a:solidFill>
                  <a:srgbClr val="001E5A"/>
                </a:solidFill>
                <a:latin typeface="Verdana"/>
                <a:cs typeface="Verdana"/>
              </a:rPr>
              <a:t>no</a:t>
            </a:r>
            <a:r>
              <a:rPr dirty="0" sz="800" spc="-45">
                <a:solidFill>
                  <a:srgbClr val="001E5A"/>
                </a:solidFill>
                <a:latin typeface="Verdana"/>
                <a:cs typeface="Verdana"/>
              </a:rPr>
              <a:t> </a:t>
            </a:r>
            <a:r>
              <a:rPr dirty="0" sz="800" spc="-40">
                <a:solidFill>
                  <a:srgbClr val="001E5A"/>
                </a:solidFill>
                <a:latin typeface="Verdana"/>
                <a:cs typeface="Verdana"/>
              </a:rPr>
              <a:t>change</a:t>
            </a:r>
            <a:r>
              <a:rPr dirty="0" sz="800" spc="-45">
                <a:solidFill>
                  <a:srgbClr val="001E5A"/>
                </a:solidFill>
                <a:latin typeface="Verdana"/>
                <a:cs typeface="Verdana"/>
              </a:rPr>
              <a:t> </a:t>
            </a:r>
            <a:r>
              <a:rPr dirty="0" sz="800" spc="-20">
                <a:solidFill>
                  <a:srgbClr val="001E5A"/>
                </a:solidFill>
                <a:latin typeface="Verdana"/>
                <a:cs typeface="Verdana"/>
              </a:rPr>
              <a:t>to</a:t>
            </a:r>
            <a:r>
              <a:rPr dirty="0" sz="800" spc="-45">
                <a:solidFill>
                  <a:srgbClr val="001E5A"/>
                </a:solidFill>
                <a:latin typeface="Verdana"/>
                <a:cs typeface="Verdana"/>
              </a:rPr>
              <a:t> </a:t>
            </a:r>
            <a:r>
              <a:rPr dirty="0" sz="800" spc="-30">
                <a:solidFill>
                  <a:srgbClr val="001E5A"/>
                </a:solidFill>
                <a:latin typeface="Verdana"/>
                <a:cs typeface="Verdana"/>
              </a:rPr>
              <a:t>the</a:t>
            </a:r>
            <a:r>
              <a:rPr dirty="0" sz="800" spc="-45">
                <a:solidFill>
                  <a:srgbClr val="001E5A"/>
                </a:solidFill>
                <a:latin typeface="Verdana"/>
                <a:cs typeface="Verdana"/>
              </a:rPr>
              <a:t> </a:t>
            </a:r>
            <a:r>
              <a:rPr dirty="0" sz="800" spc="-30">
                <a:solidFill>
                  <a:srgbClr val="001E5A"/>
                </a:solidFill>
                <a:latin typeface="Verdana"/>
                <a:cs typeface="Verdana"/>
              </a:rPr>
              <a:t>allocation</a:t>
            </a:r>
            <a:r>
              <a:rPr dirty="0" sz="800" spc="-40">
                <a:solidFill>
                  <a:srgbClr val="001E5A"/>
                </a:solidFill>
                <a:latin typeface="Verdana"/>
                <a:cs typeface="Verdana"/>
              </a:rPr>
              <a:t> </a:t>
            </a:r>
            <a:r>
              <a:rPr dirty="0" sz="800" spc="-25">
                <a:solidFill>
                  <a:srgbClr val="001E5A"/>
                </a:solidFill>
                <a:latin typeface="Verdana"/>
                <a:cs typeface="Verdana"/>
              </a:rPr>
              <a:t>of</a:t>
            </a:r>
            <a:r>
              <a:rPr dirty="0" sz="800" spc="-40">
                <a:solidFill>
                  <a:srgbClr val="001E5A"/>
                </a:solidFill>
                <a:latin typeface="Verdana"/>
                <a:cs typeface="Verdana"/>
              </a:rPr>
              <a:t> </a:t>
            </a:r>
            <a:r>
              <a:rPr dirty="0" sz="800" spc="-35">
                <a:solidFill>
                  <a:srgbClr val="001E5A"/>
                </a:solidFill>
                <a:latin typeface="Verdana"/>
                <a:cs typeface="Verdana"/>
              </a:rPr>
              <a:t>Annual</a:t>
            </a:r>
            <a:r>
              <a:rPr dirty="0" sz="800" spc="-40">
                <a:solidFill>
                  <a:srgbClr val="001E5A"/>
                </a:solidFill>
                <a:latin typeface="Verdana"/>
                <a:cs typeface="Verdana"/>
              </a:rPr>
              <a:t> </a:t>
            </a:r>
            <a:r>
              <a:rPr dirty="0" sz="800" spc="-45">
                <a:solidFill>
                  <a:srgbClr val="001E5A"/>
                </a:solidFill>
                <a:latin typeface="Verdana"/>
                <a:cs typeface="Verdana"/>
              </a:rPr>
              <a:t>Recurring</a:t>
            </a:r>
            <a:r>
              <a:rPr dirty="0" sz="800" spc="-40">
                <a:solidFill>
                  <a:srgbClr val="001E5A"/>
                </a:solidFill>
                <a:latin typeface="Verdana"/>
                <a:cs typeface="Verdana"/>
              </a:rPr>
              <a:t> </a:t>
            </a:r>
            <a:r>
              <a:rPr dirty="0" sz="800" spc="-10">
                <a:solidFill>
                  <a:srgbClr val="001E5A"/>
                </a:solidFill>
                <a:latin typeface="Verdana"/>
                <a:cs typeface="Verdana"/>
              </a:rPr>
              <a:t>Revenue.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492356" y="6583933"/>
            <a:ext cx="10287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0">
                <a:latin typeface="Verdana"/>
                <a:cs typeface="Verdana"/>
              </a:rPr>
              <a:t>9</a:t>
            </a:r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563498" y="485647"/>
            <a:ext cx="553974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10">
                <a:solidFill>
                  <a:srgbClr val="022C60"/>
                </a:solidFill>
              </a:rPr>
              <a:t>Q2</a:t>
            </a:r>
            <a:r>
              <a:rPr dirty="0" spc="-15">
                <a:solidFill>
                  <a:srgbClr val="022C60"/>
                </a:solidFill>
              </a:rPr>
              <a:t> </a:t>
            </a:r>
            <a:r>
              <a:rPr dirty="0" spc="-140">
                <a:solidFill>
                  <a:srgbClr val="022C60"/>
                </a:solidFill>
              </a:rPr>
              <a:t>FY27</a:t>
            </a:r>
            <a:r>
              <a:rPr dirty="0" spc="-15">
                <a:solidFill>
                  <a:srgbClr val="022C60"/>
                </a:solidFill>
              </a:rPr>
              <a:t> </a:t>
            </a:r>
            <a:r>
              <a:rPr dirty="0"/>
              <a:t>Financial</a:t>
            </a:r>
            <a:r>
              <a:rPr dirty="0" spc="-15"/>
              <a:t> </a:t>
            </a:r>
            <a:r>
              <a:rPr dirty="0" spc="-170"/>
              <a:t>Results</a:t>
            </a: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33252" y="565404"/>
            <a:ext cx="635634" cy="445008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93522" y="1388364"/>
            <a:ext cx="7176134" cy="5238115"/>
          </a:xfrm>
          <a:custGeom>
            <a:avLst/>
            <a:gdLst/>
            <a:ahLst/>
            <a:cxnLst/>
            <a:rect l="l" t="t" r="r" b="b"/>
            <a:pathLst>
              <a:path w="7176134" h="5238115">
                <a:moveTo>
                  <a:pt x="7033133" y="0"/>
                </a:moveTo>
                <a:lnTo>
                  <a:pt x="142875" y="0"/>
                </a:lnTo>
                <a:lnTo>
                  <a:pt x="97731" y="7287"/>
                </a:lnTo>
                <a:lnTo>
                  <a:pt x="58512" y="27578"/>
                </a:lnTo>
                <a:lnTo>
                  <a:pt x="27578" y="58512"/>
                </a:lnTo>
                <a:lnTo>
                  <a:pt x="7287" y="97730"/>
                </a:lnTo>
                <a:lnTo>
                  <a:pt x="0" y="142875"/>
                </a:lnTo>
                <a:lnTo>
                  <a:pt x="0" y="5094985"/>
                </a:lnTo>
                <a:lnTo>
                  <a:pt x="7287" y="5140129"/>
                </a:lnTo>
                <a:lnTo>
                  <a:pt x="27578" y="5179348"/>
                </a:lnTo>
                <a:lnTo>
                  <a:pt x="58512" y="5210282"/>
                </a:lnTo>
                <a:lnTo>
                  <a:pt x="97731" y="5230573"/>
                </a:lnTo>
                <a:lnTo>
                  <a:pt x="142875" y="5237860"/>
                </a:lnTo>
                <a:lnTo>
                  <a:pt x="7033133" y="5237860"/>
                </a:lnTo>
                <a:lnTo>
                  <a:pt x="7078277" y="5230573"/>
                </a:lnTo>
                <a:lnTo>
                  <a:pt x="7117495" y="5210282"/>
                </a:lnTo>
                <a:lnTo>
                  <a:pt x="7148429" y="5179348"/>
                </a:lnTo>
                <a:lnTo>
                  <a:pt x="7168720" y="5140129"/>
                </a:lnTo>
                <a:lnTo>
                  <a:pt x="7176008" y="5094985"/>
                </a:lnTo>
                <a:lnTo>
                  <a:pt x="7176008" y="142875"/>
                </a:lnTo>
                <a:lnTo>
                  <a:pt x="7168720" y="97730"/>
                </a:lnTo>
                <a:lnTo>
                  <a:pt x="7148429" y="58512"/>
                </a:lnTo>
                <a:lnTo>
                  <a:pt x="7117495" y="27578"/>
                </a:lnTo>
                <a:lnTo>
                  <a:pt x="7078277" y="7287"/>
                </a:lnTo>
                <a:lnTo>
                  <a:pt x="703313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707516" y="1479550"/>
            <a:ext cx="6720840" cy="609600"/>
          </a:xfrm>
          <a:prstGeom prst="rect">
            <a:avLst/>
          </a:prstGeom>
          <a:solidFill>
            <a:srgbClr val="012ABF"/>
          </a:solidFill>
        </p:spPr>
        <p:txBody>
          <a:bodyPr wrap="square" lIns="0" tIns="1016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800"/>
              </a:spcBef>
            </a:pPr>
            <a:r>
              <a:rPr dirty="0" sz="2100" spc="-70" b="1">
                <a:solidFill>
                  <a:srgbClr val="FFFFFF"/>
                </a:solidFill>
                <a:latin typeface="Arial"/>
                <a:cs typeface="Arial"/>
              </a:rPr>
              <a:t>Top</a:t>
            </a:r>
            <a:r>
              <a:rPr dirty="0" sz="2100" spc="-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00" spc="-20" b="1">
                <a:solidFill>
                  <a:srgbClr val="FFFFFF"/>
                </a:solidFill>
                <a:latin typeface="Arial"/>
                <a:cs typeface="Arial"/>
              </a:rPr>
              <a:t>Line</a:t>
            </a:r>
            <a:endParaRPr sz="2100">
              <a:latin typeface="Arial"/>
              <a:cs typeface="Arial"/>
            </a:endParaRPr>
          </a:p>
        </p:txBody>
      </p:sp>
      <p:sp>
        <p:nvSpPr>
          <p:cNvPr id="2" name="object 2"/>
          <p:cNvSpPr/>
          <p:nvPr/>
        </p:nvSpPr>
        <p:spPr>
          <a:xfrm>
            <a:off x="7803388" y="1388364"/>
            <a:ext cx="4043045" cy="5238115"/>
          </a:xfrm>
          <a:custGeom>
            <a:avLst/>
            <a:gdLst/>
            <a:ahLst/>
            <a:cxnLst/>
            <a:rect l="l" t="t" r="r" b="b"/>
            <a:pathLst>
              <a:path w="4043045" h="5238115">
                <a:moveTo>
                  <a:pt x="3932301" y="0"/>
                </a:moveTo>
                <a:lnTo>
                  <a:pt x="110362" y="0"/>
                </a:lnTo>
                <a:lnTo>
                  <a:pt x="67455" y="8689"/>
                </a:lnTo>
                <a:lnTo>
                  <a:pt x="32369" y="32369"/>
                </a:lnTo>
                <a:lnTo>
                  <a:pt x="8689" y="67454"/>
                </a:lnTo>
                <a:lnTo>
                  <a:pt x="0" y="110362"/>
                </a:lnTo>
                <a:lnTo>
                  <a:pt x="0" y="5127497"/>
                </a:lnTo>
                <a:lnTo>
                  <a:pt x="8689" y="5170405"/>
                </a:lnTo>
                <a:lnTo>
                  <a:pt x="32369" y="5205491"/>
                </a:lnTo>
                <a:lnTo>
                  <a:pt x="67455" y="5229171"/>
                </a:lnTo>
                <a:lnTo>
                  <a:pt x="110362" y="5237860"/>
                </a:lnTo>
                <a:lnTo>
                  <a:pt x="3932301" y="5237860"/>
                </a:lnTo>
                <a:lnTo>
                  <a:pt x="3975209" y="5229171"/>
                </a:lnTo>
                <a:lnTo>
                  <a:pt x="4010294" y="5205491"/>
                </a:lnTo>
                <a:lnTo>
                  <a:pt x="4033974" y="5170405"/>
                </a:lnTo>
                <a:lnTo>
                  <a:pt x="4042664" y="5127497"/>
                </a:lnTo>
                <a:lnTo>
                  <a:pt x="4042664" y="110362"/>
                </a:lnTo>
                <a:lnTo>
                  <a:pt x="4033974" y="67454"/>
                </a:lnTo>
                <a:lnTo>
                  <a:pt x="4010294" y="32369"/>
                </a:lnTo>
                <a:lnTo>
                  <a:pt x="3975209" y="8689"/>
                </a:lnTo>
                <a:lnTo>
                  <a:pt x="393230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7957439" y="1479550"/>
            <a:ext cx="3748404" cy="609600"/>
          </a:xfrm>
          <a:prstGeom prst="rect">
            <a:avLst/>
          </a:prstGeom>
          <a:solidFill>
            <a:srgbClr val="0B817B"/>
          </a:solidFill>
        </p:spPr>
        <p:txBody>
          <a:bodyPr wrap="square" lIns="0" tIns="101600" rIns="0" bIns="0" rtlCol="0" vert="horz">
            <a:spAutoFit/>
          </a:bodyPr>
          <a:lstStyle/>
          <a:p>
            <a:pPr marL="1065530">
              <a:lnSpc>
                <a:spcPct val="100000"/>
              </a:lnSpc>
              <a:spcBef>
                <a:spcPts val="800"/>
              </a:spcBef>
            </a:pPr>
            <a:r>
              <a:rPr dirty="0" sz="2100" spc="-95" b="1">
                <a:solidFill>
                  <a:srgbClr val="FFFFFF"/>
                </a:solidFill>
                <a:latin typeface="Arial"/>
                <a:cs typeface="Arial"/>
              </a:rPr>
              <a:t>Profit</a:t>
            </a:r>
            <a:r>
              <a:rPr dirty="0" sz="210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r>
              <a:rPr dirty="0" sz="210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00" spc="-20" b="1">
                <a:solidFill>
                  <a:srgbClr val="FFFFFF"/>
                </a:solidFill>
                <a:latin typeface="Arial"/>
                <a:cs typeface="Arial"/>
              </a:rPr>
              <a:t>Cash</a:t>
            </a:r>
            <a:endParaRPr sz="21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85800" y="2230373"/>
            <a:ext cx="2196465" cy="1786889"/>
          </a:xfrm>
          <a:custGeom>
            <a:avLst/>
            <a:gdLst/>
            <a:ahLst/>
            <a:cxnLst/>
            <a:rect l="l" t="t" r="r" b="b"/>
            <a:pathLst>
              <a:path w="2196465" h="1786889">
                <a:moveTo>
                  <a:pt x="2068322" y="0"/>
                </a:moveTo>
                <a:lnTo>
                  <a:pt x="128015" y="0"/>
                </a:lnTo>
                <a:lnTo>
                  <a:pt x="78170" y="10054"/>
                </a:lnTo>
                <a:lnTo>
                  <a:pt x="37480" y="37480"/>
                </a:lnTo>
                <a:lnTo>
                  <a:pt x="10054" y="78170"/>
                </a:lnTo>
                <a:lnTo>
                  <a:pt x="0" y="128016"/>
                </a:lnTo>
                <a:lnTo>
                  <a:pt x="0" y="1658747"/>
                </a:lnTo>
                <a:lnTo>
                  <a:pt x="10054" y="1708592"/>
                </a:lnTo>
                <a:lnTo>
                  <a:pt x="37480" y="1749282"/>
                </a:lnTo>
                <a:lnTo>
                  <a:pt x="78170" y="1776708"/>
                </a:lnTo>
                <a:lnTo>
                  <a:pt x="128015" y="1786763"/>
                </a:lnTo>
                <a:lnTo>
                  <a:pt x="2068322" y="1786763"/>
                </a:lnTo>
                <a:lnTo>
                  <a:pt x="2118167" y="1776708"/>
                </a:lnTo>
                <a:lnTo>
                  <a:pt x="2158857" y="1749282"/>
                </a:lnTo>
                <a:lnTo>
                  <a:pt x="2186283" y="1708592"/>
                </a:lnTo>
                <a:lnTo>
                  <a:pt x="2196338" y="1658747"/>
                </a:lnTo>
                <a:lnTo>
                  <a:pt x="2196338" y="128016"/>
                </a:lnTo>
                <a:lnTo>
                  <a:pt x="2186283" y="78170"/>
                </a:lnTo>
                <a:lnTo>
                  <a:pt x="2158857" y="37480"/>
                </a:lnTo>
                <a:lnTo>
                  <a:pt x="2118167" y="10054"/>
                </a:lnTo>
                <a:lnTo>
                  <a:pt x="2068322" y="0"/>
                </a:lnTo>
                <a:close/>
              </a:path>
            </a:pathLst>
          </a:custGeom>
          <a:solidFill>
            <a:srgbClr val="0B5BAB">
              <a:alpha val="4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827405" y="2471050"/>
            <a:ext cx="1915795" cy="1286510"/>
          </a:xfrm>
          <a:prstGeom prst="rect">
            <a:avLst/>
          </a:prstGeom>
        </p:spPr>
        <p:txBody>
          <a:bodyPr wrap="square" lIns="0" tIns="45720" rIns="0" bIns="0" rtlCol="0" vert="horz">
            <a:spAutoFit/>
          </a:bodyPr>
          <a:lstStyle/>
          <a:p>
            <a:pPr algn="ctr" marL="8255">
              <a:lnSpc>
                <a:spcPct val="100000"/>
              </a:lnSpc>
              <a:spcBef>
                <a:spcPts val="360"/>
              </a:spcBef>
            </a:pPr>
            <a:r>
              <a:rPr dirty="0" sz="1800" spc="-10" b="1">
                <a:solidFill>
                  <a:srgbClr val="022C5F"/>
                </a:solidFill>
                <a:latin typeface="Arial"/>
                <a:cs typeface="Arial"/>
              </a:rPr>
              <a:t>Revenue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84"/>
              </a:spcBef>
            </a:pPr>
            <a:r>
              <a:rPr dirty="0" baseline="21963" sz="3225" spc="-15" b="1">
                <a:solidFill>
                  <a:srgbClr val="012ABF"/>
                </a:solidFill>
                <a:latin typeface="Arial"/>
                <a:cs typeface="Arial"/>
              </a:rPr>
              <a:t>)</a:t>
            </a:r>
            <a:r>
              <a:rPr dirty="0" sz="3300" spc="-10" b="1">
                <a:solidFill>
                  <a:srgbClr val="012ABF"/>
                </a:solidFill>
                <a:latin typeface="Arial"/>
                <a:cs typeface="Arial"/>
              </a:rPr>
              <a:t>11.3B</a:t>
            </a:r>
            <a:endParaRPr sz="33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50"/>
              </a:spcBef>
            </a:pPr>
            <a:r>
              <a:rPr dirty="0" sz="1200" spc="-45">
                <a:solidFill>
                  <a:srgbClr val="022C5F"/>
                </a:solidFill>
                <a:latin typeface="Verdana"/>
                <a:cs typeface="Verdana"/>
              </a:rPr>
              <a:t>+11%</a:t>
            </a:r>
            <a:r>
              <a:rPr dirty="0" sz="1200" spc="-9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1200" spc="-45">
                <a:solidFill>
                  <a:srgbClr val="022C5F"/>
                </a:solidFill>
                <a:latin typeface="Verdana"/>
                <a:cs typeface="Verdana"/>
              </a:rPr>
              <a:t>Y/Y,</a:t>
            </a:r>
            <a:r>
              <a:rPr dirty="0" sz="1200" spc="-9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1200" spc="-45">
                <a:solidFill>
                  <a:srgbClr val="022C5F"/>
                </a:solidFill>
                <a:latin typeface="Verdana"/>
                <a:cs typeface="Verdana"/>
              </a:rPr>
              <a:t>+11%</a:t>
            </a:r>
            <a:r>
              <a:rPr dirty="0" sz="1200" spc="-9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1200" spc="-20">
                <a:solidFill>
                  <a:srgbClr val="022C5F"/>
                </a:solidFill>
                <a:latin typeface="Verdana"/>
                <a:cs typeface="Verdana"/>
              </a:rPr>
              <a:t>Y/Y</a:t>
            </a:r>
            <a:r>
              <a:rPr dirty="0" sz="1200" spc="-9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1200" spc="-25">
                <a:solidFill>
                  <a:srgbClr val="022C5F"/>
                </a:solidFill>
                <a:latin typeface="Verdana"/>
                <a:cs typeface="Verdana"/>
              </a:rPr>
              <a:t>CC</a:t>
            </a:r>
            <a:endParaRPr sz="12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dirty="0" sz="800" spc="-10" i="1">
                <a:solidFill>
                  <a:srgbClr val="022C5F"/>
                </a:solidFill>
                <a:latin typeface="Verdana"/>
                <a:cs typeface="Verdana"/>
              </a:rPr>
              <a:t>$9M</a:t>
            </a:r>
            <a:r>
              <a:rPr dirty="0" sz="800" spc="-70" i="1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00" spc="-10" i="1">
                <a:solidFill>
                  <a:srgbClr val="022C5F"/>
                </a:solidFill>
                <a:latin typeface="Verdana"/>
                <a:cs typeface="Verdana"/>
              </a:rPr>
              <a:t>Y/Y</a:t>
            </a:r>
            <a:r>
              <a:rPr dirty="0" sz="800" spc="-70" i="1">
                <a:solidFill>
                  <a:srgbClr val="022C5F"/>
                </a:solidFill>
                <a:latin typeface="Verdana"/>
                <a:cs typeface="Verdana"/>
              </a:rPr>
              <a:t> FX </a:t>
            </a:r>
            <a:r>
              <a:rPr dirty="0" sz="800" spc="-10" i="1">
                <a:solidFill>
                  <a:srgbClr val="022C5F"/>
                </a:solidFill>
                <a:latin typeface="Verdana"/>
                <a:cs typeface="Verdana"/>
              </a:rPr>
              <a:t>Impact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958973" y="2230373"/>
            <a:ext cx="2196465" cy="1786889"/>
          </a:xfrm>
          <a:custGeom>
            <a:avLst/>
            <a:gdLst/>
            <a:ahLst/>
            <a:cxnLst/>
            <a:rect l="l" t="t" r="r" b="b"/>
            <a:pathLst>
              <a:path w="2196465" h="1786889">
                <a:moveTo>
                  <a:pt x="2068321" y="0"/>
                </a:moveTo>
                <a:lnTo>
                  <a:pt x="128015" y="0"/>
                </a:lnTo>
                <a:lnTo>
                  <a:pt x="78170" y="10054"/>
                </a:lnTo>
                <a:lnTo>
                  <a:pt x="37480" y="37480"/>
                </a:lnTo>
                <a:lnTo>
                  <a:pt x="10054" y="78170"/>
                </a:lnTo>
                <a:lnTo>
                  <a:pt x="0" y="128016"/>
                </a:lnTo>
                <a:lnTo>
                  <a:pt x="0" y="1658747"/>
                </a:lnTo>
                <a:lnTo>
                  <a:pt x="10054" y="1708592"/>
                </a:lnTo>
                <a:lnTo>
                  <a:pt x="37480" y="1749282"/>
                </a:lnTo>
                <a:lnTo>
                  <a:pt x="78170" y="1776708"/>
                </a:lnTo>
                <a:lnTo>
                  <a:pt x="128015" y="1786763"/>
                </a:lnTo>
                <a:lnTo>
                  <a:pt x="2068321" y="1786763"/>
                </a:lnTo>
                <a:lnTo>
                  <a:pt x="2118167" y="1776708"/>
                </a:lnTo>
                <a:lnTo>
                  <a:pt x="2158856" y="1749282"/>
                </a:lnTo>
                <a:lnTo>
                  <a:pt x="2186282" y="1708592"/>
                </a:lnTo>
                <a:lnTo>
                  <a:pt x="2196337" y="1658747"/>
                </a:lnTo>
                <a:lnTo>
                  <a:pt x="2196337" y="128016"/>
                </a:lnTo>
                <a:lnTo>
                  <a:pt x="2186282" y="78170"/>
                </a:lnTo>
                <a:lnTo>
                  <a:pt x="2158856" y="37480"/>
                </a:lnTo>
                <a:lnTo>
                  <a:pt x="2118167" y="10054"/>
                </a:lnTo>
                <a:lnTo>
                  <a:pt x="2068321" y="0"/>
                </a:lnTo>
                <a:close/>
              </a:path>
            </a:pathLst>
          </a:custGeom>
          <a:solidFill>
            <a:srgbClr val="0B5BAB">
              <a:alpha val="4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957439" y="2230373"/>
            <a:ext cx="1828800" cy="1203325"/>
          </a:xfrm>
          <a:custGeom>
            <a:avLst/>
            <a:gdLst/>
            <a:ahLst/>
            <a:cxnLst/>
            <a:rect l="l" t="t" r="r" b="b"/>
            <a:pathLst>
              <a:path w="1828800" h="1203325">
                <a:moveTo>
                  <a:pt x="1718436" y="0"/>
                </a:moveTo>
                <a:lnTo>
                  <a:pt x="110362" y="0"/>
                </a:lnTo>
                <a:lnTo>
                  <a:pt x="67401" y="8671"/>
                </a:lnTo>
                <a:lnTo>
                  <a:pt x="32321" y="32321"/>
                </a:lnTo>
                <a:lnTo>
                  <a:pt x="8671" y="67401"/>
                </a:lnTo>
                <a:lnTo>
                  <a:pt x="0" y="110362"/>
                </a:lnTo>
                <a:lnTo>
                  <a:pt x="0" y="1092835"/>
                </a:lnTo>
                <a:lnTo>
                  <a:pt x="8671" y="1135796"/>
                </a:lnTo>
                <a:lnTo>
                  <a:pt x="32321" y="1170876"/>
                </a:lnTo>
                <a:lnTo>
                  <a:pt x="67401" y="1194526"/>
                </a:lnTo>
                <a:lnTo>
                  <a:pt x="110362" y="1203197"/>
                </a:lnTo>
                <a:lnTo>
                  <a:pt x="1718436" y="1203197"/>
                </a:lnTo>
                <a:lnTo>
                  <a:pt x="1761398" y="1194526"/>
                </a:lnTo>
                <a:lnTo>
                  <a:pt x="1796478" y="1170876"/>
                </a:lnTo>
                <a:lnTo>
                  <a:pt x="1820128" y="1135796"/>
                </a:lnTo>
                <a:lnTo>
                  <a:pt x="1828800" y="1092835"/>
                </a:lnTo>
                <a:lnTo>
                  <a:pt x="1828800" y="110362"/>
                </a:lnTo>
                <a:lnTo>
                  <a:pt x="1820128" y="67401"/>
                </a:lnTo>
                <a:lnTo>
                  <a:pt x="1796478" y="32321"/>
                </a:lnTo>
                <a:lnTo>
                  <a:pt x="1761398" y="8671"/>
                </a:lnTo>
                <a:lnTo>
                  <a:pt x="1718436" y="0"/>
                </a:lnTo>
                <a:close/>
              </a:path>
            </a:pathLst>
          </a:custGeom>
          <a:solidFill>
            <a:srgbClr val="022C5F">
              <a:alpha val="6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8140827" y="2313432"/>
            <a:ext cx="1462405" cy="43434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429895" marR="5080" indent="-417830">
              <a:lnSpc>
                <a:spcPts val="1540"/>
              </a:lnSpc>
              <a:spcBef>
                <a:spcPts val="265"/>
              </a:spcBef>
            </a:pPr>
            <a:r>
              <a:rPr dirty="0" sz="1400" b="1">
                <a:solidFill>
                  <a:srgbClr val="022C5F"/>
                </a:solidFill>
                <a:latin typeface="Arial"/>
                <a:cs typeface="Arial"/>
              </a:rPr>
              <a:t>GAAP</a:t>
            </a:r>
            <a:r>
              <a:rPr dirty="0" sz="1400" spc="-35" b="1">
                <a:solidFill>
                  <a:srgbClr val="022C5F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022C5F"/>
                </a:solidFill>
                <a:latin typeface="Arial"/>
                <a:cs typeface="Arial"/>
              </a:rPr>
              <a:t>Operating Margin</a:t>
            </a:r>
            <a:endParaRPr sz="14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153029" y="2493356"/>
            <a:ext cx="1915795" cy="1264285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05"/>
              </a:spcBef>
            </a:pPr>
            <a:r>
              <a:rPr dirty="0" sz="1800" spc="-20" b="1">
                <a:solidFill>
                  <a:srgbClr val="022C5F"/>
                </a:solidFill>
                <a:latin typeface="Arial"/>
                <a:cs typeface="Arial"/>
              </a:rPr>
              <a:t>cRPO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380"/>
              </a:spcBef>
            </a:pPr>
            <a:r>
              <a:rPr dirty="0" baseline="21963" sz="3225" spc="-15" b="1">
                <a:solidFill>
                  <a:srgbClr val="012ABF"/>
                </a:solidFill>
                <a:latin typeface="Arial"/>
                <a:cs typeface="Arial"/>
              </a:rPr>
              <a:t>)</a:t>
            </a:r>
            <a:r>
              <a:rPr dirty="0" sz="3300" spc="-10" b="1">
                <a:solidFill>
                  <a:srgbClr val="012ABF"/>
                </a:solidFill>
                <a:latin typeface="Arial"/>
                <a:cs typeface="Arial"/>
              </a:rPr>
              <a:t>33.5B</a:t>
            </a:r>
            <a:endParaRPr sz="33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35"/>
              </a:spcBef>
            </a:pPr>
            <a:r>
              <a:rPr dirty="0" sz="1200" spc="-45">
                <a:solidFill>
                  <a:srgbClr val="022C5F"/>
                </a:solidFill>
                <a:latin typeface="Verdana"/>
                <a:cs typeface="Verdana"/>
              </a:rPr>
              <a:t>+14%</a:t>
            </a:r>
            <a:r>
              <a:rPr dirty="0" sz="1200" spc="-9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1200" spc="-45">
                <a:solidFill>
                  <a:srgbClr val="022C5F"/>
                </a:solidFill>
                <a:latin typeface="Verdana"/>
                <a:cs typeface="Verdana"/>
              </a:rPr>
              <a:t>Y/Y,</a:t>
            </a:r>
            <a:r>
              <a:rPr dirty="0" sz="1200" spc="-9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1200" spc="-45">
                <a:solidFill>
                  <a:srgbClr val="022C5F"/>
                </a:solidFill>
                <a:latin typeface="Verdana"/>
                <a:cs typeface="Verdana"/>
              </a:rPr>
              <a:t>+14%</a:t>
            </a:r>
            <a:r>
              <a:rPr dirty="0" sz="1200" spc="-9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1200" spc="-20">
                <a:solidFill>
                  <a:srgbClr val="022C5F"/>
                </a:solidFill>
                <a:latin typeface="Verdana"/>
                <a:cs typeface="Verdana"/>
              </a:rPr>
              <a:t>Y/Y</a:t>
            </a:r>
            <a:r>
              <a:rPr dirty="0" sz="1200" spc="-9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1200" spc="-25">
                <a:solidFill>
                  <a:srgbClr val="022C5F"/>
                </a:solidFill>
                <a:latin typeface="Verdana"/>
                <a:cs typeface="Verdana"/>
              </a:rPr>
              <a:t>CC</a:t>
            </a:r>
            <a:endParaRPr sz="12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dirty="0" sz="800" spc="-35" i="1">
                <a:solidFill>
                  <a:srgbClr val="022C5F"/>
                </a:solidFill>
                <a:latin typeface="Verdana"/>
                <a:cs typeface="Verdana"/>
              </a:rPr>
              <a:t>$0</a:t>
            </a:r>
            <a:r>
              <a:rPr dirty="0" sz="800" spc="-70" i="1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00" spc="-10" i="1">
                <a:solidFill>
                  <a:srgbClr val="022C5F"/>
                </a:solidFill>
                <a:latin typeface="Verdana"/>
                <a:cs typeface="Verdana"/>
              </a:rPr>
              <a:t>Y/Y</a:t>
            </a:r>
            <a:r>
              <a:rPr dirty="0" sz="800" spc="-70" i="1">
                <a:solidFill>
                  <a:srgbClr val="022C5F"/>
                </a:solidFill>
                <a:latin typeface="Verdana"/>
                <a:cs typeface="Verdana"/>
              </a:rPr>
              <a:t> FX </a:t>
            </a:r>
            <a:r>
              <a:rPr dirty="0" sz="800" spc="-10" i="1">
                <a:solidFill>
                  <a:srgbClr val="022C5F"/>
                </a:solidFill>
                <a:latin typeface="Verdana"/>
                <a:cs typeface="Verdana"/>
              </a:rPr>
              <a:t>Impact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232019" y="2230373"/>
            <a:ext cx="2196465" cy="1786889"/>
          </a:xfrm>
          <a:custGeom>
            <a:avLst/>
            <a:gdLst/>
            <a:ahLst/>
            <a:cxnLst/>
            <a:rect l="l" t="t" r="r" b="b"/>
            <a:pathLst>
              <a:path w="2196465" h="1786889">
                <a:moveTo>
                  <a:pt x="2068322" y="0"/>
                </a:moveTo>
                <a:lnTo>
                  <a:pt x="128015" y="0"/>
                </a:lnTo>
                <a:lnTo>
                  <a:pt x="78170" y="10054"/>
                </a:lnTo>
                <a:lnTo>
                  <a:pt x="37480" y="37480"/>
                </a:lnTo>
                <a:lnTo>
                  <a:pt x="10054" y="78170"/>
                </a:lnTo>
                <a:lnTo>
                  <a:pt x="0" y="128016"/>
                </a:lnTo>
                <a:lnTo>
                  <a:pt x="0" y="1658747"/>
                </a:lnTo>
                <a:lnTo>
                  <a:pt x="10054" y="1708592"/>
                </a:lnTo>
                <a:lnTo>
                  <a:pt x="37480" y="1749282"/>
                </a:lnTo>
                <a:lnTo>
                  <a:pt x="78170" y="1776708"/>
                </a:lnTo>
                <a:lnTo>
                  <a:pt x="128015" y="1786763"/>
                </a:lnTo>
                <a:lnTo>
                  <a:pt x="2068322" y="1786763"/>
                </a:lnTo>
                <a:lnTo>
                  <a:pt x="2118167" y="1776708"/>
                </a:lnTo>
                <a:lnTo>
                  <a:pt x="2158857" y="1749282"/>
                </a:lnTo>
                <a:lnTo>
                  <a:pt x="2186282" y="1708592"/>
                </a:lnTo>
                <a:lnTo>
                  <a:pt x="2196337" y="1658747"/>
                </a:lnTo>
                <a:lnTo>
                  <a:pt x="2196337" y="128016"/>
                </a:lnTo>
                <a:lnTo>
                  <a:pt x="2186282" y="78170"/>
                </a:lnTo>
                <a:lnTo>
                  <a:pt x="2158857" y="37480"/>
                </a:lnTo>
                <a:lnTo>
                  <a:pt x="2118167" y="10054"/>
                </a:lnTo>
                <a:lnTo>
                  <a:pt x="2068322" y="0"/>
                </a:lnTo>
                <a:close/>
              </a:path>
            </a:pathLst>
          </a:custGeom>
          <a:solidFill>
            <a:srgbClr val="0B5BAB">
              <a:alpha val="4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5682996" y="2493206"/>
            <a:ext cx="1293495" cy="1165225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25"/>
              </a:spcBef>
            </a:pPr>
            <a:r>
              <a:rPr dirty="0" sz="1800" spc="-25" b="1">
                <a:solidFill>
                  <a:srgbClr val="022C5F"/>
                </a:solidFill>
                <a:latin typeface="Arial"/>
                <a:cs typeface="Arial"/>
              </a:rPr>
              <a:t>RPO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29"/>
              </a:spcBef>
            </a:pPr>
            <a:r>
              <a:rPr dirty="0" baseline="21963" sz="3225" spc="-15" b="1">
                <a:solidFill>
                  <a:srgbClr val="012ABF"/>
                </a:solidFill>
                <a:latin typeface="Arial"/>
                <a:cs typeface="Arial"/>
              </a:rPr>
              <a:t>)</a:t>
            </a:r>
            <a:r>
              <a:rPr dirty="0" sz="3300" spc="-10" b="1">
                <a:solidFill>
                  <a:srgbClr val="012ABF"/>
                </a:solidFill>
                <a:latin typeface="Arial"/>
                <a:cs typeface="Arial"/>
              </a:rPr>
              <a:t>66.3B</a:t>
            </a:r>
            <a:endParaRPr sz="33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055"/>
              </a:spcBef>
            </a:pPr>
            <a:r>
              <a:rPr dirty="0" sz="1200" spc="-45">
                <a:solidFill>
                  <a:srgbClr val="022C5F"/>
                </a:solidFill>
                <a:latin typeface="Verdana"/>
                <a:cs typeface="Verdana"/>
              </a:rPr>
              <a:t>+11%</a:t>
            </a:r>
            <a:r>
              <a:rPr dirty="0" sz="1200" spc="-9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1200" spc="-25">
                <a:solidFill>
                  <a:srgbClr val="022C5F"/>
                </a:solidFill>
                <a:latin typeface="Verdana"/>
                <a:cs typeface="Verdana"/>
              </a:rPr>
              <a:t>Y/Y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876663" y="2230373"/>
            <a:ext cx="1828800" cy="1203325"/>
          </a:xfrm>
          <a:custGeom>
            <a:avLst/>
            <a:gdLst/>
            <a:ahLst/>
            <a:cxnLst/>
            <a:rect l="l" t="t" r="r" b="b"/>
            <a:pathLst>
              <a:path w="1828800" h="1203325">
                <a:moveTo>
                  <a:pt x="1718436" y="0"/>
                </a:moveTo>
                <a:lnTo>
                  <a:pt x="110362" y="0"/>
                </a:lnTo>
                <a:lnTo>
                  <a:pt x="67401" y="8671"/>
                </a:lnTo>
                <a:lnTo>
                  <a:pt x="32321" y="32321"/>
                </a:lnTo>
                <a:lnTo>
                  <a:pt x="8671" y="67401"/>
                </a:lnTo>
                <a:lnTo>
                  <a:pt x="0" y="110362"/>
                </a:lnTo>
                <a:lnTo>
                  <a:pt x="0" y="1092835"/>
                </a:lnTo>
                <a:lnTo>
                  <a:pt x="8671" y="1135796"/>
                </a:lnTo>
                <a:lnTo>
                  <a:pt x="32321" y="1170876"/>
                </a:lnTo>
                <a:lnTo>
                  <a:pt x="67401" y="1194526"/>
                </a:lnTo>
                <a:lnTo>
                  <a:pt x="110362" y="1203197"/>
                </a:lnTo>
                <a:lnTo>
                  <a:pt x="1718436" y="1203197"/>
                </a:lnTo>
                <a:lnTo>
                  <a:pt x="1761398" y="1194526"/>
                </a:lnTo>
                <a:lnTo>
                  <a:pt x="1796478" y="1170876"/>
                </a:lnTo>
                <a:lnTo>
                  <a:pt x="1820128" y="1135796"/>
                </a:lnTo>
                <a:lnTo>
                  <a:pt x="1828800" y="1092835"/>
                </a:lnTo>
                <a:lnTo>
                  <a:pt x="1828800" y="110362"/>
                </a:lnTo>
                <a:lnTo>
                  <a:pt x="1820128" y="67401"/>
                </a:lnTo>
                <a:lnTo>
                  <a:pt x="1796478" y="32321"/>
                </a:lnTo>
                <a:lnTo>
                  <a:pt x="1761398" y="8671"/>
                </a:lnTo>
                <a:lnTo>
                  <a:pt x="1718436" y="0"/>
                </a:lnTo>
                <a:close/>
              </a:path>
            </a:pathLst>
          </a:custGeom>
          <a:solidFill>
            <a:srgbClr val="022C5F">
              <a:alpha val="6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0015601" y="2332482"/>
            <a:ext cx="1551305" cy="434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1610"/>
              </a:lnSpc>
              <a:spcBef>
                <a:spcPts val="100"/>
              </a:spcBef>
            </a:pPr>
            <a:r>
              <a:rPr dirty="0" sz="1400" b="1">
                <a:solidFill>
                  <a:srgbClr val="022C5F"/>
                </a:solidFill>
                <a:latin typeface="Arial"/>
                <a:cs typeface="Arial"/>
              </a:rPr>
              <a:t>Non-</a:t>
            </a:r>
            <a:r>
              <a:rPr dirty="0" sz="1400" spc="-20" b="1">
                <a:solidFill>
                  <a:srgbClr val="022C5F"/>
                </a:solidFill>
                <a:latin typeface="Arial"/>
                <a:cs typeface="Arial"/>
              </a:rPr>
              <a:t>GAAP</a:t>
            </a:r>
            <a:endParaRPr sz="1400">
              <a:latin typeface="Arial"/>
              <a:cs typeface="Arial"/>
            </a:endParaRPr>
          </a:p>
          <a:p>
            <a:pPr algn="ctr">
              <a:lnSpc>
                <a:spcPts val="1610"/>
              </a:lnSpc>
            </a:pPr>
            <a:r>
              <a:rPr dirty="0" sz="1400" b="1">
                <a:solidFill>
                  <a:srgbClr val="022C5F"/>
                </a:solidFill>
                <a:latin typeface="Arial"/>
                <a:cs typeface="Arial"/>
              </a:rPr>
              <a:t>Operating</a:t>
            </a:r>
            <a:r>
              <a:rPr dirty="0" sz="1400" spc="260" b="1">
                <a:solidFill>
                  <a:srgbClr val="022C5F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022C5F"/>
                </a:solidFill>
                <a:latin typeface="Arial"/>
                <a:cs typeface="Arial"/>
              </a:rPr>
              <a:t>Margin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357743" y="2826130"/>
            <a:ext cx="102870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10" b="1">
                <a:solidFill>
                  <a:srgbClr val="0B817B"/>
                </a:solidFill>
                <a:latin typeface="Arial"/>
                <a:cs typeface="Arial"/>
              </a:rPr>
              <a:t>20.5%</a:t>
            </a:r>
            <a:endParaRPr sz="28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276967" y="2826130"/>
            <a:ext cx="102870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10" b="1">
                <a:solidFill>
                  <a:srgbClr val="0B817B"/>
                </a:solidFill>
                <a:latin typeface="Arial"/>
                <a:cs typeface="Arial"/>
              </a:rPr>
              <a:t>34.1%</a:t>
            </a:r>
            <a:endParaRPr sz="28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07516" y="4167251"/>
            <a:ext cx="6720840" cy="459740"/>
          </a:xfrm>
          <a:prstGeom prst="rect">
            <a:avLst/>
          </a:prstGeom>
          <a:solidFill>
            <a:srgbClr val="012ABF"/>
          </a:solidFill>
        </p:spPr>
        <p:txBody>
          <a:bodyPr wrap="square" lIns="0" tIns="7493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590"/>
              </a:spcBef>
            </a:pPr>
            <a:r>
              <a:rPr dirty="0" sz="1600" spc="-35" b="1">
                <a:solidFill>
                  <a:srgbClr val="FFFFFF"/>
                </a:solidFill>
                <a:latin typeface="Arial"/>
                <a:cs typeface="Arial"/>
              </a:rPr>
              <a:t>Subscription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&amp; </a:t>
            </a:r>
            <a:r>
              <a:rPr dirty="0" sz="1600" spc="-25" b="1">
                <a:solidFill>
                  <a:srgbClr val="FFFFFF"/>
                </a:solidFill>
                <a:latin typeface="Arial"/>
                <a:cs typeface="Arial"/>
              </a:rPr>
              <a:t>Support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 Revenue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Disaggregation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957439" y="3522726"/>
            <a:ext cx="1828800" cy="1203325"/>
          </a:xfrm>
          <a:custGeom>
            <a:avLst/>
            <a:gdLst/>
            <a:ahLst/>
            <a:cxnLst/>
            <a:rect l="l" t="t" r="r" b="b"/>
            <a:pathLst>
              <a:path w="1828800" h="1203325">
                <a:moveTo>
                  <a:pt x="1718436" y="0"/>
                </a:moveTo>
                <a:lnTo>
                  <a:pt x="110362" y="0"/>
                </a:lnTo>
                <a:lnTo>
                  <a:pt x="67401" y="8671"/>
                </a:lnTo>
                <a:lnTo>
                  <a:pt x="32321" y="32321"/>
                </a:lnTo>
                <a:lnTo>
                  <a:pt x="8671" y="67401"/>
                </a:lnTo>
                <a:lnTo>
                  <a:pt x="0" y="110363"/>
                </a:lnTo>
                <a:lnTo>
                  <a:pt x="0" y="1092834"/>
                </a:lnTo>
                <a:lnTo>
                  <a:pt x="8671" y="1135796"/>
                </a:lnTo>
                <a:lnTo>
                  <a:pt x="32321" y="1170876"/>
                </a:lnTo>
                <a:lnTo>
                  <a:pt x="67401" y="1194526"/>
                </a:lnTo>
                <a:lnTo>
                  <a:pt x="110362" y="1203198"/>
                </a:lnTo>
                <a:lnTo>
                  <a:pt x="1718436" y="1203198"/>
                </a:lnTo>
                <a:lnTo>
                  <a:pt x="1761398" y="1194526"/>
                </a:lnTo>
                <a:lnTo>
                  <a:pt x="1796478" y="1170876"/>
                </a:lnTo>
                <a:lnTo>
                  <a:pt x="1820128" y="1135796"/>
                </a:lnTo>
                <a:lnTo>
                  <a:pt x="1828800" y="1092834"/>
                </a:lnTo>
                <a:lnTo>
                  <a:pt x="1828800" y="110363"/>
                </a:lnTo>
                <a:lnTo>
                  <a:pt x="1820128" y="67401"/>
                </a:lnTo>
                <a:lnTo>
                  <a:pt x="1796478" y="32321"/>
                </a:lnTo>
                <a:lnTo>
                  <a:pt x="1761398" y="8671"/>
                </a:lnTo>
                <a:lnTo>
                  <a:pt x="1718436" y="0"/>
                </a:lnTo>
                <a:close/>
              </a:path>
            </a:pathLst>
          </a:custGeom>
          <a:solidFill>
            <a:srgbClr val="022C5F">
              <a:alpha val="6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8342630" y="3624834"/>
            <a:ext cx="1058545" cy="95250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91440" marR="83820">
              <a:lnSpc>
                <a:spcPts val="1540"/>
              </a:lnSpc>
              <a:spcBef>
                <a:spcPts val="265"/>
              </a:spcBef>
            </a:pPr>
            <a:r>
              <a:rPr dirty="0" sz="1400" spc="-10" b="1">
                <a:solidFill>
                  <a:srgbClr val="022C5F"/>
                </a:solidFill>
                <a:latin typeface="Arial"/>
                <a:cs typeface="Arial"/>
              </a:rPr>
              <a:t>Operating </a:t>
            </a:r>
            <a:r>
              <a:rPr dirty="0" sz="1400" b="1">
                <a:solidFill>
                  <a:srgbClr val="022C5F"/>
                </a:solidFill>
                <a:latin typeface="Arial"/>
                <a:cs typeface="Arial"/>
              </a:rPr>
              <a:t>Cash</a:t>
            </a:r>
            <a:r>
              <a:rPr dirty="0" sz="1400" spc="35" b="1">
                <a:solidFill>
                  <a:srgbClr val="022C5F"/>
                </a:solidFill>
                <a:latin typeface="Arial"/>
                <a:cs typeface="Arial"/>
              </a:rPr>
              <a:t> </a:t>
            </a:r>
            <a:r>
              <a:rPr dirty="0" sz="1400" spc="-45" b="1">
                <a:solidFill>
                  <a:srgbClr val="022C5F"/>
                </a:solidFill>
                <a:latin typeface="Arial"/>
                <a:cs typeface="Arial"/>
              </a:rPr>
              <a:t>Flow</a:t>
            </a:r>
            <a:endParaRPr sz="14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21963" sz="3225" spc="-15" b="1">
                <a:solidFill>
                  <a:srgbClr val="0B817B"/>
                </a:solidFill>
                <a:latin typeface="Arial"/>
                <a:cs typeface="Arial"/>
              </a:rPr>
              <a:t>)</a:t>
            </a:r>
            <a:r>
              <a:rPr dirty="0" sz="3300" spc="-10" b="1">
                <a:solidFill>
                  <a:srgbClr val="0B817B"/>
                </a:solidFill>
                <a:latin typeface="Arial"/>
                <a:cs typeface="Arial"/>
              </a:rPr>
              <a:t>1.3B</a:t>
            </a:r>
            <a:endParaRPr sz="33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876663" y="3522726"/>
            <a:ext cx="1828800" cy="1203325"/>
          </a:xfrm>
          <a:custGeom>
            <a:avLst/>
            <a:gdLst/>
            <a:ahLst/>
            <a:cxnLst/>
            <a:rect l="l" t="t" r="r" b="b"/>
            <a:pathLst>
              <a:path w="1828800" h="1203325">
                <a:moveTo>
                  <a:pt x="1718436" y="0"/>
                </a:moveTo>
                <a:lnTo>
                  <a:pt x="110362" y="0"/>
                </a:lnTo>
                <a:lnTo>
                  <a:pt x="67401" y="8671"/>
                </a:lnTo>
                <a:lnTo>
                  <a:pt x="32321" y="32321"/>
                </a:lnTo>
                <a:lnTo>
                  <a:pt x="8671" y="67401"/>
                </a:lnTo>
                <a:lnTo>
                  <a:pt x="0" y="110363"/>
                </a:lnTo>
                <a:lnTo>
                  <a:pt x="0" y="1092834"/>
                </a:lnTo>
                <a:lnTo>
                  <a:pt x="8671" y="1135796"/>
                </a:lnTo>
                <a:lnTo>
                  <a:pt x="32321" y="1170876"/>
                </a:lnTo>
                <a:lnTo>
                  <a:pt x="67401" y="1194526"/>
                </a:lnTo>
                <a:lnTo>
                  <a:pt x="110362" y="1203198"/>
                </a:lnTo>
                <a:lnTo>
                  <a:pt x="1718436" y="1203198"/>
                </a:lnTo>
                <a:lnTo>
                  <a:pt x="1761398" y="1194526"/>
                </a:lnTo>
                <a:lnTo>
                  <a:pt x="1796478" y="1170876"/>
                </a:lnTo>
                <a:lnTo>
                  <a:pt x="1820128" y="1135796"/>
                </a:lnTo>
                <a:lnTo>
                  <a:pt x="1828800" y="1092834"/>
                </a:lnTo>
                <a:lnTo>
                  <a:pt x="1828800" y="110363"/>
                </a:lnTo>
                <a:lnTo>
                  <a:pt x="1820128" y="67401"/>
                </a:lnTo>
                <a:lnTo>
                  <a:pt x="1796478" y="32321"/>
                </a:lnTo>
                <a:lnTo>
                  <a:pt x="1761398" y="8671"/>
                </a:lnTo>
                <a:lnTo>
                  <a:pt x="1718436" y="0"/>
                </a:lnTo>
                <a:close/>
              </a:path>
            </a:pathLst>
          </a:custGeom>
          <a:solidFill>
            <a:srgbClr val="022C5F">
              <a:alpha val="6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10261854" y="3624834"/>
            <a:ext cx="1058545" cy="93345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algn="ctr" marL="98425" marR="91440">
              <a:lnSpc>
                <a:spcPts val="1540"/>
              </a:lnSpc>
              <a:spcBef>
                <a:spcPts val="265"/>
              </a:spcBef>
            </a:pPr>
            <a:r>
              <a:rPr dirty="0" sz="1400" b="1">
                <a:solidFill>
                  <a:srgbClr val="022C5F"/>
                </a:solidFill>
                <a:latin typeface="Arial"/>
                <a:cs typeface="Arial"/>
              </a:rPr>
              <a:t>Free</a:t>
            </a:r>
            <a:r>
              <a:rPr dirty="0" sz="1400" spc="-55" b="1">
                <a:solidFill>
                  <a:srgbClr val="022C5F"/>
                </a:solidFill>
                <a:latin typeface="Arial"/>
                <a:cs typeface="Arial"/>
              </a:rPr>
              <a:t> </a:t>
            </a:r>
            <a:r>
              <a:rPr dirty="0" sz="1400" spc="-20" b="1">
                <a:solidFill>
                  <a:srgbClr val="022C5F"/>
                </a:solidFill>
                <a:latin typeface="Arial"/>
                <a:cs typeface="Arial"/>
              </a:rPr>
              <a:t>Cash Flow</a:t>
            </a:r>
            <a:endParaRPr sz="1400">
              <a:latin typeface="Arial"/>
              <a:cs typeface="Arial"/>
            </a:endParaRPr>
          </a:p>
          <a:p>
            <a:pPr algn="ctr">
              <a:lnSpc>
                <a:spcPts val="3900"/>
              </a:lnSpc>
            </a:pPr>
            <a:r>
              <a:rPr dirty="0" baseline="21963" sz="3225" spc="-15" b="1">
                <a:solidFill>
                  <a:srgbClr val="0B817B"/>
                </a:solidFill>
                <a:latin typeface="Arial"/>
                <a:cs typeface="Arial"/>
              </a:rPr>
              <a:t>)</a:t>
            </a:r>
            <a:r>
              <a:rPr dirty="0" sz="3300" spc="-10" b="1">
                <a:solidFill>
                  <a:srgbClr val="0B817B"/>
                </a:solidFill>
                <a:latin typeface="Arial"/>
                <a:cs typeface="Arial"/>
              </a:rPr>
              <a:t>1.1B</a:t>
            </a:r>
            <a:endParaRPr sz="3300"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691387" y="4807584"/>
            <a:ext cx="2196465" cy="1652270"/>
          </a:xfrm>
          <a:custGeom>
            <a:avLst/>
            <a:gdLst/>
            <a:ahLst/>
            <a:cxnLst/>
            <a:rect l="l" t="t" r="r" b="b"/>
            <a:pathLst>
              <a:path w="2196465" h="1652270">
                <a:moveTo>
                  <a:pt x="2077974" y="0"/>
                </a:moveTo>
                <a:lnTo>
                  <a:pt x="118364" y="0"/>
                </a:lnTo>
                <a:lnTo>
                  <a:pt x="72276" y="9296"/>
                </a:lnTo>
                <a:lnTo>
                  <a:pt x="34655" y="34655"/>
                </a:lnTo>
                <a:lnTo>
                  <a:pt x="9296" y="72276"/>
                </a:lnTo>
                <a:lnTo>
                  <a:pt x="0" y="118364"/>
                </a:lnTo>
                <a:lnTo>
                  <a:pt x="0" y="1533525"/>
                </a:lnTo>
                <a:lnTo>
                  <a:pt x="9296" y="1579612"/>
                </a:lnTo>
                <a:lnTo>
                  <a:pt x="34655" y="1617234"/>
                </a:lnTo>
                <a:lnTo>
                  <a:pt x="72276" y="1642592"/>
                </a:lnTo>
                <a:lnTo>
                  <a:pt x="118364" y="1651889"/>
                </a:lnTo>
                <a:lnTo>
                  <a:pt x="2077974" y="1651889"/>
                </a:lnTo>
                <a:lnTo>
                  <a:pt x="2124061" y="1642592"/>
                </a:lnTo>
                <a:lnTo>
                  <a:pt x="2161682" y="1617234"/>
                </a:lnTo>
                <a:lnTo>
                  <a:pt x="2187041" y="1579612"/>
                </a:lnTo>
                <a:lnTo>
                  <a:pt x="2196338" y="1533525"/>
                </a:lnTo>
                <a:lnTo>
                  <a:pt x="2196338" y="118364"/>
                </a:lnTo>
                <a:lnTo>
                  <a:pt x="2187041" y="72276"/>
                </a:lnTo>
                <a:lnTo>
                  <a:pt x="2161682" y="34655"/>
                </a:lnTo>
                <a:lnTo>
                  <a:pt x="2124061" y="9296"/>
                </a:lnTo>
                <a:lnTo>
                  <a:pt x="2077974" y="0"/>
                </a:lnTo>
                <a:close/>
              </a:path>
            </a:pathLst>
          </a:custGeom>
          <a:solidFill>
            <a:srgbClr val="0B5BAB">
              <a:alpha val="4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808355" y="4823205"/>
            <a:ext cx="1915795" cy="1412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7970" marR="74295" indent="-99695">
              <a:lnSpc>
                <a:spcPct val="109300"/>
              </a:lnSpc>
              <a:spcBef>
                <a:spcPts val="100"/>
              </a:spcBef>
            </a:pPr>
            <a:r>
              <a:rPr dirty="0" sz="1400" spc="-25" b="1">
                <a:solidFill>
                  <a:srgbClr val="022C5F"/>
                </a:solidFill>
                <a:latin typeface="Arial"/>
                <a:cs typeface="Arial"/>
              </a:rPr>
              <a:t>Total</a:t>
            </a:r>
            <a:r>
              <a:rPr dirty="0" sz="1400" spc="-35" b="1">
                <a:solidFill>
                  <a:srgbClr val="022C5F"/>
                </a:solidFill>
                <a:latin typeface="Arial"/>
                <a:cs typeface="Arial"/>
              </a:rPr>
              <a:t> </a:t>
            </a:r>
            <a:r>
              <a:rPr dirty="0" sz="1400" spc="-30" b="1">
                <a:solidFill>
                  <a:srgbClr val="022C5F"/>
                </a:solidFill>
                <a:latin typeface="Arial"/>
                <a:cs typeface="Arial"/>
              </a:rPr>
              <a:t>Subscription</a:t>
            </a:r>
            <a:r>
              <a:rPr dirty="0" sz="1400" spc="-35" b="1">
                <a:solidFill>
                  <a:srgbClr val="022C5F"/>
                </a:solidFill>
                <a:latin typeface="Arial"/>
                <a:cs typeface="Arial"/>
              </a:rPr>
              <a:t> </a:t>
            </a:r>
            <a:r>
              <a:rPr dirty="0" sz="1400" spc="-50" b="1">
                <a:solidFill>
                  <a:srgbClr val="022C5F"/>
                </a:solidFill>
                <a:latin typeface="Arial"/>
                <a:cs typeface="Arial"/>
              </a:rPr>
              <a:t>&amp; </a:t>
            </a:r>
            <a:r>
              <a:rPr dirty="0" sz="1400" spc="-25" b="1">
                <a:solidFill>
                  <a:srgbClr val="022C5F"/>
                </a:solidFill>
                <a:latin typeface="Arial"/>
                <a:cs typeface="Arial"/>
              </a:rPr>
              <a:t>Support</a:t>
            </a:r>
            <a:r>
              <a:rPr dirty="0" sz="1400" spc="-30" b="1">
                <a:solidFill>
                  <a:srgbClr val="022C5F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022C5F"/>
                </a:solidFill>
                <a:latin typeface="Arial"/>
                <a:cs typeface="Arial"/>
              </a:rPr>
              <a:t>Revenue</a:t>
            </a:r>
            <a:endParaRPr sz="14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54"/>
              </a:spcBef>
            </a:pPr>
            <a:r>
              <a:rPr dirty="0" baseline="23148" sz="2700" spc="-15" b="1">
                <a:solidFill>
                  <a:srgbClr val="012ABF"/>
                </a:solidFill>
                <a:latin typeface="Arial"/>
                <a:cs typeface="Arial"/>
              </a:rPr>
              <a:t>)</a:t>
            </a:r>
            <a:r>
              <a:rPr dirty="0" sz="3300" spc="-10" b="1">
                <a:solidFill>
                  <a:srgbClr val="012ABF"/>
                </a:solidFill>
                <a:latin typeface="Arial"/>
                <a:cs typeface="Arial"/>
              </a:rPr>
              <a:t>10.8B</a:t>
            </a:r>
            <a:endParaRPr sz="33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25"/>
              </a:spcBef>
            </a:pPr>
            <a:r>
              <a:rPr dirty="0" sz="1200" spc="-45">
                <a:solidFill>
                  <a:srgbClr val="022C5F"/>
                </a:solidFill>
                <a:latin typeface="Verdana"/>
                <a:cs typeface="Verdana"/>
              </a:rPr>
              <a:t>+12%</a:t>
            </a:r>
            <a:r>
              <a:rPr dirty="0" sz="1200" spc="-9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1200" spc="-45">
                <a:solidFill>
                  <a:srgbClr val="022C5F"/>
                </a:solidFill>
                <a:latin typeface="Verdana"/>
                <a:cs typeface="Verdana"/>
              </a:rPr>
              <a:t>Y/Y,</a:t>
            </a:r>
            <a:r>
              <a:rPr dirty="0" sz="1200" spc="-9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1200" spc="-45">
                <a:solidFill>
                  <a:srgbClr val="022C5F"/>
                </a:solidFill>
                <a:latin typeface="Verdana"/>
                <a:cs typeface="Verdana"/>
              </a:rPr>
              <a:t>+11%</a:t>
            </a:r>
            <a:r>
              <a:rPr dirty="0" sz="1200" spc="-9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1200" spc="-20">
                <a:solidFill>
                  <a:srgbClr val="022C5F"/>
                </a:solidFill>
                <a:latin typeface="Verdana"/>
                <a:cs typeface="Verdana"/>
              </a:rPr>
              <a:t>Y/Y</a:t>
            </a:r>
            <a:r>
              <a:rPr dirty="0" sz="1200" spc="-9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1200" spc="-25">
                <a:solidFill>
                  <a:srgbClr val="022C5F"/>
                </a:solidFill>
                <a:latin typeface="Verdana"/>
                <a:cs typeface="Verdana"/>
              </a:rPr>
              <a:t>CC</a:t>
            </a:r>
            <a:endParaRPr sz="12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dirty="0" sz="800" spc="-10" i="1">
                <a:solidFill>
                  <a:srgbClr val="022C5F"/>
                </a:solidFill>
                <a:latin typeface="Verdana"/>
                <a:cs typeface="Verdana"/>
              </a:rPr>
              <a:t>$8M</a:t>
            </a:r>
            <a:r>
              <a:rPr dirty="0" sz="800" spc="-70" i="1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00" spc="-10" i="1">
                <a:solidFill>
                  <a:srgbClr val="022C5F"/>
                </a:solidFill>
                <a:latin typeface="Verdana"/>
                <a:cs typeface="Verdana"/>
              </a:rPr>
              <a:t>Y/Y</a:t>
            </a:r>
            <a:r>
              <a:rPr dirty="0" sz="800" spc="-70" i="1">
                <a:solidFill>
                  <a:srgbClr val="022C5F"/>
                </a:solidFill>
                <a:latin typeface="Verdana"/>
                <a:cs typeface="Verdana"/>
              </a:rPr>
              <a:t> FX </a:t>
            </a:r>
            <a:r>
              <a:rPr dirty="0" sz="800" spc="-10" i="1">
                <a:solidFill>
                  <a:srgbClr val="022C5F"/>
                </a:solidFill>
                <a:latin typeface="Verdana"/>
                <a:cs typeface="Verdana"/>
              </a:rPr>
              <a:t>Impact</a:t>
            </a:r>
            <a:endParaRPr sz="800">
              <a:latin typeface="Verdana"/>
              <a:cs typeface="Verdana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2948051" y="4812410"/>
            <a:ext cx="2196465" cy="1652270"/>
            <a:chOff x="2948051" y="4812410"/>
            <a:chExt cx="2196465" cy="1652270"/>
          </a:xfrm>
        </p:grpSpPr>
        <p:sp>
          <p:nvSpPr>
            <p:cNvPr id="35" name="object 35"/>
            <p:cNvSpPr/>
            <p:nvPr/>
          </p:nvSpPr>
          <p:spPr>
            <a:xfrm>
              <a:off x="2948051" y="4812410"/>
              <a:ext cx="2196465" cy="1652270"/>
            </a:xfrm>
            <a:custGeom>
              <a:avLst/>
              <a:gdLst/>
              <a:ahLst/>
              <a:cxnLst/>
              <a:rect l="l" t="t" r="r" b="b"/>
              <a:pathLst>
                <a:path w="2196465" h="1652270">
                  <a:moveTo>
                    <a:pt x="2077974" y="0"/>
                  </a:moveTo>
                  <a:lnTo>
                    <a:pt x="118363" y="0"/>
                  </a:lnTo>
                  <a:lnTo>
                    <a:pt x="72276" y="9296"/>
                  </a:lnTo>
                  <a:lnTo>
                    <a:pt x="34655" y="34655"/>
                  </a:lnTo>
                  <a:lnTo>
                    <a:pt x="9296" y="72277"/>
                  </a:lnTo>
                  <a:lnTo>
                    <a:pt x="0" y="118364"/>
                  </a:lnTo>
                  <a:lnTo>
                    <a:pt x="0" y="1533525"/>
                  </a:lnTo>
                  <a:lnTo>
                    <a:pt x="9296" y="1579612"/>
                  </a:lnTo>
                  <a:lnTo>
                    <a:pt x="34655" y="1617233"/>
                  </a:lnTo>
                  <a:lnTo>
                    <a:pt x="72276" y="1642592"/>
                  </a:lnTo>
                  <a:lnTo>
                    <a:pt x="118363" y="1651889"/>
                  </a:lnTo>
                  <a:lnTo>
                    <a:pt x="2077974" y="1651889"/>
                  </a:lnTo>
                  <a:lnTo>
                    <a:pt x="2124061" y="1642592"/>
                  </a:lnTo>
                  <a:lnTo>
                    <a:pt x="2161682" y="1617233"/>
                  </a:lnTo>
                  <a:lnTo>
                    <a:pt x="2187041" y="1579612"/>
                  </a:lnTo>
                  <a:lnTo>
                    <a:pt x="2196338" y="1533525"/>
                  </a:lnTo>
                  <a:lnTo>
                    <a:pt x="2196338" y="118364"/>
                  </a:lnTo>
                  <a:lnTo>
                    <a:pt x="2187041" y="72277"/>
                  </a:lnTo>
                  <a:lnTo>
                    <a:pt x="2161682" y="34655"/>
                  </a:lnTo>
                  <a:lnTo>
                    <a:pt x="2124061" y="9296"/>
                  </a:lnTo>
                  <a:lnTo>
                    <a:pt x="2077974" y="0"/>
                  </a:lnTo>
                  <a:close/>
                </a:path>
              </a:pathLst>
            </a:custGeom>
            <a:solidFill>
              <a:srgbClr val="0B5BAB">
                <a:alpha val="4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321175" y="6073266"/>
              <a:ext cx="277875" cy="277875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641469" y="6111366"/>
              <a:ext cx="228600" cy="22860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193415" y="6079236"/>
              <a:ext cx="273431" cy="273177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483609" y="6076950"/>
              <a:ext cx="274320" cy="274193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031234" y="6089269"/>
              <a:ext cx="274320" cy="274193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757929" y="6081140"/>
              <a:ext cx="274320" cy="274192"/>
            </a:xfrm>
            <a:prstGeom prst="rect">
              <a:avLst/>
            </a:prstGeom>
          </p:spPr>
        </p:pic>
      </p:grpSp>
      <p:sp>
        <p:nvSpPr>
          <p:cNvPr id="45" name="object 45"/>
          <p:cNvSpPr txBox="1"/>
          <p:nvPr/>
        </p:nvSpPr>
        <p:spPr>
          <a:xfrm>
            <a:off x="3285744" y="4868417"/>
            <a:ext cx="1592580" cy="114871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algn="ctr" marL="285750" marR="327025">
              <a:lnSpc>
                <a:spcPts val="1540"/>
              </a:lnSpc>
              <a:spcBef>
                <a:spcPts val="265"/>
              </a:spcBef>
            </a:pPr>
            <a:r>
              <a:rPr dirty="0" sz="1400" spc="-10" b="1">
                <a:solidFill>
                  <a:srgbClr val="022C5F"/>
                </a:solidFill>
                <a:latin typeface="Arial"/>
                <a:cs typeface="Arial"/>
              </a:rPr>
              <a:t>Agentforce </a:t>
            </a:r>
            <a:r>
              <a:rPr dirty="0" sz="1400" spc="-20" b="1">
                <a:solidFill>
                  <a:srgbClr val="022C5F"/>
                </a:solidFill>
                <a:latin typeface="Arial"/>
                <a:cs typeface="Arial"/>
              </a:rPr>
              <a:t>Apps</a:t>
            </a:r>
            <a:endParaRPr sz="14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95"/>
              </a:spcBef>
            </a:pPr>
            <a:r>
              <a:rPr dirty="0" baseline="23148" sz="2700" spc="-15" b="1">
                <a:solidFill>
                  <a:srgbClr val="012ABF"/>
                </a:solidFill>
                <a:latin typeface="Arial"/>
                <a:cs typeface="Arial"/>
              </a:rPr>
              <a:t>)</a:t>
            </a:r>
            <a:r>
              <a:rPr dirty="0" sz="2800" spc="-10" b="1">
                <a:solidFill>
                  <a:srgbClr val="012ABF"/>
                </a:solidFill>
                <a:latin typeface="Arial"/>
                <a:cs typeface="Arial"/>
              </a:rPr>
              <a:t>7.2B</a:t>
            </a:r>
            <a:endParaRPr sz="2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20"/>
              </a:spcBef>
            </a:pPr>
            <a:r>
              <a:rPr dirty="0" sz="1100" spc="-45">
                <a:solidFill>
                  <a:srgbClr val="022C5F"/>
                </a:solidFill>
                <a:latin typeface="Verdana"/>
                <a:cs typeface="Verdana"/>
              </a:rPr>
              <a:t>+8%</a:t>
            </a:r>
            <a:r>
              <a:rPr dirty="0" sz="1100" spc="-8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1100" spc="-40">
                <a:solidFill>
                  <a:srgbClr val="022C5F"/>
                </a:solidFill>
                <a:latin typeface="Verdana"/>
                <a:cs typeface="Verdana"/>
              </a:rPr>
              <a:t>Y/Y,</a:t>
            </a:r>
            <a:r>
              <a:rPr dirty="0" sz="1100" spc="-8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022C5F"/>
                </a:solidFill>
                <a:latin typeface="Verdana"/>
                <a:cs typeface="Verdana"/>
              </a:rPr>
              <a:t>+8%</a:t>
            </a:r>
            <a:r>
              <a:rPr dirty="0" sz="1100" spc="-8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022C5F"/>
                </a:solidFill>
                <a:latin typeface="Verdana"/>
                <a:cs typeface="Verdana"/>
              </a:rPr>
              <a:t>Y/Y</a:t>
            </a:r>
            <a:r>
              <a:rPr dirty="0" sz="1100" spc="-8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022C5F"/>
                </a:solidFill>
                <a:latin typeface="Verdana"/>
                <a:cs typeface="Verdana"/>
              </a:rPr>
              <a:t>CC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5232146" y="4799965"/>
            <a:ext cx="2196465" cy="1652270"/>
            <a:chOff x="5232146" y="4799965"/>
            <a:chExt cx="2196465" cy="1652270"/>
          </a:xfrm>
        </p:grpSpPr>
        <p:sp>
          <p:nvSpPr>
            <p:cNvPr id="28" name="object 28"/>
            <p:cNvSpPr/>
            <p:nvPr/>
          </p:nvSpPr>
          <p:spPr>
            <a:xfrm>
              <a:off x="5232146" y="4799965"/>
              <a:ext cx="2196465" cy="1652270"/>
            </a:xfrm>
            <a:custGeom>
              <a:avLst/>
              <a:gdLst/>
              <a:ahLst/>
              <a:cxnLst/>
              <a:rect l="l" t="t" r="r" b="b"/>
              <a:pathLst>
                <a:path w="2196465" h="1652270">
                  <a:moveTo>
                    <a:pt x="2077973" y="0"/>
                  </a:moveTo>
                  <a:lnTo>
                    <a:pt x="118363" y="0"/>
                  </a:lnTo>
                  <a:lnTo>
                    <a:pt x="72276" y="9296"/>
                  </a:lnTo>
                  <a:lnTo>
                    <a:pt x="34654" y="34655"/>
                  </a:lnTo>
                  <a:lnTo>
                    <a:pt x="9296" y="72276"/>
                  </a:lnTo>
                  <a:lnTo>
                    <a:pt x="0" y="118363"/>
                  </a:lnTo>
                  <a:lnTo>
                    <a:pt x="0" y="1533524"/>
                  </a:lnTo>
                  <a:lnTo>
                    <a:pt x="9296" y="1579612"/>
                  </a:lnTo>
                  <a:lnTo>
                    <a:pt x="34654" y="1617233"/>
                  </a:lnTo>
                  <a:lnTo>
                    <a:pt x="72276" y="1642591"/>
                  </a:lnTo>
                  <a:lnTo>
                    <a:pt x="118363" y="1651888"/>
                  </a:lnTo>
                  <a:lnTo>
                    <a:pt x="2077973" y="1651888"/>
                  </a:lnTo>
                  <a:lnTo>
                    <a:pt x="2124060" y="1642591"/>
                  </a:lnTo>
                  <a:lnTo>
                    <a:pt x="2161682" y="1617233"/>
                  </a:lnTo>
                  <a:lnTo>
                    <a:pt x="2187040" y="1579612"/>
                  </a:lnTo>
                  <a:lnTo>
                    <a:pt x="2196337" y="1533524"/>
                  </a:lnTo>
                  <a:lnTo>
                    <a:pt x="2196337" y="118363"/>
                  </a:lnTo>
                  <a:lnTo>
                    <a:pt x="2187040" y="72276"/>
                  </a:lnTo>
                  <a:lnTo>
                    <a:pt x="2161682" y="34655"/>
                  </a:lnTo>
                  <a:lnTo>
                    <a:pt x="2124060" y="9296"/>
                  </a:lnTo>
                  <a:lnTo>
                    <a:pt x="2077973" y="0"/>
                  </a:lnTo>
                  <a:close/>
                </a:path>
              </a:pathLst>
            </a:custGeom>
            <a:solidFill>
              <a:srgbClr val="0B5BAB">
                <a:alpha val="4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23433" y="6138671"/>
              <a:ext cx="228600" cy="228472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38418" y="6112002"/>
              <a:ext cx="228600" cy="22860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67018" y="6089269"/>
              <a:ext cx="274319" cy="274193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22288" y="6089268"/>
              <a:ext cx="274320" cy="295148"/>
            </a:xfrm>
            <a:prstGeom prst="rect">
              <a:avLst/>
            </a:prstGeom>
          </p:spPr>
        </p:pic>
      </p:grpSp>
      <p:sp>
        <p:nvSpPr>
          <p:cNvPr id="43" name="object 43"/>
          <p:cNvSpPr txBox="1"/>
          <p:nvPr/>
        </p:nvSpPr>
        <p:spPr>
          <a:xfrm>
            <a:off x="5403722" y="4853304"/>
            <a:ext cx="1800225" cy="1166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0805" marR="30480" indent="13970">
              <a:lnSpc>
                <a:spcPct val="100000"/>
              </a:lnSpc>
              <a:spcBef>
                <a:spcPts val="100"/>
              </a:spcBef>
            </a:pPr>
            <a:r>
              <a:rPr dirty="0" sz="1400" spc="50" b="1">
                <a:solidFill>
                  <a:srgbClr val="022C5F"/>
                </a:solidFill>
                <a:latin typeface="Arial"/>
                <a:cs typeface="Arial"/>
              </a:rPr>
              <a:t>Data</a:t>
            </a:r>
            <a:r>
              <a:rPr dirty="0" sz="1400" spc="15" b="1">
                <a:solidFill>
                  <a:srgbClr val="022C5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022C5F"/>
                </a:solidFill>
                <a:latin typeface="Arial"/>
                <a:cs typeface="Arial"/>
              </a:rPr>
              <a:t>360,</a:t>
            </a:r>
            <a:r>
              <a:rPr dirty="0" sz="1400" spc="15" b="1">
                <a:solidFill>
                  <a:srgbClr val="022C5F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022C5F"/>
                </a:solidFill>
                <a:latin typeface="Arial"/>
                <a:cs typeface="Arial"/>
              </a:rPr>
              <a:t>Headless </a:t>
            </a:r>
            <a:r>
              <a:rPr dirty="0" sz="1400" spc="-20" b="1">
                <a:solidFill>
                  <a:srgbClr val="022C5F"/>
                </a:solidFill>
                <a:latin typeface="Arial"/>
                <a:cs typeface="Arial"/>
              </a:rPr>
              <a:t>Platform,</a:t>
            </a:r>
            <a:r>
              <a:rPr dirty="0" sz="1400" b="1">
                <a:solidFill>
                  <a:srgbClr val="022C5F"/>
                </a:solidFill>
                <a:latin typeface="Arial"/>
                <a:cs typeface="Arial"/>
              </a:rPr>
              <a:t> </a:t>
            </a:r>
            <a:r>
              <a:rPr dirty="0" sz="1400" spc="65" b="1">
                <a:solidFill>
                  <a:srgbClr val="022C5F"/>
                </a:solidFill>
                <a:latin typeface="Arial"/>
                <a:cs typeface="Arial"/>
              </a:rPr>
              <a:t>and</a:t>
            </a:r>
            <a:r>
              <a:rPr dirty="0" sz="1400" b="1">
                <a:solidFill>
                  <a:srgbClr val="022C5F"/>
                </a:solidFill>
                <a:latin typeface="Arial"/>
                <a:cs typeface="Arial"/>
              </a:rPr>
              <a:t> </a:t>
            </a:r>
            <a:r>
              <a:rPr dirty="0" sz="1400" spc="-20" b="1">
                <a:solidFill>
                  <a:srgbClr val="022C5F"/>
                </a:solidFill>
                <a:latin typeface="Arial"/>
                <a:cs typeface="Arial"/>
              </a:rPr>
              <a:t>Other</a:t>
            </a:r>
            <a:endParaRPr sz="1400">
              <a:latin typeface="Arial"/>
              <a:cs typeface="Arial"/>
            </a:endParaRPr>
          </a:p>
          <a:p>
            <a:pPr algn="ctr" marR="30480">
              <a:lnSpc>
                <a:spcPct val="100000"/>
              </a:lnSpc>
              <a:spcBef>
                <a:spcPts val="520"/>
              </a:spcBef>
            </a:pPr>
            <a:r>
              <a:rPr dirty="0" baseline="23148" sz="2700" spc="-15" b="1">
                <a:solidFill>
                  <a:srgbClr val="012ABF"/>
                </a:solidFill>
                <a:latin typeface="Arial"/>
                <a:cs typeface="Arial"/>
              </a:rPr>
              <a:t>)</a:t>
            </a:r>
            <a:r>
              <a:rPr dirty="0" sz="2800" spc="-10" b="1">
                <a:solidFill>
                  <a:srgbClr val="012ABF"/>
                </a:solidFill>
                <a:latin typeface="Arial"/>
                <a:cs typeface="Arial"/>
              </a:rPr>
              <a:t>3.6B</a:t>
            </a:r>
            <a:endParaRPr sz="2800">
              <a:latin typeface="Arial"/>
              <a:cs typeface="Arial"/>
            </a:endParaRPr>
          </a:p>
          <a:p>
            <a:pPr algn="ctr" marR="29845">
              <a:lnSpc>
                <a:spcPct val="100000"/>
              </a:lnSpc>
              <a:spcBef>
                <a:spcPts val="425"/>
              </a:spcBef>
            </a:pPr>
            <a:r>
              <a:rPr dirty="0" sz="1100" spc="-240">
                <a:solidFill>
                  <a:srgbClr val="022C5F"/>
                </a:solidFill>
                <a:latin typeface="Verdana"/>
                <a:cs typeface="Verdana"/>
              </a:rPr>
              <a:t>+</a:t>
            </a:r>
            <a:r>
              <a:rPr dirty="0" sz="1100" spc="-9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022C5F"/>
                </a:solidFill>
                <a:latin typeface="Verdana"/>
                <a:cs typeface="Verdana"/>
              </a:rPr>
              <a:t>20%Y/Y,</a:t>
            </a:r>
            <a:r>
              <a:rPr dirty="0" sz="1100" spc="-8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022C5F"/>
                </a:solidFill>
                <a:latin typeface="Verdana"/>
                <a:cs typeface="Verdana"/>
              </a:rPr>
              <a:t>+20%</a:t>
            </a:r>
            <a:r>
              <a:rPr dirty="0" sz="1100" spc="-9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022C5F"/>
                </a:solidFill>
                <a:latin typeface="Verdana"/>
                <a:cs typeface="Verdana"/>
              </a:rPr>
              <a:t>Y/Y</a:t>
            </a:r>
            <a:r>
              <a:rPr dirty="0" sz="1100" spc="-8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022C5F"/>
                </a:solidFill>
                <a:latin typeface="Verdana"/>
                <a:cs typeface="Verdana"/>
              </a:rPr>
              <a:t>CC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137395" y="4957190"/>
            <a:ext cx="12452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022C5F"/>
                </a:solidFill>
                <a:latin typeface="Arial"/>
                <a:cs typeface="Arial"/>
              </a:rPr>
              <a:t>Capital</a:t>
            </a:r>
            <a:r>
              <a:rPr dirty="0" sz="1400" spc="275" b="1">
                <a:solidFill>
                  <a:srgbClr val="022C5F"/>
                </a:solidFill>
                <a:latin typeface="Arial"/>
                <a:cs typeface="Arial"/>
              </a:rPr>
              <a:t> </a:t>
            </a:r>
            <a:r>
              <a:rPr dirty="0" sz="1400" spc="-35" b="1">
                <a:solidFill>
                  <a:srgbClr val="022C5F"/>
                </a:solidFill>
                <a:latin typeface="Arial"/>
                <a:cs typeface="Arial"/>
              </a:rPr>
              <a:t>Return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921752" y="4845939"/>
            <a:ext cx="3748404" cy="1584960"/>
          </a:xfrm>
          <a:custGeom>
            <a:avLst/>
            <a:gdLst/>
            <a:ahLst/>
            <a:cxnLst/>
            <a:rect l="l" t="t" r="r" b="b"/>
            <a:pathLst>
              <a:path w="3748404" h="1584960">
                <a:moveTo>
                  <a:pt x="3602608" y="0"/>
                </a:moveTo>
                <a:lnTo>
                  <a:pt x="145415" y="0"/>
                </a:lnTo>
                <a:lnTo>
                  <a:pt x="99470" y="7417"/>
                </a:lnTo>
                <a:lnTo>
                  <a:pt x="59554" y="28070"/>
                </a:lnTo>
                <a:lnTo>
                  <a:pt x="28070" y="59554"/>
                </a:lnTo>
                <a:lnTo>
                  <a:pt x="7417" y="99470"/>
                </a:lnTo>
                <a:lnTo>
                  <a:pt x="0" y="145414"/>
                </a:lnTo>
                <a:lnTo>
                  <a:pt x="0" y="1439417"/>
                </a:lnTo>
                <a:lnTo>
                  <a:pt x="7417" y="1485362"/>
                </a:lnTo>
                <a:lnTo>
                  <a:pt x="28070" y="1525278"/>
                </a:lnTo>
                <a:lnTo>
                  <a:pt x="59554" y="1556762"/>
                </a:lnTo>
                <a:lnTo>
                  <a:pt x="99470" y="1577414"/>
                </a:lnTo>
                <a:lnTo>
                  <a:pt x="145415" y="1584832"/>
                </a:lnTo>
                <a:lnTo>
                  <a:pt x="3602608" y="1584832"/>
                </a:lnTo>
                <a:lnTo>
                  <a:pt x="3648553" y="1577414"/>
                </a:lnTo>
                <a:lnTo>
                  <a:pt x="3688468" y="1556762"/>
                </a:lnTo>
                <a:lnTo>
                  <a:pt x="3719953" y="1525278"/>
                </a:lnTo>
                <a:lnTo>
                  <a:pt x="3740606" y="1485362"/>
                </a:lnTo>
                <a:lnTo>
                  <a:pt x="3748023" y="1439417"/>
                </a:lnTo>
                <a:lnTo>
                  <a:pt x="3748023" y="145414"/>
                </a:lnTo>
                <a:lnTo>
                  <a:pt x="3740606" y="99470"/>
                </a:lnTo>
                <a:lnTo>
                  <a:pt x="3719953" y="59554"/>
                </a:lnTo>
                <a:lnTo>
                  <a:pt x="3688468" y="28070"/>
                </a:lnTo>
                <a:lnTo>
                  <a:pt x="3648553" y="7417"/>
                </a:lnTo>
                <a:lnTo>
                  <a:pt x="3602608" y="0"/>
                </a:lnTo>
                <a:close/>
              </a:path>
            </a:pathLst>
          </a:custGeom>
          <a:solidFill>
            <a:srgbClr val="022C5F">
              <a:alpha val="6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8761348" y="5115749"/>
            <a:ext cx="2070100" cy="1136015"/>
          </a:xfrm>
          <a:prstGeom prst="rect">
            <a:avLst/>
          </a:prstGeom>
        </p:spPr>
        <p:txBody>
          <a:bodyPr wrap="square" lIns="0" tIns="203200" rIns="0" bIns="0" rtlCol="0" vert="horz">
            <a:spAutoFit/>
          </a:bodyPr>
          <a:lstStyle/>
          <a:p>
            <a:pPr marL="542925">
              <a:lnSpc>
                <a:spcPct val="100000"/>
              </a:lnSpc>
              <a:spcBef>
                <a:spcPts val="1600"/>
              </a:spcBef>
            </a:pPr>
            <a:r>
              <a:rPr dirty="0" baseline="21963" sz="3225" spc="-15" b="1">
                <a:solidFill>
                  <a:srgbClr val="0B817B"/>
                </a:solidFill>
                <a:latin typeface="Arial"/>
                <a:cs typeface="Arial"/>
              </a:rPr>
              <a:t>)</a:t>
            </a:r>
            <a:r>
              <a:rPr dirty="0" sz="3300" spc="-10" b="1">
                <a:solidFill>
                  <a:srgbClr val="0B817B"/>
                </a:solidFill>
                <a:latin typeface="Arial"/>
                <a:cs typeface="Arial"/>
              </a:rPr>
              <a:t>0.4B</a:t>
            </a:r>
            <a:endParaRPr sz="3300">
              <a:latin typeface="Arial"/>
              <a:cs typeface="Arial"/>
            </a:endParaRPr>
          </a:p>
          <a:p>
            <a:pPr marL="38100" marR="30480" indent="377190">
              <a:lnSpc>
                <a:spcPts val="1300"/>
              </a:lnSpc>
              <a:spcBef>
                <a:spcPts val="705"/>
              </a:spcBef>
            </a:pPr>
            <a:r>
              <a:rPr dirty="0" sz="1200">
                <a:solidFill>
                  <a:srgbClr val="022C5F"/>
                </a:solidFill>
                <a:latin typeface="Arial MT"/>
                <a:cs typeface="Arial MT"/>
              </a:rPr>
              <a:t>$364M</a:t>
            </a:r>
            <a:r>
              <a:rPr dirty="0" sz="1200" spc="95">
                <a:solidFill>
                  <a:srgbClr val="022C5F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022C5F"/>
                </a:solidFill>
                <a:latin typeface="Arial MT"/>
                <a:cs typeface="Arial MT"/>
              </a:rPr>
              <a:t>Dividends </a:t>
            </a:r>
            <a:r>
              <a:rPr dirty="0" sz="1200" spc="60">
                <a:solidFill>
                  <a:srgbClr val="022C5F"/>
                </a:solidFill>
                <a:latin typeface="Arial MT"/>
                <a:cs typeface="Arial MT"/>
              </a:rPr>
              <a:t>Executed</a:t>
            </a:r>
            <a:r>
              <a:rPr dirty="0" sz="1200">
                <a:solidFill>
                  <a:srgbClr val="022C5F"/>
                </a:solidFill>
                <a:latin typeface="Arial MT"/>
                <a:cs typeface="Arial MT"/>
              </a:rPr>
              <a:t> </a:t>
            </a:r>
            <a:r>
              <a:rPr dirty="0" sz="1200" spc="55">
                <a:solidFill>
                  <a:srgbClr val="022C5F"/>
                </a:solidFill>
                <a:latin typeface="Arial MT"/>
                <a:cs typeface="Arial MT"/>
              </a:rPr>
              <a:t>against</a:t>
            </a:r>
            <a:r>
              <a:rPr dirty="0" sz="1200" spc="5">
                <a:solidFill>
                  <a:srgbClr val="022C5F"/>
                </a:solidFill>
                <a:latin typeface="Arial MT"/>
                <a:cs typeface="Arial MT"/>
              </a:rPr>
              <a:t> </a:t>
            </a:r>
            <a:r>
              <a:rPr dirty="0" sz="1200" spc="-20">
                <a:solidFill>
                  <a:srgbClr val="022C5F"/>
                </a:solidFill>
                <a:latin typeface="Arial MT"/>
                <a:cs typeface="Arial MT"/>
              </a:rPr>
              <a:t>$25B</a:t>
            </a:r>
            <a:r>
              <a:rPr dirty="0" sz="1200" spc="5">
                <a:solidFill>
                  <a:srgbClr val="022C5F"/>
                </a:solidFill>
                <a:latin typeface="Arial MT"/>
                <a:cs typeface="Arial MT"/>
              </a:rPr>
              <a:t> </a:t>
            </a:r>
            <a:r>
              <a:rPr dirty="0" sz="1200" spc="-85">
                <a:solidFill>
                  <a:srgbClr val="022C5F"/>
                </a:solidFill>
                <a:latin typeface="Arial MT"/>
                <a:cs typeface="Arial MT"/>
              </a:rPr>
              <a:t>ASR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46" name="object 4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844540" y="6109461"/>
            <a:ext cx="255142" cy="268605"/>
          </a:xfrm>
          <a:prstGeom prst="rect">
            <a:avLst/>
          </a:prstGeom>
        </p:spPr>
      </p:pic>
      <p:sp>
        <p:nvSpPr>
          <p:cNvPr id="48" name="object 48"/>
          <p:cNvSpPr txBox="1"/>
          <p:nvPr/>
        </p:nvSpPr>
        <p:spPr>
          <a:xfrm>
            <a:off x="708279" y="6669709"/>
            <a:ext cx="6003290" cy="1562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00" spc="-45">
                <a:solidFill>
                  <a:srgbClr val="6C6C6C"/>
                </a:solidFill>
                <a:latin typeface="Verdana"/>
                <a:cs typeface="Verdana"/>
              </a:rPr>
              <a:t>Revenue</a:t>
            </a:r>
            <a:r>
              <a:rPr dirty="0" sz="800" spc="-40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25">
                <a:solidFill>
                  <a:srgbClr val="6C6C6C"/>
                </a:solidFill>
                <a:latin typeface="Verdana"/>
                <a:cs typeface="Verdana"/>
              </a:rPr>
              <a:t>includes</a:t>
            </a:r>
            <a:r>
              <a:rPr dirty="0" sz="800" spc="-40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25">
                <a:solidFill>
                  <a:srgbClr val="6C6C6C"/>
                </a:solidFill>
                <a:latin typeface="Verdana"/>
                <a:cs typeface="Verdana"/>
              </a:rPr>
              <a:t>S456M</a:t>
            </a:r>
            <a:r>
              <a:rPr dirty="0" sz="800" spc="-35">
                <a:solidFill>
                  <a:srgbClr val="6C6C6C"/>
                </a:solidFill>
                <a:latin typeface="Verdana"/>
                <a:cs typeface="Verdana"/>
              </a:rPr>
              <a:t> Informatica</a:t>
            </a:r>
            <a:r>
              <a:rPr dirty="0" sz="800" spc="-40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30">
                <a:solidFill>
                  <a:srgbClr val="6C6C6C"/>
                </a:solidFill>
                <a:latin typeface="Verdana"/>
                <a:cs typeface="Verdana"/>
              </a:rPr>
              <a:t>contribution. </a:t>
            </a:r>
            <a:r>
              <a:rPr dirty="0" sz="800" spc="-35">
                <a:solidFill>
                  <a:srgbClr val="6C6C6C"/>
                </a:solidFill>
                <a:latin typeface="Verdana"/>
                <a:cs typeface="Verdana"/>
              </a:rPr>
              <a:t>Subscription</a:t>
            </a:r>
            <a:r>
              <a:rPr dirty="0" sz="800" spc="-30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60">
                <a:solidFill>
                  <a:srgbClr val="6C6C6C"/>
                </a:solidFill>
                <a:latin typeface="Verdana"/>
                <a:cs typeface="Verdana"/>
              </a:rPr>
              <a:t>&amp;</a:t>
            </a:r>
            <a:r>
              <a:rPr dirty="0" sz="800" spc="-35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40">
                <a:solidFill>
                  <a:srgbClr val="6C6C6C"/>
                </a:solidFill>
                <a:latin typeface="Verdana"/>
                <a:cs typeface="Verdana"/>
              </a:rPr>
              <a:t>Support</a:t>
            </a:r>
            <a:r>
              <a:rPr dirty="0" sz="800" spc="-30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45">
                <a:solidFill>
                  <a:srgbClr val="6C6C6C"/>
                </a:solidFill>
                <a:latin typeface="Verdana"/>
                <a:cs typeface="Verdana"/>
              </a:rPr>
              <a:t>Revenue</a:t>
            </a:r>
            <a:r>
              <a:rPr dirty="0" sz="800" spc="-35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25">
                <a:solidFill>
                  <a:srgbClr val="6C6C6C"/>
                </a:solidFill>
                <a:latin typeface="Verdana"/>
                <a:cs typeface="Verdana"/>
              </a:rPr>
              <a:t>includes</a:t>
            </a:r>
            <a:r>
              <a:rPr dirty="0" sz="800" spc="-60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25">
                <a:solidFill>
                  <a:srgbClr val="6C6C6C"/>
                </a:solidFill>
                <a:latin typeface="Verdana"/>
                <a:cs typeface="Verdana"/>
              </a:rPr>
              <a:t>S440M</a:t>
            </a:r>
            <a:r>
              <a:rPr dirty="0" sz="800" spc="-35">
                <a:solidFill>
                  <a:srgbClr val="6C6C6C"/>
                </a:solidFill>
                <a:latin typeface="Verdana"/>
                <a:cs typeface="Verdana"/>
              </a:rPr>
              <a:t> Informatica</a:t>
            </a:r>
            <a:r>
              <a:rPr dirty="0" sz="800" spc="-40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10">
                <a:solidFill>
                  <a:srgbClr val="6C6C6C"/>
                </a:solidFill>
                <a:latin typeface="Verdana"/>
                <a:cs typeface="Verdana"/>
              </a:rPr>
              <a:t>contribution.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47" name="object 4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22225">
              <a:lnSpc>
                <a:spcPct val="100000"/>
              </a:lnSpc>
              <a:spcBef>
                <a:spcPts val="90"/>
              </a:spcBef>
            </a:pPr>
            <a:fld id="{81D60167-4931-47E6-BA6A-407CBD079E47}" type="slidenum">
              <a:rPr dirty="0" spc="-25"/>
              <a:t>11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33252" y="565404"/>
            <a:ext cx="635634" cy="445008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46075" y="1388364"/>
            <a:ext cx="11500485" cy="5238115"/>
          </a:xfrm>
          <a:custGeom>
            <a:avLst/>
            <a:gdLst/>
            <a:ahLst/>
            <a:cxnLst/>
            <a:rect l="l" t="t" r="r" b="b"/>
            <a:pathLst>
              <a:path w="11500485" h="5238115">
                <a:moveTo>
                  <a:pt x="11357102" y="0"/>
                </a:moveTo>
                <a:lnTo>
                  <a:pt x="142875" y="0"/>
                </a:lnTo>
                <a:lnTo>
                  <a:pt x="97731" y="7287"/>
                </a:lnTo>
                <a:lnTo>
                  <a:pt x="58512" y="27578"/>
                </a:lnTo>
                <a:lnTo>
                  <a:pt x="27578" y="58512"/>
                </a:lnTo>
                <a:lnTo>
                  <a:pt x="7287" y="97730"/>
                </a:lnTo>
                <a:lnTo>
                  <a:pt x="0" y="142875"/>
                </a:lnTo>
                <a:lnTo>
                  <a:pt x="0" y="5094985"/>
                </a:lnTo>
                <a:lnTo>
                  <a:pt x="7287" y="5140129"/>
                </a:lnTo>
                <a:lnTo>
                  <a:pt x="27578" y="5179348"/>
                </a:lnTo>
                <a:lnTo>
                  <a:pt x="58512" y="5210282"/>
                </a:lnTo>
                <a:lnTo>
                  <a:pt x="97731" y="5230573"/>
                </a:lnTo>
                <a:lnTo>
                  <a:pt x="142875" y="5237860"/>
                </a:lnTo>
                <a:lnTo>
                  <a:pt x="11357102" y="5237860"/>
                </a:lnTo>
                <a:lnTo>
                  <a:pt x="11402245" y="5230573"/>
                </a:lnTo>
                <a:lnTo>
                  <a:pt x="11441464" y="5210282"/>
                </a:lnTo>
                <a:lnTo>
                  <a:pt x="11472398" y="5179348"/>
                </a:lnTo>
                <a:lnTo>
                  <a:pt x="11492689" y="5140129"/>
                </a:lnTo>
                <a:lnTo>
                  <a:pt x="11499977" y="5094985"/>
                </a:lnTo>
                <a:lnTo>
                  <a:pt x="11499977" y="142875"/>
                </a:lnTo>
                <a:lnTo>
                  <a:pt x="11492689" y="97730"/>
                </a:lnTo>
                <a:lnTo>
                  <a:pt x="11472398" y="58512"/>
                </a:lnTo>
                <a:lnTo>
                  <a:pt x="11441464" y="27578"/>
                </a:lnTo>
                <a:lnTo>
                  <a:pt x="11402245" y="7287"/>
                </a:lnTo>
                <a:lnTo>
                  <a:pt x="1135710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66675">
              <a:lnSpc>
                <a:spcPts val="4300"/>
              </a:lnSpc>
              <a:spcBef>
                <a:spcPts val="100"/>
              </a:spcBef>
            </a:pPr>
            <a:r>
              <a:rPr dirty="0" spc="-105"/>
              <a:t>Full-</a:t>
            </a:r>
            <a:r>
              <a:rPr dirty="0" spc="60"/>
              <a:t>Year</a:t>
            </a:r>
            <a:r>
              <a:rPr dirty="0" spc="-15"/>
              <a:t> </a:t>
            </a:r>
            <a:r>
              <a:rPr dirty="0" spc="-140"/>
              <a:t>FY27</a:t>
            </a:r>
            <a:r>
              <a:rPr dirty="0" spc="-10"/>
              <a:t> </a:t>
            </a:r>
            <a:r>
              <a:rPr dirty="0" spc="140"/>
              <a:t>Guidance</a:t>
            </a:r>
            <a:r>
              <a:rPr dirty="0" spc="-15"/>
              <a:t> </a:t>
            </a:r>
            <a:r>
              <a:rPr dirty="0" spc="-10"/>
              <a:t>Summary</a:t>
            </a:r>
          </a:p>
          <a:p>
            <a:pPr marL="66675">
              <a:lnSpc>
                <a:spcPts val="2500"/>
              </a:lnSpc>
            </a:pPr>
            <a:r>
              <a:rPr dirty="0" sz="2100"/>
              <a:t>Includes</a:t>
            </a:r>
            <a:r>
              <a:rPr dirty="0" sz="2100" spc="-5"/>
              <a:t> </a:t>
            </a:r>
            <a:r>
              <a:rPr dirty="0" sz="2100" spc="-10"/>
              <a:t>contribution</a:t>
            </a:r>
            <a:r>
              <a:rPr dirty="0" sz="2100" spc="-5"/>
              <a:t> </a:t>
            </a:r>
            <a:r>
              <a:rPr dirty="0" sz="2100"/>
              <a:t>from</a:t>
            </a:r>
            <a:r>
              <a:rPr dirty="0" sz="2100" spc="-5"/>
              <a:t> </a:t>
            </a:r>
            <a:r>
              <a:rPr dirty="0" sz="2100"/>
              <a:t>Contentful </a:t>
            </a:r>
            <a:r>
              <a:rPr dirty="0" sz="2100" spc="90"/>
              <a:t>and</a:t>
            </a:r>
            <a:r>
              <a:rPr dirty="0" sz="2100" spc="-5"/>
              <a:t> </a:t>
            </a:r>
            <a:r>
              <a:rPr dirty="0" sz="2100" spc="-90"/>
              <a:t>Fin,</a:t>
            </a:r>
            <a:r>
              <a:rPr dirty="0" sz="2100" spc="-5"/>
              <a:t> </a:t>
            </a:r>
            <a:r>
              <a:rPr dirty="0" sz="2100" spc="100"/>
              <a:t>expected</a:t>
            </a:r>
            <a:r>
              <a:rPr dirty="0" sz="2100"/>
              <a:t> to</a:t>
            </a:r>
            <a:r>
              <a:rPr dirty="0" sz="2100" spc="-5"/>
              <a:t> </a:t>
            </a:r>
            <a:r>
              <a:rPr dirty="0" sz="2100"/>
              <a:t>close</a:t>
            </a:r>
            <a:r>
              <a:rPr dirty="0" sz="2100" spc="-5"/>
              <a:t> </a:t>
            </a:r>
            <a:r>
              <a:rPr dirty="0" sz="2100"/>
              <a:t>in the</a:t>
            </a:r>
            <a:r>
              <a:rPr dirty="0" sz="2100" spc="-5"/>
              <a:t> </a:t>
            </a:r>
            <a:r>
              <a:rPr dirty="0" sz="2100"/>
              <a:t>coming</a:t>
            </a:r>
            <a:r>
              <a:rPr dirty="0" sz="2100" spc="-5"/>
              <a:t> </a:t>
            </a:r>
            <a:r>
              <a:rPr dirty="0" sz="2100" spc="-10"/>
              <a:t>weeks</a:t>
            </a:r>
            <a:endParaRPr sz="210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33113" y="1646935"/>
            <a:ext cx="121920" cy="121920"/>
          </a:xfrm>
          <a:prstGeom prst="rect">
            <a:avLst/>
          </a:prstGeom>
        </p:spPr>
      </p:pic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90626" y="1483233"/>
          <a:ext cx="10887075" cy="5064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43629"/>
                <a:gridCol w="614679"/>
                <a:gridCol w="3267709"/>
                <a:gridCol w="3286759"/>
              </a:tblGrid>
              <a:tr h="53276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12700">
                      <a:solidFill>
                        <a:srgbClr val="DADADA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dirty="0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Current</a:t>
                      </a:r>
                      <a:r>
                        <a:rPr dirty="0" sz="1600" spc="-114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Guidance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26364"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012A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dirty="0" sz="1600" spc="-8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Prior</a:t>
                      </a:r>
                      <a:r>
                        <a:rPr dirty="0" sz="1600" spc="-3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Guidance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26364">
                    <a:solidFill>
                      <a:srgbClr val="066AFE"/>
                    </a:solidFill>
                  </a:tcPr>
                </a:tc>
              </a:tr>
              <a:tr h="264795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09220">
                        <a:lnSpc>
                          <a:spcPct val="100000"/>
                        </a:lnSpc>
                      </a:pPr>
                      <a:r>
                        <a:rPr dirty="0" sz="1400" spc="-10" b="1">
                          <a:solidFill>
                            <a:srgbClr val="022C5F"/>
                          </a:solidFill>
                          <a:latin typeface="Tahoma"/>
                          <a:cs typeface="Tahoma"/>
                        </a:rPr>
                        <a:t>Revenue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B="0" marT="144780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</a:tcPr>
                </a:tc>
                <a:tc rowSpan="4"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100"/>
                        </a:spcBef>
                      </a:pPr>
                      <a:r>
                        <a:rPr dirty="0" sz="2000" spc="-50">
                          <a:solidFill>
                            <a:srgbClr val="339900"/>
                          </a:solidFill>
                          <a:latin typeface="Segoe UI Symbol"/>
                          <a:cs typeface="Segoe UI Symbol"/>
                        </a:rPr>
                        <a:t>▲</a:t>
                      </a:r>
                      <a:endParaRPr sz="2000">
                        <a:latin typeface="Segoe UI Symbol"/>
                        <a:cs typeface="Segoe UI Symbol"/>
                      </a:endParaRPr>
                    </a:p>
                  </a:txBody>
                  <a:tcPr marL="0" marR="0" marB="0" marT="266700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dirty="0" sz="1400" b="1">
                          <a:solidFill>
                            <a:srgbClr val="001E5A"/>
                          </a:solidFill>
                          <a:latin typeface="Arial"/>
                          <a:cs typeface="Arial"/>
                        </a:rPr>
                        <a:t>)46.1B</a:t>
                      </a:r>
                      <a:r>
                        <a:rPr dirty="0" sz="1400" spc="70" b="1">
                          <a:solidFill>
                            <a:srgbClr val="001E5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120" b="1">
                          <a:solidFill>
                            <a:srgbClr val="001E5A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400" spc="75" b="1">
                          <a:solidFill>
                            <a:srgbClr val="001E5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001E5A"/>
                          </a:solidFill>
                          <a:latin typeface="Arial"/>
                          <a:cs typeface="Arial"/>
                        </a:rPr>
                        <a:t>)46.4B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1430">
                    <a:lnT w="12700">
                      <a:solidFill>
                        <a:srgbClr val="DADADA"/>
                      </a:solidFill>
                      <a:prstDash val="solid"/>
                    </a:lnT>
                    <a:solidFill>
                      <a:srgbClr val="EA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400" b="1">
                          <a:solidFill>
                            <a:srgbClr val="022C5F"/>
                          </a:solidFill>
                          <a:latin typeface="Arial"/>
                          <a:cs typeface="Arial"/>
                        </a:rPr>
                        <a:t>)45.9B</a:t>
                      </a:r>
                      <a:r>
                        <a:rPr dirty="0" sz="1400" spc="70" b="1">
                          <a:solidFill>
                            <a:srgbClr val="022C5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120" b="1">
                          <a:solidFill>
                            <a:srgbClr val="022C5F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400" spc="75" b="1">
                          <a:solidFill>
                            <a:srgbClr val="022C5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022C5F"/>
                          </a:solidFill>
                          <a:latin typeface="Arial"/>
                          <a:cs typeface="Arial"/>
                        </a:rPr>
                        <a:t>)46.2B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34290">
                    <a:solidFill>
                      <a:srgbClr val="EDF4FF"/>
                    </a:solidFill>
                  </a:tcPr>
                </a:tc>
              </a:tr>
              <a:tr h="16446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44780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66700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85"/>
                        </a:lnSpc>
                      </a:pPr>
                      <a:r>
                        <a:rPr dirty="0" sz="1100" spc="-40">
                          <a:solidFill>
                            <a:srgbClr val="001E5A"/>
                          </a:solidFill>
                          <a:latin typeface="Arial MT"/>
                          <a:cs typeface="Arial MT"/>
                        </a:rPr>
                        <a:t>11%</a:t>
                      </a:r>
                      <a:r>
                        <a:rPr dirty="0" sz="1100" spc="-20">
                          <a:solidFill>
                            <a:srgbClr val="001E5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solidFill>
                            <a:srgbClr val="001E5A"/>
                          </a:solidFill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1100" spc="-20">
                          <a:solidFill>
                            <a:srgbClr val="001E5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40">
                          <a:solidFill>
                            <a:srgbClr val="001E5A"/>
                          </a:solidFill>
                          <a:latin typeface="Arial MT"/>
                          <a:cs typeface="Arial MT"/>
                        </a:rPr>
                        <a:t>12%</a:t>
                      </a:r>
                      <a:r>
                        <a:rPr dirty="0" sz="1100" spc="-20">
                          <a:solidFill>
                            <a:srgbClr val="001E5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25">
                          <a:solidFill>
                            <a:srgbClr val="001E5A"/>
                          </a:solidFill>
                          <a:latin typeface="Arial MT"/>
                          <a:cs typeface="Arial MT"/>
                        </a:rPr>
                        <a:t>Y/Y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EA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0"/>
                        </a:lnSpc>
                      </a:pPr>
                      <a:r>
                        <a:rPr dirty="0" sz="1000" spc="-35">
                          <a:solidFill>
                            <a:srgbClr val="022C5F"/>
                          </a:solidFill>
                          <a:latin typeface="Arial MT"/>
                          <a:cs typeface="Arial MT"/>
                        </a:rPr>
                        <a:t>11%</a:t>
                      </a:r>
                      <a:r>
                        <a:rPr dirty="0" sz="1000" spc="-20">
                          <a:solidFill>
                            <a:srgbClr val="022C5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25">
                          <a:solidFill>
                            <a:srgbClr val="022C5F"/>
                          </a:solidFill>
                          <a:latin typeface="Arial MT"/>
                          <a:cs typeface="Arial MT"/>
                        </a:rPr>
                        <a:t>Y/Y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EDF4FF"/>
                    </a:solidFill>
                  </a:tcPr>
                </a:tc>
              </a:tr>
              <a:tr h="23495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44780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66700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5"/>
                        </a:lnSpc>
                      </a:pPr>
                      <a:r>
                        <a:rPr dirty="0" sz="1100" spc="60">
                          <a:solidFill>
                            <a:srgbClr val="001E5A"/>
                          </a:solidFill>
                          <a:latin typeface="Arial MT"/>
                          <a:cs typeface="Arial MT"/>
                        </a:rPr>
                        <a:t>Approximately</a:t>
                      </a:r>
                      <a:r>
                        <a:rPr dirty="0" sz="1100">
                          <a:solidFill>
                            <a:srgbClr val="001E5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40">
                          <a:solidFill>
                            <a:srgbClr val="001E5A"/>
                          </a:solidFill>
                          <a:latin typeface="Arial MT"/>
                          <a:cs typeface="Arial MT"/>
                        </a:rPr>
                        <a:t>11%</a:t>
                      </a:r>
                      <a:r>
                        <a:rPr dirty="0" sz="1100" spc="10">
                          <a:solidFill>
                            <a:srgbClr val="001E5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solidFill>
                            <a:srgbClr val="001E5A"/>
                          </a:solidFill>
                          <a:latin typeface="Arial MT"/>
                          <a:cs typeface="Arial MT"/>
                        </a:rPr>
                        <a:t>Y/Y</a:t>
                      </a:r>
                      <a:r>
                        <a:rPr dirty="0" sz="1100" spc="10">
                          <a:solidFill>
                            <a:srgbClr val="001E5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55">
                          <a:solidFill>
                            <a:srgbClr val="001E5A"/>
                          </a:solidFill>
                          <a:latin typeface="Arial MT"/>
                          <a:cs typeface="Arial MT"/>
                        </a:rPr>
                        <a:t>CC</a:t>
                      </a:r>
                      <a:r>
                        <a:rPr dirty="0" sz="1100" spc="55" b="1">
                          <a:solidFill>
                            <a:srgbClr val="001E5A"/>
                          </a:solidFill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100" spc="10" b="1">
                          <a:solidFill>
                            <a:srgbClr val="001E5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001E5A"/>
                          </a:solidFill>
                          <a:latin typeface="Arial MT"/>
                          <a:cs typeface="Arial MT"/>
                        </a:rPr>
                        <a:t>$200M</a:t>
                      </a:r>
                      <a:r>
                        <a:rPr dirty="0" sz="1100" spc="10">
                          <a:solidFill>
                            <a:srgbClr val="001E5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solidFill>
                            <a:srgbClr val="001E5A"/>
                          </a:solidFill>
                          <a:latin typeface="Arial MT"/>
                          <a:cs typeface="Arial MT"/>
                        </a:rPr>
                        <a:t>Y/Y</a:t>
                      </a:r>
                      <a:r>
                        <a:rPr dirty="0" sz="1100" spc="10">
                          <a:solidFill>
                            <a:srgbClr val="001E5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25">
                          <a:solidFill>
                            <a:srgbClr val="001E5A"/>
                          </a:solidFill>
                          <a:latin typeface="Arial MT"/>
                          <a:cs typeface="Arial MT"/>
                        </a:rPr>
                        <a:t>FX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EA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70"/>
                        </a:lnSpc>
                      </a:pPr>
                      <a:r>
                        <a:rPr dirty="0" sz="1000" spc="55">
                          <a:solidFill>
                            <a:srgbClr val="022C5F"/>
                          </a:solidFill>
                          <a:latin typeface="Arial MT"/>
                          <a:cs typeface="Arial MT"/>
                        </a:rPr>
                        <a:t>Approximately</a:t>
                      </a:r>
                      <a:r>
                        <a:rPr dirty="0" sz="1000" spc="10">
                          <a:solidFill>
                            <a:srgbClr val="022C5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35">
                          <a:solidFill>
                            <a:srgbClr val="022C5F"/>
                          </a:solidFill>
                          <a:latin typeface="Arial MT"/>
                          <a:cs typeface="Arial MT"/>
                        </a:rPr>
                        <a:t>10%</a:t>
                      </a:r>
                      <a:r>
                        <a:rPr dirty="0" sz="1000" spc="10">
                          <a:solidFill>
                            <a:srgbClr val="022C5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022C5F"/>
                          </a:solidFill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1000" spc="10">
                          <a:solidFill>
                            <a:srgbClr val="022C5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35">
                          <a:solidFill>
                            <a:srgbClr val="022C5F"/>
                          </a:solidFill>
                          <a:latin typeface="Arial MT"/>
                          <a:cs typeface="Arial MT"/>
                        </a:rPr>
                        <a:t>11%</a:t>
                      </a:r>
                      <a:r>
                        <a:rPr dirty="0" sz="1000" spc="15">
                          <a:solidFill>
                            <a:srgbClr val="022C5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022C5F"/>
                          </a:solidFill>
                          <a:latin typeface="Arial MT"/>
                          <a:cs typeface="Arial MT"/>
                        </a:rPr>
                        <a:t>Y/Y</a:t>
                      </a:r>
                      <a:r>
                        <a:rPr dirty="0" sz="1000" spc="10">
                          <a:solidFill>
                            <a:srgbClr val="022C5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55">
                          <a:solidFill>
                            <a:srgbClr val="022C5F"/>
                          </a:solidFill>
                          <a:latin typeface="Arial MT"/>
                          <a:cs typeface="Arial MT"/>
                        </a:rPr>
                        <a:t>CC</a:t>
                      </a:r>
                      <a:r>
                        <a:rPr dirty="0" sz="1000" spc="55" b="1">
                          <a:solidFill>
                            <a:srgbClr val="022C5F"/>
                          </a:solidFill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000" spc="15" b="1">
                          <a:solidFill>
                            <a:srgbClr val="022C5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solidFill>
                            <a:srgbClr val="022C5F"/>
                          </a:solidFill>
                          <a:latin typeface="Arial MT"/>
                          <a:cs typeface="Arial MT"/>
                        </a:rPr>
                        <a:t>$300M</a:t>
                      </a:r>
                      <a:r>
                        <a:rPr dirty="0" sz="1000" spc="15">
                          <a:solidFill>
                            <a:srgbClr val="022C5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022C5F"/>
                          </a:solidFill>
                          <a:latin typeface="Arial MT"/>
                          <a:cs typeface="Arial MT"/>
                        </a:rPr>
                        <a:t>Y/Y</a:t>
                      </a:r>
                      <a:r>
                        <a:rPr dirty="0" sz="1000" spc="10">
                          <a:solidFill>
                            <a:srgbClr val="022C5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25">
                          <a:solidFill>
                            <a:srgbClr val="022C5F"/>
                          </a:solidFill>
                          <a:latin typeface="Arial MT"/>
                          <a:cs typeface="Arial MT"/>
                        </a:rPr>
                        <a:t>FX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EDF4FF"/>
                    </a:solidFill>
                  </a:tcPr>
                </a:tc>
              </a:tr>
              <a:tr h="27749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44780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66700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1100" b="1">
                          <a:solidFill>
                            <a:srgbClr val="012ABF"/>
                          </a:solidFill>
                          <a:latin typeface="Arial"/>
                          <a:cs typeface="Arial"/>
                        </a:rPr>
                        <a:t>Informatica</a:t>
                      </a:r>
                      <a:r>
                        <a:rPr dirty="0" sz="1100" spc="65" b="1">
                          <a:solidFill>
                            <a:srgbClr val="012AB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 b="1">
                          <a:solidFill>
                            <a:srgbClr val="012ABF"/>
                          </a:solidFill>
                          <a:latin typeface="Arial"/>
                          <a:cs typeface="Arial"/>
                        </a:rPr>
                        <a:t>Contribution:</a:t>
                      </a:r>
                      <a:r>
                        <a:rPr dirty="0" sz="1100" spc="70" b="1">
                          <a:solidFill>
                            <a:srgbClr val="012AB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30" b="1">
                          <a:solidFill>
                            <a:srgbClr val="012ABF"/>
                          </a:solidFill>
                          <a:latin typeface="Arial"/>
                          <a:cs typeface="Arial"/>
                        </a:rPr>
                        <a:t>Slightly</a:t>
                      </a:r>
                      <a:r>
                        <a:rPr dirty="0" sz="1100" spc="70" b="1">
                          <a:solidFill>
                            <a:srgbClr val="012AB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b="1">
                          <a:solidFill>
                            <a:srgbClr val="012ABF"/>
                          </a:solidFill>
                          <a:latin typeface="Arial"/>
                          <a:cs typeface="Arial"/>
                        </a:rPr>
                        <a:t>Above</a:t>
                      </a:r>
                      <a:r>
                        <a:rPr dirty="0" sz="1100" spc="70" b="1">
                          <a:solidFill>
                            <a:srgbClr val="012AB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20" b="1">
                          <a:solidFill>
                            <a:srgbClr val="012ABF"/>
                          </a:solidFill>
                          <a:latin typeface="Arial"/>
                          <a:cs typeface="Arial"/>
                        </a:rPr>
                        <a:t>3pts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73025"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EA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100" b="1">
                          <a:solidFill>
                            <a:srgbClr val="066AFE"/>
                          </a:solidFill>
                          <a:latin typeface="Arial"/>
                          <a:cs typeface="Arial"/>
                        </a:rPr>
                        <a:t>Informatica</a:t>
                      </a:r>
                      <a:r>
                        <a:rPr dirty="0" sz="1100" spc="114" b="1">
                          <a:solidFill>
                            <a:srgbClr val="066AF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 b="1">
                          <a:solidFill>
                            <a:srgbClr val="066AFE"/>
                          </a:solidFill>
                          <a:latin typeface="Arial"/>
                          <a:cs typeface="Arial"/>
                        </a:rPr>
                        <a:t>Contribution:</a:t>
                      </a:r>
                      <a:r>
                        <a:rPr dirty="0" sz="1100" spc="120" b="1">
                          <a:solidFill>
                            <a:srgbClr val="066AF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b="1">
                          <a:solidFill>
                            <a:srgbClr val="066AFE"/>
                          </a:solidFill>
                          <a:latin typeface="Arial"/>
                          <a:cs typeface="Arial"/>
                        </a:rPr>
                        <a:t>Approximately</a:t>
                      </a:r>
                      <a:r>
                        <a:rPr dirty="0" sz="1100" spc="120" b="1">
                          <a:solidFill>
                            <a:srgbClr val="066AF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20" b="1">
                          <a:solidFill>
                            <a:srgbClr val="066AFE"/>
                          </a:solidFill>
                          <a:latin typeface="Arial"/>
                          <a:cs typeface="Arial"/>
                        </a:rPr>
                        <a:t>3pts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50165"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EDF4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r>
                        <a:rPr dirty="0" sz="1400" spc="-35" b="1">
                          <a:solidFill>
                            <a:srgbClr val="022C5F"/>
                          </a:solidFill>
                          <a:latin typeface="Tahoma"/>
                          <a:cs typeface="Tahoma"/>
                        </a:rPr>
                        <a:t>Subscription </a:t>
                      </a:r>
                      <a:r>
                        <a:rPr dirty="0" sz="1400" spc="-150" b="1">
                          <a:solidFill>
                            <a:srgbClr val="022C5F"/>
                          </a:solidFill>
                          <a:latin typeface="Tahoma"/>
                          <a:cs typeface="Tahoma"/>
                        </a:rPr>
                        <a:t>&amp;</a:t>
                      </a:r>
                      <a:r>
                        <a:rPr dirty="0" sz="1400" spc="-35" b="1">
                          <a:solidFill>
                            <a:srgbClr val="022C5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400" spc="-25" b="1">
                          <a:solidFill>
                            <a:srgbClr val="022C5F"/>
                          </a:solidFill>
                          <a:latin typeface="Tahoma"/>
                          <a:cs typeface="Tahoma"/>
                        </a:rPr>
                        <a:t>Support</a:t>
                      </a:r>
                      <a:r>
                        <a:rPr dirty="0" sz="1400" spc="-30" b="1">
                          <a:solidFill>
                            <a:srgbClr val="022C5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400" spc="-45" b="1">
                          <a:solidFill>
                            <a:srgbClr val="022C5F"/>
                          </a:solidFill>
                          <a:latin typeface="Tahoma"/>
                          <a:cs typeface="Tahoma"/>
                        </a:rPr>
                        <a:t>Revenue</a:t>
                      </a:r>
                      <a:r>
                        <a:rPr dirty="0" sz="1400" spc="-35" b="1">
                          <a:solidFill>
                            <a:srgbClr val="022C5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022C5F"/>
                          </a:solidFill>
                          <a:latin typeface="Tahoma"/>
                          <a:cs typeface="Tahoma"/>
                        </a:rPr>
                        <a:t>Growth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B="0" marT="130175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dirty="0" sz="2000" spc="-50">
                          <a:solidFill>
                            <a:srgbClr val="339900"/>
                          </a:solidFill>
                          <a:latin typeface="Segoe UI Symbol"/>
                          <a:cs typeface="Segoe UI Symbol"/>
                        </a:rPr>
                        <a:t>▲</a:t>
                      </a:r>
                      <a:endParaRPr sz="2000">
                        <a:latin typeface="Segoe UI Symbol"/>
                        <a:cs typeface="Segoe UI Symbol"/>
                      </a:endParaRPr>
                    </a:p>
                  </a:txBody>
                  <a:tcPr marL="0" marR="0" marB="0" marT="59055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400" spc="-40" b="1">
                          <a:solidFill>
                            <a:srgbClr val="001E5A"/>
                          </a:solidFill>
                          <a:latin typeface="Arial"/>
                          <a:cs typeface="Arial"/>
                        </a:rPr>
                        <a:t>Slightly</a:t>
                      </a:r>
                      <a:r>
                        <a:rPr dirty="0" sz="1400" spc="-20" b="1">
                          <a:solidFill>
                            <a:srgbClr val="001E5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75" b="1">
                          <a:solidFill>
                            <a:srgbClr val="001E5A"/>
                          </a:solidFill>
                          <a:latin typeface="Arial"/>
                          <a:cs typeface="Arial"/>
                        </a:rPr>
                        <a:t>above</a:t>
                      </a:r>
                      <a:r>
                        <a:rPr dirty="0" sz="1400" spc="-15" b="1">
                          <a:solidFill>
                            <a:srgbClr val="001E5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b="1">
                          <a:solidFill>
                            <a:srgbClr val="001E5A"/>
                          </a:solidFill>
                          <a:latin typeface="Arial"/>
                          <a:cs typeface="Arial"/>
                        </a:rPr>
                        <a:t>12%</a:t>
                      </a:r>
                      <a:r>
                        <a:rPr dirty="0" sz="1400" spc="-20" b="1">
                          <a:solidFill>
                            <a:srgbClr val="001E5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5" b="1">
                          <a:solidFill>
                            <a:srgbClr val="001E5A"/>
                          </a:solidFill>
                          <a:latin typeface="Arial"/>
                          <a:cs typeface="Arial"/>
                        </a:rPr>
                        <a:t>Y/Y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100">
                          <a:solidFill>
                            <a:srgbClr val="001E5A"/>
                          </a:solidFill>
                          <a:latin typeface="Arial MT"/>
                          <a:cs typeface="Arial MT"/>
                        </a:rPr>
                        <a:t>Slightly</a:t>
                      </a:r>
                      <a:r>
                        <a:rPr dirty="0" sz="1100" spc="5">
                          <a:solidFill>
                            <a:srgbClr val="001E5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60">
                          <a:solidFill>
                            <a:srgbClr val="001E5A"/>
                          </a:solidFill>
                          <a:latin typeface="Arial MT"/>
                          <a:cs typeface="Arial MT"/>
                        </a:rPr>
                        <a:t>under</a:t>
                      </a:r>
                      <a:r>
                        <a:rPr dirty="0" sz="1100" spc="10">
                          <a:solidFill>
                            <a:srgbClr val="001E5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50">
                          <a:solidFill>
                            <a:srgbClr val="001E5A"/>
                          </a:solidFill>
                          <a:latin typeface="Arial MT"/>
                          <a:cs typeface="Arial MT"/>
                        </a:rPr>
                        <a:t>12%</a:t>
                      </a:r>
                      <a:r>
                        <a:rPr dirty="0" sz="1100" spc="-30">
                          <a:solidFill>
                            <a:srgbClr val="001E5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001E5A"/>
                          </a:solidFill>
                          <a:latin typeface="Arial MT"/>
                          <a:cs typeface="Arial MT"/>
                        </a:rPr>
                        <a:t>Y/Y</a:t>
                      </a:r>
                      <a:r>
                        <a:rPr dirty="0" sz="1000" spc="5">
                          <a:solidFill>
                            <a:srgbClr val="001E5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60">
                          <a:solidFill>
                            <a:srgbClr val="001E5A"/>
                          </a:solidFill>
                          <a:latin typeface="Arial MT"/>
                          <a:cs typeface="Arial MT"/>
                        </a:rPr>
                        <a:t>CC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43815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EA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400" spc="-40" b="1">
                          <a:solidFill>
                            <a:srgbClr val="022C5F"/>
                          </a:solidFill>
                          <a:latin typeface="Arial"/>
                          <a:cs typeface="Arial"/>
                        </a:rPr>
                        <a:t>Slightly</a:t>
                      </a:r>
                      <a:r>
                        <a:rPr dirty="0" sz="1400" spc="-5" b="1">
                          <a:solidFill>
                            <a:srgbClr val="022C5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b="1">
                          <a:solidFill>
                            <a:srgbClr val="022C5F"/>
                          </a:solidFill>
                          <a:latin typeface="Arial"/>
                          <a:cs typeface="Arial"/>
                        </a:rPr>
                        <a:t>under</a:t>
                      </a:r>
                      <a:r>
                        <a:rPr dirty="0" sz="1400" spc="-5" b="1">
                          <a:solidFill>
                            <a:srgbClr val="022C5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b="1">
                          <a:solidFill>
                            <a:srgbClr val="022C5F"/>
                          </a:solidFill>
                          <a:latin typeface="Arial"/>
                          <a:cs typeface="Arial"/>
                        </a:rPr>
                        <a:t>12%</a:t>
                      </a:r>
                      <a:r>
                        <a:rPr dirty="0" sz="1400" spc="-5" b="1">
                          <a:solidFill>
                            <a:srgbClr val="022C5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5" b="1">
                          <a:solidFill>
                            <a:srgbClr val="022C5F"/>
                          </a:solidFill>
                          <a:latin typeface="Arial"/>
                          <a:cs typeface="Arial"/>
                        </a:rPr>
                        <a:t>Y/Y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1000" spc="55">
                          <a:solidFill>
                            <a:srgbClr val="022C5F"/>
                          </a:solidFill>
                          <a:latin typeface="Arial MT"/>
                          <a:cs typeface="Arial MT"/>
                        </a:rPr>
                        <a:t>Approximately</a:t>
                      </a:r>
                      <a:r>
                        <a:rPr dirty="0" sz="1000" spc="10">
                          <a:solidFill>
                            <a:srgbClr val="022C5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35">
                          <a:solidFill>
                            <a:srgbClr val="022C5F"/>
                          </a:solidFill>
                          <a:latin typeface="Arial MT"/>
                          <a:cs typeface="Arial MT"/>
                        </a:rPr>
                        <a:t>11%</a:t>
                      </a:r>
                      <a:r>
                        <a:rPr dirty="0" sz="1000" spc="10">
                          <a:solidFill>
                            <a:srgbClr val="022C5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022C5F"/>
                          </a:solidFill>
                          <a:latin typeface="Arial MT"/>
                          <a:cs typeface="Arial MT"/>
                        </a:rPr>
                        <a:t>Y/Y</a:t>
                      </a:r>
                      <a:r>
                        <a:rPr dirty="0" sz="1000" spc="10">
                          <a:solidFill>
                            <a:srgbClr val="022C5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60">
                          <a:solidFill>
                            <a:srgbClr val="022C5F"/>
                          </a:solidFill>
                          <a:latin typeface="Arial MT"/>
                          <a:cs typeface="Arial MT"/>
                        </a:rPr>
                        <a:t>CC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50165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EDF4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400" spc="-20" b="1">
                          <a:solidFill>
                            <a:srgbClr val="022C5F"/>
                          </a:solidFill>
                          <a:latin typeface="Tahoma"/>
                          <a:cs typeface="Tahoma"/>
                        </a:rPr>
                        <a:t>GAAP</a:t>
                      </a:r>
                      <a:r>
                        <a:rPr dirty="0" sz="1400" spc="-40" b="1">
                          <a:solidFill>
                            <a:srgbClr val="022C5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400" spc="-30" b="1">
                          <a:solidFill>
                            <a:srgbClr val="022C5F"/>
                          </a:solidFill>
                          <a:latin typeface="Tahoma"/>
                          <a:cs typeface="Tahoma"/>
                        </a:rPr>
                        <a:t>Operating</a:t>
                      </a:r>
                      <a:r>
                        <a:rPr dirty="0" sz="1400" spc="-40" b="1">
                          <a:solidFill>
                            <a:srgbClr val="022C5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022C5F"/>
                          </a:solidFill>
                          <a:latin typeface="Tahoma"/>
                          <a:cs typeface="Tahoma"/>
                        </a:rPr>
                        <a:t>Margin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B="0" marT="96520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dirty="0" sz="2000" spc="-50">
                          <a:solidFill>
                            <a:srgbClr val="6C6C6C"/>
                          </a:solidFill>
                          <a:latin typeface="Segoe UI Symbol"/>
                          <a:cs typeface="Segoe UI Symbol"/>
                        </a:rPr>
                        <a:t>▼</a:t>
                      </a:r>
                      <a:endParaRPr sz="2000">
                        <a:latin typeface="Segoe UI Symbol"/>
                        <a:cs typeface="Segoe UI Symbol"/>
                      </a:endParaRPr>
                    </a:p>
                  </a:txBody>
                  <a:tcPr marL="0" marR="0" marB="0" marT="62230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dirty="0" sz="1400" spc="-10" b="1">
                          <a:solidFill>
                            <a:srgbClr val="001E5A"/>
                          </a:solidFill>
                          <a:latin typeface="Arial"/>
                          <a:cs typeface="Arial"/>
                        </a:rPr>
                        <a:t>20.1%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97790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EAF0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3495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dirty="0" sz="1400" spc="-10" b="1">
                          <a:solidFill>
                            <a:srgbClr val="022C5F"/>
                          </a:solidFill>
                          <a:latin typeface="Arial"/>
                          <a:cs typeface="Arial"/>
                        </a:rPr>
                        <a:t>20.6%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97790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EDF4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400" spc="-45" b="1">
                          <a:solidFill>
                            <a:srgbClr val="022C5F"/>
                          </a:solidFill>
                          <a:latin typeface="Tahoma"/>
                          <a:cs typeface="Tahoma"/>
                        </a:rPr>
                        <a:t>Non-</a:t>
                      </a:r>
                      <a:r>
                        <a:rPr dirty="0" sz="1400" spc="-20" b="1">
                          <a:solidFill>
                            <a:srgbClr val="022C5F"/>
                          </a:solidFill>
                          <a:latin typeface="Tahoma"/>
                          <a:cs typeface="Tahoma"/>
                        </a:rPr>
                        <a:t>GAAP</a:t>
                      </a:r>
                      <a:r>
                        <a:rPr dirty="0" sz="1400" spc="-25" b="1">
                          <a:solidFill>
                            <a:srgbClr val="022C5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400" spc="-30" b="1">
                          <a:solidFill>
                            <a:srgbClr val="022C5F"/>
                          </a:solidFill>
                          <a:latin typeface="Tahoma"/>
                          <a:cs typeface="Tahoma"/>
                        </a:rPr>
                        <a:t>Operating</a:t>
                      </a:r>
                      <a:r>
                        <a:rPr dirty="0" sz="1400" spc="-25" b="1">
                          <a:solidFill>
                            <a:srgbClr val="022C5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022C5F"/>
                          </a:solidFill>
                          <a:latin typeface="Tahoma"/>
                          <a:cs typeface="Tahoma"/>
                        </a:rPr>
                        <a:t>Margin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B="0" marT="96520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70485">
                        <a:lnSpc>
                          <a:spcPct val="100000"/>
                        </a:lnSpc>
                      </a:pPr>
                      <a:r>
                        <a:rPr dirty="0" sz="800" spc="-20" b="1">
                          <a:solidFill>
                            <a:srgbClr val="339900"/>
                          </a:solidFill>
                          <a:latin typeface="Arial"/>
                          <a:cs typeface="Arial"/>
                        </a:rPr>
                        <a:t>HOLD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31750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dirty="0" sz="1400" spc="-10" b="1">
                          <a:solidFill>
                            <a:srgbClr val="001E5A"/>
                          </a:solidFill>
                          <a:latin typeface="Arial"/>
                          <a:cs typeface="Arial"/>
                        </a:rPr>
                        <a:t>34.3%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97790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EAF0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3495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dirty="0" sz="1400" spc="-10" b="1">
                          <a:solidFill>
                            <a:srgbClr val="022C5F"/>
                          </a:solidFill>
                          <a:latin typeface="Arial"/>
                          <a:cs typeface="Arial"/>
                        </a:rPr>
                        <a:t>34.3%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97790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EDF4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dirty="0" sz="1400" spc="-20" b="1">
                          <a:solidFill>
                            <a:srgbClr val="022C5F"/>
                          </a:solidFill>
                          <a:latin typeface="Tahoma"/>
                          <a:cs typeface="Tahoma"/>
                        </a:rPr>
                        <a:t>GAAP</a:t>
                      </a:r>
                      <a:r>
                        <a:rPr dirty="0" sz="1400" spc="-60" b="1">
                          <a:solidFill>
                            <a:srgbClr val="022C5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400" spc="-25" b="1">
                          <a:solidFill>
                            <a:srgbClr val="022C5F"/>
                          </a:solidFill>
                          <a:latin typeface="Tahoma"/>
                          <a:cs typeface="Tahoma"/>
                        </a:rPr>
                        <a:t>Diluted</a:t>
                      </a:r>
                      <a:r>
                        <a:rPr dirty="0" sz="1400" spc="-55" b="1">
                          <a:solidFill>
                            <a:srgbClr val="022C5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400" spc="-25" b="1">
                          <a:solidFill>
                            <a:srgbClr val="022C5F"/>
                          </a:solidFill>
                          <a:latin typeface="Tahoma"/>
                          <a:cs typeface="Tahoma"/>
                        </a:rPr>
                        <a:t>EPS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B="0" marT="101600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2000" spc="-50">
                          <a:solidFill>
                            <a:srgbClr val="339900"/>
                          </a:solidFill>
                          <a:latin typeface="Segoe UI Symbol"/>
                          <a:cs typeface="Segoe UI Symbol"/>
                        </a:rPr>
                        <a:t>▲</a:t>
                      </a:r>
                      <a:endParaRPr sz="2000">
                        <a:latin typeface="Segoe UI Symbol"/>
                        <a:cs typeface="Segoe UI Symbol"/>
                      </a:endParaRPr>
                    </a:p>
                  </a:txBody>
                  <a:tcPr marL="0" marR="0" marB="0" marT="56515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1400" spc="55" b="1">
                          <a:solidFill>
                            <a:srgbClr val="001E5A"/>
                          </a:solidFill>
                          <a:latin typeface="Arial"/>
                          <a:cs typeface="Arial"/>
                        </a:rPr>
                        <a:t>)10.21</a:t>
                      </a:r>
                      <a:r>
                        <a:rPr dirty="0" sz="1400" spc="10" b="1">
                          <a:solidFill>
                            <a:srgbClr val="001E5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120" b="1">
                          <a:solidFill>
                            <a:srgbClr val="001E5A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400" spc="15" b="1">
                          <a:solidFill>
                            <a:srgbClr val="001E5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45" b="1">
                          <a:solidFill>
                            <a:srgbClr val="001E5A"/>
                          </a:solidFill>
                          <a:latin typeface="Arial"/>
                          <a:cs typeface="Arial"/>
                        </a:rPr>
                        <a:t>)10.25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02870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EA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1400" spc="65" b="1">
                          <a:solidFill>
                            <a:srgbClr val="022C5F"/>
                          </a:solidFill>
                          <a:latin typeface="Arial"/>
                          <a:cs typeface="Arial"/>
                        </a:rPr>
                        <a:t>)7.93</a:t>
                      </a:r>
                      <a:r>
                        <a:rPr dirty="0" sz="1400" spc="10" b="1">
                          <a:solidFill>
                            <a:srgbClr val="022C5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120" b="1">
                          <a:solidFill>
                            <a:srgbClr val="022C5F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400" spc="15" b="1">
                          <a:solidFill>
                            <a:srgbClr val="022C5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55" b="1">
                          <a:solidFill>
                            <a:srgbClr val="022C5F"/>
                          </a:solidFill>
                          <a:latin typeface="Arial"/>
                          <a:cs typeface="Arial"/>
                        </a:rPr>
                        <a:t>)7.99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02870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EDF4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400" spc="-45" b="1">
                          <a:solidFill>
                            <a:srgbClr val="022C5F"/>
                          </a:solidFill>
                          <a:latin typeface="Tahoma"/>
                          <a:cs typeface="Tahoma"/>
                        </a:rPr>
                        <a:t>Non-</a:t>
                      </a:r>
                      <a:r>
                        <a:rPr dirty="0" sz="1400" spc="-20" b="1">
                          <a:solidFill>
                            <a:srgbClr val="022C5F"/>
                          </a:solidFill>
                          <a:latin typeface="Tahoma"/>
                          <a:cs typeface="Tahoma"/>
                        </a:rPr>
                        <a:t>GAAP</a:t>
                      </a:r>
                      <a:r>
                        <a:rPr dirty="0" sz="1400" spc="-45" b="1">
                          <a:solidFill>
                            <a:srgbClr val="022C5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400" spc="-25" b="1">
                          <a:solidFill>
                            <a:srgbClr val="022C5F"/>
                          </a:solidFill>
                          <a:latin typeface="Tahoma"/>
                          <a:cs typeface="Tahoma"/>
                        </a:rPr>
                        <a:t>Diluted</a:t>
                      </a:r>
                      <a:r>
                        <a:rPr dirty="0" sz="1400" spc="-40" b="1">
                          <a:solidFill>
                            <a:srgbClr val="022C5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400" spc="-25" b="1">
                          <a:solidFill>
                            <a:srgbClr val="022C5F"/>
                          </a:solidFill>
                          <a:latin typeface="Tahoma"/>
                          <a:cs typeface="Tahoma"/>
                        </a:rPr>
                        <a:t>EPS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B="0" marT="96520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2000" spc="-50">
                          <a:solidFill>
                            <a:srgbClr val="339900"/>
                          </a:solidFill>
                          <a:latin typeface="Segoe UI Symbol"/>
                          <a:cs typeface="Segoe UI Symbol"/>
                        </a:rPr>
                        <a:t>▲</a:t>
                      </a:r>
                      <a:endParaRPr sz="2000">
                        <a:latin typeface="Segoe UI Symbol"/>
                        <a:cs typeface="Segoe UI Symbol"/>
                      </a:endParaRPr>
                    </a:p>
                  </a:txBody>
                  <a:tcPr marL="0" marR="0" marB="0" marT="29209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dirty="0" sz="1400" spc="55" b="1">
                          <a:solidFill>
                            <a:srgbClr val="001E5A"/>
                          </a:solidFill>
                          <a:latin typeface="Arial"/>
                          <a:cs typeface="Arial"/>
                        </a:rPr>
                        <a:t>)16.67</a:t>
                      </a:r>
                      <a:r>
                        <a:rPr dirty="0" sz="1400" spc="10" b="1">
                          <a:solidFill>
                            <a:srgbClr val="001E5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120" b="1">
                          <a:solidFill>
                            <a:srgbClr val="001E5A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400" spc="15" b="1">
                          <a:solidFill>
                            <a:srgbClr val="001E5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45" b="1">
                          <a:solidFill>
                            <a:srgbClr val="001E5A"/>
                          </a:solidFill>
                          <a:latin typeface="Arial"/>
                          <a:cs typeface="Arial"/>
                        </a:rPr>
                        <a:t>)16.71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97790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EA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dirty="0" sz="1400" spc="55" b="1">
                          <a:solidFill>
                            <a:srgbClr val="022C5F"/>
                          </a:solidFill>
                          <a:latin typeface="Arial"/>
                          <a:cs typeface="Arial"/>
                        </a:rPr>
                        <a:t>)14.06</a:t>
                      </a:r>
                      <a:r>
                        <a:rPr dirty="0" sz="1400" spc="10" b="1">
                          <a:solidFill>
                            <a:srgbClr val="022C5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120" b="1">
                          <a:solidFill>
                            <a:srgbClr val="022C5F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400" spc="15" b="1">
                          <a:solidFill>
                            <a:srgbClr val="022C5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45" b="1">
                          <a:solidFill>
                            <a:srgbClr val="022C5F"/>
                          </a:solidFill>
                          <a:latin typeface="Arial"/>
                          <a:cs typeface="Arial"/>
                        </a:rPr>
                        <a:t>)14.12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97790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EDF4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400" spc="-30" b="1">
                          <a:solidFill>
                            <a:srgbClr val="022C5F"/>
                          </a:solidFill>
                          <a:latin typeface="Tahoma"/>
                          <a:cs typeface="Tahoma"/>
                        </a:rPr>
                        <a:t>Operating</a:t>
                      </a:r>
                      <a:r>
                        <a:rPr dirty="0" sz="1400" spc="-45" b="1">
                          <a:solidFill>
                            <a:srgbClr val="022C5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400" spc="-25" b="1">
                          <a:solidFill>
                            <a:srgbClr val="022C5F"/>
                          </a:solidFill>
                          <a:latin typeface="Tahoma"/>
                          <a:cs typeface="Tahoma"/>
                        </a:rPr>
                        <a:t>Cash</a:t>
                      </a:r>
                      <a:r>
                        <a:rPr dirty="0" sz="1400" spc="-40" b="1">
                          <a:solidFill>
                            <a:srgbClr val="022C5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400" spc="-45" b="1">
                          <a:solidFill>
                            <a:srgbClr val="022C5F"/>
                          </a:solidFill>
                          <a:latin typeface="Tahoma"/>
                          <a:cs typeface="Tahoma"/>
                        </a:rPr>
                        <a:t>Flow </a:t>
                      </a:r>
                      <a:r>
                        <a:rPr dirty="0" sz="1400" spc="-10" b="1">
                          <a:solidFill>
                            <a:srgbClr val="022C5F"/>
                          </a:solidFill>
                          <a:latin typeface="Tahoma"/>
                          <a:cs typeface="Tahoma"/>
                        </a:rPr>
                        <a:t>Growth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B="0" marT="96520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70485">
                        <a:lnSpc>
                          <a:spcPct val="100000"/>
                        </a:lnSpc>
                      </a:pPr>
                      <a:r>
                        <a:rPr dirty="0" sz="800" spc="-20" b="1">
                          <a:solidFill>
                            <a:srgbClr val="339900"/>
                          </a:solidFill>
                          <a:latin typeface="Arial"/>
                          <a:cs typeface="Arial"/>
                        </a:rPr>
                        <a:t>HOLD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33020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dirty="0" sz="1400" b="1">
                          <a:solidFill>
                            <a:srgbClr val="001E5A"/>
                          </a:solidFill>
                          <a:latin typeface="Arial"/>
                          <a:cs typeface="Arial"/>
                        </a:rPr>
                        <a:t>Approximately</a:t>
                      </a:r>
                      <a:r>
                        <a:rPr dirty="0" sz="1400" spc="55" b="1">
                          <a:solidFill>
                            <a:srgbClr val="001E5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b="1">
                          <a:solidFill>
                            <a:srgbClr val="001E5A"/>
                          </a:solidFill>
                          <a:latin typeface="Arial"/>
                          <a:cs typeface="Arial"/>
                        </a:rPr>
                        <a:t>4%</a:t>
                      </a:r>
                      <a:r>
                        <a:rPr dirty="0" sz="1400" spc="55" b="1">
                          <a:solidFill>
                            <a:srgbClr val="001E5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120" b="1">
                          <a:solidFill>
                            <a:srgbClr val="001E5A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400" spc="55" b="1">
                          <a:solidFill>
                            <a:srgbClr val="001E5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b="1">
                          <a:solidFill>
                            <a:srgbClr val="001E5A"/>
                          </a:solidFill>
                          <a:latin typeface="Arial"/>
                          <a:cs typeface="Arial"/>
                        </a:rPr>
                        <a:t>5%</a:t>
                      </a:r>
                      <a:r>
                        <a:rPr dirty="0" sz="1400" spc="55" b="1">
                          <a:solidFill>
                            <a:srgbClr val="001E5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5" b="1">
                          <a:solidFill>
                            <a:srgbClr val="001E5A"/>
                          </a:solidFill>
                          <a:latin typeface="Arial"/>
                          <a:cs typeface="Arial"/>
                        </a:rPr>
                        <a:t>Y/Y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97790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EA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dirty="0" sz="1400" b="1">
                          <a:solidFill>
                            <a:srgbClr val="022C5F"/>
                          </a:solidFill>
                          <a:latin typeface="Arial"/>
                          <a:cs typeface="Arial"/>
                        </a:rPr>
                        <a:t>Approximately</a:t>
                      </a:r>
                      <a:r>
                        <a:rPr dirty="0" sz="1400" spc="55" b="1">
                          <a:solidFill>
                            <a:srgbClr val="022C5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b="1">
                          <a:solidFill>
                            <a:srgbClr val="022C5F"/>
                          </a:solidFill>
                          <a:latin typeface="Arial"/>
                          <a:cs typeface="Arial"/>
                        </a:rPr>
                        <a:t>4%</a:t>
                      </a:r>
                      <a:r>
                        <a:rPr dirty="0" sz="1400" spc="55" b="1">
                          <a:solidFill>
                            <a:srgbClr val="022C5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120" b="1">
                          <a:solidFill>
                            <a:srgbClr val="022C5F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400" spc="55" b="1">
                          <a:solidFill>
                            <a:srgbClr val="022C5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b="1">
                          <a:solidFill>
                            <a:srgbClr val="022C5F"/>
                          </a:solidFill>
                          <a:latin typeface="Arial"/>
                          <a:cs typeface="Arial"/>
                        </a:rPr>
                        <a:t>5%</a:t>
                      </a:r>
                      <a:r>
                        <a:rPr dirty="0" sz="1400" spc="55" b="1">
                          <a:solidFill>
                            <a:srgbClr val="022C5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5" b="1">
                          <a:solidFill>
                            <a:srgbClr val="022C5F"/>
                          </a:solidFill>
                          <a:latin typeface="Arial"/>
                          <a:cs typeface="Arial"/>
                        </a:rPr>
                        <a:t>Y/Y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97790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EDF4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400" spc="-50" b="1">
                          <a:solidFill>
                            <a:srgbClr val="022C5F"/>
                          </a:solidFill>
                          <a:latin typeface="Tahoma"/>
                          <a:cs typeface="Tahoma"/>
                        </a:rPr>
                        <a:t>Free</a:t>
                      </a:r>
                      <a:r>
                        <a:rPr dirty="0" sz="1400" spc="-45" b="1">
                          <a:solidFill>
                            <a:srgbClr val="022C5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400" spc="-25" b="1">
                          <a:solidFill>
                            <a:srgbClr val="022C5F"/>
                          </a:solidFill>
                          <a:latin typeface="Tahoma"/>
                          <a:cs typeface="Tahoma"/>
                        </a:rPr>
                        <a:t>Cash</a:t>
                      </a:r>
                      <a:r>
                        <a:rPr dirty="0" sz="1400" spc="-45" b="1">
                          <a:solidFill>
                            <a:srgbClr val="022C5F"/>
                          </a:solidFill>
                          <a:latin typeface="Tahoma"/>
                          <a:cs typeface="Tahoma"/>
                        </a:rPr>
                        <a:t> Flow </a:t>
                      </a:r>
                      <a:r>
                        <a:rPr dirty="0" sz="1400" spc="-10" b="1">
                          <a:solidFill>
                            <a:srgbClr val="022C5F"/>
                          </a:solidFill>
                          <a:latin typeface="Tahoma"/>
                          <a:cs typeface="Tahoma"/>
                        </a:rPr>
                        <a:t>Growth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B="0" marT="96520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70485">
                        <a:lnSpc>
                          <a:spcPct val="100000"/>
                        </a:lnSpc>
                      </a:pPr>
                      <a:r>
                        <a:rPr dirty="0" sz="800" spc="-20" b="1">
                          <a:solidFill>
                            <a:srgbClr val="339900"/>
                          </a:solidFill>
                          <a:latin typeface="Arial"/>
                          <a:cs typeface="Arial"/>
                        </a:rPr>
                        <a:t>HOLD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35560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dirty="0" sz="1400" b="1">
                          <a:solidFill>
                            <a:srgbClr val="001E5A"/>
                          </a:solidFill>
                          <a:latin typeface="Arial"/>
                          <a:cs typeface="Arial"/>
                        </a:rPr>
                        <a:t>Approximately</a:t>
                      </a:r>
                      <a:r>
                        <a:rPr dirty="0" sz="1400" spc="55" b="1">
                          <a:solidFill>
                            <a:srgbClr val="001E5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b="1">
                          <a:solidFill>
                            <a:srgbClr val="001E5A"/>
                          </a:solidFill>
                          <a:latin typeface="Arial"/>
                          <a:cs typeface="Arial"/>
                        </a:rPr>
                        <a:t>4%</a:t>
                      </a:r>
                      <a:r>
                        <a:rPr dirty="0" sz="1400" spc="55" b="1">
                          <a:solidFill>
                            <a:srgbClr val="001E5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120" b="1">
                          <a:solidFill>
                            <a:srgbClr val="001E5A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400" spc="55" b="1">
                          <a:solidFill>
                            <a:srgbClr val="001E5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b="1">
                          <a:solidFill>
                            <a:srgbClr val="001E5A"/>
                          </a:solidFill>
                          <a:latin typeface="Arial"/>
                          <a:cs typeface="Arial"/>
                        </a:rPr>
                        <a:t>5%</a:t>
                      </a:r>
                      <a:r>
                        <a:rPr dirty="0" sz="1400" spc="55" b="1">
                          <a:solidFill>
                            <a:srgbClr val="001E5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5" b="1">
                          <a:solidFill>
                            <a:srgbClr val="001E5A"/>
                          </a:solidFill>
                          <a:latin typeface="Arial"/>
                          <a:cs typeface="Arial"/>
                        </a:rPr>
                        <a:t>Y/Y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97790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EA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dirty="0" sz="1400" b="1">
                          <a:solidFill>
                            <a:srgbClr val="022C5F"/>
                          </a:solidFill>
                          <a:latin typeface="Arial"/>
                          <a:cs typeface="Arial"/>
                        </a:rPr>
                        <a:t>Approximately</a:t>
                      </a:r>
                      <a:r>
                        <a:rPr dirty="0" sz="1400" spc="55" b="1">
                          <a:solidFill>
                            <a:srgbClr val="022C5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b="1">
                          <a:solidFill>
                            <a:srgbClr val="022C5F"/>
                          </a:solidFill>
                          <a:latin typeface="Arial"/>
                          <a:cs typeface="Arial"/>
                        </a:rPr>
                        <a:t>4%</a:t>
                      </a:r>
                      <a:r>
                        <a:rPr dirty="0" sz="1400" spc="55" b="1">
                          <a:solidFill>
                            <a:srgbClr val="022C5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120" b="1">
                          <a:solidFill>
                            <a:srgbClr val="022C5F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400" spc="55" b="1">
                          <a:solidFill>
                            <a:srgbClr val="022C5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b="1">
                          <a:solidFill>
                            <a:srgbClr val="022C5F"/>
                          </a:solidFill>
                          <a:latin typeface="Arial"/>
                          <a:cs typeface="Arial"/>
                        </a:rPr>
                        <a:t>5%</a:t>
                      </a:r>
                      <a:r>
                        <a:rPr dirty="0" sz="1400" spc="55" b="1">
                          <a:solidFill>
                            <a:srgbClr val="022C5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5" b="1">
                          <a:solidFill>
                            <a:srgbClr val="022C5F"/>
                          </a:solidFill>
                          <a:latin typeface="Arial"/>
                          <a:cs typeface="Arial"/>
                        </a:rPr>
                        <a:t>Y/Y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97790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EDF4FF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dirty="0" sz="1400" spc="-25" b="1">
                          <a:solidFill>
                            <a:srgbClr val="022C5F"/>
                          </a:solidFill>
                          <a:latin typeface="Tahoma"/>
                          <a:cs typeface="Tahoma"/>
                        </a:rPr>
                        <a:t>Capital</a:t>
                      </a:r>
                      <a:r>
                        <a:rPr dirty="0" sz="1400" spc="-50" b="1">
                          <a:solidFill>
                            <a:srgbClr val="022C5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022C5F"/>
                          </a:solidFill>
                          <a:latin typeface="Tahoma"/>
                          <a:cs typeface="Tahoma"/>
                        </a:rPr>
                        <a:t>Expenditures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B="0" marT="101600">
                    <a:lnT w="12700">
                      <a:solidFill>
                        <a:srgbClr val="DADAD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71755">
                        <a:lnSpc>
                          <a:spcPct val="100000"/>
                        </a:lnSpc>
                      </a:pPr>
                      <a:r>
                        <a:rPr dirty="0" sz="800" spc="-20" b="1">
                          <a:solidFill>
                            <a:srgbClr val="339900"/>
                          </a:solidFill>
                          <a:latin typeface="Arial"/>
                          <a:cs typeface="Arial"/>
                        </a:rPr>
                        <a:t>HOLD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31115">
                    <a:lnR w="12700">
                      <a:solidFill>
                        <a:srgbClr val="DADADA"/>
                      </a:solidFill>
                      <a:prstDash val="solid"/>
                    </a:lnR>
                    <a:lnT w="12700">
                      <a:solidFill>
                        <a:srgbClr val="DADAD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1400" b="1">
                          <a:solidFill>
                            <a:srgbClr val="001E5A"/>
                          </a:solidFill>
                          <a:latin typeface="Arial"/>
                          <a:cs typeface="Arial"/>
                        </a:rPr>
                        <a:t>Approximately</a:t>
                      </a:r>
                      <a:r>
                        <a:rPr dirty="0" sz="1400" spc="80" b="1">
                          <a:solidFill>
                            <a:srgbClr val="001E5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b="1">
                          <a:solidFill>
                            <a:srgbClr val="001E5A"/>
                          </a:solidFill>
                          <a:latin typeface="Arial"/>
                          <a:cs typeface="Arial"/>
                        </a:rPr>
                        <a:t>1.5%</a:t>
                      </a:r>
                      <a:r>
                        <a:rPr dirty="0" sz="1400" spc="80" b="1">
                          <a:solidFill>
                            <a:srgbClr val="001E5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b="1">
                          <a:solidFill>
                            <a:srgbClr val="001E5A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1400" spc="80" b="1">
                          <a:solidFill>
                            <a:srgbClr val="001E5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001E5A"/>
                          </a:solidFill>
                          <a:latin typeface="Arial"/>
                          <a:cs typeface="Arial"/>
                        </a:rPr>
                        <a:t>revenue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02870">
                    <a:lnL w="12700">
                      <a:solidFill>
                        <a:srgbClr val="DADADA"/>
                      </a:solidFill>
                      <a:prstDash val="solid"/>
                    </a:lnL>
                    <a:lnT w="12700">
                      <a:solidFill>
                        <a:srgbClr val="DADADA"/>
                      </a:solidFill>
                      <a:prstDash val="solid"/>
                    </a:lnT>
                    <a:solidFill>
                      <a:srgbClr val="EA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1400" b="1">
                          <a:solidFill>
                            <a:srgbClr val="022C5F"/>
                          </a:solidFill>
                          <a:latin typeface="Arial"/>
                          <a:cs typeface="Arial"/>
                        </a:rPr>
                        <a:t>Approximately</a:t>
                      </a:r>
                      <a:r>
                        <a:rPr dirty="0" sz="1400" spc="80" b="1">
                          <a:solidFill>
                            <a:srgbClr val="022C5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b="1">
                          <a:solidFill>
                            <a:srgbClr val="022C5F"/>
                          </a:solidFill>
                          <a:latin typeface="Arial"/>
                          <a:cs typeface="Arial"/>
                        </a:rPr>
                        <a:t>1.5%</a:t>
                      </a:r>
                      <a:r>
                        <a:rPr dirty="0" sz="1400" spc="80" b="1">
                          <a:solidFill>
                            <a:srgbClr val="022C5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b="1">
                          <a:solidFill>
                            <a:srgbClr val="022C5F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1400" spc="80" b="1">
                          <a:solidFill>
                            <a:srgbClr val="022C5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022C5F"/>
                          </a:solidFill>
                          <a:latin typeface="Arial"/>
                          <a:cs typeface="Arial"/>
                        </a:rPr>
                        <a:t>revenue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02870">
                    <a:lnT w="12700">
                      <a:solidFill>
                        <a:srgbClr val="DADADA"/>
                      </a:solidFill>
                      <a:prstDash val="solid"/>
                    </a:lnT>
                    <a:solidFill>
                      <a:srgbClr val="EDF4FF"/>
                    </a:solidFill>
                  </a:tcPr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902716" y="6677456"/>
            <a:ext cx="8893175" cy="1562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00" spc="-40">
                <a:solidFill>
                  <a:srgbClr val="6C6C6C"/>
                </a:solidFill>
                <a:latin typeface="Verdana"/>
                <a:cs typeface="Verdana"/>
              </a:rPr>
              <a:t>Current </a:t>
            </a:r>
            <a:r>
              <a:rPr dirty="0" sz="800" spc="-30">
                <a:solidFill>
                  <a:srgbClr val="6C6C6C"/>
                </a:solidFill>
                <a:latin typeface="Verdana"/>
                <a:cs typeface="Verdana"/>
              </a:rPr>
              <a:t>Guidance</a:t>
            </a:r>
            <a:r>
              <a:rPr dirty="0" sz="800" spc="-45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25">
                <a:solidFill>
                  <a:srgbClr val="6C6C6C"/>
                </a:solidFill>
                <a:latin typeface="Verdana"/>
                <a:cs typeface="Verdana"/>
              </a:rPr>
              <a:t>includes</a:t>
            </a:r>
            <a:r>
              <a:rPr dirty="0" sz="800" spc="-35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30">
                <a:solidFill>
                  <a:srgbClr val="6C6C6C"/>
                </a:solidFill>
                <a:latin typeface="Verdana"/>
                <a:cs typeface="Verdana"/>
              </a:rPr>
              <a:t>the</a:t>
            </a:r>
            <a:r>
              <a:rPr dirty="0" sz="800" spc="-45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30">
                <a:solidFill>
                  <a:srgbClr val="6C6C6C"/>
                </a:solidFill>
                <a:latin typeface="Verdana"/>
                <a:cs typeface="Verdana"/>
              </a:rPr>
              <a:t>anticipated</a:t>
            </a:r>
            <a:r>
              <a:rPr dirty="0" sz="800" spc="-45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30">
                <a:solidFill>
                  <a:srgbClr val="6C6C6C"/>
                </a:solidFill>
                <a:latin typeface="Verdana"/>
                <a:cs typeface="Verdana"/>
              </a:rPr>
              <a:t>contribution</a:t>
            </a:r>
            <a:r>
              <a:rPr dirty="0" sz="800" spc="-40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25">
                <a:solidFill>
                  <a:srgbClr val="6C6C6C"/>
                </a:solidFill>
                <a:latin typeface="Verdana"/>
                <a:cs typeface="Verdana"/>
              </a:rPr>
              <a:t>of</a:t>
            </a:r>
            <a:r>
              <a:rPr dirty="0" sz="800" spc="-35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30">
                <a:solidFill>
                  <a:srgbClr val="6C6C6C"/>
                </a:solidFill>
                <a:latin typeface="Verdana"/>
                <a:cs typeface="Verdana"/>
              </a:rPr>
              <a:t>Contentful</a:t>
            </a:r>
            <a:r>
              <a:rPr dirty="0" sz="800" spc="-40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35">
                <a:solidFill>
                  <a:srgbClr val="6C6C6C"/>
                </a:solidFill>
                <a:latin typeface="Verdana"/>
                <a:cs typeface="Verdana"/>
              </a:rPr>
              <a:t>and</a:t>
            </a:r>
            <a:r>
              <a:rPr dirty="0" sz="800" spc="-40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45">
                <a:solidFill>
                  <a:srgbClr val="6C6C6C"/>
                </a:solidFill>
                <a:latin typeface="Verdana"/>
                <a:cs typeface="Verdana"/>
              </a:rPr>
              <a:t>Fin,</a:t>
            </a:r>
            <a:r>
              <a:rPr dirty="0" sz="800" spc="-40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30">
                <a:solidFill>
                  <a:srgbClr val="6C6C6C"/>
                </a:solidFill>
                <a:latin typeface="Verdana"/>
                <a:cs typeface="Verdana"/>
              </a:rPr>
              <a:t>which</a:t>
            </a:r>
            <a:r>
              <a:rPr dirty="0" sz="800" spc="-40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35">
                <a:solidFill>
                  <a:srgbClr val="6C6C6C"/>
                </a:solidFill>
                <a:latin typeface="Verdana"/>
                <a:cs typeface="Verdana"/>
              </a:rPr>
              <a:t>we</a:t>
            </a:r>
            <a:r>
              <a:rPr dirty="0" sz="800" spc="-40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35">
                <a:solidFill>
                  <a:srgbClr val="6C6C6C"/>
                </a:solidFill>
                <a:latin typeface="Verdana"/>
                <a:cs typeface="Verdana"/>
              </a:rPr>
              <a:t>expect</a:t>
            </a:r>
            <a:r>
              <a:rPr dirty="0" sz="800" spc="-40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20">
                <a:solidFill>
                  <a:srgbClr val="6C6C6C"/>
                </a:solidFill>
                <a:latin typeface="Verdana"/>
                <a:cs typeface="Verdana"/>
              </a:rPr>
              <a:t>to</a:t>
            </a:r>
            <a:r>
              <a:rPr dirty="0" sz="800" spc="-45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35">
                <a:solidFill>
                  <a:srgbClr val="6C6C6C"/>
                </a:solidFill>
                <a:latin typeface="Verdana"/>
                <a:cs typeface="Verdana"/>
              </a:rPr>
              <a:t>each </a:t>
            </a:r>
            <a:r>
              <a:rPr dirty="0" sz="800" spc="-30">
                <a:solidFill>
                  <a:srgbClr val="6C6C6C"/>
                </a:solidFill>
                <a:latin typeface="Verdana"/>
                <a:cs typeface="Verdana"/>
              </a:rPr>
              <a:t>close</a:t>
            </a:r>
            <a:r>
              <a:rPr dirty="0" sz="800" spc="-45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30">
                <a:solidFill>
                  <a:srgbClr val="6C6C6C"/>
                </a:solidFill>
                <a:latin typeface="Verdana"/>
                <a:cs typeface="Verdana"/>
              </a:rPr>
              <a:t>in</a:t>
            </a:r>
            <a:r>
              <a:rPr dirty="0" sz="800" spc="-40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30">
                <a:solidFill>
                  <a:srgbClr val="6C6C6C"/>
                </a:solidFill>
                <a:latin typeface="Verdana"/>
                <a:cs typeface="Verdana"/>
              </a:rPr>
              <a:t>the</a:t>
            </a:r>
            <a:r>
              <a:rPr dirty="0" sz="800" spc="-40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30">
                <a:solidFill>
                  <a:srgbClr val="6C6C6C"/>
                </a:solidFill>
                <a:latin typeface="Verdana"/>
                <a:cs typeface="Verdana"/>
              </a:rPr>
              <a:t>coming</a:t>
            </a:r>
            <a:r>
              <a:rPr dirty="0" sz="800" spc="-40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55">
                <a:solidFill>
                  <a:srgbClr val="6C6C6C"/>
                </a:solidFill>
                <a:latin typeface="Verdana"/>
                <a:cs typeface="Verdana"/>
              </a:rPr>
              <a:t>weeks,</a:t>
            </a:r>
            <a:r>
              <a:rPr dirty="0" sz="800" spc="-40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35">
                <a:solidFill>
                  <a:srgbClr val="6C6C6C"/>
                </a:solidFill>
                <a:latin typeface="Verdana"/>
                <a:cs typeface="Verdana"/>
              </a:rPr>
              <a:t>and</a:t>
            </a:r>
            <a:r>
              <a:rPr dirty="0" sz="800" spc="-40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50">
                <a:solidFill>
                  <a:srgbClr val="6C6C6C"/>
                </a:solidFill>
                <a:latin typeface="Verdana"/>
                <a:cs typeface="Verdana"/>
              </a:rPr>
              <a:t>is</a:t>
            </a:r>
            <a:r>
              <a:rPr dirty="0" sz="800" spc="-40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30">
                <a:solidFill>
                  <a:srgbClr val="6C6C6C"/>
                </a:solidFill>
                <a:latin typeface="Verdana"/>
                <a:cs typeface="Verdana"/>
              </a:rPr>
              <a:t>conditional</a:t>
            </a:r>
            <a:r>
              <a:rPr dirty="0" sz="800" spc="-35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20">
                <a:solidFill>
                  <a:srgbClr val="6C6C6C"/>
                </a:solidFill>
                <a:latin typeface="Verdana"/>
                <a:cs typeface="Verdana"/>
              </a:rPr>
              <a:t>upon</a:t>
            </a:r>
            <a:r>
              <a:rPr dirty="0" sz="800" spc="-40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30">
                <a:solidFill>
                  <a:srgbClr val="6C6C6C"/>
                </a:solidFill>
                <a:latin typeface="Verdana"/>
                <a:cs typeface="Verdana"/>
              </a:rPr>
              <a:t>the</a:t>
            </a:r>
            <a:r>
              <a:rPr dirty="0" sz="800" spc="-45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35">
                <a:solidFill>
                  <a:srgbClr val="6C6C6C"/>
                </a:solidFill>
                <a:latin typeface="Verdana"/>
                <a:cs typeface="Verdana"/>
              </a:rPr>
              <a:t>closing </a:t>
            </a:r>
            <a:r>
              <a:rPr dirty="0" sz="800" spc="-25">
                <a:solidFill>
                  <a:srgbClr val="6C6C6C"/>
                </a:solidFill>
                <a:latin typeface="Verdana"/>
                <a:cs typeface="Verdana"/>
              </a:rPr>
              <a:t>of</a:t>
            </a:r>
            <a:r>
              <a:rPr dirty="0" sz="800" spc="-40">
                <a:solidFill>
                  <a:srgbClr val="6C6C6C"/>
                </a:solidFill>
                <a:latin typeface="Verdana"/>
                <a:cs typeface="Verdana"/>
              </a:rPr>
              <a:t> these</a:t>
            </a:r>
            <a:r>
              <a:rPr dirty="0" sz="800" spc="-45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10">
                <a:solidFill>
                  <a:srgbClr val="6C6C6C"/>
                </a:solidFill>
                <a:latin typeface="Verdana"/>
                <a:cs typeface="Verdana"/>
              </a:rPr>
              <a:t>transactions.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22225">
              <a:lnSpc>
                <a:spcPct val="100000"/>
              </a:lnSpc>
              <a:spcBef>
                <a:spcPts val="90"/>
              </a:spcBef>
            </a:pPr>
            <a:fld id="{81D60167-4931-47E6-BA6A-407CBD079E47}" type="slidenum">
              <a:rPr dirty="0" spc="-25"/>
              <a:t>12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33252" y="565404"/>
            <a:ext cx="635634" cy="445008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46075" y="1388364"/>
            <a:ext cx="11500485" cy="5238115"/>
          </a:xfrm>
          <a:custGeom>
            <a:avLst/>
            <a:gdLst/>
            <a:ahLst/>
            <a:cxnLst/>
            <a:rect l="l" t="t" r="r" b="b"/>
            <a:pathLst>
              <a:path w="11500485" h="5238115">
                <a:moveTo>
                  <a:pt x="11357102" y="0"/>
                </a:moveTo>
                <a:lnTo>
                  <a:pt x="142875" y="0"/>
                </a:lnTo>
                <a:lnTo>
                  <a:pt x="97731" y="7287"/>
                </a:lnTo>
                <a:lnTo>
                  <a:pt x="58512" y="27578"/>
                </a:lnTo>
                <a:lnTo>
                  <a:pt x="27578" y="58512"/>
                </a:lnTo>
                <a:lnTo>
                  <a:pt x="7287" y="97730"/>
                </a:lnTo>
                <a:lnTo>
                  <a:pt x="0" y="142875"/>
                </a:lnTo>
                <a:lnTo>
                  <a:pt x="0" y="5094985"/>
                </a:lnTo>
                <a:lnTo>
                  <a:pt x="7287" y="5140129"/>
                </a:lnTo>
                <a:lnTo>
                  <a:pt x="27578" y="5179348"/>
                </a:lnTo>
                <a:lnTo>
                  <a:pt x="58512" y="5210282"/>
                </a:lnTo>
                <a:lnTo>
                  <a:pt x="97731" y="5230573"/>
                </a:lnTo>
                <a:lnTo>
                  <a:pt x="142875" y="5237860"/>
                </a:lnTo>
                <a:lnTo>
                  <a:pt x="11357102" y="5237860"/>
                </a:lnTo>
                <a:lnTo>
                  <a:pt x="11402245" y="5230573"/>
                </a:lnTo>
                <a:lnTo>
                  <a:pt x="11441464" y="5210282"/>
                </a:lnTo>
                <a:lnTo>
                  <a:pt x="11472398" y="5179348"/>
                </a:lnTo>
                <a:lnTo>
                  <a:pt x="11492689" y="5140129"/>
                </a:lnTo>
                <a:lnTo>
                  <a:pt x="11499977" y="5094985"/>
                </a:lnTo>
                <a:lnTo>
                  <a:pt x="11499977" y="142875"/>
                </a:lnTo>
                <a:lnTo>
                  <a:pt x="11492689" y="97730"/>
                </a:lnTo>
                <a:lnTo>
                  <a:pt x="11472398" y="58512"/>
                </a:lnTo>
                <a:lnTo>
                  <a:pt x="11441464" y="27578"/>
                </a:lnTo>
                <a:lnTo>
                  <a:pt x="11402245" y="7287"/>
                </a:lnTo>
                <a:lnTo>
                  <a:pt x="1135710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66675">
              <a:lnSpc>
                <a:spcPts val="4300"/>
              </a:lnSpc>
              <a:spcBef>
                <a:spcPts val="100"/>
              </a:spcBef>
            </a:pPr>
            <a:r>
              <a:rPr dirty="0" spc="110">
                <a:solidFill>
                  <a:srgbClr val="001E5A"/>
                </a:solidFill>
              </a:rPr>
              <a:t>Q3</a:t>
            </a:r>
            <a:r>
              <a:rPr dirty="0" spc="-25">
                <a:solidFill>
                  <a:srgbClr val="001E5A"/>
                </a:solidFill>
              </a:rPr>
              <a:t> </a:t>
            </a:r>
            <a:r>
              <a:rPr dirty="0" spc="-140">
                <a:solidFill>
                  <a:srgbClr val="001E5A"/>
                </a:solidFill>
              </a:rPr>
              <a:t>FY27</a:t>
            </a:r>
            <a:r>
              <a:rPr dirty="0" spc="-20">
                <a:solidFill>
                  <a:srgbClr val="001E5A"/>
                </a:solidFill>
              </a:rPr>
              <a:t> </a:t>
            </a:r>
            <a:r>
              <a:rPr dirty="0" spc="140">
                <a:solidFill>
                  <a:srgbClr val="001E5A"/>
                </a:solidFill>
              </a:rPr>
              <a:t>Guidance</a:t>
            </a:r>
            <a:r>
              <a:rPr dirty="0" spc="-20">
                <a:solidFill>
                  <a:srgbClr val="001E5A"/>
                </a:solidFill>
              </a:rPr>
              <a:t> </a:t>
            </a:r>
            <a:r>
              <a:rPr dirty="0" spc="-10">
                <a:solidFill>
                  <a:srgbClr val="001E5A"/>
                </a:solidFill>
              </a:rPr>
              <a:t>Summary</a:t>
            </a:r>
          </a:p>
          <a:p>
            <a:pPr marL="66675">
              <a:lnSpc>
                <a:spcPts val="2500"/>
              </a:lnSpc>
            </a:pPr>
            <a:r>
              <a:rPr dirty="0" sz="2100"/>
              <a:t>Includes</a:t>
            </a:r>
            <a:r>
              <a:rPr dirty="0" sz="2100" spc="-5"/>
              <a:t> </a:t>
            </a:r>
            <a:r>
              <a:rPr dirty="0" sz="2100" spc="-10"/>
              <a:t>contribution</a:t>
            </a:r>
            <a:r>
              <a:rPr dirty="0" sz="2100" spc="-5"/>
              <a:t> </a:t>
            </a:r>
            <a:r>
              <a:rPr dirty="0" sz="2100"/>
              <a:t>from</a:t>
            </a:r>
            <a:r>
              <a:rPr dirty="0" sz="2100" spc="-5"/>
              <a:t> </a:t>
            </a:r>
            <a:r>
              <a:rPr dirty="0" sz="2100"/>
              <a:t>Contentful </a:t>
            </a:r>
            <a:r>
              <a:rPr dirty="0" sz="2100" spc="90"/>
              <a:t>and</a:t>
            </a:r>
            <a:r>
              <a:rPr dirty="0" sz="2100" spc="-5"/>
              <a:t> </a:t>
            </a:r>
            <a:r>
              <a:rPr dirty="0" sz="2100" spc="-90"/>
              <a:t>Fin,</a:t>
            </a:r>
            <a:r>
              <a:rPr dirty="0" sz="2100" spc="-5"/>
              <a:t> </a:t>
            </a:r>
            <a:r>
              <a:rPr dirty="0" sz="2100" spc="100"/>
              <a:t>expected</a:t>
            </a:r>
            <a:r>
              <a:rPr dirty="0" sz="2100"/>
              <a:t> to</a:t>
            </a:r>
            <a:r>
              <a:rPr dirty="0" sz="2100" spc="-5"/>
              <a:t> </a:t>
            </a:r>
            <a:r>
              <a:rPr dirty="0" sz="2100"/>
              <a:t>close</a:t>
            </a:r>
            <a:r>
              <a:rPr dirty="0" sz="2100" spc="-5"/>
              <a:t> </a:t>
            </a:r>
            <a:r>
              <a:rPr dirty="0" sz="2100"/>
              <a:t>in the</a:t>
            </a:r>
            <a:r>
              <a:rPr dirty="0" sz="2100" spc="-5"/>
              <a:t> </a:t>
            </a:r>
            <a:r>
              <a:rPr dirty="0" sz="2100"/>
              <a:t>coming</a:t>
            </a:r>
            <a:r>
              <a:rPr dirty="0" sz="2100" spc="-5"/>
              <a:t> </a:t>
            </a:r>
            <a:r>
              <a:rPr dirty="0" sz="2100" spc="-10"/>
              <a:t>weeks</a:t>
            </a:r>
            <a:endParaRPr sz="2100"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755394" y="1759457"/>
          <a:ext cx="8963025" cy="4495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57500"/>
                <a:gridCol w="6029325"/>
              </a:tblGrid>
              <a:tr h="5619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12700">
                      <a:solidFill>
                        <a:srgbClr val="DADA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dirty="0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Current</a:t>
                      </a:r>
                      <a:r>
                        <a:rPr dirty="0" sz="1600" spc="-114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Guidance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40970"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012ABF"/>
                    </a:solidFill>
                  </a:tcPr>
                </a:tc>
              </a:tr>
              <a:tr h="12858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109220">
                        <a:lnSpc>
                          <a:spcPct val="100000"/>
                        </a:lnSpc>
                      </a:pPr>
                      <a:r>
                        <a:rPr dirty="0" sz="1600" spc="-10" b="1">
                          <a:solidFill>
                            <a:srgbClr val="001E5A"/>
                          </a:solidFill>
                          <a:latin typeface="Tahoma"/>
                          <a:cs typeface="Tahoma"/>
                        </a:rPr>
                        <a:t>Revenue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dirty="0" sz="1600" b="1">
                          <a:solidFill>
                            <a:srgbClr val="001E5A"/>
                          </a:solidFill>
                          <a:latin typeface="Arial"/>
                          <a:cs typeface="Arial"/>
                        </a:rPr>
                        <a:t>)11.42B</a:t>
                      </a:r>
                      <a:r>
                        <a:rPr dirty="0" sz="1600" spc="60" b="1">
                          <a:solidFill>
                            <a:srgbClr val="001E5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130" b="1">
                          <a:solidFill>
                            <a:srgbClr val="001E5A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600" spc="60" b="1">
                          <a:solidFill>
                            <a:srgbClr val="001E5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 b="1">
                          <a:solidFill>
                            <a:srgbClr val="001E5A"/>
                          </a:solidFill>
                          <a:latin typeface="Arial"/>
                          <a:cs typeface="Arial"/>
                        </a:rPr>
                        <a:t>)11.5B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1000" spc="-35">
                          <a:solidFill>
                            <a:srgbClr val="001E5A"/>
                          </a:solidFill>
                          <a:latin typeface="Arial MT"/>
                          <a:cs typeface="Arial MT"/>
                        </a:rPr>
                        <a:t>11%</a:t>
                      </a:r>
                      <a:r>
                        <a:rPr dirty="0" sz="1000" spc="-15">
                          <a:solidFill>
                            <a:srgbClr val="001E5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001E5A"/>
                          </a:solidFill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1000" spc="-15">
                          <a:solidFill>
                            <a:srgbClr val="001E5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35">
                          <a:solidFill>
                            <a:srgbClr val="001E5A"/>
                          </a:solidFill>
                          <a:latin typeface="Arial MT"/>
                          <a:cs typeface="Arial MT"/>
                        </a:rPr>
                        <a:t>12%</a:t>
                      </a:r>
                      <a:r>
                        <a:rPr dirty="0" sz="1000" spc="-15">
                          <a:solidFill>
                            <a:srgbClr val="001E5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25">
                          <a:solidFill>
                            <a:srgbClr val="001E5A"/>
                          </a:solidFill>
                          <a:latin typeface="Arial MT"/>
                          <a:cs typeface="Arial MT"/>
                        </a:rPr>
                        <a:t>Y/Y</a:t>
                      </a:r>
                      <a:endParaRPr sz="1000">
                        <a:latin typeface="Arial MT"/>
                        <a:cs typeface="Arial MT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1000" spc="-35">
                          <a:solidFill>
                            <a:srgbClr val="001E5A"/>
                          </a:solidFill>
                          <a:latin typeface="Arial MT"/>
                          <a:cs typeface="Arial MT"/>
                        </a:rPr>
                        <a:t>11%</a:t>
                      </a:r>
                      <a:r>
                        <a:rPr dirty="0" sz="1000">
                          <a:solidFill>
                            <a:srgbClr val="001E5A"/>
                          </a:solidFill>
                          <a:latin typeface="Arial MT"/>
                          <a:cs typeface="Arial MT"/>
                        </a:rPr>
                        <a:t> -</a:t>
                      </a:r>
                      <a:r>
                        <a:rPr dirty="0" sz="1000" spc="5">
                          <a:solidFill>
                            <a:srgbClr val="001E5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25">
                          <a:solidFill>
                            <a:srgbClr val="001E5A"/>
                          </a:solidFill>
                          <a:latin typeface="Arial MT"/>
                          <a:cs typeface="Arial MT"/>
                        </a:rPr>
                        <a:t>12%</a:t>
                      </a:r>
                      <a:r>
                        <a:rPr dirty="0" sz="1000" spc="5">
                          <a:solidFill>
                            <a:srgbClr val="001E5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001E5A"/>
                          </a:solidFill>
                          <a:latin typeface="Arial MT"/>
                          <a:cs typeface="Arial MT"/>
                        </a:rPr>
                        <a:t>Y/Y</a:t>
                      </a:r>
                      <a:r>
                        <a:rPr dirty="0" sz="1000" spc="5">
                          <a:solidFill>
                            <a:srgbClr val="001E5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55">
                          <a:solidFill>
                            <a:srgbClr val="001E5A"/>
                          </a:solidFill>
                          <a:latin typeface="Arial MT"/>
                          <a:cs typeface="Arial MT"/>
                        </a:rPr>
                        <a:t>CC,</a:t>
                      </a:r>
                      <a:r>
                        <a:rPr dirty="0" sz="1000">
                          <a:solidFill>
                            <a:srgbClr val="001E5A"/>
                          </a:solidFill>
                          <a:latin typeface="Arial MT"/>
                          <a:cs typeface="Arial MT"/>
                        </a:rPr>
                        <a:t> $0M</a:t>
                      </a:r>
                      <a:r>
                        <a:rPr dirty="0" sz="1000" spc="5">
                          <a:solidFill>
                            <a:srgbClr val="001E5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001E5A"/>
                          </a:solidFill>
                          <a:latin typeface="Arial MT"/>
                          <a:cs typeface="Arial MT"/>
                        </a:rPr>
                        <a:t>Y/Y </a:t>
                      </a:r>
                      <a:r>
                        <a:rPr dirty="0" sz="1000" spc="-25">
                          <a:solidFill>
                            <a:srgbClr val="001E5A"/>
                          </a:solidFill>
                          <a:latin typeface="Arial MT"/>
                          <a:cs typeface="Arial MT"/>
                        </a:rPr>
                        <a:t>FX</a:t>
                      </a:r>
                      <a:endParaRPr sz="1000">
                        <a:latin typeface="Arial MT"/>
                        <a:cs typeface="Arial MT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b="1">
                          <a:solidFill>
                            <a:srgbClr val="012ABF"/>
                          </a:solidFill>
                          <a:latin typeface="Arial"/>
                          <a:cs typeface="Arial"/>
                        </a:rPr>
                        <a:t>Informatica</a:t>
                      </a:r>
                      <a:r>
                        <a:rPr dirty="0" sz="1100" spc="65" b="1">
                          <a:solidFill>
                            <a:srgbClr val="012AB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 b="1">
                          <a:solidFill>
                            <a:srgbClr val="012ABF"/>
                          </a:solidFill>
                          <a:latin typeface="Arial"/>
                          <a:cs typeface="Arial"/>
                        </a:rPr>
                        <a:t>Contribution:</a:t>
                      </a:r>
                      <a:r>
                        <a:rPr dirty="0" sz="1100" spc="70" b="1">
                          <a:solidFill>
                            <a:srgbClr val="012AB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30" b="1">
                          <a:solidFill>
                            <a:srgbClr val="012ABF"/>
                          </a:solidFill>
                          <a:latin typeface="Arial"/>
                          <a:cs typeface="Arial"/>
                        </a:rPr>
                        <a:t>Slightly</a:t>
                      </a:r>
                      <a:r>
                        <a:rPr dirty="0" sz="1100" spc="70" b="1">
                          <a:solidFill>
                            <a:srgbClr val="012AB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b="1">
                          <a:solidFill>
                            <a:srgbClr val="012ABF"/>
                          </a:solidFill>
                          <a:latin typeface="Arial"/>
                          <a:cs typeface="Arial"/>
                        </a:rPr>
                        <a:t>Above</a:t>
                      </a:r>
                      <a:r>
                        <a:rPr dirty="0" sz="1100" spc="70" b="1">
                          <a:solidFill>
                            <a:srgbClr val="012AB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20" b="1">
                          <a:solidFill>
                            <a:srgbClr val="012ABF"/>
                          </a:solidFill>
                          <a:latin typeface="Arial"/>
                          <a:cs typeface="Arial"/>
                        </a:rPr>
                        <a:t>4pts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171450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EAF0FF"/>
                    </a:solidFill>
                  </a:tcPr>
                </a:tc>
              </a:tr>
              <a:tr h="8858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109220">
                        <a:lnSpc>
                          <a:spcPct val="100000"/>
                        </a:lnSpc>
                      </a:pPr>
                      <a:r>
                        <a:rPr dirty="0" sz="1600" spc="-20" b="1">
                          <a:solidFill>
                            <a:srgbClr val="001E5A"/>
                          </a:solidFill>
                          <a:latin typeface="Tahoma"/>
                          <a:cs typeface="Tahoma"/>
                        </a:rPr>
                        <a:t>GAAP</a:t>
                      </a:r>
                      <a:r>
                        <a:rPr dirty="0" sz="1600" spc="-90" b="1">
                          <a:solidFill>
                            <a:srgbClr val="001E5A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600" spc="-25" b="1">
                          <a:solidFill>
                            <a:srgbClr val="001E5A"/>
                          </a:solidFill>
                          <a:latin typeface="Tahoma"/>
                          <a:cs typeface="Tahoma"/>
                        </a:rPr>
                        <a:t>Diluted</a:t>
                      </a:r>
                      <a:r>
                        <a:rPr dirty="0" sz="1600" spc="-85" b="1">
                          <a:solidFill>
                            <a:srgbClr val="001E5A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600" spc="-25" b="1">
                          <a:solidFill>
                            <a:srgbClr val="001E5A"/>
                          </a:solidFill>
                          <a:latin typeface="Tahoma"/>
                          <a:cs typeface="Tahoma"/>
                        </a:rPr>
                        <a:t>EPS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B="0" marT="67310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600" spc="70" b="1">
                          <a:solidFill>
                            <a:srgbClr val="001E5A"/>
                          </a:solidFill>
                          <a:latin typeface="Arial"/>
                          <a:cs typeface="Arial"/>
                        </a:rPr>
                        <a:t>)1.81</a:t>
                      </a:r>
                      <a:r>
                        <a:rPr dirty="0" sz="1600" b="1">
                          <a:solidFill>
                            <a:srgbClr val="001E5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130" b="1">
                          <a:solidFill>
                            <a:srgbClr val="001E5A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600" b="1">
                          <a:solidFill>
                            <a:srgbClr val="001E5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60" b="1">
                          <a:solidFill>
                            <a:srgbClr val="001E5A"/>
                          </a:solidFill>
                          <a:latin typeface="Arial"/>
                          <a:cs typeface="Arial"/>
                        </a:rPr>
                        <a:t>)1.83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68580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EAF0FF"/>
                    </a:solidFill>
                  </a:tcPr>
                </a:tc>
              </a:tr>
              <a:tr h="8858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109220">
                        <a:lnSpc>
                          <a:spcPct val="100000"/>
                        </a:lnSpc>
                      </a:pPr>
                      <a:r>
                        <a:rPr dirty="0" sz="1600" spc="-50" b="1">
                          <a:solidFill>
                            <a:srgbClr val="001E5A"/>
                          </a:solidFill>
                          <a:latin typeface="Tahoma"/>
                          <a:cs typeface="Tahoma"/>
                        </a:rPr>
                        <a:t>Non-</a:t>
                      </a:r>
                      <a:r>
                        <a:rPr dirty="0" sz="1600" spc="-20" b="1">
                          <a:solidFill>
                            <a:srgbClr val="001E5A"/>
                          </a:solidFill>
                          <a:latin typeface="Tahoma"/>
                          <a:cs typeface="Tahoma"/>
                        </a:rPr>
                        <a:t>GAAP</a:t>
                      </a:r>
                      <a:r>
                        <a:rPr dirty="0" sz="1600" spc="-80" b="1">
                          <a:solidFill>
                            <a:srgbClr val="001E5A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600" spc="-25" b="1">
                          <a:solidFill>
                            <a:srgbClr val="001E5A"/>
                          </a:solidFill>
                          <a:latin typeface="Tahoma"/>
                          <a:cs typeface="Tahoma"/>
                        </a:rPr>
                        <a:t>Diluted</a:t>
                      </a:r>
                      <a:r>
                        <a:rPr dirty="0" sz="1600" spc="-75" b="1">
                          <a:solidFill>
                            <a:srgbClr val="001E5A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600" spc="-25" b="1">
                          <a:solidFill>
                            <a:srgbClr val="001E5A"/>
                          </a:solidFill>
                          <a:latin typeface="Tahoma"/>
                          <a:cs typeface="Tahoma"/>
                        </a:rPr>
                        <a:t>EPS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B="0" marT="67310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600" spc="70" b="1">
                          <a:solidFill>
                            <a:srgbClr val="001E5A"/>
                          </a:solidFill>
                          <a:latin typeface="Arial"/>
                          <a:cs typeface="Arial"/>
                        </a:rPr>
                        <a:t>)3.42</a:t>
                      </a:r>
                      <a:r>
                        <a:rPr dirty="0" sz="1600" b="1">
                          <a:solidFill>
                            <a:srgbClr val="001E5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130" b="1">
                          <a:solidFill>
                            <a:srgbClr val="001E5A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600" b="1">
                          <a:solidFill>
                            <a:srgbClr val="001E5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60" b="1">
                          <a:solidFill>
                            <a:srgbClr val="001E5A"/>
                          </a:solidFill>
                          <a:latin typeface="Arial"/>
                          <a:cs typeface="Arial"/>
                        </a:rPr>
                        <a:t>)3.44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68580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EAF0FF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10922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600" spc="-30" b="1">
                          <a:solidFill>
                            <a:srgbClr val="001E5A"/>
                          </a:solidFill>
                          <a:latin typeface="Tahoma"/>
                          <a:cs typeface="Tahoma"/>
                        </a:rPr>
                        <a:t>cRPO</a:t>
                      </a:r>
                      <a:r>
                        <a:rPr dirty="0" sz="1600" spc="-85" b="1">
                          <a:solidFill>
                            <a:srgbClr val="001E5A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600" spc="-10" b="1">
                          <a:solidFill>
                            <a:srgbClr val="001E5A"/>
                          </a:solidFill>
                          <a:latin typeface="Tahoma"/>
                          <a:cs typeface="Tahoma"/>
                        </a:rPr>
                        <a:t>Growth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B="0" marT="62230">
                    <a:lnT w="12700">
                      <a:solidFill>
                        <a:srgbClr val="DADAD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85"/>
                        </a:spcBef>
                      </a:pPr>
                      <a:r>
                        <a:rPr dirty="0" sz="1600" b="1">
                          <a:solidFill>
                            <a:srgbClr val="001E5A"/>
                          </a:solidFill>
                          <a:latin typeface="Arial"/>
                          <a:cs typeface="Arial"/>
                        </a:rPr>
                        <a:t>Approximately</a:t>
                      </a:r>
                      <a:r>
                        <a:rPr dirty="0" sz="1600" spc="125" b="1">
                          <a:solidFill>
                            <a:srgbClr val="001E5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b="1">
                          <a:solidFill>
                            <a:srgbClr val="001E5A"/>
                          </a:solidFill>
                          <a:latin typeface="Arial"/>
                          <a:cs typeface="Arial"/>
                        </a:rPr>
                        <a:t>14%</a:t>
                      </a:r>
                      <a:r>
                        <a:rPr dirty="0" sz="1600" spc="130" b="1">
                          <a:solidFill>
                            <a:srgbClr val="001E5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25" b="1">
                          <a:solidFill>
                            <a:srgbClr val="001E5A"/>
                          </a:solidFill>
                          <a:latin typeface="Arial"/>
                          <a:cs typeface="Arial"/>
                        </a:rPr>
                        <a:t>Y/Y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1000" spc="55">
                          <a:solidFill>
                            <a:srgbClr val="001E5A"/>
                          </a:solidFill>
                          <a:latin typeface="Arial MT"/>
                          <a:cs typeface="Arial MT"/>
                        </a:rPr>
                        <a:t>Approximately</a:t>
                      </a:r>
                      <a:r>
                        <a:rPr dirty="0" sz="1000" spc="20">
                          <a:solidFill>
                            <a:srgbClr val="001E5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35">
                          <a:solidFill>
                            <a:srgbClr val="001E5A"/>
                          </a:solidFill>
                          <a:latin typeface="Arial MT"/>
                          <a:cs typeface="Arial MT"/>
                        </a:rPr>
                        <a:t>14%</a:t>
                      </a:r>
                      <a:r>
                        <a:rPr dirty="0" sz="1000" spc="20">
                          <a:solidFill>
                            <a:srgbClr val="001E5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001E5A"/>
                          </a:solidFill>
                          <a:latin typeface="Arial MT"/>
                          <a:cs typeface="Arial MT"/>
                        </a:rPr>
                        <a:t>Y/Y</a:t>
                      </a:r>
                      <a:r>
                        <a:rPr dirty="0" sz="1000" spc="20">
                          <a:solidFill>
                            <a:srgbClr val="001E5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55">
                          <a:solidFill>
                            <a:srgbClr val="001E5A"/>
                          </a:solidFill>
                          <a:latin typeface="Arial MT"/>
                          <a:cs typeface="Arial MT"/>
                        </a:rPr>
                        <a:t>CC,</a:t>
                      </a:r>
                      <a:r>
                        <a:rPr dirty="0" sz="1000" spc="-85">
                          <a:solidFill>
                            <a:srgbClr val="001E5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001E5A"/>
                          </a:solidFill>
                          <a:latin typeface="Arial MT"/>
                          <a:cs typeface="Arial MT"/>
                        </a:rPr>
                        <a:t>$100M</a:t>
                      </a:r>
                      <a:r>
                        <a:rPr dirty="0" sz="1000" spc="30">
                          <a:solidFill>
                            <a:srgbClr val="001E5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001E5A"/>
                          </a:solidFill>
                          <a:latin typeface="Arial MT"/>
                          <a:cs typeface="Arial MT"/>
                        </a:rPr>
                        <a:t>Y/Y</a:t>
                      </a:r>
                      <a:r>
                        <a:rPr dirty="0" sz="1000" spc="20">
                          <a:solidFill>
                            <a:srgbClr val="001E5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25">
                          <a:solidFill>
                            <a:srgbClr val="001E5A"/>
                          </a:solidFill>
                          <a:latin typeface="Arial MT"/>
                          <a:cs typeface="Arial MT"/>
                        </a:rPr>
                        <a:t>FX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213995">
                    <a:lnT w="12700">
                      <a:solidFill>
                        <a:srgbClr val="DADADA"/>
                      </a:solidFill>
                      <a:prstDash val="solid"/>
                    </a:lnT>
                    <a:solidFill>
                      <a:srgbClr val="EAF0FF"/>
                    </a:solidFill>
                  </a:tcPr>
                </a:tc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902716" y="6677456"/>
            <a:ext cx="8893175" cy="1562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00" spc="-40">
                <a:solidFill>
                  <a:srgbClr val="6C6C6C"/>
                </a:solidFill>
                <a:latin typeface="Verdana"/>
                <a:cs typeface="Verdana"/>
              </a:rPr>
              <a:t>Current </a:t>
            </a:r>
            <a:r>
              <a:rPr dirty="0" sz="800" spc="-30">
                <a:solidFill>
                  <a:srgbClr val="6C6C6C"/>
                </a:solidFill>
                <a:latin typeface="Verdana"/>
                <a:cs typeface="Verdana"/>
              </a:rPr>
              <a:t>Guidance</a:t>
            </a:r>
            <a:r>
              <a:rPr dirty="0" sz="800" spc="-45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25">
                <a:solidFill>
                  <a:srgbClr val="6C6C6C"/>
                </a:solidFill>
                <a:latin typeface="Verdana"/>
                <a:cs typeface="Verdana"/>
              </a:rPr>
              <a:t>includes</a:t>
            </a:r>
            <a:r>
              <a:rPr dirty="0" sz="800" spc="-35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30">
                <a:solidFill>
                  <a:srgbClr val="6C6C6C"/>
                </a:solidFill>
                <a:latin typeface="Verdana"/>
                <a:cs typeface="Verdana"/>
              </a:rPr>
              <a:t>the</a:t>
            </a:r>
            <a:r>
              <a:rPr dirty="0" sz="800" spc="-45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30">
                <a:solidFill>
                  <a:srgbClr val="6C6C6C"/>
                </a:solidFill>
                <a:latin typeface="Verdana"/>
                <a:cs typeface="Verdana"/>
              </a:rPr>
              <a:t>anticipated</a:t>
            </a:r>
            <a:r>
              <a:rPr dirty="0" sz="800" spc="-45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30">
                <a:solidFill>
                  <a:srgbClr val="6C6C6C"/>
                </a:solidFill>
                <a:latin typeface="Verdana"/>
                <a:cs typeface="Verdana"/>
              </a:rPr>
              <a:t>contribution</a:t>
            </a:r>
            <a:r>
              <a:rPr dirty="0" sz="800" spc="-40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25">
                <a:solidFill>
                  <a:srgbClr val="6C6C6C"/>
                </a:solidFill>
                <a:latin typeface="Verdana"/>
                <a:cs typeface="Verdana"/>
              </a:rPr>
              <a:t>of</a:t>
            </a:r>
            <a:r>
              <a:rPr dirty="0" sz="800" spc="-35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30">
                <a:solidFill>
                  <a:srgbClr val="6C6C6C"/>
                </a:solidFill>
                <a:latin typeface="Verdana"/>
                <a:cs typeface="Verdana"/>
              </a:rPr>
              <a:t>Contentful</a:t>
            </a:r>
            <a:r>
              <a:rPr dirty="0" sz="800" spc="-40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35">
                <a:solidFill>
                  <a:srgbClr val="6C6C6C"/>
                </a:solidFill>
                <a:latin typeface="Verdana"/>
                <a:cs typeface="Verdana"/>
              </a:rPr>
              <a:t>and</a:t>
            </a:r>
            <a:r>
              <a:rPr dirty="0" sz="800" spc="-40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45">
                <a:solidFill>
                  <a:srgbClr val="6C6C6C"/>
                </a:solidFill>
                <a:latin typeface="Verdana"/>
                <a:cs typeface="Verdana"/>
              </a:rPr>
              <a:t>Fin,</a:t>
            </a:r>
            <a:r>
              <a:rPr dirty="0" sz="800" spc="-40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30">
                <a:solidFill>
                  <a:srgbClr val="6C6C6C"/>
                </a:solidFill>
                <a:latin typeface="Verdana"/>
                <a:cs typeface="Verdana"/>
              </a:rPr>
              <a:t>which</a:t>
            </a:r>
            <a:r>
              <a:rPr dirty="0" sz="800" spc="-40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35">
                <a:solidFill>
                  <a:srgbClr val="6C6C6C"/>
                </a:solidFill>
                <a:latin typeface="Verdana"/>
                <a:cs typeface="Verdana"/>
              </a:rPr>
              <a:t>we</a:t>
            </a:r>
            <a:r>
              <a:rPr dirty="0" sz="800" spc="-40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35">
                <a:solidFill>
                  <a:srgbClr val="6C6C6C"/>
                </a:solidFill>
                <a:latin typeface="Verdana"/>
                <a:cs typeface="Verdana"/>
              </a:rPr>
              <a:t>expect</a:t>
            </a:r>
            <a:r>
              <a:rPr dirty="0" sz="800" spc="-40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20">
                <a:solidFill>
                  <a:srgbClr val="6C6C6C"/>
                </a:solidFill>
                <a:latin typeface="Verdana"/>
                <a:cs typeface="Verdana"/>
              </a:rPr>
              <a:t>to</a:t>
            </a:r>
            <a:r>
              <a:rPr dirty="0" sz="800" spc="-45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35">
                <a:solidFill>
                  <a:srgbClr val="6C6C6C"/>
                </a:solidFill>
                <a:latin typeface="Verdana"/>
                <a:cs typeface="Verdana"/>
              </a:rPr>
              <a:t>each </a:t>
            </a:r>
            <a:r>
              <a:rPr dirty="0" sz="800" spc="-30">
                <a:solidFill>
                  <a:srgbClr val="6C6C6C"/>
                </a:solidFill>
                <a:latin typeface="Verdana"/>
                <a:cs typeface="Verdana"/>
              </a:rPr>
              <a:t>close</a:t>
            </a:r>
            <a:r>
              <a:rPr dirty="0" sz="800" spc="-45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30">
                <a:solidFill>
                  <a:srgbClr val="6C6C6C"/>
                </a:solidFill>
                <a:latin typeface="Verdana"/>
                <a:cs typeface="Verdana"/>
              </a:rPr>
              <a:t>in</a:t>
            </a:r>
            <a:r>
              <a:rPr dirty="0" sz="800" spc="-40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30">
                <a:solidFill>
                  <a:srgbClr val="6C6C6C"/>
                </a:solidFill>
                <a:latin typeface="Verdana"/>
                <a:cs typeface="Verdana"/>
              </a:rPr>
              <a:t>the</a:t>
            </a:r>
            <a:r>
              <a:rPr dirty="0" sz="800" spc="-40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30">
                <a:solidFill>
                  <a:srgbClr val="6C6C6C"/>
                </a:solidFill>
                <a:latin typeface="Verdana"/>
                <a:cs typeface="Verdana"/>
              </a:rPr>
              <a:t>coming</a:t>
            </a:r>
            <a:r>
              <a:rPr dirty="0" sz="800" spc="-40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55">
                <a:solidFill>
                  <a:srgbClr val="6C6C6C"/>
                </a:solidFill>
                <a:latin typeface="Verdana"/>
                <a:cs typeface="Verdana"/>
              </a:rPr>
              <a:t>weeks,</a:t>
            </a:r>
            <a:r>
              <a:rPr dirty="0" sz="800" spc="-40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35">
                <a:solidFill>
                  <a:srgbClr val="6C6C6C"/>
                </a:solidFill>
                <a:latin typeface="Verdana"/>
                <a:cs typeface="Verdana"/>
              </a:rPr>
              <a:t>and</a:t>
            </a:r>
            <a:r>
              <a:rPr dirty="0" sz="800" spc="-40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50">
                <a:solidFill>
                  <a:srgbClr val="6C6C6C"/>
                </a:solidFill>
                <a:latin typeface="Verdana"/>
                <a:cs typeface="Verdana"/>
              </a:rPr>
              <a:t>is</a:t>
            </a:r>
            <a:r>
              <a:rPr dirty="0" sz="800" spc="-40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30">
                <a:solidFill>
                  <a:srgbClr val="6C6C6C"/>
                </a:solidFill>
                <a:latin typeface="Verdana"/>
                <a:cs typeface="Verdana"/>
              </a:rPr>
              <a:t>conditional</a:t>
            </a:r>
            <a:r>
              <a:rPr dirty="0" sz="800" spc="-35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20">
                <a:solidFill>
                  <a:srgbClr val="6C6C6C"/>
                </a:solidFill>
                <a:latin typeface="Verdana"/>
                <a:cs typeface="Verdana"/>
              </a:rPr>
              <a:t>upon</a:t>
            </a:r>
            <a:r>
              <a:rPr dirty="0" sz="800" spc="-40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30">
                <a:solidFill>
                  <a:srgbClr val="6C6C6C"/>
                </a:solidFill>
                <a:latin typeface="Verdana"/>
                <a:cs typeface="Verdana"/>
              </a:rPr>
              <a:t>the</a:t>
            </a:r>
            <a:r>
              <a:rPr dirty="0" sz="800" spc="-45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35">
                <a:solidFill>
                  <a:srgbClr val="6C6C6C"/>
                </a:solidFill>
                <a:latin typeface="Verdana"/>
                <a:cs typeface="Verdana"/>
              </a:rPr>
              <a:t>closing </a:t>
            </a:r>
            <a:r>
              <a:rPr dirty="0" sz="800" spc="-25">
                <a:solidFill>
                  <a:srgbClr val="6C6C6C"/>
                </a:solidFill>
                <a:latin typeface="Verdana"/>
                <a:cs typeface="Verdana"/>
              </a:rPr>
              <a:t>of</a:t>
            </a:r>
            <a:r>
              <a:rPr dirty="0" sz="800" spc="-40">
                <a:solidFill>
                  <a:srgbClr val="6C6C6C"/>
                </a:solidFill>
                <a:latin typeface="Verdana"/>
                <a:cs typeface="Verdana"/>
              </a:rPr>
              <a:t> these</a:t>
            </a:r>
            <a:r>
              <a:rPr dirty="0" sz="800" spc="-45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10">
                <a:solidFill>
                  <a:srgbClr val="6C6C6C"/>
                </a:solidFill>
                <a:latin typeface="Verdana"/>
                <a:cs typeface="Verdana"/>
              </a:rPr>
              <a:t>transactions.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22225">
              <a:lnSpc>
                <a:spcPct val="100000"/>
              </a:lnSpc>
              <a:spcBef>
                <a:spcPts val="90"/>
              </a:spcBef>
            </a:pPr>
            <a:fld id="{81D60167-4931-47E6-BA6A-407CBD079E47}" type="slidenum">
              <a:rPr dirty="0" spc="-25"/>
              <a:t>12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453621" y="6583933"/>
            <a:ext cx="18034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>
                <a:latin typeface="Verdana"/>
                <a:cs typeface="Verdana"/>
              </a:rPr>
              <a:t>14</a:t>
            </a:r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673094" y="1603628"/>
            <a:ext cx="4873625" cy="2037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200" spc="-520">
                <a:solidFill>
                  <a:srgbClr val="FFFEFE"/>
                </a:solidFill>
                <a:latin typeface="Verdana"/>
                <a:cs typeface="Verdana"/>
              </a:rPr>
              <a:t>Thank</a:t>
            </a:r>
            <a:endParaRPr sz="132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050667" y="1920621"/>
            <a:ext cx="7309484" cy="3683000"/>
            <a:chOff x="3050667" y="1920621"/>
            <a:chExt cx="7309484" cy="368300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53601" y="1951990"/>
              <a:ext cx="399796" cy="40500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37193" y="1920621"/>
              <a:ext cx="176656" cy="17894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18052" y="3106165"/>
              <a:ext cx="533273" cy="54013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50667" y="3637026"/>
              <a:ext cx="298703" cy="30251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46585" y="3607635"/>
              <a:ext cx="880096" cy="81755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45806" y="5237860"/>
              <a:ext cx="2514219" cy="365759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4477765" y="2713863"/>
            <a:ext cx="3165475" cy="2037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200" spc="105">
                <a:solidFill>
                  <a:srgbClr val="FFFFFF"/>
                </a:solidFill>
                <a:latin typeface="Verdana"/>
                <a:cs typeface="Verdana"/>
              </a:rPr>
              <a:t>you</a:t>
            </a:r>
            <a:endParaRPr sz="13200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8028431" y="2813684"/>
            <a:ext cx="1635760" cy="2663825"/>
            <a:chOff x="8028431" y="2813684"/>
            <a:chExt cx="1635760" cy="2663825"/>
          </a:xfrm>
        </p:grpSpPr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028431" y="2813684"/>
              <a:ext cx="1635505" cy="266382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078978" y="4152265"/>
              <a:ext cx="1359662" cy="95326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096331" y="4104214"/>
              <a:ext cx="283408" cy="15986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674867" y="2918586"/>
            <a:ext cx="3652520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 spc="135">
                <a:solidFill>
                  <a:srgbClr val="FFFFFF"/>
                </a:solidFill>
              </a:rPr>
              <a:t>Appendix</a:t>
            </a:r>
            <a:endParaRPr sz="6000"/>
          </a:p>
        </p:txBody>
      </p:sp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49530" rIns="0" bIns="0" rtlCol="0" vert="horz">
            <a:spAutoFit/>
          </a:bodyPr>
          <a:lstStyle/>
          <a:p>
            <a:pPr marL="22225">
              <a:lnSpc>
                <a:spcPct val="100000"/>
              </a:lnSpc>
              <a:spcBef>
                <a:spcPts val="390"/>
              </a:spcBef>
            </a:pPr>
            <a:fld id="{81D60167-4931-47E6-BA6A-407CBD079E47}" type="slidenum">
              <a:rPr dirty="0" spc="-25"/>
              <a:t>17</a:t>
            </a:fld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CEE9FE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033252" y="565404"/>
              <a:ext cx="635634" cy="44500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49530" rIns="0" bIns="0" rtlCol="0" vert="horz">
            <a:spAutoFit/>
          </a:bodyPr>
          <a:lstStyle/>
          <a:p>
            <a:pPr marL="22225">
              <a:lnSpc>
                <a:spcPct val="100000"/>
              </a:lnSpc>
              <a:spcBef>
                <a:spcPts val="390"/>
              </a:spcBef>
            </a:pPr>
            <a:fld id="{81D60167-4931-47E6-BA6A-407CBD079E47}" type="slidenum">
              <a:rPr dirty="0" spc="-25"/>
              <a:t>17</a:t>
            </a:fld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CEE9FE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033252" y="565404"/>
              <a:ext cx="635634" cy="44500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49530" rIns="0" bIns="0" rtlCol="0" vert="horz">
            <a:spAutoFit/>
          </a:bodyPr>
          <a:lstStyle/>
          <a:p>
            <a:pPr marL="22225">
              <a:lnSpc>
                <a:spcPct val="100000"/>
              </a:lnSpc>
              <a:spcBef>
                <a:spcPts val="390"/>
              </a:spcBef>
            </a:pPr>
            <a:fld id="{81D60167-4931-47E6-BA6A-407CBD079E47}" type="slidenum">
              <a:rPr dirty="0" spc="-25"/>
              <a:t>17</a:t>
            </a:fld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0" y="0"/>
            <a:ext cx="12192000" cy="5961380"/>
            <a:chOff x="0" y="0"/>
            <a:chExt cx="12192000" cy="596138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12192000" cy="5961380"/>
            </a:xfrm>
            <a:custGeom>
              <a:avLst/>
              <a:gdLst/>
              <a:ahLst/>
              <a:cxnLst/>
              <a:rect l="l" t="t" r="r" b="b"/>
              <a:pathLst>
                <a:path w="12192000" h="5961380">
                  <a:moveTo>
                    <a:pt x="0" y="5960999"/>
                  </a:moveTo>
                  <a:lnTo>
                    <a:pt x="12192000" y="59609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5960999"/>
                  </a:lnTo>
                  <a:close/>
                </a:path>
              </a:pathLst>
            </a:custGeom>
            <a:solidFill>
              <a:srgbClr val="CEE9F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033252" y="565404"/>
              <a:ext cx="635634" cy="445008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3952" rIns="0" bIns="0" rtlCol="0" vert="horz">
            <a:spAutoFit/>
          </a:bodyPr>
          <a:lstStyle/>
          <a:p>
            <a:pPr marL="6604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1E5A"/>
                </a:solidFill>
              </a:rPr>
              <a:t>Revenue</a:t>
            </a:r>
            <a:r>
              <a:rPr dirty="0" spc="-25">
                <a:solidFill>
                  <a:srgbClr val="001E5A"/>
                </a:solidFill>
              </a:rPr>
              <a:t> </a:t>
            </a:r>
            <a:r>
              <a:rPr dirty="0">
                <a:solidFill>
                  <a:srgbClr val="001E5A"/>
                </a:solidFill>
              </a:rPr>
              <a:t>Growth</a:t>
            </a:r>
            <a:r>
              <a:rPr dirty="0" spc="-20">
                <a:solidFill>
                  <a:srgbClr val="001E5A"/>
                </a:solidFill>
              </a:rPr>
              <a:t> </a:t>
            </a:r>
            <a:r>
              <a:rPr dirty="0" spc="-140">
                <a:solidFill>
                  <a:srgbClr val="001E5A"/>
                </a:solidFill>
              </a:rPr>
              <a:t>Trends</a:t>
            </a:r>
            <a:r>
              <a:rPr dirty="0" spc="-25">
                <a:solidFill>
                  <a:srgbClr val="001E5A"/>
                </a:solidFill>
              </a:rPr>
              <a:t> </a:t>
            </a:r>
            <a:r>
              <a:rPr dirty="0">
                <a:solidFill>
                  <a:srgbClr val="001E5A"/>
                </a:solidFill>
              </a:rPr>
              <a:t>in</a:t>
            </a:r>
            <a:r>
              <a:rPr dirty="0" spc="-20">
                <a:solidFill>
                  <a:srgbClr val="001E5A"/>
                </a:solidFill>
              </a:rPr>
              <a:t> </a:t>
            </a:r>
            <a:r>
              <a:rPr dirty="0">
                <a:solidFill>
                  <a:srgbClr val="001E5A"/>
                </a:solidFill>
              </a:rPr>
              <a:t>Constant</a:t>
            </a:r>
            <a:r>
              <a:rPr dirty="0" spc="-25">
                <a:solidFill>
                  <a:srgbClr val="001E5A"/>
                </a:solidFill>
              </a:rPr>
              <a:t> </a:t>
            </a:r>
            <a:r>
              <a:rPr dirty="0" spc="-10">
                <a:solidFill>
                  <a:srgbClr val="001E5A"/>
                </a:solidFill>
              </a:rPr>
              <a:t>Currency</a:t>
            </a:r>
          </a:p>
        </p:txBody>
      </p:sp>
      <p:sp>
        <p:nvSpPr>
          <p:cNvPr id="7" name="object 7"/>
          <p:cNvSpPr/>
          <p:nvPr/>
        </p:nvSpPr>
        <p:spPr>
          <a:xfrm>
            <a:off x="4495546" y="1681733"/>
            <a:ext cx="7134225" cy="381000"/>
          </a:xfrm>
          <a:custGeom>
            <a:avLst/>
            <a:gdLst/>
            <a:ahLst/>
            <a:cxnLst/>
            <a:rect l="l" t="t" r="r" b="b"/>
            <a:pathLst>
              <a:path w="7134225" h="381000">
                <a:moveTo>
                  <a:pt x="7134224" y="0"/>
                </a:moveTo>
                <a:lnTo>
                  <a:pt x="0" y="0"/>
                </a:lnTo>
                <a:lnTo>
                  <a:pt x="0" y="381000"/>
                </a:lnTo>
                <a:lnTo>
                  <a:pt x="7134224" y="381000"/>
                </a:lnTo>
                <a:lnTo>
                  <a:pt x="7134224" y="0"/>
                </a:lnTo>
                <a:close/>
              </a:path>
            </a:pathLst>
          </a:custGeom>
          <a:solidFill>
            <a:srgbClr val="001E5A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618870" y="1681733"/>
          <a:ext cx="11087100" cy="2667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93465"/>
                <a:gridCol w="1302385"/>
                <a:gridCol w="1019175"/>
                <a:gridCol w="1019175"/>
                <a:gridCol w="1019175"/>
                <a:gridCol w="1019175"/>
                <a:gridCol w="1019175"/>
                <a:gridCol w="1019175"/>
              </a:tblGrid>
              <a:tr h="381000">
                <a:tc gridSpan="6">
                  <a:txBody>
                    <a:bodyPr/>
                    <a:lstStyle/>
                    <a:p>
                      <a:pPr algn="r" marR="2342515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sz="1400" spc="-2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FY26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69215">
                    <a:lnR w="12700">
                      <a:solidFill>
                        <a:srgbClr val="DADADA"/>
                      </a:solidFill>
                      <a:prstDash val="solid"/>
                    </a:lnR>
                    <a:lnB w="12700">
                      <a:solidFill>
                        <a:srgbClr val="DADADA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sz="1400" spc="-2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FY27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69215">
                    <a:lnL w="12700">
                      <a:solidFill>
                        <a:srgbClr val="DADADA"/>
                      </a:solidFill>
                      <a:prstDash val="solid"/>
                    </a:lnL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1E5A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81000">
                <a:tc>
                  <a:txBody>
                    <a:bodyPr/>
                    <a:lstStyle/>
                    <a:p>
                      <a:pPr marL="121920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sz="1400" spc="-3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Subscription</a:t>
                      </a:r>
                      <a:r>
                        <a:rPr dirty="0" sz="1400" spc="-4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&amp;</a:t>
                      </a:r>
                      <a:r>
                        <a:rPr dirty="0" sz="1400" spc="-3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Support</a:t>
                      </a:r>
                      <a:r>
                        <a:rPr dirty="0" sz="1400" spc="-3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Revenue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69215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001E5A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83210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Q1’</a:t>
                      </a:r>
                      <a:r>
                        <a:rPr dirty="0" sz="1400" spc="9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69215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001E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Q2’</a:t>
                      </a:r>
                      <a:r>
                        <a:rPr dirty="0" sz="1400" spc="9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69215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001E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Q3’</a:t>
                      </a:r>
                      <a:r>
                        <a:rPr dirty="0" sz="1400" spc="9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69215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001E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Q4’</a:t>
                      </a:r>
                      <a:r>
                        <a:rPr dirty="0" sz="1400" spc="9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69215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001E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sz="1400" spc="-1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FY'</a:t>
                      </a:r>
                      <a:r>
                        <a:rPr dirty="0" sz="1400" spc="1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69215">
                    <a:lnR w="12700">
                      <a:solidFill>
                        <a:srgbClr val="DADADA"/>
                      </a:solidFill>
                      <a:prstDash val="solid"/>
                    </a:lnR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001E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Q1’</a:t>
                      </a:r>
                      <a:r>
                        <a:rPr dirty="0" sz="1400" spc="9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69215">
                    <a:lnL w="12700">
                      <a:solidFill>
                        <a:srgbClr val="DADADA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001E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Q2’</a:t>
                      </a:r>
                      <a:r>
                        <a:rPr dirty="0" sz="1400" spc="9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69215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001E5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121920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dirty="0" sz="1200" spc="-45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Agentforce</a:t>
                      </a:r>
                      <a:r>
                        <a:rPr dirty="0" sz="1200" spc="-65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200" spc="-20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Apps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87630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06705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dirty="0" sz="1200" spc="40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7%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87630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3495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dirty="0" sz="1200" spc="40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7%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87630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3495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dirty="0" sz="1200" spc="40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7%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87630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3495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dirty="0" sz="1200" spc="40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6%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87630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3495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dirty="0" sz="1200" spc="-25" b="1">
                          <a:solidFill>
                            <a:srgbClr val="022C5F"/>
                          </a:solidFill>
                          <a:latin typeface="Tahoma"/>
                          <a:cs typeface="Tahoma"/>
                        </a:rPr>
                        <a:t>7%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B="0" marT="87630">
                    <a:lnR w="12700">
                      <a:solidFill>
                        <a:srgbClr val="DADADA"/>
                      </a:solidFill>
                      <a:prstDash val="solid"/>
                    </a:lnR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3495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dirty="0" sz="1200" spc="40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7%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87630">
                    <a:lnL w="12700">
                      <a:solidFill>
                        <a:srgbClr val="DADADA"/>
                      </a:solidFill>
                      <a:prstDash val="solid"/>
                    </a:lnL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3495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dirty="0" sz="1200" spc="40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8%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87630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121920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dirty="0" sz="1200" spc="-70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Data </a:t>
                      </a:r>
                      <a:r>
                        <a:rPr dirty="0" sz="1200" spc="-60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360,</a:t>
                      </a:r>
                      <a:r>
                        <a:rPr dirty="0" sz="1200" spc="-70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200" spc="-55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Headless</a:t>
                      </a:r>
                      <a:r>
                        <a:rPr dirty="0" sz="1200" spc="-70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200" spc="-50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Platform,</a:t>
                      </a:r>
                      <a:r>
                        <a:rPr dirty="0" sz="1200" spc="-70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200" spc="-45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sz="1200" spc="-65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200" spc="-20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Other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87630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06705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dirty="0" sz="1200" spc="-25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13%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87630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3495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dirty="0" sz="1200" spc="-25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14%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87630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3495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dirty="0" sz="1200" spc="-25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13%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87630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3495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dirty="0" sz="1200" spc="-25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21%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87630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3495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dirty="0" sz="1200" spc="-25" b="1">
                          <a:solidFill>
                            <a:srgbClr val="022C5F"/>
                          </a:solidFill>
                          <a:latin typeface="Tahoma"/>
                          <a:cs typeface="Tahoma"/>
                        </a:rPr>
                        <a:t>15%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B="0" marT="87630">
                    <a:lnR w="12700">
                      <a:solidFill>
                        <a:srgbClr val="DADADA"/>
                      </a:solidFill>
                      <a:prstDash val="solid"/>
                    </a:lnR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3495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dirty="0" sz="1200" spc="-25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23%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87630">
                    <a:lnL w="12700">
                      <a:solidFill>
                        <a:srgbClr val="DADADA"/>
                      </a:solidFill>
                      <a:prstDash val="solid"/>
                    </a:lnL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3495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dirty="0" sz="1200" spc="-25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20%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87630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12192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dirty="0" sz="1300" spc="-30" b="1">
                          <a:solidFill>
                            <a:srgbClr val="022C5F"/>
                          </a:solidFill>
                          <a:latin typeface="Arial"/>
                          <a:cs typeface="Arial"/>
                        </a:rPr>
                        <a:t>Total</a:t>
                      </a:r>
                      <a:r>
                        <a:rPr dirty="0" sz="1300" spc="-40" b="1">
                          <a:solidFill>
                            <a:srgbClr val="022C5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30" b="1">
                          <a:solidFill>
                            <a:srgbClr val="022C5F"/>
                          </a:solidFill>
                          <a:latin typeface="Arial"/>
                          <a:cs typeface="Arial"/>
                        </a:rPr>
                        <a:t>Subscription</a:t>
                      </a:r>
                      <a:r>
                        <a:rPr dirty="0" sz="1300" spc="-40" b="1">
                          <a:solidFill>
                            <a:srgbClr val="022C5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b="1">
                          <a:solidFill>
                            <a:srgbClr val="022C5F"/>
                          </a:solidFill>
                          <a:latin typeface="Arial"/>
                          <a:cs typeface="Arial"/>
                        </a:rPr>
                        <a:t>&amp;</a:t>
                      </a:r>
                      <a:r>
                        <a:rPr dirty="0" sz="1300" spc="-35" b="1">
                          <a:solidFill>
                            <a:srgbClr val="022C5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25" b="1">
                          <a:solidFill>
                            <a:srgbClr val="022C5F"/>
                          </a:solidFill>
                          <a:latin typeface="Arial"/>
                          <a:cs typeface="Arial"/>
                        </a:rPr>
                        <a:t>Support</a:t>
                      </a:r>
                      <a:r>
                        <a:rPr dirty="0" sz="1300" spc="-40" b="1">
                          <a:solidFill>
                            <a:srgbClr val="022C5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10" b="1">
                          <a:solidFill>
                            <a:srgbClr val="022C5F"/>
                          </a:solidFill>
                          <a:latin typeface="Arial"/>
                          <a:cs typeface="Arial"/>
                        </a:rPr>
                        <a:t>Revenue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9375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06705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dirty="0" sz="1200" spc="-25" b="1">
                          <a:solidFill>
                            <a:srgbClr val="022C5F"/>
                          </a:solidFill>
                          <a:latin typeface="Tahoma"/>
                          <a:cs typeface="Tahoma"/>
                        </a:rPr>
                        <a:t>9%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B="0" marT="87630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3495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dirty="0" sz="1200" spc="-25" b="1">
                          <a:solidFill>
                            <a:srgbClr val="022C5F"/>
                          </a:solidFill>
                          <a:latin typeface="Tahoma"/>
                          <a:cs typeface="Tahoma"/>
                        </a:rPr>
                        <a:t>9%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B="0" marT="87630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3495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dirty="0" sz="1200" spc="-25" b="1">
                          <a:solidFill>
                            <a:srgbClr val="022C5F"/>
                          </a:solidFill>
                          <a:latin typeface="Tahoma"/>
                          <a:cs typeface="Tahoma"/>
                        </a:rPr>
                        <a:t>9%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B="0" marT="87630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3495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dirty="0" sz="1200" spc="-25" b="1">
                          <a:solidFill>
                            <a:srgbClr val="022C5F"/>
                          </a:solidFill>
                          <a:latin typeface="Tahoma"/>
                          <a:cs typeface="Tahoma"/>
                        </a:rPr>
                        <a:t>11%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B="0" marT="87630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3495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dirty="0" sz="1200" spc="-25" b="1">
                          <a:solidFill>
                            <a:srgbClr val="022C5F"/>
                          </a:solidFill>
                          <a:latin typeface="Tahoma"/>
                          <a:cs typeface="Tahoma"/>
                        </a:rPr>
                        <a:t>10%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B="0" marT="87630">
                    <a:lnR w="12700">
                      <a:solidFill>
                        <a:srgbClr val="DADADA"/>
                      </a:solidFill>
                      <a:prstDash val="solid"/>
                    </a:lnR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3495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dirty="0" sz="1200" spc="-25" b="1">
                          <a:solidFill>
                            <a:srgbClr val="022C5F"/>
                          </a:solidFill>
                          <a:latin typeface="Tahoma"/>
                          <a:cs typeface="Tahoma"/>
                        </a:rPr>
                        <a:t>12%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B="0" marT="87630">
                    <a:lnL w="12700">
                      <a:solidFill>
                        <a:srgbClr val="DADADA"/>
                      </a:solidFill>
                      <a:prstDash val="solid"/>
                    </a:lnL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3495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dirty="0" sz="1200" spc="-25" b="1">
                          <a:solidFill>
                            <a:srgbClr val="022C5F"/>
                          </a:solidFill>
                          <a:latin typeface="Tahoma"/>
                          <a:cs typeface="Tahoma"/>
                        </a:rPr>
                        <a:t>11%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B="0" marT="87630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</a:tr>
              <a:tr h="381000">
                <a:tc gridSpan="8">
                  <a:txBody>
                    <a:bodyPr/>
                    <a:lstStyle/>
                    <a:p>
                      <a:pPr marL="27432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300" spc="-25" b="1">
                          <a:solidFill>
                            <a:srgbClr val="022C5F"/>
                          </a:solidFill>
                          <a:latin typeface="Tahoma"/>
                          <a:cs typeface="Tahoma"/>
                        </a:rPr>
                        <a:t>Total</a:t>
                      </a:r>
                      <a:r>
                        <a:rPr dirty="0" sz="1300" spc="-60" b="1">
                          <a:solidFill>
                            <a:srgbClr val="022C5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00" spc="-40" b="1">
                          <a:solidFill>
                            <a:srgbClr val="022C5F"/>
                          </a:solidFill>
                          <a:latin typeface="Tahoma"/>
                          <a:cs typeface="Tahoma"/>
                        </a:rPr>
                        <a:t>Revenue</a:t>
                      </a:r>
                      <a:r>
                        <a:rPr dirty="0" sz="1300" spc="-45" b="1">
                          <a:solidFill>
                            <a:srgbClr val="022C5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00" spc="-160" b="1">
                          <a:solidFill>
                            <a:srgbClr val="022C5F"/>
                          </a:solidFill>
                          <a:latin typeface="Tahoma"/>
                          <a:cs typeface="Tahoma"/>
                        </a:rPr>
                        <a:t>-</a:t>
                      </a:r>
                      <a:r>
                        <a:rPr dirty="0" sz="1300" spc="-35" b="1">
                          <a:solidFill>
                            <a:srgbClr val="022C5F"/>
                          </a:solidFill>
                          <a:latin typeface="Tahoma"/>
                          <a:cs typeface="Tahoma"/>
                        </a:rPr>
                        <a:t> Select</a:t>
                      </a:r>
                      <a:r>
                        <a:rPr dirty="0" sz="1300" spc="-45" b="1">
                          <a:solidFill>
                            <a:srgbClr val="022C5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00" spc="-10" b="1">
                          <a:solidFill>
                            <a:srgbClr val="022C5F"/>
                          </a:solidFill>
                          <a:latin typeface="Tahoma"/>
                          <a:cs typeface="Tahoma"/>
                        </a:rPr>
                        <a:t>Acquisitions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B="0" marT="77470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81000">
                <a:tc>
                  <a:txBody>
                    <a:bodyPr/>
                    <a:lstStyle/>
                    <a:p>
                      <a:pPr marL="274320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dirty="0" sz="1200" spc="-50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Informatica</a:t>
                      </a:r>
                      <a:r>
                        <a:rPr dirty="0" sz="1200" spc="-60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200" spc="-50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Total</a:t>
                      </a:r>
                      <a:r>
                        <a:rPr dirty="0" sz="1200" spc="-60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 Revenue</a:t>
                      </a:r>
                      <a:r>
                        <a:rPr dirty="0" sz="1200" spc="-55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200" spc="-20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(SM)</a:t>
                      </a:r>
                      <a:r>
                        <a:rPr dirty="0" baseline="29629" sz="1125" spc="-30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2</a:t>
                      </a:r>
                      <a:endParaRPr baseline="29629" sz="1125">
                        <a:latin typeface="Verdana"/>
                        <a:cs typeface="Verdana"/>
                      </a:endParaRPr>
                    </a:p>
                  </a:txBody>
                  <a:tcPr marL="0" marR="0" marB="0" marT="87630">
                    <a:lnT w="12700">
                      <a:solidFill>
                        <a:srgbClr val="DADADA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06705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dirty="0" sz="1200" spc="-495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—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87630">
                    <a:lnT w="12700">
                      <a:solidFill>
                        <a:srgbClr val="DADADA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3495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dirty="0" sz="1200" spc="-495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—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87630">
                    <a:lnT w="12700">
                      <a:solidFill>
                        <a:srgbClr val="DADADA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3495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dirty="0" sz="1200" spc="-495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—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87630">
                    <a:lnT w="12700">
                      <a:solidFill>
                        <a:srgbClr val="DADADA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3495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dirty="0" sz="1200" spc="-20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S399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87630">
                    <a:lnT w="12700">
                      <a:solidFill>
                        <a:srgbClr val="DADADA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3495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dirty="0" sz="1200" spc="-20" b="1">
                          <a:solidFill>
                            <a:srgbClr val="022C5F"/>
                          </a:solidFill>
                          <a:latin typeface="Tahoma"/>
                          <a:cs typeface="Tahoma"/>
                        </a:rPr>
                        <a:t>S399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B="0" marT="87630">
                    <a:lnR w="12700">
                      <a:solidFill>
                        <a:srgbClr val="DADADA"/>
                      </a:solidFill>
                      <a:prstDash val="solid"/>
                    </a:lnR>
                    <a:lnT w="12700">
                      <a:solidFill>
                        <a:srgbClr val="DADADA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3495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dirty="0" sz="1200" spc="-20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S444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87630">
                    <a:lnL w="12700">
                      <a:solidFill>
                        <a:srgbClr val="DADADA"/>
                      </a:solidFill>
                      <a:prstDash val="solid"/>
                    </a:lnL>
                    <a:lnT w="12700">
                      <a:solidFill>
                        <a:srgbClr val="DADADA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dirty="0" sz="1200" spc="-20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S456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87630">
                    <a:lnT w="12700">
                      <a:solidFill>
                        <a:srgbClr val="DADADA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13" name="object 13"/>
          <p:cNvGrpSpPr/>
          <p:nvPr/>
        </p:nvGrpSpPr>
        <p:grpSpPr>
          <a:xfrm>
            <a:off x="8600820" y="4536694"/>
            <a:ext cx="2943225" cy="914400"/>
            <a:chOff x="8600820" y="4536694"/>
            <a:chExt cx="2943225" cy="914400"/>
          </a:xfrm>
        </p:grpSpPr>
        <p:sp>
          <p:nvSpPr>
            <p:cNvPr id="14" name="object 14"/>
            <p:cNvSpPr/>
            <p:nvPr/>
          </p:nvSpPr>
          <p:spPr>
            <a:xfrm>
              <a:off x="8600820" y="4643120"/>
              <a:ext cx="2826385" cy="807720"/>
            </a:xfrm>
            <a:custGeom>
              <a:avLst/>
              <a:gdLst/>
              <a:ahLst/>
              <a:cxnLst/>
              <a:rect l="l" t="t" r="r" b="b"/>
              <a:pathLst>
                <a:path w="2826384" h="807720">
                  <a:moveTo>
                    <a:pt x="2697099" y="0"/>
                  </a:moveTo>
                  <a:lnTo>
                    <a:pt x="129159" y="0"/>
                  </a:lnTo>
                  <a:lnTo>
                    <a:pt x="78920" y="10161"/>
                  </a:lnTo>
                  <a:lnTo>
                    <a:pt x="37861" y="37861"/>
                  </a:lnTo>
                  <a:lnTo>
                    <a:pt x="10161" y="78920"/>
                  </a:lnTo>
                  <a:lnTo>
                    <a:pt x="0" y="129158"/>
                  </a:lnTo>
                  <a:lnTo>
                    <a:pt x="0" y="678307"/>
                  </a:lnTo>
                  <a:lnTo>
                    <a:pt x="10161" y="728545"/>
                  </a:lnTo>
                  <a:lnTo>
                    <a:pt x="37861" y="769603"/>
                  </a:lnTo>
                  <a:lnTo>
                    <a:pt x="78920" y="797303"/>
                  </a:lnTo>
                  <a:lnTo>
                    <a:pt x="129159" y="807465"/>
                  </a:lnTo>
                  <a:lnTo>
                    <a:pt x="2697099" y="807465"/>
                  </a:lnTo>
                  <a:lnTo>
                    <a:pt x="2747337" y="797303"/>
                  </a:lnTo>
                  <a:lnTo>
                    <a:pt x="2788396" y="769603"/>
                  </a:lnTo>
                  <a:lnTo>
                    <a:pt x="2816096" y="728545"/>
                  </a:lnTo>
                  <a:lnTo>
                    <a:pt x="2826258" y="678307"/>
                  </a:lnTo>
                  <a:lnTo>
                    <a:pt x="2826258" y="129158"/>
                  </a:lnTo>
                  <a:lnTo>
                    <a:pt x="2816096" y="78920"/>
                  </a:lnTo>
                  <a:lnTo>
                    <a:pt x="2788396" y="37861"/>
                  </a:lnTo>
                  <a:lnTo>
                    <a:pt x="2747337" y="10161"/>
                  </a:lnTo>
                  <a:lnTo>
                    <a:pt x="2697099" y="0"/>
                  </a:lnTo>
                  <a:close/>
                </a:path>
              </a:pathLst>
            </a:custGeom>
            <a:solidFill>
              <a:srgbClr val="B8D2F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82984" y="4536694"/>
              <a:ext cx="360806" cy="365379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8719311" y="4742941"/>
            <a:ext cx="2589530" cy="665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022C5F"/>
                </a:solidFill>
                <a:latin typeface="Arial"/>
                <a:cs typeface="Arial"/>
              </a:rPr>
              <a:t>Q2'</a:t>
            </a:r>
            <a:r>
              <a:rPr dirty="0" sz="1400" spc="95" b="1">
                <a:solidFill>
                  <a:srgbClr val="022C5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022C5F"/>
                </a:solidFill>
                <a:latin typeface="Arial"/>
                <a:cs typeface="Arial"/>
              </a:rPr>
              <a:t>27</a:t>
            </a:r>
            <a:r>
              <a:rPr dirty="0" sz="1400" spc="100" b="1">
                <a:solidFill>
                  <a:srgbClr val="022C5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022C5F"/>
                </a:solidFill>
                <a:latin typeface="Arial"/>
                <a:cs typeface="Arial"/>
              </a:rPr>
              <a:t>revenue</a:t>
            </a:r>
            <a:r>
              <a:rPr dirty="0" sz="1400" spc="100" b="1">
                <a:solidFill>
                  <a:srgbClr val="022C5F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022C5F"/>
                </a:solidFill>
                <a:latin typeface="Arial"/>
                <a:cs typeface="Arial"/>
              </a:rPr>
              <a:t>attrition </a:t>
            </a:r>
            <a:r>
              <a:rPr dirty="0" sz="1400" spc="10" b="1">
                <a:solidFill>
                  <a:srgbClr val="022C5F"/>
                </a:solidFill>
                <a:latin typeface="Arial"/>
                <a:cs typeface="Arial"/>
              </a:rPr>
              <a:t>approximately</a:t>
            </a:r>
            <a:r>
              <a:rPr dirty="0" sz="1400" spc="20" b="1">
                <a:solidFill>
                  <a:srgbClr val="022C5F"/>
                </a:solidFill>
                <a:latin typeface="Arial"/>
                <a:cs typeface="Arial"/>
              </a:rPr>
              <a:t> </a:t>
            </a:r>
            <a:r>
              <a:rPr dirty="0" sz="1400" spc="10" b="1">
                <a:solidFill>
                  <a:srgbClr val="022C5F"/>
                </a:solidFill>
                <a:latin typeface="Arial"/>
                <a:cs typeface="Arial"/>
              </a:rPr>
              <a:t>8%,</a:t>
            </a:r>
            <a:r>
              <a:rPr dirty="0" sz="1400" spc="25" b="1">
                <a:solidFill>
                  <a:srgbClr val="022C5F"/>
                </a:solidFill>
                <a:latin typeface="Arial"/>
                <a:cs typeface="Arial"/>
              </a:rPr>
              <a:t> </a:t>
            </a:r>
            <a:r>
              <a:rPr dirty="0" sz="1400" spc="10" b="1">
                <a:solidFill>
                  <a:srgbClr val="022C5F"/>
                </a:solidFill>
                <a:latin typeface="Arial"/>
                <a:cs typeface="Arial"/>
              </a:rPr>
              <a:t>in</a:t>
            </a:r>
            <a:r>
              <a:rPr dirty="0" sz="1400" spc="20" b="1">
                <a:solidFill>
                  <a:srgbClr val="022C5F"/>
                </a:solidFill>
                <a:latin typeface="Arial"/>
                <a:cs typeface="Arial"/>
              </a:rPr>
              <a:t> </a:t>
            </a:r>
            <a:r>
              <a:rPr dirty="0" sz="1400" spc="10" b="1">
                <a:solidFill>
                  <a:srgbClr val="022C5F"/>
                </a:solidFill>
                <a:latin typeface="Arial"/>
                <a:cs typeface="Arial"/>
              </a:rPr>
              <a:t>line</a:t>
            </a:r>
            <a:r>
              <a:rPr dirty="0" sz="1400" spc="25" b="1">
                <a:solidFill>
                  <a:srgbClr val="022C5F"/>
                </a:solidFill>
                <a:latin typeface="Arial"/>
                <a:cs typeface="Arial"/>
              </a:rPr>
              <a:t> </a:t>
            </a:r>
            <a:r>
              <a:rPr dirty="0" sz="1400" spc="-20" b="1">
                <a:solidFill>
                  <a:srgbClr val="022C5F"/>
                </a:solidFill>
                <a:latin typeface="Arial"/>
                <a:cs typeface="Arial"/>
              </a:rPr>
              <a:t>with </a:t>
            </a:r>
            <a:r>
              <a:rPr dirty="0" sz="1400" b="1">
                <a:solidFill>
                  <a:srgbClr val="022C5F"/>
                </a:solidFill>
                <a:latin typeface="Arial"/>
                <a:cs typeface="Arial"/>
              </a:rPr>
              <a:t>recent</a:t>
            </a:r>
            <a:r>
              <a:rPr dirty="0" sz="1400" spc="180" b="1">
                <a:solidFill>
                  <a:srgbClr val="022C5F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022C5F"/>
                </a:solidFill>
                <a:latin typeface="Arial"/>
                <a:cs typeface="Arial"/>
              </a:rPr>
              <a:t>trends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/>
          <p:nvPr/>
        </p:nvSpPr>
        <p:spPr>
          <a:xfrm>
            <a:off x="0" y="6466585"/>
            <a:ext cx="12192000" cy="391795"/>
          </a:xfrm>
          <a:custGeom>
            <a:avLst/>
            <a:gdLst/>
            <a:ahLst/>
            <a:cxnLst/>
            <a:rect l="l" t="t" r="r" b="b"/>
            <a:pathLst>
              <a:path w="12192000" h="391795">
                <a:moveTo>
                  <a:pt x="0" y="391414"/>
                </a:moveTo>
                <a:lnTo>
                  <a:pt x="12192000" y="391414"/>
                </a:lnTo>
                <a:lnTo>
                  <a:pt x="12192000" y="0"/>
                </a:lnTo>
                <a:lnTo>
                  <a:pt x="0" y="0"/>
                </a:lnTo>
                <a:lnTo>
                  <a:pt x="0" y="391414"/>
                </a:lnTo>
                <a:close/>
              </a:path>
            </a:pathLst>
          </a:custGeom>
          <a:solidFill>
            <a:srgbClr val="CEE9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225169" y="6461506"/>
            <a:ext cx="97015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33333" sz="750" spc="-52">
                <a:solidFill>
                  <a:srgbClr val="6C6C6C"/>
                </a:solidFill>
                <a:latin typeface="Verdana"/>
                <a:cs typeface="Verdana"/>
              </a:rPr>
              <a:t>1</a:t>
            </a:r>
            <a:r>
              <a:rPr dirty="0" sz="800" spc="-35">
                <a:solidFill>
                  <a:srgbClr val="6C6C6C"/>
                </a:solidFill>
                <a:latin typeface="Verdana"/>
                <a:cs typeface="Verdana"/>
              </a:rPr>
              <a:t>Constant</a:t>
            </a:r>
            <a:r>
              <a:rPr dirty="0" sz="800" spc="-30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45">
                <a:solidFill>
                  <a:srgbClr val="6C6C6C"/>
                </a:solidFill>
                <a:latin typeface="Verdana"/>
                <a:cs typeface="Verdana"/>
              </a:rPr>
              <a:t>currency</a:t>
            </a:r>
            <a:r>
              <a:rPr dirty="0" sz="800" spc="-30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40">
                <a:solidFill>
                  <a:srgbClr val="6C6C6C"/>
                </a:solidFill>
                <a:latin typeface="Verdana"/>
                <a:cs typeface="Verdana"/>
              </a:rPr>
              <a:t>growth</a:t>
            </a:r>
            <a:r>
              <a:rPr dirty="0" sz="800" spc="-25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50">
                <a:solidFill>
                  <a:srgbClr val="6C6C6C"/>
                </a:solidFill>
                <a:latin typeface="Verdana"/>
                <a:cs typeface="Verdana"/>
              </a:rPr>
              <a:t>rates</a:t>
            </a:r>
            <a:r>
              <a:rPr dirty="0" sz="800" spc="-30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35">
                <a:solidFill>
                  <a:srgbClr val="6C6C6C"/>
                </a:solidFill>
                <a:latin typeface="Verdana"/>
                <a:cs typeface="Verdana"/>
              </a:rPr>
              <a:t>exclude</a:t>
            </a:r>
            <a:r>
              <a:rPr dirty="0" sz="800" spc="-30">
                <a:solidFill>
                  <a:srgbClr val="6C6C6C"/>
                </a:solidFill>
                <a:latin typeface="Verdana"/>
                <a:cs typeface="Verdana"/>
              </a:rPr>
              <a:t> the</a:t>
            </a:r>
            <a:r>
              <a:rPr dirty="0" sz="800" spc="-35">
                <a:solidFill>
                  <a:srgbClr val="6C6C6C"/>
                </a:solidFill>
                <a:latin typeface="Verdana"/>
                <a:cs typeface="Verdana"/>
              </a:rPr>
              <a:t> impacts</a:t>
            </a:r>
            <a:r>
              <a:rPr dirty="0" sz="800" spc="-25">
                <a:solidFill>
                  <a:srgbClr val="6C6C6C"/>
                </a:solidFill>
                <a:latin typeface="Verdana"/>
                <a:cs typeface="Verdana"/>
              </a:rPr>
              <a:t> of</a:t>
            </a:r>
            <a:r>
              <a:rPr dirty="0" sz="800" spc="-30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40">
                <a:solidFill>
                  <a:srgbClr val="6C6C6C"/>
                </a:solidFill>
                <a:latin typeface="Verdana"/>
                <a:cs typeface="Verdana"/>
              </a:rPr>
              <a:t>hedging</a:t>
            </a:r>
            <a:r>
              <a:rPr dirty="0" sz="800" spc="-25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10">
                <a:solidFill>
                  <a:srgbClr val="6C6C6C"/>
                </a:solidFill>
                <a:latin typeface="Verdana"/>
                <a:cs typeface="Verdana"/>
              </a:rPr>
              <a:t>gains.</a:t>
            </a:r>
            <a:endParaRPr sz="800">
              <a:latin typeface="Verdana"/>
              <a:cs typeface="Verdana"/>
            </a:endParaRPr>
          </a:p>
          <a:p>
            <a:pPr marL="38100" marR="30480">
              <a:lnSpc>
                <a:spcPct val="100000"/>
              </a:lnSpc>
            </a:pPr>
            <a:r>
              <a:rPr dirty="0" baseline="33333" sz="750" spc="-52">
                <a:solidFill>
                  <a:srgbClr val="6C6C6C"/>
                </a:solidFill>
                <a:latin typeface="Verdana"/>
                <a:cs typeface="Verdana"/>
              </a:rPr>
              <a:t>2</a:t>
            </a:r>
            <a:r>
              <a:rPr dirty="0" sz="800" spc="-35">
                <a:solidFill>
                  <a:srgbClr val="6C6C6C"/>
                </a:solidFill>
                <a:latin typeface="Verdana"/>
                <a:cs typeface="Verdana"/>
              </a:rPr>
              <a:t>Informatica</a:t>
            </a:r>
            <a:r>
              <a:rPr dirty="0" sz="800" spc="-40">
                <a:solidFill>
                  <a:srgbClr val="6C6C6C"/>
                </a:solidFill>
                <a:latin typeface="Verdana"/>
                <a:cs typeface="Verdana"/>
              </a:rPr>
              <a:t> Total</a:t>
            </a:r>
            <a:r>
              <a:rPr dirty="0" sz="800" spc="-30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45">
                <a:solidFill>
                  <a:srgbClr val="6C6C6C"/>
                </a:solidFill>
                <a:latin typeface="Verdana"/>
                <a:cs typeface="Verdana"/>
              </a:rPr>
              <a:t>Revenue</a:t>
            </a:r>
            <a:r>
              <a:rPr dirty="0" sz="800" spc="-40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25">
                <a:solidFill>
                  <a:srgbClr val="6C6C6C"/>
                </a:solidFill>
                <a:latin typeface="Verdana"/>
                <a:cs typeface="Verdana"/>
              </a:rPr>
              <a:t>includes</a:t>
            </a:r>
            <a:r>
              <a:rPr dirty="0" sz="800" spc="-30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35">
                <a:solidFill>
                  <a:srgbClr val="6C6C6C"/>
                </a:solidFill>
                <a:latin typeface="Verdana"/>
                <a:cs typeface="Verdana"/>
              </a:rPr>
              <a:t>professional </a:t>
            </a:r>
            <a:r>
              <a:rPr dirty="0" sz="800" spc="-50">
                <a:solidFill>
                  <a:srgbClr val="6C6C6C"/>
                </a:solidFill>
                <a:latin typeface="Verdana"/>
                <a:cs typeface="Verdana"/>
              </a:rPr>
              <a:t>services</a:t>
            </a:r>
            <a:r>
              <a:rPr dirty="0" sz="800" spc="-30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45">
                <a:solidFill>
                  <a:srgbClr val="6C6C6C"/>
                </a:solidFill>
                <a:latin typeface="Verdana"/>
                <a:cs typeface="Verdana"/>
              </a:rPr>
              <a:t>revenue</a:t>
            </a:r>
            <a:r>
              <a:rPr dirty="0" sz="800" spc="-40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35">
                <a:solidFill>
                  <a:srgbClr val="6C6C6C"/>
                </a:solidFill>
                <a:latin typeface="Verdana"/>
                <a:cs typeface="Verdana"/>
              </a:rPr>
              <a:t>and subscription and </a:t>
            </a:r>
            <a:r>
              <a:rPr dirty="0" sz="800" spc="-30">
                <a:solidFill>
                  <a:srgbClr val="6C6C6C"/>
                </a:solidFill>
                <a:latin typeface="Verdana"/>
                <a:cs typeface="Verdana"/>
              </a:rPr>
              <a:t>support</a:t>
            </a:r>
            <a:r>
              <a:rPr dirty="0" sz="800" spc="-35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50">
                <a:solidFill>
                  <a:srgbClr val="6C6C6C"/>
                </a:solidFill>
                <a:latin typeface="Verdana"/>
                <a:cs typeface="Verdana"/>
              </a:rPr>
              <a:t>revenue.</a:t>
            </a:r>
            <a:r>
              <a:rPr dirty="0" sz="800" spc="-30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10">
                <a:solidFill>
                  <a:srgbClr val="6C6C6C"/>
                </a:solidFill>
                <a:latin typeface="Verdana"/>
                <a:cs typeface="Verdana"/>
              </a:rPr>
              <a:t>Q4</a:t>
            </a:r>
            <a:r>
              <a:rPr dirty="0" sz="800" spc="-30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40">
                <a:solidFill>
                  <a:srgbClr val="6C6C6C"/>
                </a:solidFill>
                <a:latin typeface="Verdana"/>
                <a:cs typeface="Verdana"/>
              </a:rPr>
              <a:t>FY26</a:t>
            </a:r>
            <a:r>
              <a:rPr dirty="0" sz="800" spc="-35">
                <a:solidFill>
                  <a:srgbClr val="6C6C6C"/>
                </a:solidFill>
                <a:latin typeface="Verdana"/>
                <a:cs typeface="Verdana"/>
              </a:rPr>
              <a:t> and </a:t>
            </a:r>
            <a:r>
              <a:rPr dirty="0" sz="800" spc="-40">
                <a:solidFill>
                  <a:srgbClr val="6C6C6C"/>
                </a:solidFill>
                <a:latin typeface="Verdana"/>
                <a:cs typeface="Verdana"/>
              </a:rPr>
              <a:t>FY26</a:t>
            </a:r>
            <a:r>
              <a:rPr dirty="0" sz="800" spc="-35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45">
                <a:solidFill>
                  <a:srgbClr val="6C6C6C"/>
                </a:solidFill>
                <a:latin typeface="Verdana"/>
                <a:cs typeface="Verdana"/>
              </a:rPr>
              <a:t>results</a:t>
            </a:r>
            <a:r>
              <a:rPr dirty="0" sz="800" spc="-30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35">
                <a:solidFill>
                  <a:srgbClr val="6C6C6C"/>
                </a:solidFill>
                <a:latin typeface="Verdana"/>
                <a:cs typeface="Verdana"/>
              </a:rPr>
              <a:t>for</a:t>
            </a:r>
            <a:r>
              <a:rPr dirty="0" sz="800" spc="-30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35">
                <a:solidFill>
                  <a:srgbClr val="6C6C6C"/>
                </a:solidFill>
                <a:latin typeface="Verdana"/>
                <a:cs typeface="Verdana"/>
              </a:rPr>
              <a:t>Informatica</a:t>
            </a:r>
            <a:r>
              <a:rPr dirty="0" sz="800" spc="-40">
                <a:solidFill>
                  <a:srgbClr val="6C6C6C"/>
                </a:solidFill>
                <a:latin typeface="Verdana"/>
                <a:cs typeface="Verdana"/>
              </a:rPr>
              <a:t> represent</a:t>
            </a:r>
            <a:r>
              <a:rPr dirty="0" sz="800" spc="-30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50">
                <a:solidFill>
                  <a:srgbClr val="6C6C6C"/>
                </a:solidFill>
                <a:latin typeface="Verdana"/>
                <a:cs typeface="Verdana"/>
              </a:rPr>
              <a:t>a</a:t>
            </a:r>
            <a:r>
              <a:rPr dirty="0" sz="800" spc="-40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35">
                <a:solidFill>
                  <a:srgbClr val="6C6C6C"/>
                </a:solidFill>
                <a:latin typeface="Verdana"/>
                <a:cs typeface="Verdana"/>
              </a:rPr>
              <a:t>stub</a:t>
            </a:r>
            <a:r>
              <a:rPr dirty="0" sz="800" spc="-30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25">
                <a:solidFill>
                  <a:srgbClr val="6C6C6C"/>
                </a:solidFill>
                <a:latin typeface="Verdana"/>
                <a:cs typeface="Verdana"/>
              </a:rPr>
              <a:t>period</a:t>
            </a:r>
            <a:r>
              <a:rPr dirty="0" sz="800" spc="-40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35">
                <a:solidFill>
                  <a:srgbClr val="6C6C6C"/>
                </a:solidFill>
                <a:latin typeface="Verdana"/>
                <a:cs typeface="Verdana"/>
              </a:rPr>
              <a:t>reflecting</a:t>
            </a:r>
            <a:r>
              <a:rPr dirty="0" sz="800" spc="-30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45">
                <a:solidFill>
                  <a:srgbClr val="6C6C6C"/>
                </a:solidFill>
                <a:latin typeface="Verdana"/>
                <a:cs typeface="Verdana"/>
              </a:rPr>
              <a:t>revenue</a:t>
            </a:r>
            <a:r>
              <a:rPr dirty="0" sz="800" spc="-40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30">
                <a:solidFill>
                  <a:srgbClr val="6C6C6C"/>
                </a:solidFill>
                <a:latin typeface="Verdana"/>
                <a:cs typeface="Verdana"/>
              </a:rPr>
              <a:t>from the</a:t>
            </a:r>
            <a:r>
              <a:rPr dirty="0" sz="800" spc="-40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20">
                <a:solidFill>
                  <a:srgbClr val="6C6C6C"/>
                </a:solidFill>
                <a:latin typeface="Verdana"/>
                <a:cs typeface="Verdana"/>
              </a:rPr>
              <a:t>date </a:t>
            </a:r>
            <a:r>
              <a:rPr dirty="0" sz="800" spc="-25">
                <a:solidFill>
                  <a:srgbClr val="6C6C6C"/>
                </a:solidFill>
                <a:latin typeface="Verdana"/>
                <a:cs typeface="Verdana"/>
              </a:rPr>
              <a:t>of</a:t>
            </a:r>
            <a:r>
              <a:rPr dirty="0" sz="800" spc="-45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30">
                <a:solidFill>
                  <a:srgbClr val="6C6C6C"/>
                </a:solidFill>
                <a:latin typeface="Verdana"/>
                <a:cs typeface="Verdana"/>
              </a:rPr>
              <a:t>acquisition</a:t>
            </a:r>
            <a:r>
              <a:rPr dirty="0" sz="800" spc="-45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35">
                <a:solidFill>
                  <a:srgbClr val="6C6C6C"/>
                </a:solidFill>
                <a:latin typeface="Verdana"/>
                <a:cs typeface="Verdana"/>
              </a:rPr>
              <a:t>through</a:t>
            </a:r>
            <a:r>
              <a:rPr dirty="0" sz="800" spc="-45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30">
                <a:solidFill>
                  <a:srgbClr val="6C6C6C"/>
                </a:solidFill>
                <a:latin typeface="Verdana"/>
                <a:cs typeface="Verdana"/>
              </a:rPr>
              <a:t>the</a:t>
            </a:r>
            <a:r>
              <a:rPr dirty="0" sz="800" spc="-50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25">
                <a:solidFill>
                  <a:srgbClr val="6C6C6C"/>
                </a:solidFill>
                <a:latin typeface="Verdana"/>
                <a:cs typeface="Verdana"/>
              </a:rPr>
              <a:t>end</a:t>
            </a:r>
            <a:r>
              <a:rPr dirty="0" sz="800" spc="-50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25">
                <a:solidFill>
                  <a:srgbClr val="6C6C6C"/>
                </a:solidFill>
                <a:latin typeface="Verdana"/>
                <a:cs typeface="Verdana"/>
              </a:rPr>
              <a:t>of</a:t>
            </a:r>
            <a:r>
              <a:rPr dirty="0" sz="800" spc="-40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30">
                <a:solidFill>
                  <a:srgbClr val="6C6C6C"/>
                </a:solidFill>
                <a:latin typeface="Verdana"/>
                <a:cs typeface="Verdana"/>
              </a:rPr>
              <a:t>the</a:t>
            </a:r>
            <a:r>
              <a:rPr dirty="0" sz="800" spc="-50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40">
                <a:solidFill>
                  <a:srgbClr val="6C6C6C"/>
                </a:solidFill>
                <a:latin typeface="Verdana"/>
                <a:cs typeface="Verdana"/>
              </a:rPr>
              <a:t>fiscal</a:t>
            </a:r>
            <a:r>
              <a:rPr dirty="0" sz="800" spc="-45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20">
                <a:solidFill>
                  <a:srgbClr val="6C6C6C"/>
                </a:solidFill>
                <a:latin typeface="Verdana"/>
                <a:cs typeface="Verdana"/>
              </a:rPr>
              <a:t>year.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0" y="5960998"/>
            <a:ext cx="12192000" cy="506095"/>
          </a:xfrm>
          <a:custGeom>
            <a:avLst/>
            <a:gdLst/>
            <a:ahLst/>
            <a:cxnLst/>
            <a:rect l="l" t="t" r="r" b="b"/>
            <a:pathLst>
              <a:path w="12192000" h="506095">
                <a:moveTo>
                  <a:pt x="12191999" y="505586"/>
                </a:moveTo>
                <a:lnTo>
                  <a:pt x="12192000" y="0"/>
                </a:lnTo>
                <a:lnTo>
                  <a:pt x="0" y="0"/>
                </a:lnTo>
                <a:lnTo>
                  <a:pt x="0" y="505586"/>
                </a:lnTo>
                <a:lnTo>
                  <a:pt x="12191999" y="505586"/>
                </a:lnTo>
                <a:close/>
              </a:path>
            </a:pathLst>
          </a:custGeom>
          <a:solidFill>
            <a:srgbClr val="012A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3123310" y="6046596"/>
            <a:ext cx="577215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Our</a:t>
            </a:r>
            <a:r>
              <a:rPr dirty="0" sz="1600" spc="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speed</a:t>
            </a:r>
            <a:r>
              <a:rPr dirty="0" sz="1600" spc="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600" spc="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innovation</a:t>
            </a:r>
            <a:r>
              <a:rPr dirty="0" sz="1600" spc="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30" b="1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dirty="0" sz="1600" spc="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driving</a:t>
            </a:r>
            <a:r>
              <a:rPr dirty="0" sz="1600" spc="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Agentforce</a:t>
            </a:r>
            <a:r>
              <a:rPr dirty="0" sz="1600" spc="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Apps</a:t>
            </a:r>
            <a:r>
              <a:rPr dirty="0" sz="1600" spc="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growth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453621" y="6583933"/>
            <a:ext cx="18034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>
                <a:latin typeface="Verdana"/>
                <a:cs typeface="Verdana"/>
              </a:rPr>
              <a:t>19</a:t>
            </a:r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566293" y="485521"/>
            <a:ext cx="10029190" cy="1049655"/>
          </a:xfrm>
          <a:prstGeom prst="rect"/>
        </p:spPr>
        <p:txBody>
          <a:bodyPr wrap="square" lIns="0" tIns="89535" rIns="0" bIns="0" rtlCol="0" vert="horz">
            <a:spAutoFit/>
          </a:bodyPr>
          <a:lstStyle/>
          <a:p>
            <a:pPr marL="12700" marR="5080">
              <a:lnSpc>
                <a:spcPts val="3740"/>
              </a:lnSpc>
              <a:spcBef>
                <a:spcPts val="705"/>
              </a:spcBef>
            </a:pPr>
            <a:r>
              <a:rPr dirty="0">
                <a:solidFill>
                  <a:srgbClr val="001E5A"/>
                </a:solidFill>
              </a:rPr>
              <a:t>Revenue</a:t>
            </a:r>
            <a:r>
              <a:rPr dirty="0" spc="-25">
                <a:solidFill>
                  <a:srgbClr val="001E5A"/>
                </a:solidFill>
              </a:rPr>
              <a:t> </a:t>
            </a:r>
            <a:r>
              <a:rPr dirty="0">
                <a:solidFill>
                  <a:srgbClr val="001E5A"/>
                </a:solidFill>
              </a:rPr>
              <a:t>Growth</a:t>
            </a:r>
            <a:r>
              <a:rPr dirty="0" spc="-20">
                <a:solidFill>
                  <a:srgbClr val="001E5A"/>
                </a:solidFill>
              </a:rPr>
              <a:t> </a:t>
            </a:r>
            <a:r>
              <a:rPr dirty="0" spc="-140">
                <a:solidFill>
                  <a:srgbClr val="001E5A"/>
                </a:solidFill>
              </a:rPr>
              <a:t>Trends</a:t>
            </a:r>
            <a:r>
              <a:rPr dirty="0" spc="-25">
                <a:solidFill>
                  <a:srgbClr val="001E5A"/>
                </a:solidFill>
              </a:rPr>
              <a:t> </a:t>
            </a:r>
            <a:r>
              <a:rPr dirty="0">
                <a:solidFill>
                  <a:srgbClr val="001E5A"/>
                </a:solidFill>
              </a:rPr>
              <a:t>in</a:t>
            </a:r>
            <a:r>
              <a:rPr dirty="0" spc="-20">
                <a:solidFill>
                  <a:srgbClr val="001E5A"/>
                </a:solidFill>
              </a:rPr>
              <a:t> </a:t>
            </a:r>
            <a:r>
              <a:rPr dirty="0">
                <a:solidFill>
                  <a:srgbClr val="001E5A"/>
                </a:solidFill>
              </a:rPr>
              <a:t>Constant</a:t>
            </a:r>
            <a:r>
              <a:rPr dirty="0" spc="-25">
                <a:solidFill>
                  <a:srgbClr val="001E5A"/>
                </a:solidFill>
              </a:rPr>
              <a:t> </a:t>
            </a:r>
            <a:r>
              <a:rPr dirty="0" spc="-10">
                <a:solidFill>
                  <a:srgbClr val="001E5A"/>
                </a:solidFill>
              </a:rPr>
              <a:t>Currency </a:t>
            </a:r>
            <a:r>
              <a:rPr dirty="0" spc="-180">
                <a:solidFill>
                  <a:srgbClr val="012ABF"/>
                </a:solidFill>
              </a:rPr>
              <a:t>Prior</a:t>
            </a:r>
            <a:r>
              <a:rPr dirty="0" spc="80">
                <a:solidFill>
                  <a:srgbClr val="012ABF"/>
                </a:solidFill>
              </a:rPr>
              <a:t> </a:t>
            </a:r>
            <a:r>
              <a:rPr dirty="0" spc="75">
                <a:solidFill>
                  <a:srgbClr val="012ABF"/>
                </a:solidFill>
              </a:rPr>
              <a:t>Disaggregated</a:t>
            </a:r>
            <a:r>
              <a:rPr dirty="0" spc="95">
                <a:solidFill>
                  <a:srgbClr val="012ABF"/>
                </a:solidFill>
              </a:rPr>
              <a:t> </a:t>
            </a:r>
            <a:r>
              <a:rPr dirty="0">
                <a:solidFill>
                  <a:srgbClr val="012ABF"/>
                </a:solidFill>
              </a:rPr>
              <a:t>Revenue</a:t>
            </a:r>
            <a:r>
              <a:rPr dirty="0" spc="95">
                <a:solidFill>
                  <a:srgbClr val="012ABF"/>
                </a:solidFill>
              </a:rPr>
              <a:t> </a:t>
            </a:r>
            <a:r>
              <a:rPr dirty="0" spc="-10">
                <a:solidFill>
                  <a:srgbClr val="012ABF"/>
                </a:solidFill>
              </a:rPr>
              <a:t>Structure</a:t>
            </a: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33252" y="565404"/>
            <a:ext cx="635634" cy="44500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4499736" y="1937004"/>
            <a:ext cx="7134225" cy="257175"/>
          </a:xfrm>
          <a:custGeom>
            <a:avLst/>
            <a:gdLst/>
            <a:ahLst/>
            <a:cxnLst/>
            <a:rect l="l" t="t" r="r" b="b"/>
            <a:pathLst>
              <a:path w="7134225" h="257175">
                <a:moveTo>
                  <a:pt x="7134225" y="0"/>
                </a:moveTo>
                <a:lnTo>
                  <a:pt x="0" y="0"/>
                </a:lnTo>
                <a:lnTo>
                  <a:pt x="0" y="257175"/>
                </a:lnTo>
                <a:lnTo>
                  <a:pt x="7134225" y="257175"/>
                </a:lnTo>
                <a:lnTo>
                  <a:pt x="7134225" y="0"/>
                </a:lnTo>
                <a:close/>
              </a:path>
            </a:pathLst>
          </a:custGeom>
          <a:solidFill>
            <a:srgbClr val="001E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499736" y="1937004"/>
            <a:ext cx="7134225" cy="257175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2350135">
              <a:lnSpc>
                <a:spcPct val="100000"/>
              </a:lnSpc>
              <a:spcBef>
                <a:spcPts val="60"/>
              </a:spcBef>
              <a:tabLst>
                <a:tab pos="5917565" algn="l"/>
              </a:tabLst>
            </a:pPr>
            <a:r>
              <a:rPr dirty="0" sz="1400" spc="-20" b="1">
                <a:solidFill>
                  <a:srgbClr val="FFFFFF"/>
                </a:solidFill>
                <a:latin typeface="Arial"/>
                <a:cs typeface="Arial"/>
              </a:rPr>
              <a:t>FY26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1400" spc="-20" b="1">
                <a:solidFill>
                  <a:srgbClr val="FFFFFF"/>
                </a:solidFill>
                <a:latin typeface="Arial"/>
                <a:cs typeface="Arial"/>
              </a:rPr>
              <a:t>FY27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595611" y="1937004"/>
            <a:ext cx="0" cy="257175"/>
          </a:xfrm>
          <a:custGeom>
            <a:avLst/>
            <a:gdLst/>
            <a:ahLst/>
            <a:cxnLst/>
            <a:rect l="l" t="t" r="r" b="b"/>
            <a:pathLst>
              <a:path w="0" h="257175">
                <a:moveTo>
                  <a:pt x="0" y="0"/>
                </a:moveTo>
                <a:lnTo>
                  <a:pt x="0" y="257175"/>
                </a:lnTo>
              </a:path>
            </a:pathLst>
          </a:custGeom>
          <a:ln w="12700">
            <a:solidFill>
              <a:srgbClr val="DADADA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96240" y="2566923"/>
            <a:ext cx="273431" cy="273176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96240" y="2890773"/>
            <a:ext cx="274320" cy="274192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1539093" y="3237103"/>
            <a:ext cx="552450" cy="246379"/>
          </a:xfrm>
          <a:custGeom>
            <a:avLst/>
            <a:gdLst/>
            <a:ahLst/>
            <a:cxnLst/>
            <a:rect l="l" t="t" r="r" b="b"/>
            <a:pathLst>
              <a:path w="552450" h="246379">
                <a:moveTo>
                  <a:pt x="429386" y="0"/>
                </a:moveTo>
                <a:lnTo>
                  <a:pt x="123063" y="0"/>
                </a:lnTo>
                <a:lnTo>
                  <a:pt x="75169" y="9673"/>
                </a:lnTo>
                <a:lnTo>
                  <a:pt x="36051" y="36052"/>
                </a:lnTo>
                <a:lnTo>
                  <a:pt x="9673" y="75170"/>
                </a:lnTo>
                <a:lnTo>
                  <a:pt x="0" y="123062"/>
                </a:lnTo>
                <a:lnTo>
                  <a:pt x="9673" y="170955"/>
                </a:lnTo>
                <a:lnTo>
                  <a:pt x="36051" y="210073"/>
                </a:lnTo>
                <a:lnTo>
                  <a:pt x="75169" y="236451"/>
                </a:lnTo>
                <a:lnTo>
                  <a:pt x="123063" y="246125"/>
                </a:lnTo>
                <a:lnTo>
                  <a:pt x="429386" y="246125"/>
                </a:lnTo>
                <a:lnTo>
                  <a:pt x="477279" y="236451"/>
                </a:lnTo>
                <a:lnTo>
                  <a:pt x="516397" y="210073"/>
                </a:lnTo>
                <a:lnTo>
                  <a:pt x="542776" y="170955"/>
                </a:lnTo>
                <a:lnTo>
                  <a:pt x="552450" y="123062"/>
                </a:lnTo>
                <a:lnTo>
                  <a:pt x="542776" y="75170"/>
                </a:lnTo>
                <a:lnTo>
                  <a:pt x="516397" y="36052"/>
                </a:lnTo>
                <a:lnTo>
                  <a:pt x="477279" y="9673"/>
                </a:lnTo>
                <a:lnTo>
                  <a:pt x="42938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689737" y="2187829"/>
          <a:ext cx="11020425" cy="23425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32225"/>
                <a:gridCol w="996314"/>
                <a:gridCol w="1018539"/>
                <a:gridCol w="1018540"/>
                <a:gridCol w="1018540"/>
                <a:gridCol w="1018540"/>
                <a:gridCol w="1018540"/>
                <a:gridCol w="1018540"/>
              </a:tblGrid>
              <a:tr h="342900">
                <a:tc>
                  <a:txBody>
                    <a:bodyPr/>
                    <a:lstStyle/>
                    <a:p>
                      <a:pPr marL="12192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400" spc="-3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Subscription</a:t>
                      </a:r>
                      <a:r>
                        <a:rPr dirty="0" sz="1400" spc="-4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&amp;</a:t>
                      </a:r>
                      <a:r>
                        <a:rPr dirty="0" sz="1400" spc="-3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Support</a:t>
                      </a:r>
                      <a:r>
                        <a:rPr dirty="0" sz="1400" spc="-3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Revenue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0165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001E5A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4604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Q1’</a:t>
                      </a:r>
                      <a:r>
                        <a:rPr dirty="0" sz="1400" spc="9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0165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001E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Q2’</a:t>
                      </a:r>
                      <a:r>
                        <a:rPr dirty="0" sz="1400" spc="9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0165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001E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Q3’</a:t>
                      </a:r>
                      <a:r>
                        <a:rPr dirty="0" sz="1400" spc="9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0165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001E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Q4’</a:t>
                      </a:r>
                      <a:r>
                        <a:rPr dirty="0" sz="1400" spc="9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0165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001E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400" spc="-1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FY'</a:t>
                      </a:r>
                      <a:r>
                        <a:rPr dirty="0" sz="1400" spc="1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0165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001E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Q1’</a:t>
                      </a:r>
                      <a:r>
                        <a:rPr dirty="0" sz="1400" spc="9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001E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Q2’</a:t>
                      </a:r>
                      <a:r>
                        <a:rPr dirty="0" sz="1400" spc="9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0165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001E5A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12192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200" spc="-45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Agentforce</a:t>
                      </a:r>
                      <a:r>
                        <a:rPr dirty="0" sz="1200" spc="-65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200" spc="-20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Sales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63500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200" spc="40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7%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63500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349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200" spc="40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8%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63500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349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200" spc="40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8%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63500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349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200" spc="40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8%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63500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349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200" spc="-25" b="1">
                          <a:solidFill>
                            <a:srgbClr val="022C5F"/>
                          </a:solidFill>
                          <a:latin typeface="Tahoma"/>
                          <a:cs typeface="Tahoma"/>
                        </a:rPr>
                        <a:t>8%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B="0" marT="63500">
                    <a:lnR w="12700">
                      <a:solidFill>
                        <a:srgbClr val="DADADA"/>
                      </a:solidFill>
                      <a:prstDash val="solid"/>
                    </a:lnR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349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200" spc="-25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10%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63500">
                    <a:lnL w="12700">
                      <a:solidFill>
                        <a:srgbClr val="DADADA"/>
                      </a:solidFill>
                      <a:prstDash val="solid"/>
                    </a:lnL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349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200" spc="40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9%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63500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12192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200" spc="-45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Agentforce</a:t>
                      </a:r>
                      <a:r>
                        <a:rPr dirty="0" sz="1200" spc="-65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200" spc="-10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Service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63500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200" spc="40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7%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63500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349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200" spc="40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8%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63500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349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200" spc="40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8%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63500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349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200" spc="40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7%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63500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349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200" spc="-25" b="1">
                          <a:solidFill>
                            <a:srgbClr val="022C5F"/>
                          </a:solidFill>
                          <a:latin typeface="Tahoma"/>
                          <a:cs typeface="Tahoma"/>
                        </a:rPr>
                        <a:t>8%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B="0" marT="63500">
                    <a:lnR w="12700">
                      <a:solidFill>
                        <a:srgbClr val="DADADA"/>
                      </a:solidFill>
                      <a:prstDash val="solid"/>
                    </a:lnR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349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200" spc="40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5%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63500">
                    <a:lnL w="12700">
                      <a:solidFill>
                        <a:srgbClr val="DADADA"/>
                      </a:solidFill>
                      <a:prstDash val="solid"/>
                    </a:lnL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349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200" spc="40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5%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63500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2740">
                <a:tc>
                  <a:txBody>
                    <a:bodyPr/>
                    <a:lstStyle/>
                    <a:p>
                      <a:pPr marL="12192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200" spc="-45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Agentforce</a:t>
                      </a:r>
                      <a:r>
                        <a:rPr dirty="0" sz="1200" spc="-75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200" spc="-40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360</a:t>
                      </a:r>
                      <a:r>
                        <a:rPr dirty="0" sz="1200" spc="-70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200" spc="-50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Platform,</a:t>
                      </a:r>
                      <a:r>
                        <a:rPr dirty="0" sz="1200" spc="-70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200" spc="-75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Slack </a:t>
                      </a:r>
                      <a:r>
                        <a:rPr dirty="0" sz="1200" spc="-45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sz="1200" spc="-70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200" spc="-20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Other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63500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200" spc="-25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14%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63500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349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200" spc="-25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16%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63500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349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200" spc="-25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19%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63500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349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200" spc="-25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37%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63500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349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200" spc="-25" b="1">
                          <a:solidFill>
                            <a:srgbClr val="022C5F"/>
                          </a:solidFill>
                          <a:latin typeface="Tahoma"/>
                          <a:cs typeface="Tahoma"/>
                        </a:rPr>
                        <a:t>22%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B="0" marT="63500">
                    <a:lnR w="12700">
                      <a:solidFill>
                        <a:srgbClr val="DADADA"/>
                      </a:solidFill>
                      <a:prstDash val="solid"/>
                    </a:lnR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349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200" spc="-25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43%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63500">
                    <a:lnL w="12700">
                      <a:solidFill>
                        <a:srgbClr val="DADADA"/>
                      </a:solidFill>
                      <a:prstDash val="solid"/>
                    </a:lnL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349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200" spc="-25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43%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63500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121920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dirty="0" sz="1200" spc="-45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Agentforce</a:t>
                      </a:r>
                      <a:r>
                        <a:rPr dirty="0" sz="1200" spc="-75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200" spc="-45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Marketing</a:t>
                      </a:r>
                      <a:r>
                        <a:rPr dirty="0" sz="1200" spc="-70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200" spc="-45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sz="1200" spc="-70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200" spc="-45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Agentforce</a:t>
                      </a:r>
                      <a:r>
                        <a:rPr dirty="0" sz="1200" spc="-70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200" spc="-10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Commerce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64135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dirty="0" sz="1200" spc="40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4%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64135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349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dirty="0" sz="1200" spc="40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3%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64135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349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dirty="0" sz="1200" spc="40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1%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64135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349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dirty="0" sz="1200" spc="-20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(1)%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64135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349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dirty="0" sz="1200" spc="-25" b="1">
                          <a:solidFill>
                            <a:srgbClr val="022C5F"/>
                          </a:solidFill>
                          <a:latin typeface="Tahoma"/>
                          <a:cs typeface="Tahoma"/>
                        </a:rPr>
                        <a:t>2%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B="0" marT="64135">
                    <a:lnR w="12700">
                      <a:solidFill>
                        <a:srgbClr val="DADADA"/>
                      </a:solidFill>
                      <a:prstDash val="solid"/>
                    </a:lnR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349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dirty="0" sz="1200" spc="-20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(2)%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64135">
                    <a:lnL w="12700">
                      <a:solidFill>
                        <a:srgbClr val="DADADA"/>
                      </a:solidFill>
                      <a:prstDash val="solid"/>
                    </a:lnL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349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dirty="0" sz="1200" spc="-20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(1)%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64135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121920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dirty="0" sz="1200" spc="-45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Agentforce</a:t>
                      </a:r>
                      <a:r>
                        <a:rPr dirty="0" sz="1200" spc="-60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200" spc="-55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Integration </a:t>
                      </a:r>
                      <a:r>
                        <a:rPr dirty="0" sz="1200" spc="-45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sz="1200" spc="-60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200" spc="-45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Agentforce</a:t>
                      </a:r>
                      <a:r>
                        <a:rPr dirty="0" sz="1200" spc="-55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200" spc="-10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Analytics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64135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dirty="0" sz="1200" spc="-25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10%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64135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349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dirty="0" sz="1200" spc="-25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12%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64135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349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dirty="0" sz="1200" spc="40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6%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64135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349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dirty="0" sz="1200" spc="40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3%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64135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349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dirty="0" sz="1200" spc="-25" b="1">
                          <a:solidFill>
                            <a:srgbClr val="022C5F"/>
                          </a:solidFill>
                          <a:latin typeface="Tahoma"/>
                          <a:cs typeface="Tahoma"/>
                        </a:rPr>
                        <a:t>7%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B="0" marT="64135">
                    <a:lnR w="12700">
                      <a:solidFill>
                        <a:srgbClr val="DADADA"/>
                      </a:solidFill>
                      <a:prstDash val="solid"/>
                    </a:lnR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349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dirty="0" sz="1200" spc="40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1%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64135">
                    <a:lnL w="12700">
                      <a:solidFill>
                        <a:srgbClr val="DADADA"/>
                      </a:solidFill>
                      <a:prstDash val="solid"/>
                    </a:lnL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349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dirty="0" sz="1200" spc="-20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(6)%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64135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12192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300" spc="-25" b="1">
                          <a:solidFill>
                            <a:srgbClr val="022C5F"/>
                          </a:solidFill>
                          <a:latin typeface="Tahoma"/>
                          <a:cs typeface="Tahoma"/>
                        </a:rPr>
                        <a:t>Total</a:t>
                      </a:r>
                      <a:r>
                        <a:rPr dirty="0" sz="1300" spc="-50" b="1">
                          <a:solidFill>
                            <a:srgbClr val="022C5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00" spc="-30" b="1">
                          <a:solidFill>
                            <a:srgbClr val="022C5F"/>
                          </a:solidFill>
                          <a:latin typeface="Tahoma"/>
                          <a:cs typeface="Tahoma"/>
                        </a:rPr>
                        <a:t>Subscription</a:t>
                      </a:r>
                      <a:r>
                        <a:rPr dirty="0" sz="1300" spc="-40" b="1">
                          <a:solidFill>
                            <a:srgbClr val="022C5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00" spc="-140" b="1">
                          <a:solidFill>
                            <a:srgbClr val="022C5F"/>
                          </a:solidFill>
                          <a:latin typeface="Tahoma"/>
                          <a:cs typeface="Tahoma"/>
                        </a:rPr>
                        <a:t>&amp;</a:t>
                      </a:r>
                      <a:r>
                        <a:rPr dirty="0" sz="1300" spc="-35" b="1">
                          <a:solidFill>
                            <a:srgbClr val="022C5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00" spc="-20" b="1">
                          <a:solidFill>
                            <a:srgbClr val="022C5F"/>
                          </a:solidFill>
                          <a:latin typeface="Tahoma"/>
                          <a:cs typeface="Tahoma"/>
                        </a:rPr>
                        <a:t>Support</a:t>
                      </a:r>
                      <a:r>
                        <a:rPr dirty="0" sz="1300" spc="-40" b="1">
                          <a:solidFill>
                            <a:srgbClr val="022C5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00" spc="-10" b="1">
                          <a:solidFill>
                            <a:srgbClr val="022C5F"/>
                          </a:solidFill>
                          <a:latin typeface="Tahoma"/>
                          <a:cs typeface="Tahoma"/>
                        </a:rPr>
                        <a:t>Revenue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B="0" marT="53975">
                    <a:lnT w="12700">
                      <a:solidFill>
                        <a:srgbClr val="DADADA"/>
                      </a:solidFill>
                      <a:prstDash val="solid"/>
                    </a:lnT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dirty="0" sz="1200" spc="-25" b="1">
                          <a:solidFill>
                            <a:srgbClr val="022C5F"/>
                          </a:solidFill>
                          <a:latin typeface="Tahoma"/>
                          <a:cs typeface="Tahoma"/>
                        </a:rPr>
                        <a:t>9%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B="0" marT="64135">
                    <a:lnT w="12700">
                      <a:solidFill>
                        <a:srgbClr val="DADADA"/>
                      </a:solidFill>
                      <a:prstDash val="solid"/>
                    </a:lnT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349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dirty="0" sz="1200" spc="-25" b="1">
                          <a:solidFill>
                            <a:srgbClr val="022C5F"/>
                          </a:solidFill>
                          <a:latin typeface="Tahoma"/>
                          <a:cs typeface="Tahoma"/>
                        </a:rPr>
                        <a:t>9%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B="0" marT="64135">
                    <a:lnT w="12700">
                      <a:solidFill>
                        <a:srgbClr val="DADADA"/>
                      </a:solidFill>
                      <a:prstDash val="solid"/>
                    </a:lnT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349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dirty="0" sz="1200" spc="-25" b="1">
                          <a:solidFill>
                            <a:srgbClr val="022C5F"/>
                          </a:solidFill>
                          <a:latin typeface="Tahoma"/>
                          <a:cs typeface="Tahoma"/>
                        </a:rPr>
                        <a:t>9%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B="0" marT="64135">
                    <a:lnT w="12700">
                      <a:solidFill>
                        <a:srgbClr val="DADADA"/>
                      </a:solidFill>
                      <a:prstDash val="solid"/>
                    </a:lnT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349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dirty="0" sz="1200" spc="-25" b="1">
                          <a:solidFill>
                            <a:srgbClr val="022C5F"/>
                          </a:solidFill>
                          <a:latin typeface="Tahoma"/>
                          <a:cs typeface="Tahoma"/>
                        </a:rPr>
                        <a:t>11%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B="0" marT="64135">
                    <a:lnT w="12700">
                      <a:solidFill>
                        <a:srgbClr val="DADADA"/>
                      </a:solidFill>
                      <a:prstDash val="solid"/>
                    </a:lnT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349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dirty="0" sz="1200" spc="-25" b="1">
                          <a:solidFill>
                            <a:srgbClr val="022C5F"/>
                          </a:solidFill>
                          <a:latin typeface="Tahoma"/>
                          <a:cs typeface="Tahoma"/>
                        </a:rPr>
                        <a:t>10%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B="0" marT="64135">
                    <a:lnR w="12700">
                      <a:solidFill>
                        <a:srgbClr val="DADADA"/>
                      </a:solidFill>
                      <a:prstDash val="solid"/>
                    </a:lnR>
                    <a:lnT w="12700">
                      <a:solidFill>
                        <a:srgbClr val="DADADA"/>
                      </a:solidFill>
                      <a:prstDash val="solid"/>
                    </a:lnT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349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dirty="0" sz="1200" spc="-25" b="1">
                          <a:solidFill>
                            <a:srgbClr val="022C5F"/>
                          </a:solidFill>
                          <a:latin typeface="Tahoma"/>
                          <a:cs typeface="Tahoma"/>
                        </a:rPr>
                        <a:t>12%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B="0" marT="64135">
                    <a:lnL w="12700">
                      <a:solidFill>
                        <a:srgbClr val="DADADA"/>
                      </a:solidFill>
                      <a:prstDash val="solid"/>
                    </a:lnL>
                    <a:lnT w="12700">
                      <a:solidFill>
                        <a:srgbClr val="DADADA"/>
                      </a:solidFill>
                      <a:prstDash val="solid"/>
                    </a:lnT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349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dirty="0" sz="1200" spc="-25" b="1">
                          <a:solidFill>
                            <a:srgbClr val="022C5F"/>
                          </a:solidFill>
                          <a:latin typeface="Tahoma"/>
                          <a:cs typeface="Tahoma"/>
                        </a:rPr>
                        <a:t>11%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B="0" marT="64135">
                    <a:lnT w="12700">
                      <a:solidFill>
                        <a:srgbClr val="DADADA"/>
                      </a:solidFill>
                      <a:prstDash val="solid"/>
                    </a:lnT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pic>
        <p:nvPicPr>
          <p:cNvPr id="30" name="object 30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1539093" y="2799588"/>
            <a:ext cx="360806" cy="365378"/>
          </a:xfrm>
          <a:prstGeom prst="rect">
            <a:avLst/>
          </a:prstGeom>
        </p:spPr>
      </p:pic>
      <p:grpSp>
        <p:nvGrpSpPr>
          <p:cNvPr id="23" name="object 23"/>
          <p:cNvGrpSpPr/>
          <p:nvPr/>
        </p:nvGrpSpPr>
        <p:grpSpPr>
          <a:xfrm>
            <a:off x="5206" y="3229609"/>
            <a:ext cx="684530" cy="255270"/>
            <a:chOff x="5206" y="3229609"/>
            <a:chExt cx="684530" cy="255270"/>
          </a:xfrm>
        </p:grpSpPr>
        <p:pic>
          <p:nvPicPr>
            <p:cNvPr id="24" name="object 2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61137" y="3234817"/>
              <a:ext cx="228600" cy="22860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206" y="3256279"/>
              <a:ext cx="228600" cy="228473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15391" y="3229609"/>
              <a:ext cx="228600" cy="228600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11666093" y="3271265"/>
            <a:ext cx="370840" cy="189230"/>
            <a:chOff x="11666093" y="3271265"/>
            <a:chExt cx="370840" cy="189230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862943" y="3277361"/>
              <a:ext cx="173735" cy="18287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666093" y="3271265"/>
              <a:ext cx="173735" cy="182879"/>
            </a:xfrm>
            <a:prstGeom prst="rect">
              <a:avLst/>
            </a:prstGeom>
          </p:spPr>
        </p:pic>
      </p:grpSp>
      <p:pic>
        <p:nvPicPr>
          <p:cNvPr id="19" name="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9031" y="3565905"/>
            <a:ext cx="529717" cy="274192"/>
          </a:xfrm>
          <a:prstGeom prst="rect">
            <a:avLst/>
          </a:prstGeom>
        </p:spPr>
      </p:pic>
      <p:grpSp>
        <p:nvGrpSpPr>
          <p:cNvPr id="20" name="object 20"/>
          <p:cNvGrpSpPr/>
          <p:nvPr/>
        </p:nvGrpSpPr>
        <p:grpSpPr>
          <a:xfrm>
            <a:off x="129031" y="3904107"/>
            <a:ext cx="530225" cy="295275"/>
            <a:chOff x="129031" y="3904107"/>
            <a:chExt cx="530225" cy="295275"/>
          </a:xfrm>
        </p:grpSpPr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9031" y="3904107"/>
              <a:ext cx="274320" cy="274193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84429" y="3904107"/>
              <a:ext cx="274320" cy="295148"/>
            </a:xfrm>
            <a:prstGeom prst="rect">
              <a:avLst/>
            </a:prstGeom>
          </p:spPr>
        </p:pic>
      </p:grpSp>
      <p:grpSp>
        <p:nvGrpSpPr>
          <p:cNvPr id="31" name="object 31"/>
          <p:cNvGrpSpPr/>
          <p:nvPr/>
        </p:nvGrpSpPr>
        <p:grpSpPr>
          <a:xfrm>
            <a:off x="8295640" y="4643120"/>
            <a:ext cx="3131820" cy="1123315"/>
            <a:chOff x="8295640" y="4643120"/>
            <a:chExt cx="3131820" cy="1123315"/>
          </a:xfrm>
        </p:grpSpPr>
        <p:sp>
          <p:nvSpPr>
            <p:cNvPr id="32" name="object 32"/>
            <p:cNvSpPr/>
            <p:nvPr/>
          </p:nvSpPr>
          <p:spPr>
            <a:xfrm>
              <a:off x="8600820" y="4643120"/>
              <a:ext cx="2826385" cy="1123315"/>
            </a:xfrm>
            <a:custGeom>
              <a:avLst/>
              <a:gdLst/>
              <a:ahLst/>
              <a:cxnLst/>
              <a:rect l="l" t="t" r="r" b="b"/>
              <a:pathLst>
                <a:path w="2826384" h="1123314">
                  <a:moveTo>
                    <a:pt x="2646553" y="0"/>
                  </a:moveTo>
                  <a:lnTo>
                    <a:pt x="179705" y="0"/>
                  </a:lnTo>
                  <a:lnTo>
                    <a:pt x="131953" y="6423"/>
                  </a:lnTo>
                  <a:lnTo>
                    <a:pt x="89031" y="24548"/>
                  </a:lnTo>
                  <a:lnTo>
                    <a:pt x="52657" y="52657"/>
                  </a:lnTo>
                  <a:lnTo>
                    <a:pt x="24548" y="89031"/>
                  </a:lnTo>
                  <a:lnTo>
                    <a:pt x="6423" y="131953"/>
                  </a:lnTo>
                  <a:lnTo>
                    <a:pt x="0" y="179704"/>
                  </a:lnTo>
                  <a:lnTo>
                    <a:pt x="0" y="943609"/>
                  </a:lnTo>
                  <a:lnTo>
                    <a:pt x="6423" y="991361"/>
                  </a:lnTo>
                  <a:lnTo>
                    <a:pt x="24548" y="1034283"/>
                  </a:lnTo>
                  <a:lnTo>
                    <a:pt x="52657" y="1070657"/>
                  </a:lnTo>
                  <a:lnTo>
                    <a:pt x="89031" y="1098766"/>
                  </a:lnTo>
                  <a:lnTo>
                    <a:pt x="131953" y="1116891"/>
                  </a:lnTo>
                  <a:lnTo>
                    <a:pt x="179705" y="1123314"/>
                  </a:lnTo>
                  <a:lnTo>
                    <a:pt x="2646553" y="1123314"/>
                  </a:lnTo>
                  <a:lnTo>
                    <a:pt x="2694304" y="1116891"/>
                  </a:lnTo>
                  <a:lnTo>
                    <a:pt x="2737226" y="1098766"/>
                  </a:lnTo>
                  <a:lnTo>
                    <a:pt x="2773600" y="1070657"/>
                  </a:lnTo>
                  <a:lnTo>
                    <a:pt x="2801709" y="1034283"/>
                  </a:lnTo>
                  <a:lnTo>
                    <a:pt x="2819834" y="991361"/>
                  </a:lnTo>
                  <a:lnTo>
                    <a:pt x="2826258" y="943609"/>
                  </a:lnTo>
                  <a:lnTo>
                    <a:pt x="2826258" y="179704"/>
                  </a:lnTo>
                  <a:lnTo>
                    <a:pt x="2819834" y="131953"/>
                  </a:lnTo>
                  <a:lnTo>
                    <a:pt x="2801709" y="89031"/>
                  </a:lnTo>
                  <a:lnTo>
                    <a:pt x="2773600" y="52657"/>
                  </a:lnTo>
                  <a:lnTo>
                    <a:pt x="2737226" y="24548"/>
                  </a:lnTo>
                  <a:lnTo>
                    <a:pt x="2694304" y="6423"/>
                  </a:lnTo>
                  <a:lnTo>
                    <a:pt x="2646553" y="0"/>
                  </a:lnTo>
                  <a:close/>
                </a:path>
              </a:pathLst>
            </a:custGeom>
            <a:solidFill>
              <a:srgbClr val="B8D2F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295640" y="4700904"/>
              <a:ext cx="360806" cy="365379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8735186" y="4721733"/>
            <a:ext cx="2667000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solidFill>
                  <a:srgbClr val="012ABF"/>
                </a:solidFill>
                <a:latin typeface="Arial"/>
                <a:cs typeface="Arial"/>
              </a:rPr>
              <a:t>Including</a:t>
            </a:r>
            <a:r>
              <a:rPr dirty="0" sz="1000" spc="114" b="1">
                <a:solidFill>
                  <a:srgbClr val="012AB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12ABF"/>
                </a:solidFill>
                <a:latin typeface="Arial"/>
                <a:cs typeface="Arial"/>
              </a:rPr>
              <a:t>Agentforce</a:t>
            </a:r>
            <a:r>
              <a:rPr dirty="0" sz="1000" spc="120" b="1">
                <a:solidFill>
                  <a:srgbClr val="012AB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12ABF"/>
                </a:solidFill>
                <a:latin typeface="Arial"/>
                <a:cs typeface="Arial"/>
              </a:rPr>
              <a:t>(reported</a:t>
            </a:r>
            <a:r>
              <a:rPr dirty="0" sz="1000" spc="114" b="1">
                <a:solidFill>
                  <a:srgbClr val="012ABF"/>
                </a:solidFill>
                <a:latin typeface="Arial"/>
                <a:cs typeface="Arial"/>
              </a:rPr>
              <a:t> </a:t>
            </a:r>
            <a:r>
              <a:rPr dirty="0" sz="1000" spc="-25" b="1">
                <a:solidFill>
                  <a:srgbClr val="012ABF"/>
                </a:solidFill>
                <a:latin typeface="Arial"/>
                <a:cs typeface="Arial"/>
              </a:rPr>
              <a:t>in </a:t>
            </a:r>
            <a:r>
              <a:rPr dirty="0" sz="1000" b="1">
                <a:solidFill>
                  <a:srgbClr val="012ABF"/>
                </a:solidFill>
                <a:latin typeface="Arial"/>
                <a:cs typeface="Arial"/>
              </a:rPr>
              <a:t>Agentforce</a:t>
            </a:r>
            <a:r>
              <a:rPr dirty="0" sz="1000" spc="60" b="1">
                <a:solidFill>
                  <a:srgbClr val="012AB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12ABF"/>
                </a:solidFill>
                <a:latin typeface="Arial"/>
                <a:cs typeface="Arial"/>
              </a:rPr>
              <a:t>360</a:t>
            </a:r>
            <a:r>
              <a:rPr dirty="0" sz="1000" spc="60" b="1">
                <a:solidFill>
                  <a:srgbClr val="012ABF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012ABF"/>
                </a:solidFill>
                <a:latin typeface="Arial"/>
                <a:cs typeface="Arial"/>
              </a:rPr>
              <a:t>Platform,</a:t>
            </a:r>
            <a:r>
              <a:rPr dirty="0" sz="1000" spc="65" b="1">
                <a:solidFill>
                  <a:srgbClr val="012AB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12ABF"/>
                </a:solidFill>
                <a:latin typeface="Arial"/>
                <a:cs typeface="Arial"/>
              </a:rPr>
              <a:t>Slack</a:t>
            </a:r>
            <a:r>
              <a:rPr dirty="0" sz="1000" spc="60" b="1">
                <a:solidFill>
                  <a:srgbClr val="012AB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12ABF"/>
                </a:solidFill>
                <a:latin typeface="Arial"/>
                <a:cs typeface="Arial"/>
              </a:rPr>
              <a:t>and</a:t>
            </a:r>
            <a:r>
              <a:rPr dirty="0" sz="1000" spc="65" b="1">
                <a:solidFill>
                  <a:srgbClr val="012ABF"/>
                </a:solidFill>
                <a:latin typeface="Arial"/>
                <a:cs typeface="Arial"/>
              </a:rPr>
              <a:t> </a:t>
            </a:r>
            <a:r>
              <a:rPr dirty="0" sz="1000" spc="-20" b="1">
                <a:solidFill>
                  <a:srgbClr val="012ABF"/>
                </a:solidFill>
                <a:latin typeface="Arial"/>
                <a:cs typeface="Arial"/>
              </a:rPr>
              <a:t>Other for</a:t>
            </a:r>
            <a:r>
              <a:rPr dirty="0" sz="1000" spc="30" b="1">
                <a:solidFill>
                  <a:srgbClr val="012AB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12ABF"/>
                </a:solidFill>
                <a:latin typeface="Arial"/>
                <a:cs typeface="Arial"/>
              </a:rPr>
              <a:t>the</a:t>
            </a:r>
            <a:r>
              <a:rPr dirty="0" sz="1000" spc="30" b="1">
                <a:solidFill>
                  <a:srgbClr val="012AB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12ABF"/>
                </a:solidFill>
                <a:latin typeface="Arial"/>
                <a:cs typeface="Arial"/>
              </a:rPr>
              <a:t>periods</a:t>
            </a:r>
            <a:r>
              <a:rPr dirty="0" sz="1000" spc="30" b="1">
                <a:solidFill>
                  <a:srgbClr val="012AB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12ABF"/>
                </a:solidFill>
                <a:latin typeface="Arial"/>
                <a:cs typeface="Arial"/>
              </a:rPr>
              <a:t>presented)</a:t>
            </a:r>
            <a:r>
              <a:rPr dirty="0" sz="1000" spc="30" b="1">
                <a:solidFill>
                  <a:srgbClr val="012AB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12ABF"/>
                </a:solidFill>
                <a:latin typeface="Arial"/>
                <a:cs typeface="Arial"/>
              </a:rPr>
              <a:t>would</a:t>
            </a:r>
            <a:r>
              <a:rPr dirty="0" sz="1000" spc="30" b="1">
                <a:solidFill>
                  <a:srgbClr val="012ABF"/>
                </a:solidFill>
                <a:latin typeface="Arial"/>
                <a:cs typeface="Arial"/>
              </a:rPr>
              <a:t> </a:t>
            </a:r>
            <a:r>
              <a:rPr dirty="0" sz="1000" spc="-20" b="1">
                <a:solidFill>
                  <a:srgbClr val="012ABF"/>
                </a:solidFill>
                <a:latin typeface="Arial"/>
                <a:cs typeface="Arial"/>
              </a:rPr>
              <a:t>have </a:t>
            </a:r>
            <a:r>
              <a:rPr dirty="0" sz="1000" spc="65" b="1">
                <a:solidFill>
                  <a:srgbClr val="012ABF"/>
                </a:solidFill>
                <a:latin typeface="Arial"/>
                <a:cs typeface="Arial"/>
              </a:rPr>
              <a:t>added</a:t>
            </a:r>
            <a:r>
              <a:rPr dirty="0" sz="1000" spc="5" b="1">
                <a:solidFill>
                  <a:srgbClr val="012ABF"/>
                </a:solidFill>
                <a:latin typeface="Arial"/>
                <a:cs typeface="Arial"/>
              </a:rPr>
              <a:t> </a:t>
            </a:r>
            <a:r>
              <a:rPr dirty="0" sz="1000" spc="-20" b="1">
                <a:solidFill>
                  <a:srgbClr val="012ABF"/>
                </a:solidFill>
                <a:latin typeface="Arial"/>
                <a:cs typeface="Arial"/>
              </a:rPr>
              <a:t>2pts</a:t>
            </a:r>
            <a:r>
              <a:rPr dirty="0" sz="1000" spc="10" b="1">
                <a:solidFill>
                  <a:srgbClr val="012AB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12ABF"/>
                </a:solidFill>
                <a:latin typeface="Arial"/>
                <a:cs typeface="Arial"/>
              </a:rPr>
              <a:t>to</a:t>
            </a:r>
            <a:r>
              <a:rPr dirty="0" sz="1000" spc="5" b="1">
                <a:solidFill>
                  <a:srgbClr val="012AB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12ABF"/>
                </a:solidFill>
                <a:latin typeface="Arial"/>
                <a:cs typeface="Arial"/>
              </a:rPr>
              <a:t>Service</a:t>
            </a:r>
            <a:r>
              <a:rPr dirty="0" sz="1000" spc="10" b="1">
                <a:solidFill>
                  <a:srgbClr val="012AB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12ABF"/>
                </a:solidFill>
                <a:latin typeface="Arial"/>
                <a:cs typeface="Arial"/>
              </a:rPr>
              <a:t>Q2'27</a:t>
            </a:r>
            <a:r>
              <a:rPr dirty="0" sz="1000" spc="10" b="1">
                <a:solidFill>
                  <a:srgbClr val="012ABF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012ABF"/>
                </a:solidFill>
                <a:latin typeface="Arial"/>
                <a:cs typeface="Arial"/>
              </a:rPr>
              <a:t>revenue </a:t>
            </a:r>
            <a:r>
              <a:rPr dirty="0" sz="1000" b="1">
                <a:solidFill>
                  <a:srgbClr val="012ABF"/>
                </a:solidFill>
                <a:latin typeface="Arial"/>
                <a:cs typeface="Arial"/>
              </a:rPr>
              <a:t>growth,</a:t>
            </a:r>
            <a:r>
              <a:rPr dirty="0" sz="1000" spc="10" b="1">
                <a:solidFill>
                  <a:srgbClr val="012ABF"/>
                </a:solidFill>
                <a:latin typeface="Arial"/>
                <a:cs typeface="Arial"/>
              </a:rPr>
              <a:t> </a:t>
            </a:r>
            <a:r>
              <a:rPr dirty="0" sz="1000" spc="-25" b="1">
                <a:solidFill>
                  <a:srgbClr val="012ABF"/>
                </a:solidFill>
                <a:latin typeface="Arial"/>
                <a:cs typeface="Arial"/>
              </a:rPr>
              <a:t>offset</a:t>
            </a:r>
            <a:r>
              <a:rPr dirty="0" sz="1000" spc="10" b="1">
                <a:solidFill>
                  <a:srgbClr val="012AB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12ABF"/>
                </a:solidFill>
                <a:latin typeface="Arial"/>
                <a:cs typeface="Arial"/>
              </a:rPr>
              <a:t>by</a:t>
            </a:r>
            <a:r>
              <a:rPr dirty="0" sz="1000" spc="15" b="1">
                <a:solidFill>
                  <a:srgbClr val="012ABF"/>
                </a:solidFill>
                <a:latin typeface="Arial"/>
                <a:cs typeface="Arial"/>
              </a:rPr>
              <a:t> </a:t>
            </a:r>
            <a:r>
              <a:rPr dirty="0" sz="1000" spc="110" b="1">
                <a:solidFill>
                  <a:srgbClr val="012ABF"/>
                </a:solidFill>
                <a:latin typeface="Arial"/>
                <a:cs typeface="Arial"/>
              </a:rPr>
              <a:t>a</a:t>
            </a:r>
            <a:r>
              <a:rPr dirty="0" sz="1000" spc="10" b="1">
                <a:solidFill>
                  <a:srgbClr val="012AB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12ABF"/>
                </a:solidFill>
                <a:latin typeface="Arial"/>
                <a:cs typeface="Arial"/>
              </a:rPr>
              <a:t>reduction</a:t>
            </a:r>
            <a:r>
              <a:rPr dirty="0" sz="1000" spc="10" b="1">
                <a:solidFill>
                  <a:srgbClr val="012AB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12ABF"/>
                </a:solidFill>
                <a:latin typeface="Arial"/>
                <a:cs typeface="Arial"/>
              </a:rPr>
              <a:t>to</a:t>
            </a:r>
            <a:r>
              <a:rPr dirty="0" sz="1000" spc="15" b="1">
                <a:solidFill>
                  <a:srgbClr val="012ABF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012ABF"/>
                </a:solidFill>
                <a:latin typeface="Arial"/>
                <a:cs typeface="Arial"/>
              </a:rPr>
              <a:t>Agentforce </a:t>
            </a:r>
            <a:r>
              <a:rPr dirty="0" sz="1000" b="1">
                <a:solidFill>
                  <a:srgbClr val="012ABF"/>
                </a:solidFill>
                <a:latin typeface="Arial"/>
                <a:cs typeface="Arial"/>
              </a:rPr>
              <a:t>360,</a:t>
            </a:r>
            <a:r>
              <a:rPr dirty="0" sz="1000" spc="35" b="1">
                <a:solidFill>
                  <a:srgbClr val="012ABF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012ABF"/>
                </a:solidFill>
                <a:latin typeface="Arial"/>
                <a:cs typeface="Arial"/>
              </a:rPr>
              <a:t>Platform,</a:t>
            </a:r>
            <a:r>
              <a:rPr dirty="0" sz="1000" spc="40" b="1">
                <a:solidFill>
                  <a:srgbClr val="012AB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12ABF"/>
                </a:solidFill>
                <a:latin typeface="Arial"/>
                <a:cs typeface="Arial"/>
              </a:rPr>
              <a:t>Slack</a:t>
            </a:r>
            <a:r>
              <a:rPr dirty="0" sz="1000" spc="40" b="1">
                <a:solidFill>
                  <a:srgbClr val="012AB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12ABF"/>
                </a:solidFill>
                <a:latin typeface="Arial"/>
                <a:cs typeface="Arial"/>
              </a:rPr>
              <a:t>and</a:t>
            </a:r>
            <a:r>
              <a:rPr dirty="0" sz="1000" spc="40" b="1">
                <a:solidFill>
                  <a:srgbClr val="012ABF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012ABF"/>
                </a:solidFill>
                <a:latin typeface="Arial"/>
                <a:cs typeface="Arial"/>
              </a:rPr>
              <a:t>Other.</a:t>
            </a:r>
            <a:endParaRPr sz="10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0" y="5847841"/>
            <a:ext cx="12192000" cy="601345"/>
          </a:xfrm>
          <a:custGeom>
            <a:avLst/>
            <a:gdLst/>
            <a:ahLst/>
            <a:cxnLst/>
            <a:rect l="l" t="t" r="r" b="b"/>
            <a:pathLst>
              <a:path w="12192000" h="601345">
                <a:moveTo>
                  <a:pt x="12166092" y="0"/>
                </a:moveTo>
                <a:lnTo>
                  <a:pt x="0" y="0"/>
                </a:lnTo>
                <a:lnTo>
                  <a:pt x="0" y="601345"/>
                </a:lnTo>
                <a:lnTo>
                  <a:pt x="12166092" y="601345"/>
                </a:lnTo>
                <a:lnTo>
                  <a:pt x="12192000" y="599253"/>
                </a:lnTo>
                <a:lnTo>
                  <a:pt x="12192000" y="2091"/>
                </a:lnTo>
                <a:lnTo>
                  <a:pt x="12166092" y="0"/>
                </a:lnTo>
                <a:close/>
              </a:path>
            </a:pathLst>
          </a:custGeom>
          <a:solidFill>
            <a:srgbClr val="012A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289306" y="5876671"/>
            <a:ext cx="1144016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43560" marR="5080" indent="-531495">
              <a:lnSpc>
                <a:spcPct val="100000"/>
              </a:lnSpc>
              <a:spcBef>
                <a:spcPts val="100"/>
              </a:spcBef>
            </a:pPr>
            <a:r>
              <a:rPr dirty="0" sz="1500" spc="-120" b="1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500" spc="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20" b="1">
                <a:solidFill>
                  <a:srgbClr val="FFFFFF"/>
                </a:solidFill>
                <a:latin typeface="Arial"/>
                <a:cs typeface="Arial"/>
              </a:rPr>
              <a:t>support</a:t>
            </a:r>
            <a:r>
              <a:rPr dirty="0" sz="1500" spc="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transparency</a:t>
            </a:r>
            <a:r>
              <a:rPr dirty="0" sz="1500" spc="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during</a:t>
            </a:r>
            <a:r>
              <a:rPr dirty="0" sz="1500" spc="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500" spc="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30" b="1">
                <a:solidFill>
                  <a:srgbClr val="FFFFFF"/>
                </a:solidFill>
                <a:latin typeface="Arial"/>
                <a:cs typeface="Arial"/>
              </a:rPr>
              <a:t>transition</a:t>
            </a:r>
            <a:r>
              <a:rPr dirty="0" sz="1500" spc="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500" spc="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our</a:t>
            </a:r>
            <a:r>
              <a:rPr dirty="0" sz="1500" spc="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new</a:t>
            </a:r>
            <a:r>
              <a:rPr dirty="0" sz="1500" spc="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disaggregated</a:t>
            </a:r>
            <a:r>
              <a:rPr dirty="0" sz="1500" spc="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revenue</a:t>
            </a:r>
            <a:r>
              <a:rPr dirty="0" sz="1500" spc="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30" b="1">
                <a:solidFill>
                  <a:srgbClr val="FFFFFF"/>
                </a:solidFill>
                <a:latin typeface="Arial"/>
                <a:cs typeface="Arial"/>
              </a:rPr>
              <a:t>structure,</a:t>
            </a:r>
            <a:r>
              <a:rPr dirty="0" sz="1500" spc="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75" b="1">
                <a:solidFill>
                  <a:srgbClr val="FFFFFF"/>
                </a:solidFill>
                <a:latin typeface="Arial"/>
                <a:cs typeface="Arial"/>
              </a:rPr>
              <a:t>we</a:t>
            </a:r>
            <a:r>
              <a:rPr dirty="0" sz="1500" spc="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Arial"/>
                <a:cs typeface="Arial"/>
              </a:rPr>
              <a:t>will</a:t>
            </a:r>
            <a:r>
              <a:rPr dirty="0" sz="1500" spc="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provide</a:t>
            </a:r>
            <a:r>
              <a:rPr dirty="0" sz="1500" spc="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constant</a:t>
            </a:r>
            <a:r>
              <a:rPr dirty="0" sz="1500" spc="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Arial"/>
                <a:cs typeface="Arial"/>
              </a:rPr>
              <a:t>currency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growth</a:t>
            </a:r>
            <a:r>
              <a:rPr dirty="0" sz="150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under</a:t>
            </a:r>
            <a:r>
              <a:rPr dirty="0" sz="1500" spc="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500" spc="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20" b="1">
                <a:solidFill>
                  <a:srgbClr val="FFFFFF"/>
                </a:solidFill>
                <a:latin typeface="Arial"/>
                <a:cs typeface="Arial"/>
              </a:rPr>
              <a:t>prior</a:t>
            </a:r>
            <a:r>
              <a:rPr dirty="0" sz="1500" spc="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30" b="1">
                <a:solidFill>
                  <a:srgbClr val="FFFFFF"/>
                </a:solidFill>
                <a:latin typeface="Arial"/>
                <a:cs typeface="Arial"/>
              </a:rPr>
              <a:t>structure</a:t>
            </a:r>
            <a:r>
              <a:rPr dirty="0" sz="1500" spc="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90" b="1">
                <a:solidFill>
                  <a:srgbClr val="FFFFFF"/>
                </a:solidFill>
                <a:latin typeface="Arial"/>
                <a:cs typeface="Arial"/>
              </a:rPr>
              <a:t>each</a:t>
            </a:r>
            <a:r>
              <a:rPr dirty="0" sz="1500" spc="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quarter</a:t>
            </a:r>
            <a:r>
              <a:rPr dirty="0" sz="1500" spc="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500" spc="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60" b="1">
                <a:solidFill>
                  <a:srgbClr val="FFFFFF"/>
                </a:solidFill>
                <a:latin typeface="Arial"/>
                <a:cs typeface="Arial"/>
              </a:rPr>
              <a:t>FY27</a:t>
            </a:r>
            <a:r>
              <a:rPr dirty="0" sz="1500" spc="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65" b="1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500" spc="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report</a:t>
            </a:r>
            <a:r>
              <a:rPr dirty="0" sz="1500" spc="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Arial"/>
                <a:cs typeface="Arial"/>
              </a:rPr>
              <a:t>solely</a:t>
            </a:r>
            <a:r>
              <a:rPr dirty="0" sz="1500" spc="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under</a:t>
            </a:r>
            <a:r>
              <a:rPr dirty="0" sz="1500" spc="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500" spc="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new</a:t>
            </a:r>
            <a:r>
              <a:rPr dirty="0" sz="1500" spc="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30" b="1">
                <a:solidFill>
                  <a:srgbClr val="FFFFFF"/>
                </a:solidFill>
                <a:latin typeface="Arial"/>
                <a:cs typeface="Arial"/>
              </a:rPr>
              <a:t>structure</a:t>
            </a:r>
            <a:r>
              <a:rPr dirty="0" sz="1500" spc="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beginning</a:t>
            </a:r>
            <a:r>
              <a:rPr dirty="0" sz="1500" spc="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dirty="0" sz="1500" spc="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20" b="1">
                <a:solidFill>
                  <a:srgbClr val="FFFFFF"/>
                </a:solidFill>
                <a:latin typeface="Arial"/>
                <a:cs typeface="Arial"/>
              </a:rPr>
              <a:t>FY28</a:t>
            </a:r>
            <a:endParaRPr sz="1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15313" y="6530340"/>
            <a:ext cx="726440" cy="182880"/>
          </a:xfrm>
          <a:custGeom>
            <a:avLst/>
            <a:gdLst/>
            <a:ahLst/>
            <a:cxnLst/>
            <a:rect l="l" t="t" r="r" b="b"/>
            <a:pathLst>
              <a:path w="726439" h="182879">
                <a:moveTo>
                  <a:pt x="634873" y="0"/>
                </a:moveTo>
                <a:lnTo>
                  <a:pt x="91440" y="0"/>
                </a:lnTo>
                <a:lnTo>
                  <a:pt x="55881" y="7197"/>
                </a:lnTo>
                <a:lnTo>
                  <a:pt x="26812" y="26812"/>
                </a:lnTo>
                <a:lnTo>
                  <a:pt x="7197" y="55881"/>
                </a:lnTo>
                <a:lnTo>
                  <a:pt x="0" y="91440"/>
                </a:lnTo>
                <a:lnTo>
                  <a:pt x="7197" y="126997"/>
                </a:lnTo>
                <a:lnTo>
                  <a:pt x="26812" y="156066"/>
                </a:lnTo>
                <a:lnTo>
                  <a:pt x="55881" y="175682"/>
                </a:lnTo>
                <a:lnTo>
                  <a:pt x="91440" y="182879"/>
                </a:lnTo>
                <a:lnTo>
                  <a:pt x="634873" y="182879"/>
                </a:lnTo>
                <a:lnTo>
                  <a:pt x="670430" y="175682"/>
                </a:lnTo>
                <a:lnTo>
                  <a:pt x="699500" y="156066"/>
                </a:lnTo>
                <a:lnTo>
                  <a:pt x="719115" y="126997"/>
                </a:lnTo>
                <a:lnTo>
                  <a:pt x="726312" y="91440"/>
                </a:lnTo>
                <a:lnTo>
                  <a:pt x="719115" y="55881"/>
                </a:lnTo>
                <a:lnTo>
                  <a:pt x="699500" y="26812"/>
                </a:lnTo>
                <a:lnTo>
                  <a:pt x="670430" y="7197"/>
                </a:lnTo>
                <a:lnTo>
                  <a:pt x="63487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1" name="object 11"/>
          <p:cNvGrpSpPr/>
          <p:nvPr/>
        </p:nvGrpSpPr>
        <p:grpSpPr>
          <a:xfrm>
            <a:off x="1281557" y="6528561"/>
            <a:ext cx="398145" cy="182880"/>
            <a:chOff x="1281557" y="6528561"/>
            <a:chExt cx="398145" cy="182880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96314" y="6528561"/>
              <a:ext cx="182880" cy="18287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81557" y="6528561"/>
              <a:ext cx="182880" cy="182879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2087372" y="6498621"/>
            <a:ext cx="8291830" cy="315595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65"/>
              </a:spcBef>
            </a:pPr>
            <a:r>
              <a:rPr dirty="0" sz="1000" spc="-65" i="1">
                <a:solidFill>
                  <a:srgbClr val="013247"/>
                </a:solidFill>
                <a:latin typeface="Verdana"/>
                <a:cs typeface="Verdana"/>
              </a:rPr>
              <a:t>Flex</a:t>
            </a:r>
            <a:r>
              <a:rPr dirty="0" sz="1000" spc="-70" i="1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000" spc="-60" i="1">
                <a:solidFill>
                  <a:srgbClr val="013247"/>
                </a:solidFill>
                <a:latin typeface="Verdana"/>
                <a:cs typeface="Verdana"/>
              </a:rPr>
              <a:t>Credits</a:t>
            </a:r>
            <a:r>
              <a:rPr dirty="0" sz="1000" spc="-65" i="1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000" spc="-30" i="1">
                <a:solidFill>
                  <a:srgbClr val="013247"/>
                </a:solidFill>
                <a:latin typeface="Verdana"/>
                <a:cs typeface="Verdana"/>
              </a:rPr>
              <a:t>and</a:t>
            </a:r>
            <a:r>
              <a:rPr dirty="0" sz="1000" spc="-65" i="1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000" spc="-35" i="1">
                <a:solidFill>
                  <a:srgbClr val="013247"/>
                </a:solidFill>
                <a:latin typeface="Verdana"/>
                <a:cs typeface="Verdana"/>
              </a:rPr>
              <a:t>Data</a:t>
            </a:r>
            <a:r>
              <a:rPr dirty="0" sz="1000" spc="-65" i="1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000" spc="-40" i="1">
                <a:solidFill>
                  <a:srgbClr val="013247"/>
                </a:solidFill>
                <a:latin typeface="Verdana"/>
                <a:cs typeface="Verdana"/>
              </a:rPr>
              <a:t>360</a:t>
            </a:r>
            <a:r>
              <a:rPr dirty="0" sz="1000" spc="-65" i="1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000" spc="-75" i="1">
                <a:solidFill>
                  <a:srgbClr val="013247"/>
                </a:solidFill>
                <a:latin typeface="Verdana"/>
                <a:cs typeface="Verdana"/>
              </a:rPr>
              <a:t>revenue</a:t>
            </a:r>
            <a:r>
              <a:rPr dirty="0" sz="1000" spc="-65" i="1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000" spc="-55" i="1">
                <a:solidFill>
                  <a:srgbClr val="013247"/>
                </a:solidFill>
                <a:latin typeface="Verdana"/>
                <a:cs typeface="Verdana"/>
              </a:rPr>
              <a:t>are</a:t>
            </a:r>
            <a:r>
              <a:rPr dirty="0" sz="1000" spc="-65" i="1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000" spc="-60" i="1">
                <a:solidFill>
                  <a:srgbClr val="013247"/>
                </a:solidFill>
                <a:latin typeface="Verdana"/>
                <a:cs typeface="Verdana"/>
              </a:rPr>
              <a:t>prospectively</a:t>
            </a:r>
            <a:r>
              <a:rPr dirty="0" sz="1000" spc="-65" i="1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000" spc="-40" i="1">
                <a:solidFill>
                  <a:srgbClr val="013247"/>
                </a:solidFill>
                <a:latin typeface="Verdana"/>
                <a:cs typeface="Verdana"/>
              </a:rPr>
              <a:t>included</a:t>
            </a:r>
            <a:r>
              <a:rPr dirty="0" sz="1000" spc="-65" i="1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000" spc="-40" i="1">
                <a:solidFill>
                  <a:srgbClr val="013247"/>
                </a:solidFill>
                <a:latin typeface="Verdana"/>
                <a:cs typeface="Verdana"/>
              </a:rPr>
              <a:t>in</a:t>
            </a:r>
            <a:r>
              <a:rPr dirty="0" sz="1000" spc="-65" i="1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000" spc="-50" i="1">
                <a:solidFill>
                  <a:srgbClr val="013247"/>
                </a:solidFill>
                <a:latin typeface="Verdana"/>
                <a:cs typeface="Verdana"/>
              </a:rPr>
              <a:t>Agentforce</a:t>
            </a:r>
            <a:r>
              <a:rPr dirty="0" sz="1000" spc="-70" i="1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000" spc="-40" i="1">
                <a:solidFill>
                  <a:srgbClr val="013247"/>
                </a:solidFill>
                <a:latin typeface="Verdana"/>
                <a:cs typeface="Verdana"/>
              </a:rPr>
              <a:t>360</a:t>
            </a:r>
            <a:r>
              <a:rPr dirty="0" sz="1000" spc="-65" i="1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000" spc="-45" i="1">
                <a:solidFill>
                  <a:srgbClr val="013247"/>
                </a:solidFill>
                <a:latin typeface="Verdana"/>
                <a:cs typeface="Verdana"/>
              </a:rPr>
              <a:t>Platform,</a:t>
            </a:r>
            <a:r>
              <a:rPr dirty="0" sz="1000" spc="-65" i="1">
                <a:solidFill>
                  <a:srgbClr val="013247"/>
                </a:solidFill>
                <a:latin typeface="Verdana"/>
                <a:cs typeface="Verdana"/>
              </a:rPr>
              <a:t> Slack </a:t>
            </a:r>
            <a:r>
              <a:rPr dirty="0" sz="1000" spc="-30" i="1">
                <a:solidFill>
                  <a:srgbClr val="013247"/>
                </a:solidFill>
                <a:latin typeface="Verdana"/>
                <a:cs typeface="Verdana"/>
              </a:rPr>
              <a:t>and</a:t>
            </a:r>
            <a:r>
              <a:rPr dirty="0" sz="1000" spc="-65" i="1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000" spc="-55" i="1">
                <a:solidFill>
                  <a:srgbClr val="013247"/>
                </a:solidFill>
                <a:latin typeface="Verdana"/>
                <a:cs typeface="Verdana"/>
              </a:rPr>
              <a:t>Other</a:t>
            </a:r>
            <a:r>
              <a:rPr dirty="0" sz="1000" spc="-65" i="1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000" spc="-60" i="1">
                <a:solidFill>
                  <a:srgbClr val="013247"/>
                </a:solidFill>
                <a:latin typeface="Verdana"/>
                <a:cs typeface="Verdana"/>
              </a:rPr>
              <a:t>effective</a:t>
            </a:r>
            <a:r>
              <a:rPr dirty="0" sz="1000" spc="-65" i="1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000" spc="-45" i="1">
                <a:solidFill>
                  <a:srgbClr val="013247"/>
                </a:solidFill>
                <a:latin typeface="Verdana"/>
                <a:cs typeface="Verdana"/>
              </a:rPr>
              <a:t>with</a:t>
            </a:r>
            <a:r>
              <a:rPr dirty="0" sz="1000" spc="-65" i="1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000" spc="-45" i="1">
                <a:solidFill>
                  <a:srgbClr val="013247"/>
                </a:solidFill>
                <a:latin typeface="Verdana"/>
                <a:cs typeface="Verdana"/>
              </a:rPr>
              <a:t>deals</a:t>
            </a:r>
            <a:r>
              <a:rPr dirty="0" sz="1000" spc="-65" i="1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000" spc="-45" i="1">
                <a:solidFill>
                  <a:srgbClr val="013247"/>
                </a:solidFill>
                <a:latin typeface="Verdana"/>
                <a:cs typeface="Verdana"/>
              </a:rPr>
              <a:t>closed</a:t>
            </a:r>
            <a:r>
              <a:rPr dirty="0" sz="1000" spc="-65" i="1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000" spc="-40" i="1">
                <a:solidFill>
                  <a:srgbClr val="013247"/>
                </a:solidFill>
                <a:latin typeface="Verdana"/>
                <a:cs typeface="Verdana"/>
              </a:rPr>
              <a:t>in</a:t>
            </a:r>
            <a:r>
              <a:rPr dirty="0" sz="1000" spc="-70" i="1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000" spc="-10" i="1">
                <a:solidFill>
                  <a:srgbClr val="013247"/>
                </a:solidFill>
                <a:latin typeface="Verdana"/>
                <a:cs typeface="Verdana"/>
              </a:rPr>
              <a:t>FY26.</a:t>
            </a:r>
            <a:endParaRPr sz="1000">
              <a:latin typeface="Verdana"/>
              <a:cs typeface="Verdana"/>
            </a:endParaRPr>
          </a:p>
          <a:p>
            <a:pPr marL="38100">
              <a:lnSpc>
                <a:spcPct val="100000"/>
              </a:lnSpc>
              <a:spcBef>
                <a:spcPts val="55"/>
              </a:spcBef>
            </a:pPr>
            <a:r>
              <a:rPr dirty="0" baseline="33333" sz="750" spc="-52">
                <a:solidFill>
                  <a:srgbClr val="6C6C6C"/>
                </a:solidFill>
                <a:latin typeface="Verdana"/>
                <a:cs typeface="Verdana"/>
              </a:rPr>
              <a:t>1</a:t>
            </a:r>
            <a:r>
              <a:rPr dirty="0" sz="800" spc="-35">
                <a:solidFill>
                  <a:srgbClr val="6C6C6C"/>
                </a:solidFill>
                <a:latin typeface="Verdana"/>
                <a:cs typeface="Verdana"/>
              </a:rPr>
              <a:t>Constant</a:t>
            </a:r>
            <a:r>
              <a:rPr dirty="0" sz="800" spc="-30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45">
                <a:solidFill>
                  <a:srgbClr val="6C6C6C"/>
                </a:solidFill>
                <a:latin typeface="Verdana"/>
                <a:cs typeface="Verdana"/>
              </a:rPr>
              <a:t>currency</a:t>
            </a:r>
            <a:r>
              <a:rPr dirty="0" sz="800" spc="-30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40">
                <a:solidFill>
                  <a:srgbClr val="6C6C6C"/>
                </a:solidFill>
                <a:latin typeface="Verdana"/>
                <a:cs typeface="Verdana"/>
              </a:rPr>
              <a:t>growth</a:t>
            </a:r>
            <a:r>
              <a:rPr dirty="0" sz="800" spc="-25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50">
                <a:solidFill>
                  <a:srgbClr val="6C6C6C"/>
                </a:solidFill>
                <a:latin typeface="Verdana"/>
                <a:cs typeface="Verdana"/>
              </a:rPr>
              <a:t>rates</a:t>
            </a:r>
            <a:r>
              <a:rPr dirty="0" sz="800" spc="-30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35">
                <a:solidFill>
                  <a:srgbClr val="6C6C6C"/>
                </a:solidFill>
                <a:latin typeface="Verdana"/>
                <a:cs typeface="Verdana"/>
              </a:rPr>
              <a:t>exclude</a:t>
            </a:r>
            <a:r>
              <a:rPr dirty="0" sz="800" spc="-30">
                <a:solidFill>
                  <a:srgbClr val="6C6C6C"/>
                </a:solidFill>
                <a:latin typeface="Verdana"/>
                <a:cs typeface="Verdana"/>
              </a:rPr>
              <a:t> the</a:t>
            </a:r>
            <a:r>
              <a:rPr dirty="0" sz="800" spc="-35">
                <a:solidFill>
                  <a:srgbClr val="6C6C6C"/>
                </a:solidFill>
                <a:latin typeface="Verdana"/>
                <a:cs typeface="Verdana"/>
              </a:rPr>
              <a:t> impacts</a:t>
            </a:r>
            <a:r>
              <a:rPr dirty="0" sz="800" spc="-25">
                <a:solidFill>
                  <a:srgbClr val="6C6C6C"/>
                </a:solidFill>
                <a:latin typeface="Verdana"/>
                <a:cs typeface="Verdana"/>
              </a:rPr>
              <a:t> of</a:t>
            </a:r>
            <a:r>
              <a:rPr dirty="0" sz="800" spc="-30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40">
                <a:solidFill>
                  <a:srgbClr val="6C6C6C"/>
                </a:solidFill>
                <a:latin typeface="Verdana"/>
                <a:cs typeface="Verdana"/>
              </a:rPr>
              <a:t>hedging</a:t>
            </a:r>
            <a:r>
              <a:rPr dirty="0" sz="800" spc="-25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10">
                <a:solidFill>
                  <a:srgbClr val="6C6C6C"/>
                </a:solidFill>
                <a:latin typeface="Verdana"/>
                <a:cs typeface="Verdana"/>
              </a:rPr>
              <a:t>gains.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453621" y="6583933"/>
            <a:ext cx="18034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>
                <a:latin typeface="Verdana"/>
                <a:cs typeface="Verdana"/>
              </a:rPr>
              <a:t>20</a:t>
            </a:r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0" y="0"/>
            <a:ext cx="12192000" cy="6352540"/>
            <a:chOff x="0" y="0"/>
            <a:chExt cx="12192000" cy="635254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12192000" cy="5943600"/>
            </a:xfrm>
            <a:custGeom>
              <a:avLst/>
              <a:gdLst/>
              <a:ahLst/>
              <a:cxnLst/>
              <a:rect l="l" t="t" r="r" b="b"/>
              <a:pathLst>
                <a:path w="12192000" h="5943600">
                  <a:moveTo>
                    <a:pt x="0" y="5943600"/>
                  </a:moveTo>
                  <a:lnTo>
                    <a:pt x="12192000" y="5943600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5943600"/>
                  </a:lnTo>
                  <a:close/>
                </a:path>
              </a:pathLst>
            </a:custGeom>
            <a:solidFill>
              <a:srgbClr val="CEE9F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21780" y="5188839"/>
              <a:ext cx="406780" cy="32156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28689" y="5152897"/>
              <a:ext cx="257048" cy="17754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69050" y="5210175"/>
              <a:ext cx="286257" cy="24384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05345" y="5422646"/>
              <a:ext cx="43815" cy="4216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89521" y="5499608"/>
              <a:ext cx="71881" cy="5791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58178" y="5320791"/>
              <a:ext cx="512825" cy="35890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122923" y="4898009"/>
              <a:ext cx="374014" cy="31318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431153" y="4956936"/>
              <a:ext cx="369062" cy="25781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649211" y="4773676"/>
              <a:ext cx="62102" cy="4127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035418" y="4416805"/>
              <a:ext cx="332104" cy="36944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323840" y="3783203"/>
              <a:ext cx="386207" cy="24269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981700" y="3739769"/>
              <a:ext cx="137667" cy="20446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465190" y="3744467"/>
              <a:ext cx="666368" cy="51028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049898" y="3862832"/>
              <a:ext cx="489712" cy="372491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209285" y="4387722"/>
              <a:ext cx="92583" cy="2222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188584" y="4316729"/>
              <a:ext cx="189991" cy="14465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208267" y="4458715"/>
              <a:ext cx="393445" cy="219075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834253" y="4388230"/>
              <a:ext cx="381253" cy="24536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742940" y="4425822"/>
              <a:ext cx="125348" cy="16548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021832" y="4406011"/>
              <a:ext cx="237489" cy="293878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468746" y="4471542"/>
              <a:ext cx="197358" cy="159512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641721" y="4459478"/>
              <a:ext cx="137667" cy="164083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259323" y="4417695"/>
              <a:ext cx="243586" cy="143382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373751" y="4528311"/>
              <a:ext cx="135254" cy="102743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317744" y="4489450"/>
              <a:ext cx="94996" cy="80518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5198364" y="4016121"/>
              <a:ext cx="269239" cy="174498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5194680" y="4025900"/>
              <a:ext cx="389763" cy="339344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5348223" y="4088891"/>
              <a:ext cx="535939" cy="39662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5567426" y="4356227"/>
              <a:ext cx="263144" cy="142239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5752591" y="4130547"/>
              <a:ext cx="498221" cy="307848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6179058" y="4130547"/>
              <a:ext cx="322834" cy="423799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6518909" y="3896740"/>
              <a:ext cx="350774" cy="277494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6026784" y="4686427"/>
              <a:ext cx="182752" cy="160019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6102222" y="4650485"/>
              <a:ext cx="226567" cy="225044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6427470" y="4134484"/>
              <a:ext cx="529971" cy="51854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6889242" y="4275963"/>
              <a:ext cx="218058" cy="147066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6778370" y="4360417"/>
              <a:ext cx="483616" cy="295020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6855206" y="3812413"/>
              <a:ext cx="47371" cy="47498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6823456" y="3741546"/>
              <a:ext cx="266826" cy="219202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9753345" y="3709669"/>
              <a:ext cx="121284" cy="118491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8547227" y="4058030"/>
              <a:ext cx="143764" cy="143256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7933308" y="3783330"/>
              <a:ext cx="889253" cy="759840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8550909" y="3273044"/>
              <a:ext cx="1008633" cy="342518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6848982" y="3853179"/>
              <a:ext cx="135254" cy="117348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7967471" y="3563111"/>
              <a:ext cx="350774" cy="116840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7007479" y="3547617"/>
              <a:ext cx="222884" cy="77343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6564248" y="3594989"/>
              <a:ext cx="601472" cy="186436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9693656" y="3570985"/>
              <a:ext cx="219201" cy="163322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8313419" y="3944746"/>
              <a:ext cx="629793" cy="53124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8978518" y="4139691"/>
              <a:ext cx="236347" cy="386842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8978518" y="4373117"/>
              <a:ext cx="194945" cy="110489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8916416" y="4163567"/>
              <a:ext cx="237617" cy="227202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8833611" y="4213986"/>
              <a:ext cx="259460" cy="386334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6198489" y="3169792"/>
              <a:ext cx="310642" cy="197358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6243954" y="3494023"/>
              <a:ext cx="115442" cy="86613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6186296" y="3452495"/>
              <a:ext cx="224155" cy="218185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6054725" y="3370071"/>
              <a:ext cx="237616" cy="86233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6260591" y="3381755"/>
              <a:ext cx="209550" cy="92455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6137655" y="3303142"/>
              <a:ext cx="325120" cy="107569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5431028" y="3592576"/>
              <a:ext cx="120523" cy="155320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5847588" y="3220720"/>
              <a:ext cx="132841" cy="137795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5827014" y="3289172"/>
              <a:ext cx="124205" cy="67310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6392164" y="3392423"/>
              <a:ext cx="291083" cy="149351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6593205" y="3387597"/>
              <a:ext cx="99822" cy="98044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6391021" y="3528059"/>
              <a:ext cx="258317" cy="102869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6445758" y="3256279"/>
              <a:ext cx="572515" cy="260096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6478651" y="3120770"/>
              <a:ext cx="302132" cy="169925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6404355" y="3052191"/>
              <a:ext cx="235076" cy="88900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6404355" y="3112389"/>
              <a:ext cx="185166" cy="89026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5945504" y="3415284"/>
              <a:ext cx="144525" cy="59436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5941440" y="3171317"/>
              <a:ext cx="286258" cy="255015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6409309" y="2553970"/>
              <a:ext cx="337438" cy="424179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6839331" y="3890009"/>
              <a:ext cx="676021" cy="430656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7353427" y="4062476"/>
              <a:ext cx="299593" cy="253364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7393558" y="4055871"/>
              <a:ext cx="153416" cy="97917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8910319" y="4577715"/>
              <a:ext cx="621029" cy="150368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6973316" y="3735578"/>
              <a:ext cx="314325" cy="256286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5587365" y="3302127"/>
              <a:ext cx="468629" cy="311404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2833751" y="4374007"/>
              <a:ext cx="74294" cy="32004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2858135" y="4330572"/>
              <a:ext cx="196087" cy="81280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1966341" y="3877436"/>
              <a:ext cx="977011" cy="482092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2753360" y="4267327"/>
              <a:ext cx="149733" cy="122173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3332607" y="4222877"/>
              <a:ext cx="196722" cy="61086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2917825" y="4358513"/>
              <a:ext cx="136398" cy="110870"/>
            </a:xfrm>
            <a:prstGeom prst="rect">
              <a:avLst/>
            </a:prstGeom>
          </p:spPr>
        </p:pic>
        <p:pic>
          <p:nvPicPr>
            <p:cNvPr id="89" name="object 89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3351529" y="4615560"/>
              <a:ext cx="1277874" cy="1038987"/>
            </a:xfrm>
            <a:prstGeom prst="rect">
              <a:avLst/>
            </a:prstGeom>
          </p:spPr>
        </p:pic>
        <p:pic>
          <p:nvPicPr>
            <p:cNvPr id="90" name="object 90"/>
            <p:cNvPicPr/>
            <p:nvPr/>
          </p:nvPicPr>
          <p:blipFill>
            <a:blip r:embed="rId87" cstate="print"/>
            <a:stretch>
              <a:fillRect/>
            </a:stretch>
          </p:blipFill>
          <p:spPr>
            <a:xfrm>
              <a:off x="3852164" y="5549010"/>
              <a:ext cx="160782" cy="134112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3358769" y="5320791"/>
              <a:ext cx="650494" cy="1012571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89" cstate="print"/>
            <a:stretch>
              <a:fillRect/>
            </a:stretch>
          </p:blipFill>
          <p:spPr>
            <a:xfrm>
              <a:off x="3290189" y="5203444"/>
              <a:ext cx="284099" cy="1148588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90" cstate="print"/>
            <a:stretch>
              <a:fillRect/>
            </a:stretch>
          </p:blipFill>
          <p:spPr>
            <a:xfrm>
              <a:off x="3709670" y="5251577"/>
              <a:ext cx="283845" cy="225678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91" cstate="print"/>
            <a:stretch>
              <a:fillRect/>
            </a:stretch>
          </p:blipFill>
          <p:spPr>
            <a:xfrm>
              <a:off x="2964052" y="4462398"/>
              <a:ext cx="285115" cy="98933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92" cstate="print"/>
            <a:stretch>
              <a:fillRect/>
            </a:stretch>
          </p:blipFill>
          <p:spPr>
            <a:xfrm>
              <a:off x="3188207" y="4426203"/>
              <a:ext cx="384937" cy="430784"/>
            </a:xfrm>
            <a:prstGeom prst="rect">
              <a:avLst/>
            </a:prstGeom>
          </p:spPr>
        </p:pic>
        <p:pic>
          <p:nvPicPr>
            <p:cNvPr id="96" name="object 96"/>
            <p:cNvPicPr/>
            <p:nvPr/>
          </p:nvPicPr>
          <p:blipFill>
            <a:blip r:embed="rId93" cstate="print"/>
            <a:stretch>
              <a:fillRect/>
            </a:stretch>
          </p:blipFill>
          <p:spPr>
            <a:xfrm>
              <a:off x="3491610" y="5001514"/>
              <a:ext cx="393446" cy="348488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94" cstate="print"/>
            <a:stretch>
              <a:fillRect/>
            </a:stretch>
          </p:blipFill>
          <p:spPr>
            <a:xfrm>
              <a:off x="3110229" y="4751323"/>
              <a:ext cx="414147" cy="477266"/>
            </a:xfrm>
            <a:prstGeom prst="rect">
              <a:avLst/>
            </a:prstGeom>
          </p:spPr>
        </p:pic>
        <p:pic>
          <p:nvPicPr>
            <p:cNvPr id="98" name="object 98"/>
            <p:cNvPicPr/>
            <p:nvPr/>
          </p:nvPicPr>
          <p:blipFill>
            <a:blip r:embed="rId95" cstate="print"/>
            <a:stretch>
              <a:fillRect/>
            </a:stretch>
          </p:blipFill>
          <p:spPr>
            <a:xfrm>
              <a:off x="3367278" y="4435221"/>
              <a:ext cx="444626" cy="294767"/>
            </a:xfrm>
            <a:prstGeom prst="rect">
              <a:avLst/>
            </a:prstGeom>
          </p:spPr>
        </p:pic>
        <p:pic>
          <p:nvPicPr>
            <p:cNvPr id="99" name="object 99"/>
            <p:cNvPicPr/>
            <p:nvPr/>
          </p:nvPicPr>
          <p:blipFill>
            <a:blip r:embed="rId96" cstate="print"/>
            <a:stretch>
              <a:fillRect/>
            </a:stretch>
          </p:blipFill>
          <p:spPr>
            <a:xfrm>
              <a:off x="3864355" y="4588255"/>
              <a:ext cx="137667" cy="113030"/>
            </a:xfrm>
            <a:prstGeom prst="rect">
              <a:avLst/>
            </a:prstGeom>
          </p:spPr>
        </p:pic>
        <p:pic>
          <p:nvPicPr>
            <p:cNvPr id="100" name="object 100"/>
            <p:cNvPicPr/>
            <p:nvPr/>
          </p:nvPicPr>
          <p:blipFill>
            <a:blip r:embed="rId97" cstate="print"/>
            <a:stretch>
              <a:fillRect/>
            </a:stretch>
          </p:blipFill>
          <p:spPr>
            <a:xfrm>
              <a:off x="3758438" y="4530216"/>
              <a:ext cx="157099" cy="184531"/>
            </a:xfrm>
            <a:prstGeom prst="rect">
              <a:avLst/>
            </a:prstGeom>
          </p:spPr>
        </p:pic>
        <p:pic>
          <p:nvPicPr>
            <p:cNvPr id="101" name="object 101"/>
            <p:cNvPicPr/>
            <p:nvPr/>
          </p:nvPicPr>
          <p:blipFill>
            <a:blip r:embed="rId98" cstate="print"/>
            <a:stretch>
              <a:fillRect/>
            </a:stretch>
          </p:blipFill>
          <p:spPr>
            <a:xfrm>
              <a:off x="3985005" y="4599051"/>
              <a:ext cx="99822" cy="97917"/>
            </a:xfrm>
            <a:prstGeom prst="rect">
              <a:avLst/>
            </a:prstGeom>
          </p:spPr>
        </p:pic>
        <p:pic>
          <p:nvPicPr>
            <p:cNvPr id="102" name="object 102"/>
            <p:cNvPicPr/>
            <p:nvPr/>
          </p:nvPicPr>
          <p:blipFill>
            <a:blip r:embed="rId99" cstate="print"/>
            <a:stretch>
              <a:fillRect/>
            </a:stretch>
          </p:blipFill>
          <p:spPr>
            <a:xfrm>
              <a:off x="3007614" y="4141851"/>
              <a:ext cx="337819" cy="85217"/>
            </a:xfrm>
            <a:prstGeom prst="rect">
              <a:avLst/>
            </a:prstGeom>
          </p:spPr>
        </p:pic>
        <p:pic>
          <p:nvPicPr>
            <p:cNvPr id="103" name="object 103"/>
            <p:cNvPicPr/>
            <p:nvPr/>
          </p:nvPicPr>
          <p:blipFill>
            <a:blip r:embed="rId100" cstate="print"/>
            <a:stretch>
              <a:fillRect/>
            </a:stretch>
          </p:blipFill>
          <p:spPr>
            <a:xfrm>
              <a:off x="3206623" y="4267072"/>
              <a:ext cx="70993" cy="17272"/>
            </a:xfrm>
            <a:prstGeom prst="rect">
              <a:avLst/>
            </a:prstGeom>
          </p:spPr>
        </p:pic>
        <p:pic>
          <p:nvPicPr>
            <p:cNvPr id="104" name="object 104"/>
            <p:cNvPicPr/>
            <p:nvPr/>
          </p:nvPicPr>
          <p:blipFill>
            <a:blip r:embed="rId101" cstate="print"/>
            <a:stretch>
              <a:fillRect/>
            </a:stretch>
          </p:blipFill>
          <p:spPr>
            <a:xfrm>
              <a:off x="3567684" y="4263263"/>
              <a:ext cx="61722" cy="18923"/>
            </a:xfrm>
            <a:prstGeom prst="rect">
              <a:avLst/>
            </a:prstGeom>
          </p:spPr>
        </p:pic>
        <p:pic>
          <p:nvPicPr>
            <p:cNvPr id="105" name="object 105"/>
            <p:cNvPicPr/>
            <p:nvPr/>
          </p:nvPicPr>
          <p:blipFill>
            <a:blip r:embed="rId102" cstate="print"/>
            <a:stretch>
              <a:fillRect/>
            </a:stretch>
          </p:blipFill>
          <p:spPr>
            <a:xfrm>
              <a:off x="3761359" y="6196584"/>
              <a:ext cx="115824" cy="32765"/>
            </a:xfrm>
            <a:prstGeom prst="rect">
              <a:avLst/>
            </a:prstGeom>
          </p:spPr>
        </p:pic>
        <p:pic>
          <p:nvPicPr>
            <p:cNvPr id="106" name="object 106"/>
            <p:cNvPicPr/>
            <p:nvPr/>
          </p:nvPicPr>
          <p:blipFill>
            <a:blip r:embed="rId103" cstate="print"/>
            <a:stretch>
              <a:fillRect/>
            </a:stretch>
          </p:blipFill>
          <p:spPr>
            <a:xfrm>
              <a:off x="2777744" y="4708778"/>
              <a:ext cx="535940" cy="166750"/>
            </a:xfrm>
            <a:prstGeom prst="rect">
              <a:avLst/>
            </a:prstGeom>
          </p:spPr>
        </p:pic>
        <p:pic>
          <p:nvPicPr>
            <p:cNvPr id="107" name="object 107"/>
            <p:cNvPicPr/>
            <p:nvPr/>
          </p:nvPicPr>
          <p:blipFill>
            <a:blip r:embed="rId104" cstate="print"/>
            <a:stretch>
              <a:fillRect/>
            </a:stretch>
          </p:blipFill>
          <p:spPr>
            <a:xfrm>
              <a:off x="3395345" y="1818513"/>
              <a:ext cx="1962530" cy="1164463"/>
            </a:xfrm>
            <a:prstGeom prst="rect">
              <a:avLst/>
            </a:prstGeom>
          </p:spPr>
        </p:pic>
        <p:pic>
          <p:nvPicPr>
            <p:cNvPr id="108" name="object 108"/>
            <p:cNvPicPr/>
            <p:nvPr/>
          </p:nvPicPr>
          <p:blipFill>
            <a:blip r:embed="rId105" cstate="print"/>
            <a:stretch>
              <a:fillRect/>
            </a:stretch>
          </p:blipFill>
          <p:spPr>
            <a:xfrm>
              <a:off x="4517135" y="6297295"/>
              <a:ext cx="75057" cy="31876"/>
            </a:xfrm>
            <a:prstGeom prst="rect">
              <a:avLst/>
            </a:prstGeom>
          </p:spPr>
        </p:pic>
        <p:pic>
          <p:nvPicPr>
            <p:cNvPr id="109" name="object 109"/>
            <p:cNvPicPr/>
            <p:nvPr/>
          </p:nvPicPr>
          <p:blipFill>
            <a:blip r:embed="rId106" cstate="print"/>
            <a:stretch>
              <a:fillRect/>
            </a:stretch>
          </p:blipFill>
          <p:spPr>
            <a:xfrm>
              <a:off x="1190371" y="1845818"/>
              <a:ext cx="2855214" cy="1744472"/>
            </a:xfrm>
            <a:prstGeom prst="rect">
              <a:avLst/>
            </a:prstGeom>
          </p:spPr>
        </p:pic>
        <p:pic>
          <p:nvPicPr>
            <p:cNvPr id="110" name="object 110"/>
            <p:cNvPicPr/>
            <p:nvPr/>
          </p:nvPicPr>
          <p:blipFill>
            <a:blip r:embed="rId107" cstate="print"/>
            <a:stretch>
              <a:fillRect/>
            </a:stretch>
          </p:blipFill>
          <p:spPr>
            <a:xfrm>
              <a:off x="320547" y="2501645"/>
              <a:ext cx="3259963" cy="1755520"/>
            </a:xfrm>
            <a:prstGeom prst="rect">
              <a:avLst/>
            </a:prstGeom>
          </p:spPr>
        </p:pic>
        <p:pic>
          <p:nvPicPr>
            <p:cNvPr id="111" name="object 111"/>
            <p:cNvPicPr/>
            <p:nvPr/>
          </p:nvPicPr>
          <p:blipFill>
            <a:blip r:embed="rId108" cstate="print"/>
            <a:stretch>
              <a:fillRect/>
            </a:stretch>
          </p:blipFill>
          <p:spPr>
            <a:xfrm>
              <a:off x="5441950" y="3542791"/>
              <a:ext cx="413258" cy="231902"/>
            </a:xfrm>
            <a:prstGeom prst="rect">
              <a:avLst/>
            </a:prstGeom>
          </p:spPr>
        </p:pic>
        <p:pic>
          <p:nvPicPr>
            <p:cNvPr id="112" name="object 112"/>
            <p:cNvPicPr/>
            <p:nvPr/>
          </p:nvPicPr>
          <p:blipFill>
            <a:blip r:embed="rId109" cstate="print"/>
            <a:stretch>
              <a:fillRect/>
            </a:stretch>
          </p:blipFill>
          <p:spPr>
            <a:xfrm>
              <a:off x="6159500" y="3442842"/>
              <a:ext cx="108330" cy="46609"/>
            </a:xfrm>
            <a:prstGeom prst="rect">
              <a:avLst/>
            </a:prstGeom>
          </p:spPr>
        </p:pic>
        <p:pic>
          <p:nvPicPr>
            <p:cNvPr id="113" name="object 113"/>
            <p:cNvPicPr/>
            <p:nvPr/>
          </p:nvPicPr>
          <p:blipFill>
            <a:blip r:embed="rId110" cstate="print"/>
            <a:stretch>
              <a:fillRect/>
            </a:stretch>
          </p:blipFill>
          <p:spPr>
            <a:xfrm>
              <a:off x="6381241" y="3603878"/>
              <a:ext cx="203454" cy="201803"/>
            </a:xfrm>
            <a:prstGeom prst="rect">
              <a:avLst/>
            </a:prstGeom>
          </p:spPr>
        </p:pic>
        <p:pic>
          <p:nvPicPr>
            <p:cNvPr id="114" name="object 114"/>
            <p:cNvPicPr/>
            <p:nvPr/>
          </p:nvPicPr>
          <p:blipFill>
            <a:blip r:embed="rId111" cstate="print"/>
            <a:stretch>
              <a:fillRect/>
            </a:stretch>
          </p:blipFill>
          <p:spPr>
            <a:xfrm>
              <a:off x="6758940" y="3781678"/>
              <a:ext cx="81660" cy="33274"/>
            </a:xfrm>
            <a:prstGeom prst="rect">
              <a:avLst/>
            </a:prstGeom>
          </p:spPr>
        </p:pic>
        <p:pic>
          <p:nvPicPr>
            <p:cNvPr id="115" name="object 115"/>
            <p:cNvPicPr/>
            <p:nvPr/>
          </p:nvPicPr>
          <p:blipFill>
            <a:blip r:embed="rId112" cstate="print"/>
            <a:stretch>
              <a:fillRect/>
            </a:stretch>
          </p:blipFill>
          <p:spPr>
            <a:xfrm>
              <a:off x="4968113" y="2715895"/>
              <a:ext cx="342264" cy="131825"/>
            </a:xfrm>
            <a:prstGeom prst="rect">
              <a:avLst/>
            </a:prstGeom>
          </p:spPr>
        </p:pic>
        <p:pic>
          <p:nvPicPr>
            <p:cNvPr id="116" name="object 116"/>
            <p:cNvPicPr/>
            <p:nvPr/>
          </p:nvPicPr>
          <p:blipFill>
            <a:blip r:embed="rId113" cstate="print"/>
            <a:stretch>
              <a:fillRect/>
            </a:stretch>
          </p:blipFill>
          <p:spPr>
            <a:xfrm>
              <a:off x="5409057" y="3161919"/>
              <a:ext cx="145034" cy="125602"/>
            </a:xfrm>
            <a:prstGeom prst="rect">
              <a:avLst/>
            </a:prstGeom>
          </p:spPr>
        </p:pic>
        <p:pic>
          <p:nvPicPr>
            <p:cNvPr id="117" name="object 117"/>
            <p:cNvPicPr/>
            <p:nvPr/>
          </p:nvPicPr>
          <p:blipFill>
            <a:blip r:embed="rId114" cstate="print"/>
            <a:stretch>
              <a:fillRect/>
            </a:stretch>
          </p:blipFill>
          <p:spPr>
            <a:xfrm>
              <a:off x="5482209" y="2952750"/>
              <a:ext cx="322834" cy="387096"/>
            </a:xfrm>
            <a:prstGeom prst="rect">
              <a:avLst/>
            </a:prstGeom>
          </p:spPr>
        </p:pic>
        <p:pic>
          <p:nvPicPr>
            <p:cNvPr id="118" name="object 118"/>
            <p:cNvPicPr/>
            <p:nvPr/>
          </p:nvPicPr>
          <p:blipFill>
            <a:blip r:embed="rId115" cstate="print"/>
            <a:stretch>
              <a:fillRect/>
            </a:stretch>
          </p:blipFill>
          <p:spPr>
            <a:xfrm>
              <a:off x="6003544" y="3066415"/>
              <a:ext cx="153415" cy="112775"/>
            </a:xfrm>
            <a:prstGeom prst="rect">
              <a:avLst/>
            </a:prstGeom>
          </p:spPr>
        </p:pic>
        <p:pic>
          <p:nvPicPr>
            <p:cNvPr id="119" name="object 119"/>
            <p:cNvPicPr/>
            <p:nvPr/>
          </p:nvPicPr>
          <p:blipFill>
            <a:blip r:embed="rId116" cstate="print"/>
            <a:stretch>
              <a:fillRect/>
            </a:stretch>
          </p:blipFill>
          <p:spPr>
            <a:xfrm>
              <a:off x="6108319" y="2601595"/>
              <a:ext cx="399542" cy="551434"/>
            </a:xfrm>
            <a:prstGeom prst="rect">
              <a:avLst/>
            </a:prstGeom>
          </p:spPr>
        </p:pic>
        <p:pic>
          <p:nvPicPr>
            <p:cNvPr id="120" name="object 120"/>
            <p:cNvPicPr/>
            <p:nvPr/>
          </p:nvPicPr>
          <p:blipFill>
            <a:blip r:embed="rId117" cstate="print"/>
            <a:stretch>
              <a:fillRect/>
            </a:stretch>
          </p:blipFill>
          <p:spPr>
            <a:xfrm>
              <a:off x="6437248" y="2993517"/>
              <a:ext cx="201041" cy="76835"/>
            </a:xfrm>
            <a:prstGeom prst="rect">
              <a:avLst/>
            </a:prstGeom>
          </p:spPr>
        </p:pic>
        <p:pic>
          <p:nvPicPr>
            <p:cNvPr id="121" name="object 121"/>
            <p:cNvPicPr/>
            <p:nvPr/>
          </p:nvPicPr>
          <p:blipFill>
            <a:blip r:embed="rId118" cstate="print"/>
            <a:stretch>
              <a:fillRect/>
            </a:stretch>
          </p:blipFill>
          <p:spPr>
            <a:xfrm>
              <a:off x="6809993" y="4618609"/>
              <a:ext cx="257048" cy="249300"/>
            </a:xfrm>
            <a:prstGeom prst="rect">
              <a:avLst/>
            </a:prstGeom>
          </p:spPr>
        </p:pic>
        <p:pic>
          <p:nvPicPr>
            <p:cNvPr id="122" name="object 122"/>
            <p:cNvPicPr/>
            <p:nvPr/>
          </p:nvPicPr>
          <p:blipFill>
            <a:blip r:embed="rId119" cstate="print"/>
            <a:stretch>
              <a:fillRect/>
            </a:stretch>
          </p:blipFill>
          <p:spPr>
            <a:xfrm>
              <a:off x="6667500" y="4638040"/>
              <a:ext cx="174244" cy="142875"/>
            </a:xfrm>
            <a:prstGeom prst="rect">
              <a:avLst/>
            </a:prstGeom>
          </p:spPr>
        </p:pic>
        <p:pic>
          <p:nvPicPr>
            <p:cNvPr id="123" name="object 123"/>
            <p:cNvPicPr/>
            <p:nvPr/>
          </p:nvPicPr>
          <p:blipFill>
            <a:blip r:embed="rId120" cstate="print"/>
            <a:stretch>
              <a:fillRect/>
            </a:stretch>
          </p:blipFill>
          <p:spPr>
            <a:xfrm>
              <a:off x="7531227" y="3485515"/>
              <a:ext cx="566420" cy="264667"/>
            </a:xfrm>
            <a:prstGeom prst="rect">
              <a:avLst/>
            </a:prstGeom>
          </p:spPr>
        </p:pic>
        <p:pic>
          <p:nvPicPr>
            <p:cNvPr id="124" name="object 124"/>
            <p:cNvPicPr/>
            <p:nvPr/>
          </p:nvPicPr>
          <p:blipFill>
            <a:blip r:embed="rId121" cstate="print"/>
            <a:stretch>
              <a:fillRect/>
            </a:stretch>
          </p:blipFill>
          <p:spPr>
            <a:xfrm>
              <a:off x="5902452" y="2010155"/>
              <a:ext cx="830834" cy="1041400"/>
            </a:xfrm>
            <a:prstGeom prst="rect">
              <a:avLst/>
            </a:prstGeom>
          </p:spPr>
        </p:pic>
        <p:pic>
          <p:nvPicPr>
            <p:cNvPr id="125" name="object 125"/>
            <p:cNvPicPr/>
            <p:nvPr/>
          </p:nvPicPr>
          <p:blipFill>
            <a:blip r:embed="rId122" cstate="print"/>
            <a:stretch>
              <a:fillRect/>
            </a:stretch>
          </p:blipFill>
          <p:spPr>
            <a:xfrm>
              <a:off x="11764644" y="2723514"/>
              <a:ext cx="107188" cy="24257"/>
            </a:xfrm>
            <a:prstGeom prst="rect">
              <a:avLst/>
            </a:prstGeom>
          </p:spPr>
        </p:pic>
        <p:pic>
          <p:nvPicPr>
            <p:cNvPr id="126" name="object 126"/>
            <p:cNvPicPr/>
            <p:nvPr/>
          </p:nvPicPr>
          <p:blipFill>
            <a:blip r:embed="rId123" cstate="print"/>
            <a:stretch>
              <a:fillRect/>
            </a:stretch>
          </p:blipFill>
          <p:spPr>
            <a:xfrm>
              <a:off x="9865359" y="3494785"/>
              <a:ext cx="548258" cy="430275"/>
            </a:xfrm>
            <a:prstGeom prst="rect">
              <a:avLst/>
            </a:prstGeom>
          </p:spPr>
        </p:pic>
        <p:pic>
          <p:nvPicPr>
            <p:cNvPr id="127" name="object 127"/>
            <p:cNvPicPr/>
            <p:nvPr/>
          </p:nvPicPr>
          <p:blipFill>
            <a:blip r:embed="rId124" cstate="print"/>
            <a:stretch>
              <a:fillRect/>
            </a:stretch>
          </p:blipFill>
          <p:spPr>
            <a:xfrm>
              <a:off x="8111108" y="3224529"/>
              <a:ext cx="1925954" cy="1050544"/>
            </a:xfrm>
            <a:prstGeom prst="rect">
              <a:avLst/>
            </a:prstGeom>
          </p:spPr>
        </p:pic>
        <p:pic>
          <p:nvPicPr>
            <p:cNvPr id="128" name="object 128"/>
            <p:cNvPicPr/>
            <p:nvPr/>
          </p:nvPicPr>
          <p:blipFill>
            <a:blip r:embed="rId125" cstate="print"/>
            <a:stretch>
              <a:fillRect/>
            </a:stretch>
          </p:blipFill>
          <p:spPr>
            <a:xfrm>
              <a:off x="9464675" y="4269740"/>
              <a:ext cx="310642" cy="340994"/>
            </a:xfrm>
            <a:prstGeom prst="rect">
              <a:avLst/>
            </a:prstGeom>
          </p:spPr>
        </p:pic>
        <p:pic>
          <p:nvPicPr>
            <p:cNvPr id="129" name="object 129"/>
            <p:cNvPicPr/>
            <p:nvPr/>
          </p:nvPicPr>
          <p:blipFill>
            <a:blip r:embed="rId126" cstate="print"/>
            <a:stretch>
              <a:fillRect/>
            </a:stretch>
          </p:blipFill>
          <p:spPr>
            <a:xfrm>
              <a:off x="10230866" y="4822190"/>
              <a:ext cx="406907" cy="205739"/>
            </a:xfrm>
            <a:prstGeom prst="rect">
              <a:avLst/>
            </a:prstGeom>
          </p:spPr>
        </p:pic>
        <p:pic>
          <p:nvPicPr>
            <p:cNvPr id="130" name="object 130"/>
            <p:cNvPicPr/>
            <p:nvPr/>
          </p:nvPicPr>
          <p:blipFill>
            <a:blip r:embed="rId127" cstate="print"/>
            <a:stretch>
              <a:fillRect/>
            </a:stretch>
          </p:blipFill>
          <p:spPr>
            <a:xfrm>
              <a:off x="8295131" y="4501134"/>
              <a:ext cx="68199" cy="98298"/>
            </a:xfrm>
            <a:prstGeom prst="rect">
              <a:avLst/>
            </a:prstGeom>
          </p:spPr>
        </p:pic>
        <p:pic>
          <p:nvPicPr>
            <p:cNvPr id="131" name="object 131"/>
            <p:cNvPicPr/>
            <p:nvPr/>
          </p:nvPicPr>
          <p:blipFill>
            <a:blip r:embed="rId128" cstate="print"/>
            <a:stretch>
              <a:fillRect/>
            </a:stretch>
          </p:blipFill>
          <p:spPr>
            <a:xfrm>
              <a:off x="7102475" y="5053838"/>
              <a:ext cx="237490" cy="362077"/>
            </a:xfrm>
            <a:prstGeom prst="rect">
              <a:avLst/>
            </a:prstGeom>
          </p:spPr>
        </p:pic>
        <p:pic>
          <p:nvPicPr>
            <p:cNvPr id="132" name="object 132"/>
            <p:cNvPicPr/>
            <p:nvPr/>
          </p:nvPicPr>
          <p:blipFill>
            <a:blip r:embed="rId129" cstate="print"/>
            <a:stretch>
              <a:fillRect/>
            </a:stretch>
          </p:blipFill>
          <p:spPr>
            <a:xfrm>
              <a:off x="7092695" y="4251833"/>
              <a:ext cx="383031" cy="179831"/>
            </a:xfrm>
            <a:prstGeom prst="rect">
              <a:avLst/>
            </a:prstGeom>
          </p:spPr>
        </p:pic>
        <p:pic>
          <p:nvPicPr>
            <p:cNvPr id="133" name="object 133"/>
            <p:cNvPicPr/>
            <p:nvPr/>
          </p:nvPicPr>
          <p:blipFill>
            <a:blip r:embed="rId130" cstate="print"/>
            <a:stretch>
              <a:fillRect/>
            </a:stretch>
          </p:blipFill>
          <p:spPr>
            <a:xfrm>
              <a:off x="7908670" y="6117844"/>
              <a:ext cx="81788" cy="32893"/>
            </a:xfrm>
            <a:prstGeom prst="rect">
              <a:avLst/>
            </a:prstGeom>
          </p:spPr>
        </p:pic>
        <p:pic>
          <p:nvPicPr>
            <p:cNvPr id="134" name="object 134"/>
            <p:cNvPicPr/>
            <p:nvPr/>
          </p:nvPicPr>
          <p:blipFill>
            <a:blip r:embed="rId131" cstate="print"/>
            <a:stretch>
              <a:fillRect/>
            </a:stretch>
          </p:blipFill>
          <p:spPr>
            <a:xfrm>
              <a:off x="10673206" y="4895088"/>
              <a:ext cx="259079" cy="139573"/>
            </a:xfrm>
            <a:prstGeom prst="rect">
              <a:avLst/>
            </a:prstGeom>
          </p:spPr>
        </p:pic>
        <p:pic>
          <p:nvPicPr>
            <p:cNvPr id="135" name="object 135"/>
            <p:cNvPicPr/>
            <p:nvPr/>
          </p:nvPicPr>
          <p:blipFill>
            <a:blip r:embed="rId132" cstate="print"/>
            <a:stretch>
              <a:fillRect/>
            </a:stretch>
          </p:blipFill>
          <p:spPr>
            <a:xfrm>
              <a:off x="9324467" y="5028438"/>
              <a:ext cx="1318132" cy="928624"/>
            </a:xfrm>
            <a:prstGeom prst="rect">
              <a:avLst/>
            </a:prstGeom>
          </p:spPr>
        </p:pic>
        <p:pic>
          <p:nvPicPr>
            <p:cNvPr id="136" name="object 136"/>
            <p:cNvPicPr/>
            <p:nvPr/>
          </p:nvPicPr>
          <p:blipFill>
            <a:blip r:embed="rId133" cstate="print"/>
            <a:stretch>
              <a:fillRect/>
            </a:stretch>
          </p:blipFill>
          <p:spPr>
            <a:xfrm>
              <a:off x="11048365" y="5689472"/>
              <a:ext cx="398525" cy="379348"/>
            </a:xfrm>
            <a:prstGeom prst="rect">
              <a:avLst/>
            </a:prstGeom>
          </p:spPr>
        </p:pic>
        <p:pic>
          <p:nvPicPr>
            <p:cNvPr id="137" name="object 137"/>
            <p:cNvPicPr/>
            <p:nvPr/>
          </p:nvPicPr>
          <p:blipFill>
            <a:blip r:embed="rId134" cstate="print"/>
            <a:stretch>
              <a:fillRect/>
            </a:stretch>
          </p:blipFill>
          <p:spPr>
            <a:xfrm>
              <a:off x="11401425" y="5179440"/>
              <a:ext cx="85471" cy="53085"/>
            </a:xfrm>
            <a:prstGeom prst="rect">
              <a:avLst/>
            </a:prstGeom>
          </p:spPr>
        </p:pic>
        <p:pic>
          <p:nvPicPr>
            <p:cNvPr id="138" name="object 138"/>
            <p:cNvPicPr/>
            <p:nvPr/>
          </p:nvPicPr>
          <p:blipFill>
            <a:blip r:embed="rId135" cstate="print"/>
            <a:stretch>
              <a:fillRect/>
            </a:stretch>
          </p:blipFill>
          <p:spPr>
            <a:xfrm>
              <a:off x="7420736" y="3578097"/>
              <a:ext cx="457580" cy="226440"/>
            </a:xfrm>
            <a:prstGeom prst="rect">
              <a:avLst/>
            </a:prstGeom>
          </p:spPr>
        </p:pic>
        <p:pic>
          <p:nvPicPr>
            <p:cNvPr id="139" name="object 139"/>
            <p:cNvPicPr/>
            <p:nvPr/>
          </p:nvPicPr>
          <p:blipFill>
            <a:blip r:embed="rId136" cstate="print"/>
            <a:stretch>
              <a:fillRect/>
            </a:stretch>
          </p:blipFill>
          <p:spPr>
            <a:xfrm>
              <a:off x="7141464" y="3661917"/>
              <a:ext cx="634619" cy="424433"/>
            </a:xfrm>
            <a:prstGeom prst="rect">
              <a:avLst/>
            </a:prstGeom>
          </p:spPr>
        </p:pic>
        <p:pic>
          <p:nvPicPr>
            <p:cNvPr id="140" name="object 140"/>
            <p:cNvPicPr/>
            <p:nvPr/>
          </p:nvPicPr>
          <p:blipFill>
            <a:blip r:embed="rId137" cstate="print"/>
            <a:stretch>
              <a:fillRect/>
            </a:stretch>
          </p:blipFill>
          <p:spPr>
            <a:xfrm>
              <a:off x="7222997" y="3156839"/>
              <a:ext cx="1307211" cy="481837"/>
            </a:xfrm>
            <a:prstGeom prst="rect">
              <a:avLst/>
            </a:prstGeom>
          </p:spPr>
        </p:pic>
        <p:pic>
          <p:nvPicPr>
            <p:cNvPr id="141" name="object 141"/>
            <p:cNvPicPr/>
            <p:nvPr/>
          </p:nvPicPr>
          <p:blipFill>
            <a:blip r:embed="rId138" cstate="print"/>
            <a:stretch>
              <a:fillRect/>
            </a:stretch>
          </p:blipFill>
          <p:spPr>
            <a:xfrm>
              <a:off x="6365366" y="1955038"/>
              <a:ext cx="5475223" cy="1668652"/>
            </a:xfrm>
            <a:prstGeom prst="rect">
              <a:avLst/>
            </a:prstGeom>
          </p:spPr>
        </p:pic>
        <p:pic>
          <p:nvPicPr>
            <p:cNvPr id="142" name="object 142"/>
            <p:cNvPicPr/>
            <p:nvPr/>
          </p:nvPicPr>
          <p:blipFill>
            <a:blip r:embed="rId139" cstate="print"/>
            <a:stretch>
              <a:fillRect/>
            </a:stretch>
          </p:blipFill>
          <p:spPr>
            <a:xfrm>
              <a:off x="6132703" y="4608067"/>
              <a:ext cx="588390" cy="481583"/>
            </a:xfrm>
            <a:prstGeom prst="rect">
              <a:avLst/>
            </a:prstGeom>
          </p:spPr>
        </p:pic>
        <p:pic>
          <p:nvPicPr>
            <p:cNvPr id="143" name="object 143"/>
            <p:cNvPicPr/>
            <p:nvPr/>
          </p:nvPicPr>
          <p:blipFill>
            <a:blip r:embed="rId140" cstate="print"/>
            <a:stretch>
              <a:fillRect/>
            </a:stretch>
          </p:blipFill>
          <p:spPr>
            <a:xfrm>
              <a:off x="6689470" y="5018151"/>
              <a:ext cx="342265" cy="436499"/>
            </a:xfrm>
            <a:prstGeom prst="rect">
              <a:avLst/>
            </a:prstGeom>
          </p:spPr>
        </p:pic>
        <p:pic>
          <p:nvPicPr>
            <p:cNvPr id="144" name="object 144"/>
            <p:cNvPicPr/>
            <p:nvPr/>
          </p:nvPicPr>
          <p:blipFill>
            <a:blip r:embed="rId141" cstate="print"/>
            <a:stretch>
              <a:fillRect/>
            </a:stretch>
          </p:blipFill>
          <p:spPr>
            <a:xfrm>
              <a:off x="6667500" y="4768850"/>
              <a:ext cx="348360" cy="281305"/>
            </a:xfrm>
            <a:prstGeom prst="rect">
              <a:avLst/>
            </a:prstGeom>
          </p:spPr>
        </p:pic>
        <p:pic>
          <p:nvPicPr>
            <p:cNvPr id="145" name="object 145"/>
            <p:cNvPicPr/>
            <p:nvPr/>
          </p:nvPicPr>
          <p:blipFill>
            <a:blip r:embed="rId142" cstate="print"/>
            <a:stretch>
              <a:fillRect/>
            </a:stretch>
          </p:blipFill>
          <p:spPr>
            <a:xfrm>
              <a:off x="6768592" y="4993132"/>
              <a:ext cx="108330" cy="194056"/>
            </a:xfrm>
            <a:prstGeom prst="rect">
              <a:avLst/>
            </a:prstGeom>
          </p:spPr>
        </p:pic>
        <p:pic>
          <p:nvPicPr>
            <p:cNvPr id="146" name="object 146"/>
            <p:cNvPicPr/>
            <p:nvPr/>
          </p:nvPicPr>
          <p:blipFill>
            <a:blip r:embed="rId143" cstate="print"/>
            <a:stretch>
              <a:fillRect/>
            </a:stretch>
          </p:blipFill>
          <p:spPr>
            <a:xfrm>
              <a:off x="10979911" y="5286755"/>
              <a:ext cx="102870" cy="52959"/>
            </a:xfrm>
            <a:prstGeom prst="rect">
              <a:avLst/>
            </a:prstGeom>
          </p:spPr>
        </p:pic>
        <p:pic>
          <p:nvPicPr>
            <p:cNvPr id="147" name="object 147"/>
            <p:cNvPicPr/>
            <p:nvPr/>
          </p:nvPicPr>
          <p:blipFill>
            <a:blip r:embed="rId144" cstate="print"/>
            <a:stretch>
              <a:fillRect/>
            </a:stretch>
          </p:blipFill>
          <p:spPr>
            <a:xfrm>
              <a:off x="7908925" y="3634485"/>
              <a:ext cx="245999" cy="128269"/>
            </a:xfrm>
            <a:prstGeom prst="rect">
              <a:avLst/>
            </a:prstGeom>
          </p:spPr>
        </p:pic>
        <p:pic>
          <p:nvPicPr>
            <p:cNvPr id="148" name="object 148"/>
            <p:cNvPicPr/>
            <p:nvPr/>
          </p:nvPicPr>
          <p:blipFill>
            <a:blip r:embed="rId145" cstate="print"/>
            <a:stretch>
              <a:fillRect/>
            </a:stretch>
          </p:blipFill>
          <p:spPr>
            <a:xfrm>
              <a:off x="3741801" y="4469510"/>
              <a:ext cx="37211" cy="20193"/>
            </a:xfrm>
            <a:prstGeom prst="rect">
              <a:avLst/>
            </a:prstGeom>
          </p:spPr>
        </p:pic>
        <p:pic>
          <p:nvPicPr>
            <p:cNvPr id="149" name="object 149"/>
            <p:cNvPicPr/>
            <p:nvPr/>
          </p:nvPicPr>
          <p:blipFill>
            <a:blip r:embed="rId146" cstate="print"/>
            <a:stretch>
              <a:fillRect/>
            </a:stretch>
          </p:blipFill>
          <p:spPr>
            <a:xfrm>
              <a:off x="7120635" y="3619372"/>
              <a:ext cx="107188" cy="72770"/>
            </a:xfrm>
            <a:prstGeom prst="rect">
              <a:avLst/>
            </a:prstGeom>
          </p:spPr>
        </p:pic>
        <p:pic>
          <p:nvPicPr>
            <p:cNvPr id="150" name="object 150"/>
            <p:cNvPicPr/>
            <p:nvPr/>
          </p:nvPicPr>
          <p:blipFill>
            <a:blip r:embed="rId147" cstate="print"/>
            <a:stretch>
              <a:fillRect/>
            </a:stretch>
          </p:blipFill>
          <p:spPr>
            <a:xfrm>
              <a:off x="7169404" y="3601973"/>
              <a:ext cx="159639" cy="103759"/>
            </a:xfrm>
            <a:prstGeom prst="rect">
              <a:avLst/>
            </a:prstGeom>
          </p:spPr>
        </p:pic>
        <p:pic>
          <p:nvPicPr>
            <p:cNvPr id="151" name="object 151"/>
            <p:cNvPicPr/>
            <p:nvPr/>
          </p:nvPicPr>
          <p:blipFill>
            <a:blip r:embed="rId148" cstate="print"/>
            <a:stretch>
              <a:fillRect/>
            </a:stretch>
          </p:blipFill>
          <p:spPr>
            <a:xfrm>
              <a:off x="7678673" y="3710559"/>
              <a:ext cx="460501" cy="259080"/>
            </a:xfrm>
            <a:prstGeom prst="rect">
              <a:avLst/>
            </a:prstGeom>
          </p:spPr>
        </p:pic>
        <p:pic>
          <p:nvPicPr>
            <p:cNvPr id="152" name="object 152"/>
            <p:cNvPicPr/>
            <p:nvPr/>
          </p:nvPicPr>
          <p:blipFill>
            <a:blip r:embed="rId149" cstate="print"/>
            <a:stretch>
              <a:fillRect/>
            </a:stretch>
          </p:blipFill>
          <p:spPr>
            <a:xfrm>
              <a:off x="7694548" y="3748404"/>
              <a:ext cx="529844" cy="382143"/>
            </a:xfrm>
            <a:prstGeom prst="rect">
              <a:avLst/>
            </a:prstGeom>
          </p:spPr>
        </p:pic>
        <p:pic>
          <p:nvPicPr>
            <p:cNvPr id="153" name="object 153"/>
            <p:cNvPicPr/>
            <p:nvPr/>
          </p:nvPicPr>
          <p:blipFill>
            <a:blip r:embed="rId150" cstate="print"/>
            <a:stretch>
              <a:fillRect/>
            </a:stretch>
          </p:blipFill>
          <p:spPr>
            <a:xfrm>
              <a:off x="8756777" y="4605909"/>
              <a:ext cx="1472819" cy="413638"/>
            </a:xfrm>
            <a:prstGeom prst="rect">
              <a:avLst/>
            </a:prstGeom>
          </p:spPr>
        </p:pic>
        <p:pic>
          <p:nvPicPr>
            <p:cNvPr id="154" name="object 154"/>
            <p:cNvPicPr/>
            <p:nvPr/>
          </p:nvPicPr>
          <p:blipFill>
            <a:blip r:embed="rId151" cstate="print"/>
            <a:stretch>
              <a:fillRect/>
            </a:stretch>
          </p:blipFill>
          <p:spPr>
            <a:xfrm>
              <a:off x="5958459" y="3436111"/>
              <a:ext cx="408177" cy="320040"/>
            </a:xfrm>
            <a:prstGeom prst="rect">
              <a:avLst/>
            </a:prstGeom>
          </p:spPr>
        </p:pic>
        <p:pic>
          <p:nvPicPr>
            <p:cNvPr id="155" name="object 155"/>
            <p:cNvPicPr/>
            <p:nvPr/>
          </p:nvPicPr>
          <p:blipFill>
            <a:blip r:embed="rId152" cstate="print"/>
            <a:stretch>
              <a:fillRect/>
            </a:stretch>
          </p:blipFill>
          <p:spPr>
            <a:xfrm>
              <a:off x="6337427" y="3463163"/>
              <a:ext cx="132841" cy="127126"/>
            </a:xfrm>
            <a:prstGeom prst="rect">
              <a:avLst/>
            </a:prstGeom>
          </p:spPr>
        </p:pic>
        <p:pic>
          <p:nvPicPr>
            <p:cNvPr id="156" name="object 156"/>
            <p:cNvPicPr/>
            <p:nvPr/>
          </p:nvPicPr>
          <p:blipFill>
            <a:blip r:embed="rId153" cstate="print"/>
            <a:stretch>
              <a:fillRect/>
            </a:stretch>
          </p:blipFill>
          <p:spPr>
            <a:xfrm>
              <a:off x="11033252" y="565404"/>
              <a:ext cx="635634" cy="445008"/>
            </a:xfrm>
            <a:prstGeom prst="rect">
              <a:avLst/>
            </a:prstGeom>
          </p:spPr>
        </p:pic>
        <p:sp>
          <p:nvSpPr>
            <p:cNvPr id="157" name="object 157"/>
            <p:cNvSpPr/>
            <p:nvPr/>
          </p:nvSpPr>
          <p:spPr>
            <a:xfrm>
              <a:off x="2447289" y="4299965"/>
              <a:ext cx="7539990" cy="1170940"/>
            </a:xfrm>
            <a:custGeom>
              <a:avLst/>
              <a:gdLst/>
              <a:ahLst/>
              <a:cxnLst/>
              <a:rect l="l" t="t" r="r" b="b"/>
              <a:pathLst>
                <a:path w="7539990" h="1170939">
                  <a:moveTo>
                    <a:pt x="7352791" y="0"/>
                  </a:moveTo>
                  <a:lnTo>
                    <a:pt x="187198" y="0"/>
                  </a:lnTo>
                  <a:lnTo>
                    <a:pt x="137436" y="6687"/>
                  </a:lnTo>
                  <a:lnTo>
                    <a:pt x="92719" y="25559"/>
                  </a:lnTo>
                  <a:lnTo>
                    <a:pt x="54832" y="54832"/>
                  </a:lnTo>
                  <a:lnTo>
                    <a:pt x="25559" y="92719"/>
                  </a:lnTo>
                  <a:lnTo>
                    <a:pt x="6687" y="137436"/>
                  </a:lnTo>
                  <a:lnTo>
                    <a:pt x="0" y="187198"/>
                  </a:lnTo>
                  <a:lnTo>
                    <a:pt x="0" y="983361"/>
                  </a:lnTo>
                  <a:lnTo>
                    <a:pt x="6687" y="1033122"/>
                  </a:lnTo>
                  <a:lnTo>
                    <a:pt x="25559" y="1077839"/>
                  </a:lnTo>
                  <a:lnTo>
                    <a:pt x="54832" y="1115726"/>
                  </a:lnTo>
                  <a:lnTo>
                    <a:pt x="92719" y="1144999"/>
                  </a:lnTo>
                  <a:lnTo>
                    <a:pt x="137436" y="1163871"/>
                  </a:lnTo>
                  <a:lnTo>
                    <a:pt x="187198" y="1170559"/>
                  </a:lnTo>
                  <a:lnTo>
                    <a:pt x="7352791" y="1170559"/>
                  </a:lnTo>
                  <a:lnTo>
                    <a:pt x="7402553" y="1163871"/>
                  </a:lnTo>
                  <a:lnTo>
                    <a:pt x="7447270" y="1144999"/>
                  </a:lnTo>
                  <a:lnTo>
                    <a:pt x="7485157" y="1115726"/>
                  </a:lnTo>
                  <a:lnTo>
                    <a:pt x="7514430" y="1077839"/>
                  </a:lnTo>
                  <a:lnTo>
                    <a:pt x="7533302" y="1033122"/>
                  </a:lnTo>
                  <a:lnTo>
                    <a:pt x="7539990" y="983361"/>
                  </a:lnTo>
                  <a:lnTo>
                    <a:pt x="7539990" y="187198"/>
                  </a:lnTo>
                  <a:lnTo>
                    <a:pt x="7533302" y="137436"/>
                  </a:lnTo>
                  <a:lnTo>
                    <a:pt x="7514430" y="92719"/>
                  </a:lnTo>
                  <a:lnTo>
                    <a:pt x="7485157" y="54832"/>
                  </a:lnTo>
                  <a:lnTo>
                    <a:pt x="7447270" y="25559"/>
                  </a:lnTo>
                  <a:lnTo>
                    <a:pt x="7402553" y="6687"/>
                  </a:lnTo>
                  <a:lnTo>
                    <a:pt x="735279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8" name="object 158" descr="$PPTXTitle"/>
          <p:cNvSpPr txBox="1">
            <a:spLocks noGrp="1"/>
          </p:cNvSpPr>
          <p:nvPr>
            <p:ph type="title"/>
          </p:nvPr>
        </p:nvSpPr>
        <p:spPr>
          <a:xfrm>
            <a:off x="566419" y="292100"/>
            <a:ext cx="84836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10">
                <a:solidFill>
                  <a:srgbClr val="001E5A"/>
                </a:solidFill>
              </a:rPr>
              <a:t>Q2</a:t>
            </a:r>
            <a:r>
              <a:rPr dirty="0" spc="5">
                <a:solidFill>
                  <a:srgbClr val="001E5A"/>
                </a:solidFill>
              </a:rPr>
              <a:t> </a:t>
            </a:r>
            <a:r>
              <a:rPr dirty="0" spc="-140">
                <a:solidFill>
                  <a:srgbClr val="001E5A"/>
                </a:solidFill>
              </a:rPr>
              <a:t>FY27</a:t>
            </a:r>
            <a:r>
              <a:rPr dirty="0" spc="10">
                <a:solidFill>
                  <a:srgbClr val="001E5A"/>
                </a:solidFill>
              </a:rPr>
              <a:t> </a:t>
            </a:r>
            <a:r>
              <a:rPr dirty="0">
                <a:solidFill>
                  <a:srgbClr val="001E5A"/>
                </a:solidFill>
              </a:rPr>
              <a:t>Revenue</a:t>
            </a:r>
            <a:r>
              <a:rPr dirty="0" spc="10">
                <a:solidFill>
                  <a:srgbClr val="001E5A"/>
                </a:solidFill>
              </a:rPr>
              <a:t> </a:t>
            </a:r>
            <a:r>
              <a:rPr dirty="0">
                <a:solidFill>
                  <a:srgbClr val="001E5A"/>
                </a:solidFill>
              </a:rPr>
              <a:t>Growth</a:t>
            </a:r>
            <a:r>
              <a:rPr dirty="0" spc="5">
                <a:solidFill>
                  <a:srgbClr val="001E5A"/>
                </a:solidFill>
              </a:rPr>
              <a:t> </a:t>
            </a:r>
            <a:r>
              <a:rPr dirty="0" spc="125">
                <a:solidFill>
                  <a:srgbClr val="001E5A"/>
                </a:solidFill>
              </a:rPr>
              <a:t>by</a:t>
            </a:r>
            <a:r>
              <a:rPr dirty="0" spc="10">
                <a:solidFill>
                  <a:srgbClr val="001E5A"/>
                </a:solidFill>
              </a:rPr>
              <a:t> </a:t>
            </a:r>
            <a:r>
              <a:rPr dirty="0">
                <a:solidFill>
                  <a:srgbClr val="001E5A"/>
                </a:solidFill>
              </a:rPr>
              <a:t>Region</a:t>
            </a:r>
            <a:r>
              <a:rPr dirty="0" spc="10">
                <a:solidFill>
                  <a:srgbClr val="001E5A"/>
                </a:solidFill>
              </a:rPr>
              <a:t> </a:t>
            </a:r>
            <a:r>
              <a:rPr dirty="0" spc="-25">
                <a:solidFill>
                  <a:srgbClr val="001E5A"/>
                </a:solidFill>
              </a:rPr>
              <a:t>in</a:t>
            </a:r>
          </a:p>
        </p:txBody>
      </p:sp>
      <p:sp>
        <p:nvSpPr>
          <p:cNvPr id="159" name="object 159"/>
          <p:cNvSpPr txBox="1"/>
          <p:nvPr/>
        </p:nvSpPr>
        <p:spPr>
          <a:xfrm>
            <a:off x="566419" y="767588"/>
            <a:ext cx="4177029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solidFill>
                  <a:srgbClr val="001E5A"/>
                </a:solidFill>
                <a:latin typeface="Arial"/>
                <a:cs typeface="Arial"/>
              </a:rPr>
              <a:t>Constant</a:t>
            </a:r>
            <a:r>
              <a:rPr dirty="0" sz="3600" spc="-90" b="1">
                <a:solidFill>
                  <a:srgbClr val="001E5A"/>
                </a:solidFill>
                <a:latin typeface="Arial"/>
                <a:cs typeface="Arial"/>
              </a:rPr>
              <a:t> </a:t>
            </a:r>
            <a:r>
              <a:rPr dirty="0" sz="3600" spc="-10" b="1">
                <a:solidFill>
                  <a:srgbClr val="001E5A"/>
                </a:solidFill>
                <a:latin typeface="Arial"/>
                <a:cs typeface="Arial"/>
              </a:rPr>
              <a:t>Currency</a:t>
            </a:r>
            <a:endParaRPr sz="3600">
              <a:latin typeface="Arial"/>
              <a:cs typeface="Arial"/>
            </a:endParaRPr>
          </a:p>
        </p:txBody>
      </p:sp>
      <p:sp>
        <p:nvSpPr>
          <p:cNvPr id="166" name="object 166"/>
          <p:cNvSpPr/>
          <p:nvPr/>
        </p:nvSpPr>
        <p:spPr>
          <a:xfrm>
            <a:off x="1937511" y="1674367"/>
            <a:ext cx="1767839" cy="1716405"/>
          </a:xfrm>
          <a:custGeom>
            <a:avLst/>
            <a:gdLst/>
            <a:ahLst/>
            <a:cxnLst/>
            <a:rect l="l" t="t" r="r" b="b"/>
            <a:pathLst>
              <a:path w="1767839" h="1716404">
                <a:moveTo>
                  <a:pt x="1767713" y="0"/>
                </a:moveTo>
                <a:lnTo>
                  <a:pt x="0" y="0"/>
                </a:lnTo>
                <a:lnTo>
                  <a:pt x="0" y="1525397"/>
                </a:lnTo>
                <a:lnTo>
                  <a:pt x="276098" y="1525397"/>
                </a:lnTo>
                <a:lnTo>
                  <a:pt x="515365" y="1716023"/>
                </a:lnTo>
                <a:lnTo>
                  <a:pt x="718185" y="1525397"/>
                </a:lnTo>
                <a:lnTo>
                  <a:pt x="1767713" y="1525397"/>
                </a:lnTo>
                <a:lnTo>
                  <a:pt x="176771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7" name="object 167"/>
          <p:cNvSpPr txBox="1"/>
          <p:nvPr/>
        </p:nvSpPr>
        <p:spPr>
          <a:xfrm>
            <a:off x="2306827" y="2053806"/>
            <a:ext cx="1028700" cy="966469"/>
          </a:xfrm>
          <a:prstGeom prst="rect">
            <a:avLst/>
          </a:prstGeom>
        </p:spPr>
        <p:txBody>
          <a:bodyPr wrap="square" lIns="0" tIns="17970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415"/>
              </a:spcBef>
            </a:pPr>
            <a:r>
              <a:rPr dirty="0" baseline="23035" sz="3075" spc="-15" b="1">
                <a:solidFill>
                  <a:srgbClr val="0B817B"/>
                </a:solidFill>
                <a:latin typeface="Arial"/>
                <a:cs typeface="Arial"/>
              </a:rPr>
              <a:t>)</a:t>
            </a:r>
            <a:r>
              <a:rPr dirty="0" sz="3200" spc="-10" b="1">
                <a:solidFill>
                  <a:srgbClr val="0B817B"/>
                </a:solidFill>
                <a:latin typeface="Arial"/>
                <a:cs typeface="Arial"/>
              </a:rPr>
              <a:t>7.4B</a:t>
            </a:r>
            <a:endParaRPr sz="3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75"/>
              </a:spcBef>
            </a:pPr>
            <a:r>
              <a:rPr dirty="0" sz="1400" spc="-25">
                <a:solidFill>
                  <a:srgbClr val="022C5F"/>
                </a:solidFill>
                <a:latin typeface="Verdana"/>
                <a:cs typeface="Verdana"/>
              </a:rPr>
              <a:t>10%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168" name="object 168"/>
          <p:cNvGrpSpPr/>
          <p:nvPr/>
        </p:nvGrpSpPr>
        <p:grpSpPr>
          <a:xfrm>
            <a:off x="1937385" y="1580769"/>
            <a:ext cx="1767839" cy="518159"/>
            <a:chOff x="1937385" y="1580769"/>
            <a:chExt cx="1767839" cy="518159"/>
          </a:xfrm>
        </p:grpSpPr>
        <p:pic>
          <p:nvPicPr>
            <p:cNvPr id="169" name="object 169"/>
            <p:cNvPicPr/>
            <p:nvPr/>
          </p:nvPicPr>
          <p:blipFill>
            <a:blip r:embed="rId155" cstate="print"/>
            <a:stretch>
              <a:fillRect/>
            </a:stretch>
          </p:blipFill>
          <p:spPr>
            <a:xfrm>
              <a:off x="1937385" y="1580769"/>
              <a:ext cx="1767713" cy="518160"/>
            </a:xfrm>
            <a:prstGeom prst="rect">
              <a:avLst/>
            </a:prstGeom>
          </p:spPr>
        </p:pic>
        <p:sp>
          <p:nvSpPr>
            <p:cNvPr id="170" name="object 170"/>
            <p:cNvSpPr/>
            <p:nvPr/>
          </p:nvSpPr>
          <p:spPr>
            <a:xfrm>
              <a:off x="1937385" y="1580769"/>
              <a:ext cx="1767839" cy="518159"/>
            </a:xfrm>
            <a:custGeom>
              <a:avLst/>
              <a:gdLst/>
              <a:ahLst/>
              <a:cxnLst/>
              <a:rect l="l" t="t" r="r" b="b"/>
              <a:pathLst>
                <a:path w="1767839" h="518160">
                  <a:moveTo>
                    <a:pt x="1767712" y="0"/>
                  </a:moveTo>
                  <a:lnTo>
                    <a:pt x="0" y="0"/>
                  </a:lnTo>
                  <a:lnTo>
                    <a:pt x="0" y="518160"/>
                  </a:lnTo>
                  <a:lnTo>
                    <a:pt x="1767712" y="518160"/>
                  </a:lnTo>
                  <a:lnTo>
                    <a:pt x="1767712" y="0"/>
                  </a:lnTo>
                  <a:close/>
                </a:path>
              </a:pathLst>
            </a:custGeom>
            <a:solidFill>
              <a:srgbClr val="0B817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1" name="object 171"/>
          <p:cNvSpPr txBox="1"/>
          <p:nvPr/>
        </p:nvSpPr>
        <p:spPr>
          <a:xfrm>
            <a:off x="1937385" y="1580769"/>
            <a:ext cx="1767839" cy="518159"/>
          </a:xfrm>
          <a:prstGeom prst="rect">
            <a:avLst/>
          </a:prstGeom>
        </p:spPr>
        <p:txBody>
          <a:bodyPr wrap="square" lIns="0" tIns="85090" rIns="0" bIns="0" rtlCol="0" vert="horz">
            <a:spAutoFit/>
          </a:bodyPr>
          <a:lstStyle/>
          <a:p>
            <a:pPr marL="355600">
              <a:lnSpc>
                <a:spcPct val="100000"/>
              </a:lnSpc>
              <a:spcBef>
                <a:spcPts val="670"/>
              </a:spcBef>
            </a:pPr>
            <a:r>
              <a:rPr dirty="0" sz="1800" spc="-10" b="1">
                <a:solidFill>
                  <a:srgbClr val="FFFFFF"/>
                </a:solidFill>
                <a:latin typeface="Arial"/>
                <a:cs typeface="Arial"/>
              </a:rPr>
              <a:t>Americas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2" name="object 172"/>
          <p:cNvSpPr/>
          <p:nvPr/>
        </p:nvSpPr>
        <p:spPr>
          <a:xfrm>
            <a:off x="5447284" y="1340866"/>
            <a:ext cx="1767839" cy="1716405"/>
          </a:xfrm>
          <a:custGeom>
            <a:avLst/>
            <a:gdLst/>
            <a:ahLst/>
            <a:cxnLst/>
            <a:rect l="l" t="t" r="r" b="b"/>
            <a:pathLst>
              <a:path w="1767840" h="1716405">
                <a:moveTo>
                  <a:pt x="1767712" y="0"/>
                </a:moveTo>
                <a:lnTo>
                  <a:pt x="0" y="0"/>
                </a:lnTo>
                <a:lnTo>
                  <a:pt x="0" y="1525396"/>
                </a:lnTo>
                <a:lnTo>
                  <a:pt x="276097" y="1525396"/>
                </a:lnTo>
                <a:lnTo>
                  <a:pt x="515365" y="1716023"/>
                </a:lnTo>
                <a:lnTo>
                  <a:pt x="718184" y="1525396"/>
                </a:lnTo>
                <a:lnTo>
                  <a:pt x="1767712" y="1525396"/>
                </a:lnTo>
                <a:lnTo>
                  <a:pt x="176771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3" name="object 173"/>
          <p:cNvSpPr txBox="1"/>
          <p:nvPr/>
        </p:nvSpPr>
        <p:spPr>
          <a:xfrm>
            <a:off x="5816727" y="1720306"/>
            <a:ext cx="1028700" cy="966469"/>
          </a:xfrm>
          <a:prstGeom prst="rect">
            <a:avLst/>
          </a:prstGeom>
        </p:spPr>
        <p:txBody>
          <a:bodyPr wrap="square" lIns="0" tIns="17970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415"/>
              </a:spcBef>
            </a:pPr>
            <a:r>
              <a:rPr dirty="0" baseline="23035" sz="3075" spc="-15" b="1">
                <a:solidFill>
                  <a:srgbClr val="7426E3"/>
                </a:solidFill>
                <a:latin typeface="Arial"/>
                <a:cs typeface="Arial"/>
              </a:rPr>
              <a:t>)</a:t>
            </a:r>
            <a:r>
              <a:rPr dirty="0" sz="3200" spc="-10" b="1">
                <a:solidFill>
                  <a:srgbClr val="7426E3"/>
                </a:solidFill>
                <a:latin typeface="Arial"/>
                <a:cs typeface="Arial"/>
              </a:rPr>
              <a:t>2.8B</a:t>
            </a:r>
            <a:endParaRPr sz="3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75"/>
              </a:spcBef>
            </a:pPr>
            <a:r>
              <a:rPr dirty="0" sz="1400" spc="-25">
                <a:solidFill>
                  <a:srgbClr val="181855"/>
                </a:solidFill>
                <a:latin typeface="Verdana"/>
                <a:cs typeface="Verdana"/>
              </a:rPr>
              <a:t>13%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174" name="object 174"/>
          <p:cNvGrpSpPr/>
          <p:nvPr/>
        </p:nvGrpSpPr>
        <p:grpSpPr>
          <a:xfrm>
            <a:off x="5447284" y="1247266"/>
            <a:ext cx="1767839" cy="518159"/>
            <a:chOff x="5447284" y="1247266"/>
            <a:chExt cx="1767839" cy="518159"/>
          </a:xfrm>
        </p:grpSpPr>
        <p:pic>
          <p:nvPicPr>
            <p:cNvPr id="175" name="object 175"/>
            <p:cNvPicPr/>
            <p:nvPr/>
          </p:nvPicPr>
          <p:blipFill>
            <a:blip r:embed="rId156" cstate="print"/>
            <a:stretch>
              <a:fillRect/>
            </a:stretch>
          </p:blipFill>
          <p:spPr>
            <a:xfrm>
              <a:off x="5447284" y="1247267"/>
              <a:ext cx="1767713" cy="518160"/>
            </a:xfrm>
            <a:prstGeom prst="rect">
              <a:avLst/>
            </a:prstGeom>
          </p:spPr>
        </p:pic>
        <p:sp>
          <p:nvSpPr>
            <p:cNvPr id="176" name="object 176"/>
            <p:cNvSpPr/>
            <p:nvPr/>
          </p:nvSpPr>
          <p:spPr>
            <a:xfrm>
              <a:off x="5447284" y="1247266"/>
              <a:ext cx="1767839" cy="518159"/>
            </a:xfrm>
            <a:custGeom>
              <a:avLst/>
              <a:gdLst/>
              <a:ahLst/>
              <a:cxnLst/>
              <a:rect l="l" t="t" r="r" b="b"/>
              <a:pathLst>
                <a:path w="1767840" h="518160">
                  <a:moveTo>
                    <a:pt x="1767712" y="0"/>
                  </a:moveTo>
                  <a:lnTo>
                    <a:pt x="0" y="0"/>
                  </a:lnTo>
                  <a:lnTo>
                    <a:pt x="0" y="518160"/>
                  </a:lnTo>
                  <a:lnTo>
                    <a:pt x="1767712" y="518160"/>
                  </a:lnTo>
                  <a:lnTo>
                    <a:pt x="1767712" y="0"/>
                  </a:lnTo>
                  <a:close/>
                </a:path>
              </a:pathLst>
            </a:custGeom>
            <a:solidFill>
              <a:srgbClr val="7426E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7" name="object 177"/>
          <p:cNvSpPr txBox="1"/>
          <p:nvPr/>
        </p:nvSpPr>
        <p:spPr>
          <a:xfrm>
            <a:off x="5447284" y="1247266"/>
            <a:ext cx="1767839" cy="518159"/>
          </a:xfrm>
          <a:prstGeom prst="rect">
            <a:avLst/>
          </a:prstGeom>
        </p:spPr>
        <p:txBody>
          <a:bodyPr wrap="square" lIns="0" tIns="85090" rIns="0" bIns="0" rtlCol="0" vert="horz">
            <a:spAutoFit/>
          </a:bodyPr>
          <a:lstStyle/>
          <a:p>
            <a:pPr marL="577215">
              <a:lnSpc>
                <a:spcPct val="100000"/>
              </a:lnSpc>
              <a:spcBef>
                <a:spcPts val="670"/>
              </a:spcBef>
            </a:pPr>
            <a:r>
              <a:rPr dirty="0" sz="1800" spc="-20" b="1">
                <a:solidFill>
                  <a:srgbClr val="FFFFFF"/>
                </a:solidFill>
                <a:latin typeface="Arial"/>
                <a:cs typeface="Arial"/>
              </a:rPr>
              <a:t>EMEA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0" name="object 160"/>
          <p:cNvSpPr/>
          <p:nvPr/>
        </p:nvSpPr>
        <p:spPr>
          <a:xfrm>
            <a:off x="8738234" y="2267457"/>
            <a:ext cx="1767839" cy="1716405"/>
          </a:xfrm>
          <a:custGeom>
            <a:avLst/>
            <a:gdLst/>
            <a:ahLst/>
            <a:cxnLst/>
            <a:rect l="l" t="t" r="r" b="b"/>
            <a:pathLst>
              <a:path w="1767840" h="1716404">
                <a:moveTo>
                  <a:pt x="1767713" y="0"/>
                </a:moveTo>
                <a:lnTo>
                  <a:pt x="0" y="0"/>
                </a:lnTo>
                <a:lnTo>
                  <a:pt x="0" y="1525397"/>
                </a:lnTo>
                <a:lnTo>
                  <a:pt x="276097" y="1525397"/>
                </a:lnTo>
                <a:lnTo>
                  <a:pt x="515366" y="1716024"/>
                </a:lnTo>
                <a:lnTo>
                  <a:pt x="718184" y="1525397"/>
                </a:lnTo>
                <a:lnTo>
                  <a:pt x="1767713" y="1525397"/>
                </a:lnTo>
                <a:lnTo>
                  <a:pt x="176771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1" name="object 161"/>
          <p:cNvSpPr txBox="1"/>
          <p:nvPr/>
        </p:nvSpPr>
        <p:spPr>
          <a:xfrm>
            <a:off x="9107678" y="2646897"/>
            <a:ext cx="1028700" cy="966469"/>
          </a:xfrm>
          <a:prstGeom prst="rect">
            <a:avLst/>
          </a:prstGeom>
        </p:spPr>
        <p:txBody>
          <a:bodyPr wrap="square" lIns="0" tIns="17970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415"/>
              </a:spcBef>
            </a:pPr>
            <a:r>
              <a:rPr dirty="0" baseline="23035" sz="3075" spc="-15" b="1">
                <a:solidFill>
                  <a:srgbClr val="012ABF"/>
                </a:solidFill>
                <a:latin typeface="Arial"/>
                <a:cs typeface="Arial"/>
              </a:rPr>
              <a:t>)</a:t>
            </a:r>
            <a:r>
              <a:rPr dirty="0" sz="3200" spc="-10" b="1">
                <a:solidFill>
                  <a:srgbClr val="012ABF"/>
                </a:solidFill>
                <a:latin typeface="Arial"/>
                <a:cs typeface="Arial"/>
              </a:rPr>
              <a:t>1.2B</a:t>
            </a:r>
            <a:endParaRPr sz="3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75"/>
              </a:spcBef>
            </a:pPr>
            <a:r>
              <a:rPr dirty="0" sz="1400" spc="-25">
                <a:solidFill>
                  <a:srgbClr val="022C5F"/>
                </a:solidFill>
                <a:latin typeface="Verdana"/>
                <a:cs typeface="Verdana"/>
              </a:rPr>
              <a:t>12%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162" name="object 162"/>
          <p:cNvGrpSpPr/>
          <p:nvPr/>
        </p:nvGrpSpPr>
        <p:grpSpPr>
          <a:xfrm>
            <a:off x="8738107" y="2173858"/>
            <a:ext cx="1767839" cy="518159"/>
            <a:chOff x="8738107" y="2173858"/>
            <a:chExt cx="1767839" cy="518159"/>
          </a:xfrm>
        </p:grpSpPr>
        <p:pic>
          <p:nvPicPr>
            <p:cNvPr id="163" name="object 163"/>
            <p:cNvPicPr/>
            <p:nvPr/>
          </p:nvPicPr>
          <p:blipFill>
            <a:blip r:embed="rId154" cstate="print"/>
            <a:stretch>
              <a:fillRect/>
            </a:stretch>
          </p:blipFill>
          <p:spPr>
            <a:xfrm>
              <a:off x="8738107" y="2173859"/>
              <a:ext cx="1767713" cy="518160"/>
            </a:xfrm>
            <a:prstGeom prst="rect">
              <a:avLst/>
            </a:prstGeom>
          </p:spPr>
        </p:pic>
        <p:sp>
          <p:nvSpPr>
            <p:cNvPr id="164" name="object 164"/>
            <p:cNvSpPr/>
            <p:nvPr/>
          </p:nvSpPr>
          <p:spPr>
            <a:xfrm>
              <a:off x="8738107" y="2173858"/>
              <a:ext cx="1767839" cy="518159"/>
            </a:xfrm>
            <a:custGeom>
              <a:avLst/>
              <a:gdLst/>
              <a:ahLst/>
              <a:cxnLst/>
              <a:rect l="l" t="t" r="r" b="b"/>
              <a:pathLst>
                <a:path w="1767840" h="518160">
                  <a:moveTo>
                    <a:pt x="1767712" y="0"/>
                  </a:moveTo>
                  <a:lnTo>
                    <a:pt x="0" y="0"/>
                  </a:lnTo>
                  <a:lnTo>
                    <a:pt x="0" y="518160"/>
                  </a:lnTo>
                  <a:lnTo>
                    <a:pt x="1767712" y="518160"/>
                  </a:lnTo>
                  <a:lnTo>
                    <a:pt x="1767712" y="0"/>
                  </a:lnTo>
                  <a:close/>
                </a:path>
              </a:pathLst>
            </a:custGeom>
            <a:solidFill>
              <a:srgbClr val="012AB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5" name="object 165"/>
          <p:cNvSpPr txBox="1"/>
          <p:nvPr/>
        </p:nvSpPr>
        <p:spPr>
          <a:xfrm>
            <a:off x="8738107" y="2173858"/>
            <a:ext cx="1767839" cy="518159"/>
          </a:xfrm>
          <a:prstGeom prst="rect">
            <a:avLst/>
          </a:prstGeom>
        </p:spPr>
        <p:txBody>
          <a:bodyPr wrap="square" lIns="0" tIns="85090" rIns="0" bIns="0" rtlCol="0" vert="horz">
            <a:spAutoFit/>
          </a:bodyPr>
          <a:lstStyle/>
          <a:p>
            <a:pPr marL="561340">
              <a:lnSpc>
                <a:spcPct val="100000"/>
              </a:lnSpc>
              <a:spcBef>
                <a:spcPts val="670"/>
              </a:spcBef>
            </a:pPr>
            <a:r>
              <a:rPr dirty="0" sz="1800" spc="-20" b="1">
                <a:solidFill>
                  <a:srgbClr val="FFFFFF"/>
                </a:solidFill>
                <a:latin typeface="Arial"/>
                <a:cs typeface="Arial"/>
              </a:rPr>
              <a:t>APAC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79" name="object 179"/>
          <p:cNvGrpSpPr/>
          <p:nvPr/>
        </p:nvGrpSpPr>
        <p:grpSpPr>
          <a:xfrm>
            <a:off x="2531110" y="4382896"/>
            <a:ext cx="7391400" cy="1028700"/>
            <a:chOff x="2531110" y="4382896"/>
            <a:chExt cx="7391400" cy="1028700"/>
          </a:xfrm>
        </p:grpSpPr>
        <p:sp>
          <p:nvSpPr>
            <p:cNvPr id="180" name="object 180"/>
            <p:cNvSpPr/>
            <p:nvPr/>
          </p:nvSpPr>
          <p:spPr>
            <a:xfrm>
              <a:off x="3455022" y="4382896"/>
              <a:ext cx="6467475" cy="257175"/>
            </a:xfrm>
            <a:custGeom>
              <a:avLst/>
              <a:gdLst/>
              <a:ahLst/>
              <a:cxnLst/>
              <a:rect l="l" t="t" r="r" b="b"/>
              <a:pathLst>
                <a:path w="6467475" h="257175">
                  <a:moveTo>
                    <a:pt x="6467475" y="0"/>
                  </a:moveTo>
                  <a:lnTo>
                    <a:pt x="5543550" y="0"/>
                  </a:lnTo>
                  <a:lnTo>
                    <a:pt x="0" y="0"/>
                  </a:lnTo>
                  <a:lnTo>
                    <a:pt x="0" y="257175"/>
                  </a:lnTo>
                  <a:lnTo>
                    <a:pt x="5543550" y="257175"/>
                  </a:lnTo>
                  <a:lnTo>
                    <a:pt x="6467475" y="257175"/>
                  </a:lnTo>
                  <a:lnTo>
                    <a:pt x="6467475" y="0"/>
                  </a:lnTo>
                  <a:close/>
                </a:path>
              </a:pathLst>
            </a:custGeom>
            <a:solidFill>
              <a:srgbClr val="001E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/>
            <p:cNvSpPr/>
            <p:nvPr/>
          </p:nvSpPr>
          <p:spPr>
            <a:xfrm>
              <a:off x="4378947" y="4640071"/>
              <a:ext cx="5543550" cy="257175"/>
            </a:xfrm>
            <a:custGeom>
              <a:avLst/>
              <a:gdLst/>
              <a:ahLst/>
              <a:cxnLst/>
              <a:rect l="l" t="t" r="r" b="b"/>
              <a:pathLst>
                <a:path w="5543550" h="257175">
                  <a:moveTo>
                    <a:pt x="2771775" y="0"/>
                  </a:moveTo>
                  <a:lnTo>
                    <a:pt x="0" y="0"/>
                  </a:lnTo>
                  <a:lnTo>
                    <a:pt x="0" y="257175"/>
                  </a:lnTo>
                  <a:lnTo>
                    <a:pt x="2771775" y="257175"/>
                  </a:lnTo>
                  <a:lnTo>
                    <a:pt x="2771775" y="0"/>
                  </a:lnTo>
                  <a:close/>
                </a:path>
                <a:path w="5543550" h="257175">
                  <a:moveTo>
                    <a:pt x="5543550" y="0"/>
                  </a:moveTo>
                  <a:lnTo>
                    <a:pt x="4619625" y="0"/>
                  </a:lnTo>
                  <a:lnTo>
                    <a:pt x="4619625" y="257175"/>
                  </a:lnTo>
                  <a:lnTo>
                    <a:pt x="5543550" y="257175"/>
                  </a:lnTo>
                  <a:lnTo>
                    <a:pt x="5543550" y="0"/>
                  </a:lnTo>
                  <a:close/>
                </a:path>
              </a:pathLst>
            </a:custGeom>
            <a:solidFill>
              <a:srgbClr val="E7F2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/>
            <p:cNvSpPr/>
            <p:nvPr/>
          </p:nvSpPr>
          <p:spPr>
            <a:xfrm>
              <a:off x="2531110" y="4640071"/>
              <a:ext cx="923925" cy="257175"/>
            </a:xfrm>
            <a:custGeom>
              <a:avLst/>
              <a:gdLst/>
              <a:ahLst/>
              <a:cxnLst/>
              <a:rect l="l" t="t" r="r" b="b"/>
              <a:pathLst>
                <a:path w="923925" h="257175">
                  <a:moveTo>
                    <a:pt x="923924" y="0"/>
                  </a:moveTo>
                  <a:lnTo>
                    <a:pt x="0" y="0"/>
                  </a:lnTo>
                  <a:lnTo>
                    <a:pt x="0" y="257174"/>
                  </a:lnTo>
                  <a:lnTo>
                    <a:pt x="923924" y="257174"/>
                  </a:lnTo>
                  <a:lnTo>
                    <a:pt x="923924" y="0"/>
                  </a:lnTo>
                  <a:close/>
                </a:path>
              </a:pathLst>
            </a:custGeom>
            <a:solidFill>
              <a:srgbClr val="0B817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3" name="object 183"/>
            <p:cNvSpPr/>
            <p:nvPr/>
          </p:nvSpPr>
          <p:spPr>
            <a:xfrm>
              <a:off x="3455022" y="4640071"/>
              <a:ext cx="5543550" cy="257175"/>
            </a:xfrm>
            <a:custGeom>
              <a:avLst/>
              <a:gdLst/>
              <a:ahLst/>
              <a:cxnLst/>
              <a:rect l="l" t="t" r="r" b="b"/>
              <a:pathLst>
                <a:path w="5543550" h="257175">
                  <a:moveTo>
                    <a:pt x="923925" y="0"/>
                  </a:moveTo>
                  <a:lnTo>
                    <a:pt x="0" y="0"/>
                  </a:lnTo>
                  <a:lnTo>
                    <a:pt x="0" y="257175"/>
                  </a:lnTo>
                  <a:lnTo>
                    <a:pt x="923925" y="257175"/>
                  </a:lnTo>
                  <a:lnTo>
                    <a:pt x="923925" y="0"/>
                  </a:lnTo>
                  <a:close/>
                </a:path>
                <a:path w="5543550" h="257175">
                  <a:moveTo>
                    <a:pt x="5543550" y="0"/>
                  </a:moveTo>
                  <a:lnTo>
                    <a:pt x="4619625" y="0"/>
                  </a:lnTo>
                  <a:lnTo>
                    <a:pt x="4619625" y="257175"/>
                  </a:lnTo>
                  <a:lnTo>
                    <a:pt x="5543550" y="257175"/>
                  </a:lnTo>
                  <a:lnTo>
                    <a:pt x="5543550" y="0"/>
                  </a:lnTo>
                  <a:close/>
                </a:path>
              </a:pathLst>
            </a:custGeom>
            <a:solidFill>
              <a:srgbClr val="E7F2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/>
            <p:cNvSpPr/>
            <p:nvPr/>
          </p:nvSpPr>
          <p:spPr>
            <a:xfrm>
              <a:off x="7150735" y="4640071"/>
              <a:ext cx="923925" cy="771525"/>
            </a:xfrm>
            <a:custGeom>
              <a:avLst/>
              <a:gdLst/>
              <a:ahLst/>
              <a:cxnLst/>
              <a:rect l="l" t="t" r="r" b="b"/>
              <a:pathLst>
                <a:path w="923925" h="771525">
                  <a:moveTo>
                    <a:pt x="923925" y="0"/>
                  </a:moveTo>
                  <a:lnTo>
                    <a:pt x="0" y="0"/>
                  </a:lnTo>
                  <a:lnTo>
                    <a:pt x="0" y="771524"/>
                  </a:lnTo>
                  <a:lnTo>
                    <a:pt x="923925" y="771524"/>
                  </a:lnTo>
                  <a:lnTo>
                    <a:pt x="9239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/>
            <p:cNvSpPr/>
            <p:nvPr/>
          </p:nvSpPr>
          <p:spPr>
            <a:xfrm>
              <a:off x="3455022" y="4897246"/>
              <a:ext cx="6467475" cy="257175"/>
            </a:xfrm>
            <a:custGeom>
              <a:avLst/>
              <a:gdLst/>
              <a:ahLst/>
              <a:cxnLst/>
              <a:rect l="l" t="t" r="r" b="b"/>
              <a:pathLst>
                <a:path w="6467475" h="257175">
                  <a:moveTo>
                    <a:pt x="923925" y="0"/>
                  </a:moveTo>
                  <a:lnTo>
                    <a:pt x="0" y="0"/>
                  </a:lnTo>
                  <a:lnTo>
                    <a:pt x="0" y="257175"/>
                  </a:lnTo>
                  <a:lnTo>
                    <a:pt x="923925" y="257175"/>
                  </a:lnTo>
                  <a:lnTo>
                    <a:pt x="923925" y="0"/>
                  </a:lnTo>
                  <a:close/>
                </a:path>
                <a:path w="6467475" h="257175">
                  <a:moveTo>
                    <a:pt x="6467475" y="0"/>
                  </a:moveTo>
                  <a:lnTo>
                    <a:pt x="5543550" y="0"/>
                  </a:lnTo>
                  <a:lnTo>
                    <a:pt x="4619625" y="0"/>
                  </a:lnTo>
                  <a:lnTo>
                    <a:pt x="4619625" y="257175"/>
                  </a:lnTo>
                  <a:lnTo>
                    <a:pt x="5543550" y="257175"/>
                  </a:lnTo>
                  <a:lnTo>
                    <a:pt x="6467475" y="257175"/>
                  </a:lnTo>
                  <a:lnTo>
                    <a:pt x="6467475" y="0"/>
                  </a:lnTo>
                  <a:close/>
                </a:path>
              </a:pathLst>
            </a:custGeom>
            <a:solidFill>
              <a:srgbClr val="F1EA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6" name="object 186"/>
            <p:cNvSpPr/>
            <p:nvPr/>
          </p:nvSpPr>
          <p:spPr>
            <a:xfrm>
              <a:off x="2531110" y="4897246"/>
              <a:ext cx="923925" cy="257175"/>
            </a:xfrm>
            <a:custGeom>
              <a:avLst/>
              <a:gdLst/>
              <a:ahLst/>
              <a:cxnLst/>
              <a:rect l="l" t="t" r="r" b="b"/>
              <a:pathLst>
                <a:path w="923925" h="257175">
                  <a:moveTo>
                    <a:pt x="923924" y="0"/>
                  </a:moveTo>
                  <a:lnTo>
                    <a:pt x="0" y="0"/>
                  </a:lnTo>
                  <a:lnTo>
                    <a:pt x="0" y="257174"/>
                  </a:lnTo>
                  <a:lnTo>
                    <a:pt x="923924" y="257174"/>
                  </a:lnTo>
                  <a:lnTo>
                    <a:pt x="923924" y="0"/>
                  </a:lnTo>
                  <a:close/>
                </a:path>
              </a:pathLst>
            </a:custGeom>
            <a:solidFill>
              <a:srgbClr val="7426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7" name="object 187"/>
            <p:cNvSpPr/>
            <p:nvPr/>
          </p:nvSpPr>
          <p:spPr>
            <a:xfrm>
              <a:off x="4378959" y="4897246"/>
              <a:ext cx="2771775" cy="257175"/>
            </a:xfrm>
            <a:custGeom>
              <a:avLst/>
              <a:gdLst/>
              <a:ahLst/>
              <a:cxnLst/>
              <a:rect l="l" t="t" r="r" b="b"/>
              <a:pathLst>
                <a:path w="2771775" h="257175">
                  <a:moveTo>
                    <a:pt x="2771775" y="0"/>
                  </a:moveTo>
                  <a:lnTo>
                    <a:pt x="0" y="0"/>
                  </a:lnTo>
                  <a:lnTo>
                    <a:pt x="0" y="257174"/>
                  </a:lnTo>
                  <a:lnTo>
                    <a:pt x="2771775" y="257174"/>
                  </a:lnTo>
                  <a:lnTo>
                    <a:pt x="2771775" y="0"/>
                  </a:lnTo>
                  <a:close/>
                </a:path>
              </a:pathLst>
            </a:custGeom>
            <a:solidFill>
              <a:srgbClr val="F1EA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/>
            <p:cNvSpPr/>
            <p:nvPr/>
          </p:nvSpPr>
          <p:spPr>
            <a:xfrm>
              <a:off x="4378947" y="5154421"/>
              <a:ext cx="5543550" cy="257175"/>
            </a:xfrm>
            <a:custGeom>
              <a:avLst/>
              <a:gdLst/>
              <a:ahLst/>
              <a:cxnLst/>
              <a:rect l="l" t="t" r="r" b="b"/>
              <a:pathLst>
                <a:path w="5543550" h="257175">
                  <a:moveTo>
                    <a:pt x="2771775" y="0"/>
                  </a:moveTo>
                  <a:lnTo>
                    <a:pt x="0" y="0"/>
                  </a:lnTo>
                  <a:lnTo>
                    <a:pt x="0" y="257175"/>
                  </a:lnTo>
                  <a:lnTo>
                    <a:pt x="2771775" y="257175"/>
                  </a:lnTo>
                  <a:lnTo>
                    <a:pt x="2771775" y="0"/>
                  </a:lnTo>
                  <a:close/>
                </a:path>
                <a:path w="5543550" h="257175">
                  <a:moveTo>
                    <a:pt x="5543550" y="0"/>
                  </a:moveTo>
                  <a:lnTo>
                    <a:pt x="4619625" y="0"/>
                  </a:lnTo>
                  <a:lnTo>
                    <a:pt x="3695700" y="0"/>
                  </a:lnTo>
                  <a:lnTo>
                    <a:pt x="3695700" y="257175"/>
                  </a:lnTo>
                  <a:lnTo>
                    <a:pt x="4619625" y="257175"/>
                  </a:lnTo>
                  <a:lnTo>
                    <a:pt x="5543550" y="257175"/>
                  </a:lnTo>
                  <a:lnTo>
                    <a:pt x="5543550" y="0"/>
                  </a:lnTo>
                  <a:close/>
                </a:path>
              </a:pathLst>
            </a:custGeom>
            <a:solidFill>
              <a:srgbClr val="ECF1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/>
            <p:cNvSpPr/>
            <p:nvPr/>
          </p:nvSpPr>
          <p:spPr>
            <a:xfrm>
              <a:off x="2531110" y="5154421"/>
              <a:ext cx="923925" cy="257175"/>
            </a:xfrm>
            <a:custGeom>
              <a:avLst/>
              <a:gdLst/>
              <a:ahLst/>
              <a:cxnLst/>
              <a:rect l="l" t="t" r="r" b="b"/>
              <a:pathLst>
                <a:path w="923925" h="257175">
                  <a:moveTo>
                    <a:pt x="923924" y="0"/>
                  </a:moveTo>
                  <a:lnTo>
                    <a:pt x="0" y="0"/>
                  </a:lnTo>
                  <a:lnTo>
                    <a:pt x="0" y="257174"/>
                  </a:lnTo>
                  <a:lnTo>
                    <a:pt x="923924" y="257174"/>
                  </a:lnTo>
                  <a:lnTo>
                    <a:pt x="923924" y="0"/>
                  </a:lnTo>
                  <a:close/>
                </a:path>
              </a:pathLst>
            </a:custGeom>
            <a:solidFill>
              <a:srgbClr val="012A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0" name="object 190"/>
            <p:cNvSpPr/>
            <p:nvPr/>
          </p:nvSpPr>
          <p:spPr>
            <a:xfrm>
              <a:off x="3455034" y="5154421"/>
              <a:ext cx="923925" cy="257175"/>
            </a:xfrm>
            <a:custGeom>
              <a:avLst/>
              <a:gdLst/>
              <a:ahLst/>
              <a:cxnLst/>
              <a:rect l="l" t="t" r="r" b="b"/>
              <a:pathLst>
                <a:path w="923925" h="257175">
                  <a:moveTo>
                    <a:pt x="923925" y="0"/>
                  </a:moveTo>
                  <a:lnTo>
                    <a:pt x="0" y="0"/>
                  </a:lnTo>
                  <a:lnTo>
                    <a:pt x="0" y="257174"/>
                  </a:lnTo>
                  <a:lnTo>
                    <a:pt x="923925" y="257174"/>
                  </a:lnTo>
                  <a:lnTo>
                    <a:pt x="923925" y="0"/>
                  </a:lnTo>
                  <a:close/>
                </a:path>
              </a:pathLst>
            </a:custGeom>
            <a:solidFill>
              <a:srgbClr val="ECF1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1" name="object 191"/>
          <p:cNvSpPr txBox="1"/>
          <p:nvPr/>
        </p:nvSpPr>
        <p:spPr>
          <a:xfrm>
            <a:off x="3669538" y="4397247"/>
            <a:ext cx="4953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Q1’</a:t>
            </a:r>
            <a:r>
              <a:rPr dirty="0" sz="1200" spc="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25" b="1">
                <a:solidFill>
                  <a:srgbClr val="FFFFFF"/>
                </a:solidFill>
                <a:latin typeface="Arial"/>
                <a:cs typeface="Arial"/>
              </a:rPr>
              <a:t>26</a:t>
            </a:r>
            <a:endParaRPr sz="1200">
              <a:latin typeface="Arial"/>
              <a:cs typeface="Arial"/>
            </a:endParaRPr>
          </a:p>
        </p:txBody>
      </p:sp>
      <p:sp>
        <p:nvSpPr>
          <p:cNvPr id="192" name="object 192"/>
          <p:cNvSpPr txBox="1"/>
          <p:nvPr/>
        </p:nvSpPr>
        <p:spPr>
          <a:xfrm>
            <a:off x="4593463" y="4397247"/>
            <a:ext cx="4953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Q2’</a:t>
            </a:r>
            <a:r>
              <a:rPr dirty="0" sz="1200" spc="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25" b="1">
                <a:solidFill>
                  <a:srgbClr val="FFFFFF"/>
                </a:solidFill>
                <a:latin typeface="Arial"/>
                <a:cs typeface="Arial"/>
              </a:rPr>
              <a:t>26</a:t>
            </a:r>
            <a:endParaRPr sz="1200">
              <a:latin typeface="Arial"/>
              <a:cs typeface="Arial"/>
            </a:endParaRPr>
          </a:p>
        </p:txBody>
      </p:sp>
      <p:sp>
        <p:nvSpPr>
          <p:cNvPr id="193" name="object 193"/>
          <p:cNvSpPr txBox="1"/>
          <p:nvPr/>
        </p:nvSpPr>
        <p:spPr>
          <a:xfrm>
            <a:off x="5517388" y="4397247"/>
            <a:ext cx="4953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Q3’</a:t>
            </a:r>
            <a:r>
              <a:rPr dirty="0" sz="1200" spc="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25" b="1">
                <a:solidFill>
                  <a:srgbClr val="FFFFFF"/>
                </a:solidFill>
                <a:latin typeface="Arial"/>
                <a:cs typeface="Arial"/>
              </a:rPr>
              <a:t>26</a:t>
            </a:r>
            <a:endParaRPr sz="1200">
              <a:latin typeface="Arial"/>
              <a:cs typeface="Arial"/>
            </a:endParaRPr>
          </a:p>
        </p:txBody>
      </p:sp>
      <p:sp>
        <p:nvSpPr>
          <p:cNvPr id="194" name="object 194"/>
          <p:cNvSpPr txBox="1"/>
          <p:nvPr/>
        </p:nvSpPr>
        <p:spPr>
          <a:xfrm>
            <a:off x="6441313" y="4397247"/>
            <a:ext cx="4953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Q4’</a:t>
            </a:r>
            <a:r>
              <a:rPr dirty="0" sz="1200" spc="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25" b="1">
                <a:solidFill>
                  <a:srgbClr val="FFFFFF"/>
                </a:solidFill>
                <a:latin typeface="Arial"/>
                <a:cs typeface="Arial"/>
              </a:rPr>
              <a:t>26</a:t>
            </a:r>
            <a:endParaRPr sz="1200">
              <a:latin typeface="Arial"/>
              <a:cs typeface="Arial"/>
            </a:endParaRPr>
          </a:p>
        </p:txBody>
      </p:sp>
      <p:sp>
        <p:nvSpPr>
          <p:cNvPr id="195" name="object 195"/>
          <p:cNvSpPr txBox="1"/>
          <p:nvPr/>
        </p:nvSpPr>
        <p:spPr>
          <a:xfrm>
            <a:off x="7414006" y="4397247"/>
            <a:ext cx="3975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FY'26</a:t>
            </a:r>
            <a:endParaRPr sz="1200">
              <a:latin typeface="Arial"/>
              <a:cs typeface="Arial"/>
            </a:endParaRPr>
          </a:p>
        </p:txBody>
      </p:sp>
      <p:sp>
        <p:nvSpPr>
          <p:cNvPr id="196" name="object 196"/>
          <p:cNvSpPr txBox="1"/>
          <p:nvPr/>
        </p:nvSpPr>
        <p:spPr>
          <a:xfrm>
            <a:off x="8289163" y="4397247"/>
            <a:ext cx="4953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Q1’</a:t>
            </a:r>
            <a:r>
              <a:rPr dirty="0" sz="1200" spc="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25" b="1">
                <a:solidFill>
                  <a:srgbClr val="FFFFFF"/>
                </a:solidFill>
                <a:latin typeface="Arial"/>
                <a:cs typeface="Arial"/>
              </a:rPr>
              <a:t>27</a:t>
            </a:r>
            <a:endParaRPr sz="1200">
              <a:latin typeface="Arial"/>
              <a:cs typeface="Arial"/>
            </a:endParaRPr>
          </a:p>
        </p:txBody>
      </p:sp>
      <p:sp>
        <p:nvSpPr>
          <p:cNvPr id="197" name="object 197"/>
          <p:cNvSpPr txBox="1"/>
          <p:nvPr/>
        </p:nvSpPr>
        <p:spPr>
          <a:xfrm>
            <a:off x="9213088" y="4397247"/>
            <a:ext cx="4953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Q2’</a:t>
            </a:r>
            <a:r>
              <a:rPr dirty="0" sz="1200" spc="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25" b="1">
                <a:solidFill>
                  <a:srgbClr val="FFFFFF"/>
                </a:solidFill>
                <a:latin typeface="Arial"/>
                <a:cs typeface="Arial"/>
              </a:rPr>
              <a:t>27</a:t>
            </a:r>
            <a:endParaRPr sz="1200">
              <a:latin typeface="Arial"/>
              <a:cs typeface="Arial"/>
            </a:endParaRPr>
          </a:p>
        </p:txBody>
      </p:sp>
      <p:sp>
        <p:nvSpPr>
          <p:cNvPr id="198" name="object 198"/>
          <p:cNvSpPr txBox="1"/>
          <p:nvPr/>
        </p:nvSpPr>
        <p:spPr>
          <a:xfrm>
            <a:off x="2551810" y="4673980"/>
            <a:ext cx="7010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30" b="1">
                <a:solidFill>
                  <a:srgbClr val="FFFFFF"/>
                </a:solidFill>
                <a:latin typeface="Tahoma"/>
                <a:cs typeface="Tahoma"/>
              </a:rPr>
              <a:t>Americas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99" name="object 199"/>
          <p:cNvSpPr txBox="1"/>
          <p:nvPr/>
        </p:nvSpPr>
        <p:spPr>
          <a:xfrm>
            <a:off x="3776726" y="4653279"/>
            <a:ext cx="304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40">
                <a:solidFill>
                  <a:srgbClr val="181855"/>
                </a:solidFill>
                <a:latin typeface="Verdana"/>
                <a:cs typeface="Verdana"/>
              </a:rPr>
              <a:t>7%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00" name="object 200"/>
          <p:cNvSpPr txBox="1"/>
          <p:nvPr/>
        </p:nvSpPr>
        <p:spPr>
          <a:xfrm>
            <a:off x="4700651" y="4653279"/>
            <a:ext cx="304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40">
                <a:solidFill>
                  <a:srgbClr val="181855"/>
                </a:solidFill>
                <a:latin typeface="Verdana"/>
                <a:cs typeface="Verdana"/>
              </a:rPr>
              <a:t>9%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01" name="object 201"/>
          <p:cNvSpPr txBox="1"/>
          <p:nvPr/>
        </p:nvSpPr>
        <p:spPr>
          <a:xfrm>
            <a:off x="5624576" y="4653279"/>
            <a:ext cx="304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40">
                <a:solidFill>
                  <a:srgbClr val="181855"/>
                </a:solidFill>
                <a:latin typeface="Verdana"/>
                <a:cs typeface="Verdana"/>
              </a:rPr>
              <a:t>8%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02" name="object 202"/>
          <p:cNvSpPr txBox="1"/>
          <p:nvPr/>
        </p:nvSpPr>
        <p:spPr>
          <a:xfrm>
            <a:off x="6548501" y="4653279"/>
            <a:ext cx="304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40">
                <a:solidFill>
                  <a:srgbClr val="181855"/>
                </a:solidFill>
                <a:latin typeface="Verdana"/>
                <a:cs typeface="Verdana"/>
              </a:rPr>
              <a:t>9%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03" name="object 203"/>
          <p:cNvSpPr txBox="1"/>
          <p:nvPr/>
        </p:nvSpPr>
        <p:spPr>
          <a:xfrm>
            <a:off x="7472426" y="4653279"/>
            <a:ext cx="304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solidFill>
                  <a:srgbClr val="181855"/>
                </a:solidFill>
                <a:latin typeface="Tahoma"/>
                <a:cs typeface="Tahoma"/>
              </a:rPr>
              <a:t>8%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04" name="object 204"/>
          <p:cNvSpPr txBox="1"/>
          <p:nvPr/>
        </p:nvSpPr>
        <p:spPr>
          <a:xfrm>
            <a:off x="8349868" y="4653279"/>
            <a:ext cx="3975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181855"/>
                </a:solidFill>
                <a:latin typeface="Verdana"/>
                <a:cs typeface="Verdana"/>
              </a:rPr>
              <a:t>11%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05" name="object 205"/>
          <p:cNvSpPr txBox="1"/>
          <p:nvPr/>
        </p:nvSpPr>
        <p:spPr>
          <a:xfrm>
            <a:off x="9273793" y="4653279"/>
            <a:ext cx="3975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181855"/>
                </a:solidFill>
                <a:latin typeface="Verdana"/>
                <a:cs typeface="Verdana"/>
              </a:rPr>
              <a:t>10%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06" name="object 206"/>
          <p:cNvSpPr txBox="1"/>
          <p:nvPr/>
        </p:nvSpPr>
        <p:spPr>
          <a:xfrm>
            <a:off x="2551810" y="4931155"/>
            <a:ext cx="4445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 b="1">
                <a:solidFill>
                  <a:srgbClr val="FFFFFF"/>
                </a:solidFill>
                <a:latin typeface="Tahoma"/>
                <a:cs typeface="Tahoma"/>
              </a:rPr>
              <a:t>EMEA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07" name="object 207"/>
          <p:cNvSpPr txBox="1"/>
          <p:nvPr/>
        </p:nvSpPr>
        <p:spPr>
          <a:xfrm>
            <a:off x="3776726" y="4910454"/>
            <a:ext cx="304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40">
                <a:solidFill>
                  <a:srgbClr val="181855"/>
                </a:solidFill>
                <a:latin typeface="Verdana"/>
                <a:cs typeface="Verdana"/>
              </a:rPr>
              <a:t>9%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08" name="object 208"/>
          <p:cNvSpPr txBox="1"/>
          <p:nvPr/>
        </p:nvSpPr>
        <p:spPr>
          <a:xfrm>
            <a:off x="4700651" y="4910454"/>
            <a:ext cx="304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40">
                <a:solidFill>
                  <a:srgbClr val="181855"/>
                </a:solidFill>
                <a:latin typeface="Verdana"/>
                <a:cs typeface="Verdana"/>
              </a:rPr>
              <a:t>7%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09" name="object 209"/>
          <p:cNvSpPr txBox="1"/>
          <p:nvPr/>
        </p:nvSpPr>
        <p:spPr>
          <a:xfrm>
            <a:off x="5624576" y="4910454"/>
            <a:ext cx="304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40">
                <a:solidFill>
                  <a:srgbClr val="181855"/>
                </a:solidFill>
                <a:latin typeface="Verdana"/>
                <a:cs typeface="Verdana"/>
              </a:rPr>
              <a:t>7%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10" name="object 210"/>
          <p:cNvSpPr txBox="1"/>
          <p:nvPr/>
        </p:nvSpPr>
        <p:spPr>
          <a:xfrm>
            <a:off x="6502018" y="4910454"/>
            <a:ext cx="3975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181855"/>
                </a:solidFill>
                <a:latin typeface="Verdana"/>
                <a:cs typeface="Verdana"/>
              </a:rPr>
              <a:t>13%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11" name="object 211"/>
          <p:cNvSpPr txBox="1"/>
          <p:nvPr/>
        </p:nvSpPr>
        <p:spPr>
          <a:xfrm>
            <a:off x="7472426" y="4910454"/>
            <a:ext cx="304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solidFill>
                  <a:srgbClr val="181855"/>
                </a:solidFill>
                <a:latin typeface="Tahoma"/>
                <a:cs typeface="Tahoma"/>
              </a:rPr>
              <a:t>9%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12" name="object 212"/>
          <p:cNvSpPr txBox="1"/>
          <p:nvPr/>
        </p:nvSpPr>
        <p:spPr>
          <a:xfrm>
            <a:off x="8349868" y="4910454"/>
            <a:ext cx="3975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181855"/>
                </a:solidFill>
                <a:latin typeface="Verdana"/>
                <a:cs typeface="Verdana"/>
              </a:rPr>
              <a:t>12%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13" name="object 213"/>
          <p:cNvSpPr txBox="1"/>
          <p:nvPr/>
        </p:nvSpPr>
        <p:spPr>
          <a:xfrm>
            <a:off x="9273793" y="4910454"/>
            <a:ext cx="3975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181855"/>
                </a:solidFill>
                <a:latin typeface="Verdana"/>
                <a:cs typeface="Verdana"/>
              </a:rPr>
              <a:t>13%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14" name="object 214"/>
          <p:cNvSpPr txBox="1"/>
          <p:nvPr/>
        </p:nvSpPr>
        <p:spPr>
          <a:xfrm>
            <a:off x="2551810" y="5188330"/>
            <a:ext cx="4298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 b="1">
                <a:solidFill>
                  <a:srgbClr val="FFFFFF"/>
                </a:solidFill>
                <a:latin typeface="Tahoma"/>
                <a:cs typeface="Tahoma"/>
              </a:rPr>
              <a:t>APAC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15" name="object 215"/>
          <p:cNvSpPr txBox="1"/>
          <p:nvPr/>
        </p:nvSpPr>
        <p:spPr>
          <a:xfrm>
            <a:off x="3730244" y="5167629"/>
            <a:ext cx="3975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181855"/>
                </a:solidFill>
                <a:latin typeface="Verdana"/>
                <a:cs typeface="Verdana"/>
              </a:rPr>
              <a:t>11%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16" name="object 216"/>
          <p:cNvSpPr txBox="1"/>
          <p:nvPr/>
        </p:nvSpPr>
        <p:spPr>
          <a:xfrm>
            <a:off x="4654169" y="5167629"/>
            <a:ext cx="3975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181855"/>
                </a:solidFill>
                <a:latin typeface="Verdana"/>
                <a:cs typeface="Verdana"/>
              </a:rPr>
              <a:t>11%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17" name="object 217"/>
          <p:cNvSpPr txBox="1"/>
          <p:nvPr/>
        </p:nvSpPr>
        <p:spPr>
          <a:xfrm>
            <a:off x="5578094" y="5167629"/>
            <a:ext cx="3975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181855"/>
                </a:solidFill>
                <a:latin typeface="Verdana"/>
                <a:cs typeface="Verdana"/>
              </a:rPr>
              <a:t>11%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18" name="object 218"/>
          <p:cNvSpPr txBox="1"/>
          <p:nvPr/>
        </p:nvSpPr>
        <p:spPr>
          <a:xfrm>
            <a:off x="6502018" y="5167629"/>
            <a:ext cx="3975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181855"/>
                </a:solidFill>
                <a:latin typeface="Verdana"/>
                <a:cs typeface="Verdana"/>
              </a:rPr>
              <a:t>13%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19" name="object 219"/>
          <p:cNvSpPr txBox="1"/>
          <p:nvPr/>
        </p:nvSpPr>
        <p:spPr>
          <a:xfrm>
            <a:off x="7425943" y="5167629"/>
            <a:ext cx="3975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solidFill>
                  <a:srgbClr val="181855"/>
                </a:solidFill>
                <a:latin typeface="Tahoma"/>
                <a:cs typeface="Tahoma"/>
              </a:rPr>
              <a:t>12%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20" name="object 220"/>
          <p:cNvSpPr txBox="1"/>
          <p:nvPr/>
        </p:nvSpPr>
        <p:spPr>
          <a:xfrm>
            <a:off x="8349868" y="5167629"/>
            <a:ext cx="3975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181855"/>
                </a:solidFill>
                <a:latin typeface="Verdana"/>
                <a:cs typeface="Verdana"/>
              </a:rPr>
              <a:t>12%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21" name="object 221"/>
          <p:cNvSpPr txBox="1"/>
          <p:nvPr/>
        </p:nvSpPr>
        <p:spPr>
          <a:xfrm>
            <a:off x="9273793" y="5167629"/>
            <a:ext cx="3975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181855"/>
                </a:solidFill>
                <a:latin typeface="Verdana"/>
                <a:cs typeface="Verdana"/>
              </a:rPr>
              <a:t>12%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222" name="object 222"/>
          <p:cNvGrpSpPr/>
          <p:nvPr/>
        </p:nvGrpSpPr>
        <p:grpSpPr>
          <a:xfrm>
            <a:off x="0" y="4640071"/>
            <a:ext cx="12192000" cy="1809114"/>
            <a:chOff x="0" y="4640071"/>
            <a:chExt cx="12192000" cy="1809114"/>
          </a:xfrm>
        </p:grpSpPr>
        <p:sp>
          <p:nvSpPr>
            <p:cNvPr id="223" name="object 223"/>
            <p:cNvSpPr/>
            <p:nvPr/>
          </p:nvSpPr>
          <p:spPr>
            <a:xfrm>
              <a:off x="2531110" y="4640071"/>
              <a:ext cx="7391400" cy="771525"/>
            </a:xfrm>
            <a:custGeom>
              <a:avLst/>
              <a:gdLst/>
              <a:ahLst/>
              <a:cxnLst/>
              <a:rect l="l" t="t" r="r" b="b"/>
              <a:pathLst>
                <a:path w="7391400" h="771525">
                  <a:moveTo>
                    <a:pt x="5543549" y="0"/>
                  </a:moveTo>
                  <a:lnTo>
                    <a:pt x="5543549" y="771524"/>
                  </a:lnTo>
                </a:path>
                <a:path w="7391400" h="771525">
                  <a:moveTo>
                    <a:pt x="0" y="257174"/>
                  </a:moveTo>
                  <a:lnTo>
                    <a:pt x="7391399" y="257174"/>
                  </a:lnTo>
                </a:path>
                <a:path w="7391400" h="771525">
                  <a:moveTo>
                    <a:pt x="0" y="514349"/>
                  </a:moveTo>
                  <a:lnTo>
                    <a:pt x="7391399" y="514349"/>
                  </a:lnTo>
                </a:path>
              </a:pathLst>
            </a:custGeom>
            <a:ln w="12700">
              <a:solidFill>
                <a:srgbClr val="DADAD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4" name="object 224"/>
            <p:cNvSpPr/>
            <p:nvPr/>
          </p:nvSpPr>
          <p:spPr>
            <a:xfrm>
              <a:off x="0" y="5943599"/>
              <a:ext cx="12192000" cy="506095"/>
            </a:xfrm>
            <a:custGeom>
              <a:avLst/>
              <a:gdLst/>
              <a:ahLst/>
              <a:cxnLst/>
              <a:rect l="l" t="t" r="r" b="b"/>
              <a:pathLst>
                <a:path w="12192000" h="506095">
                  <a:moveTo>
                    <a:pt x="12191999" y="505587"/>
                  </a:moveTo>
                  <a:lnTo>
                    <a:pt x="12192000" y="0"/>
                  </a:lnTo>
                  <a:lnTo>
                    <a:pt x="0" y="0"/>
                  </a:lnTo>
                  <a:lnTo>
                    <a:pt x="0" y="505587"/>
                  </a:lnTo>
                  <a:lnTo>
                    <a:pt x="12191999" y="505587"/>
                  </a:lnTo>
                  <a:close/>
                </a:path>
              </a:pathLst>
            </a:custGeom>
            <a:solidFill>
              <a:srgbClr val="012AB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6" name="object 226"/>
          <p:cNvSpPr txBox="1"/>
          <p:nvPr/>
        </p:nvSpPr>
        <p:spPr>
          <a:xfrm>
            <a:off x="1735454" y="6029197"/>
            <a:ext cx="854773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Q2</a:t>
            </a:r>
            <a:r>
              <a:rPr dirty="0" sz="1600" spc="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regional</a:t>
            </a:r>
            <a:r>
              <a:rPr dirty="0" sz="1600" spc="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NNAOV</a:t>
            </a:r>
            <a:r>
              <a:rPr dirty="0" sz="1600" spc="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growth</a:t>
            </a:r>
            <a:r>
              <a:rPr dirty="0" sz="1600" spc="7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45" b="1">
                <a:solidFill>
                  <a:srgbClr val="FFFFFF"/>
                </a:solidFill>
                <a:latin typeface="Arial"/>
                <a:cs typeface="Arial"/>
              </a:rPr>
              <a:t>anchored</a:t>
            </a:r>
            <a:r>
              <a:rPr dirty="0" sz="1600" spc="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55" b="1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dirty="0" sz="1600" spc="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25" b="1">
                <a:solidFill>
                  <a:srgbClr val="FFFFFF"/>
                </a:solidFill>
                <a:latin typeface="Arial"/>
                <a:cs typeface="Arial"/>
              </a:rPr>
              <a:t>strength</a:t>
            </a:r>
            <a:r>
              <a:rPr dirty="0" sz="1600" spc="7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dirty="0" sz="1600" spc="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North</a:t>
            </a:r>
            <a:r>
              <a:rPr dirty="0" sz="1600" spc="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America,</a:t>
            </a:r>
            <a:r>
              <a:rPr dirty="0" sz="1600" spc="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Japan,</a:t>
            </a:r>
            <a:r>
              <a:rPr dirty="0" sz="1600" spc="70" b="1">
                <a:solidFill>
                  <a:srgbClr val="FFFFFF"/>
                </a:solidFill>
                <a:latin typeface="Arial"/>
                <a:cs typeface="Arial"/>
              </a:rPr>
              <a:t> and</a:t>
            </a:r>
            <a:r>
              <a:rPr dirty="0" sz="1600" spc="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600" spc="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25" b="1">
                <a:solidFill>
                  <a:srgbClr val="FFFFFF"/>
                </a:solidFill>
                <a:latin typeface="Arial"/>
                <a:cs typeface="Arial"/>
              </a:rPr>
              <a:t>UK</a:t>
            </a:r>
            <a:endParaRPr sz="1600">
              <a:latin typeface="Arial"/>
              <a:cs typeface="Arial"/>
            </a:endParaRPr>
          </a:p>
        </p:txBody>
      </p:sp>
      <p:sp>
        <p:nvSpPr>
          <p:cNvPr id="2" name="object 2"/>
          <p:cNvSpPr/>
          <p:nvPr/>
        </p:nvSpPr>
        <p:spPr>
          <a:xfrm>
            <a:off x="0" y="6449186"/>
            <a:ext cx="12192000" cy="408940"/>
          </a:xfrm>
          <a:custGeom>
            <a:avLst/>
            <a:gdLst/>
            <a:ahLst/>
            <a:cxnLst/>
            <a:rect l="l" t="t" r="r" b="b"/>
            <a:pathLst>
              <a:path w="12192000" h="408940">
                <a:moveTo>
                  <a:pt x="0" y="408813"/>
                </a:moveTo>
                <a:lnTo>
                  <a:pt x="12192000" y="408813"/>
                </a:lnTo>
                <a:lnTo>
                  <a:pt x="12192000" y="0"/>
                </a:lnTo>
                <a:lnTo>
                  <a:pt x="0" y="0"/>
                </a:lnTo>
                <a:lnTo>
                  <a:pt x="0" y="408813"/>
                </a:lnTo>
                <a:close/>
              </a:path>
            </a:pathLst>
          </a:custGeom>
          <a:solidFill>
            <a:srgbClr val="CEE9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5" name="object 225"/>
          <p:cNvSpPr txBox="1"/>
          <p:nvPr/>
        </p:nvSpPr>
        <p:spPr>
          <a:xfrm>
            <a:off x="2526029" y="6518147"/>
            <a:ext cx="854773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50">
                <a:solidFill>
                  <a:srgbClr val="6C6C6C"/>
                </a:solidFill>
                <a:latin typeface="Verdana"/>
                <a:cs typeface="Verdana"/>
              </a:rPr>
              <a:t>Revenues</a:t>
            </a:r>
            <a:r>
              <a:rPr dirty="0" sz="800" spc="-40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60">
                <a:solidFill>
                  <a:srgbClr val="6C6C6C"/>
                </a:solidFill>
                <a:latin typeface="Verdana"/>
                <a:cs typeface="Verdana"/>
              </a:rPr>
              <a:t>by</a:t>
            </a:r>
            <a:r>
              <a:rPr dirty="0" sz="800" spc="-35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50">
                <a:solidFill>
                  <a:srgbClr val="6C6C6C"/>
                </a:solidFill>
                <a:latin typeface="Verdana"/>
                <a:cs typeface="Verdana"/>
              </a:rPr>
              <a:t>geography</a:t>
            </a:r>
            <a:r>
              <a:rPr dirty="0" sz="800" spc="-35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45">
                <a:solidFill>
                  <a:srgbClr val="6C6C6C"/>
                </a:solidFill>
                <a:latin typeface="Verdana"/>
                <a:cs typeface="Verdana"/>
              </a:rPr>
              <a:t>are </a:t>
            </a:r>
            <a:r>
              <a:rPr dirty="0" sz="800" spc="-30">
                <a:solidFill>
                  <a:srgbClr val="6C6C6C"/>
                </a:solidFill>
                <a:latin typeface="Verdana"/>
                <a:cs typeface="Verdana"/>
              </a:rPr>
              <a:t>determined</a:t>
            </a:r>
            <a:r>
              <a:rPr dirty="0" sz="800" spc="-40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35">
                <a:solidFill>
                  <a:srgbClr val="6C6C6C"/>
                </a:solidFill>
                <a:latin typeface="Verdana"/>
                <a:cs typeface="Verdana"/>
              </a:rPr>
              <a:t>based</a:t>
            </a:r>
            <a:r>
              <a:rPr dirty="0" sz="800" spc="-45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25">
                <a:solidFill>
                  <a:srgbClr val="6C6C6C"/>
                </a:solidFill>
                <a:latin typeface="Verdana"/>
                <a:cs typeface="Verdana"/>
              </a:rPr>
              <a:t>on</a:t>
            </a:r>
            <a:r>
              <a:rPr dirty="0" sz="800" spc="-35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30">
                <a:solidFill>
                  <a:srgbClr val="6C6C6C"/>
                </a:solidFill>
                <a:latin typeface="Verdana"/>
                <a:cs typeface="Verdana"/>
              </a:rPr>
              <a:t>the</a:t>
            </a:r>
            <a:r>
              <a:rPr dirty="0" sz="800" spc="-45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40">
                <a:solidFill>
                  <a:srgbClr val="6C6C6C"/>
                </a:solidFill>
                <a:latin typeface="Verdana"/>
                <a:cs typeface="Verdana"/>
              </a:rPr>
              <a:t>region</a:t>
            </a:r>
            <a:r>
              <a:rPr dirty="0" sz="800" spc="-35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25">
                <a:solidFill>
                  <a:srgbClr val="6C6C6C"/>
                </a:solidFill>
                <a:latin typeface="Verdana"/>
                <a:cs typeface="Verdana"/>
              </a:rPr>
              <a:t>of</a:t>
            </a:r>
            <a:r>
              <a:rPr dirty="0" sz="800" spc="-35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30">
                <a:solidFill>
                  <a:srgbClr val="6C6C6C"/>
                </a:solidFill>
                <a:latin typeface="Verdana"/>
                <a:cs typeface="Verdana"/>
              </a:rPr>
              <a:t>the</a:t>
            </a:r>
            <a:r>
              <a:rPr dirty="0" sz="800" spc="-45">
                <a:solidFill>
                  <a:srgbClr val="6C6C6C"/>
                </a:solidFill>
                <a:latin typeface="Verdana"/>
                <a:cs typeface="Verdana"/>
              </a:rPr>
              <a:t> Company's</a:t>
            </a:r>
            <a:r>
              <a:rPr dirty="0" sz="800" spc="-35">
                <a:solidFill>
                  <a:srgbClr val="6C6C6C"/>
                </a:solidFill>
                <a:latin typeface="Verdana"/>
                <a:cs typeface="Verdana"/>
              </a:rPr>
              <a:t> contracting </a:t>
            </a:r>
            <a:r>
              <a:rPr dirty="0" sz="800" spc="-50">
                <a:solidFill>
                  <a:srgbClr val="6C6C6C"/>
                </a:solidFill>
                <a:latin typeface="Verdana"/>
                <a:cs typeface="Verdana"/>
              </a:rPr>
              <a:t>entity,</a:t>
            </a:r>
            <a:r>
              <a:rPr dirty="0" sz="800" spc="-35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30">
                <a:solidFill>
                  <a:srgbClr val="6C6C6C"/>
                </a:solidFill>
                <a:latin typeface="Verdana"/>
                <a:cs typeface="Verdana"/>
              </a:rPr>
              <a:t>which</a:t>
            </a:r>
            <a:r>
              <a:rPr dirty="0" sz="800" spc="-40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60">
                <a:solidFill>
                  <a:srgbClr val="6C6C6C"/>
                </a:solidFill>
                <a:latin typeface="Verdana"/>
                <a:cs typeface="Verdana"/>
              </a:rPr>
              <a:t>may</a:t>
            </a:r>
            <a:r>
              <a:rPr dirty="0" sz="800" spc="-35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20">
                <a:solidFill>
                  <a:srgbClr val="6C6C6C"/>
                </a:solidFill>
                <a:latin typeface="Verdana"/>
                <a:cs typeface="Verdana"/>
              </a:rPr>
              <a:t>be</a:t>
            </a:r>
            <a:r>
              <a:rPr dirty="0" sz="800" spc="-45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35">
                <a:solidFill>
                  <a:srgbClr val="6C6C6C"/>
                </a:solidFill>
                <a:latin typeface="Verdana"/>
                <a:cs typeface="Verdana"/>
              </a:rPr>
              <a:t>different </a:t>
            </a:r>
            <a:r>
              <a:rPr dirty="0" sz="800" spc="-40">
                <a:solidFill>
                  <a:srgbClr val="6C6C6C"/>
                </a:solidFill>
                <a:latin typeface="Verdana"/>
                <a:cs typeface="Verdana"/>
              </a:rPr>
              <a:t>than</a:t>
            </a:r>
            <a:r>
              <a:rPr dirty="0" sz="800" spc="-35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30">
                <a:solidFill>
                  <a:srgbClr val="6C6C6C"/>
                </a:solidFill>
                <a:latin typeface="Verdana"/>
                <a:cs typeface="Verdana"/>
              </a:rPr>
              <a:t>the</a:t>
            </a:r>
            <a:r>
              <a:rPr dirty="0" sz="800" spc="-45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40">
                <a:solidFill>
                  <a:srgbClr val="6C6C6C"/>
                </a:solidFill>
                <a:latin typeface="Verdana"/>
                <a:cs typeface="Verdana"/>
              </a:rPr>
              <a:t>region</a:t>
            </a:r>
            <a:r>
              <a:rPr dirty="0" sz="800" spc="-35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25">
                <a:solidFill>
                  <a:srgbClr val="6C6C6C"/>
                </a:solidFill>
                <a:latin typeface="Verdana"/>
                <a:cs typeface="Verdana"/>
              </a:rPr>
              <a:t>of</a:t>
            </a:r>
            <a:r>
              <a:rPr dirty="0" sz="800" spc="-35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30">
                <a:solidFill>
                  <a:srgbClr val="6C6C6C"/>
                </a:solidFill>
                <a:latin typeface="Verdana"/>
                <a:cs typeface="Verdana"/>
              </a:rPr>
              <a:t>the</a:t>
            </a:r>
            <a:r>
              <a:rPr dirty="0" sz="800" spc="-45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10">
                <a:solidFill>
                  <a:srgbClr val="6C6C6C"/>
                </a:solidFill>
                <a:latin typeface="Verdana"/>
                <a:cs typeface="Verdana"/>
              </a:rPr>
              <a:t>customer.</a:t>
            </a:r>
            <a:endParaRPr sz="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dirty="0" sz="800" spc="-45">
                <a:solidFill>
                  <a:srgbClr val="6C6C6C"/>
                </a:solidFill>
                <a:latin typeface="Verdana"/>
                <a:cs typeface="Verdana"/>
              </a:rPr>
              <a:t>Revenue</a:t>
            </a:r>
            <a:r>
              <a:rPr dirty="0" sz="800" spc="-40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35">
                <a:solidFill>
                  <a:srgbClr val="6C6C6C"/>
                </a:solidFill>
                <a:latin typeface="Verdana"/>
                <a:cs typeface="Verdana"/>
              </a:rPr>
              <a:t>dollar</a:t>
            </a:r>
            <a:r>
              <a:rPr dirty="0" sz="800" spc="-30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45">
                <a:solidFill>
                  <a:srgbClr val="6C6C6C"/>
                </a:solidFill>
                <a:latin typeface="Verdana"/>
                <a:cs typeface="Verdana"/>
              </a:rPr>
              <a:t>figures</a:t>
            </a:r>
            <a:r>
              <a:rPr dirty="0" sz="800" spc="-30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45">
                <a:solidFill>
                  <a:srgbClr val="6C6C6C"/>
                </a:solidFill>
                <a:latin typeface="Verdana"/>
                <a:cs typeface="Verdana"/>
              </a:rPr>
              <a:t>are</a:t>
            </a:r>
            <a:r>
              <a:rPr dirty="0" sz="800" spc="-35">
                <a:solidFill>
                  <a:srgbClr val="6C6C6C"/>
                </a:solidFill>
                <a:latin typeface="Verdana"/>
                <a:cs typeface="Verdana"/>
              </a:rPr>
              <a:t> presented </a:t>
            </a:r>
            <a:r>
              <a:rPr dirty="0" sz="800" spc="-30">
                <a:solidFill>
                  <a:srgbClr val="6C6C6C"/>
                </a:solidFill>
                <a:latin typeface="Verdana"/>
                <a:cs typeface="Verdana"/>
              </a:rPr>
              <a:t>in</a:t>
            </a:r>
            <a:r>
              <a:rPr dirty="0" sz="800" spc="-35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30">
                <a:solidFill>
                  <a:srgbClr val="6C6C6C"/>
                </a:solidFill>
                <a:latin typeface="Verdana"/>
                <a:cs typeface="Verdana"/>
              </a:rPr>
              <a:t>nominal </a:t>
            </a:r>
            <a:r>
              <a:rPr dirty="0" sz="800" spc="-45">
                <a:solidFill>
                  <a:srgbClr val="6C6C6C"/>
                </a:solidFill>
                <a:latin typeface="Verdana"/>
                <a:cs typeface="Verdana"/>
              </a:rPr>
              <a:t>currency</a:t>
            </a:r>
            <a:r>
              <a:rPr dirty="0" sz="800" spc="-30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35">
                <a:solidFill>
                  <a:srgbClr val="6C6C6C"/>
                </a:solidFill>
                <a:latin typeface="Verdana"/>
                <a:cs typeface="Verdana"/>
              </a:rPr>
              <a:t>and </a:t>
            </a:r>
            <a:r>
              <a:rPr dirty="0" sz="800" spc="-40">
                <a:solidFill>
                  <a:srgbClr val="6C6C6C"/>
                </a:solidFill>
                <a:latin typeface="Verdana"/>
                <a:cs typeface="Verdana"/>
              </a:rPr>
              <a:t>growth</a:t>
            </a:r>
            <a:r>
              <a:rPr dirty="0" sz="800" spc="-30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50">
                <a:solidFill>
                  <a:srgbClr val="6C6C6C"/>
                </a:solidFill>
                <a:latin typeface="Verdana"/>
                <a:cs typeface="Verdana"/>
              </a:rPr>
              <a:t>rates</a:t>
            </a:r>
            <a:r>
              <a:rPr dirty="0" sz="800" spc="-30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45">
                <a:solidFill>
                  <a:srgbClr val="6C6C6C"/>
                </a:solidFill>
                <a:latin typeface="Verdana"/>
                <a:cs typeface="Verdana"/>
              </a:rPr>
              <a:t>are</a:t>
            </a:r>
            <a:r>
              <a:rPr dirty="0" sz="800" spc="-35">
                <a:solidFill>
                  <a:srgbClr val="6C6C6C"/>
                </a:solidFill>
                <a:latin typeface="Verdana"/>
                <a:cs typeface="Verdana"/>
              </a:rPr>
              <a:t> presented</a:t>
            </a:r>
            <a:r>
              <a:rPr dirty="0" sz="800" spc="-40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30">
                <a:solidFill>
                  <a:srgbClr val="6C6C6C"/>
                </a:solidFill>
                <a:latin typeface="Verdana"/>
                <a:cs typeface="Verdana"/>
              </a:rPr>
              <a:t>in </a:t>
            </a:r>
            <a:r>
              <a:rPr dirty="0" sz="800" spc="-35">
                <a:solidFill>
                  <a:srgbClr val="6C6C6C"/>
                </a:solidFill>
                <a:latin typeface="Verdana"/>
                <a:cs typeface="Verdana"/>
              </a:rPr>
              <a:t>constant</a:t>
            </a:r>
            <a:r>
              <a:rPr dirty="0" sz="800" spc="-30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50">
                <a:solidFill>
                  <a:srgbClr val="6C6C6C"/>
                </a:solidFill>
                <a:latin typeface="Verdana"/>
                <a:cs typeface="Verdana"/>
              </a:rPr>
              <a:t>currency.</a:t>
            </a:r>
            <a:r>
              <a:rPr dirty="0" sz="800" spc="-30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40">
                <a:solidFill>
                  <a:srgbClr val="6C6C6C"/>
                </a:solidFill>
                <a:latin typeface="Verdana"/>
                <a:cs typeface="Verdana"/>
              </a:rPr>
              <a:t>Constant</a:t>
            </a:r>
            <a:r>
              <a:rPr dirty="0" sz="800" spc="-30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45">
                <a:solidFill>
                  <a:srgbClr val="6C6C6C"/>
                </a:solidFill>
                <a:latin typeface="Verdana"/>
                <a:cs typeface="Verdana"/>
              </a:rPr>
              <a:t>currency</a:t>
            </a:r>
            <a:r>
              <a:rPr dirty="0" sz="800" spc="-30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40">
                <a:solidFill>
                  <a:srgbClr val="6C6C6C"/>
                </a:solidFill>
                <a:latin typeface="Verdana"/>
                <a:cs typeface="Verdana"/>
              </a:rPr>
              <a:t>growth</a:t>
            </a:r>
            <a:r>
              <a:rPr dirty="0" sz="800" spc="-30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50">
                <a:solidFill>
                  <a:srgbClr val="6C6C6C"/>
                </a:solidFill>
                <a:latin typeface="Verdana"/>
                <a:cs typeface="Verdana"/>
              </a:rPr>
              <a:t>rates</a:t>
            </a:r>
            <a:r>
              <a:rPr dirty="0" sz="800" spc="-30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35">
                <a:solidFill>
                  <a:srgbClr val="6C6C6C"/>
                </a:solidFill>
                <a:latin typeface="Verdana"/>
                <a:cs typeface="Verdana"/>
              </a:rPr>
              <a:t>exclude</a:t>
            </a:r>
            <a:r>
              <a:rPr dirty="0" sz="800" spc="-40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30">
                <a:solidFill>
                  <a:srgbClr val="6C6C6C"/>
                </a:solidFill>
                <a:latin typeface="Verdana"/>
                <a:cs typeface="Verdana"/>
              </a:rPr>
              <a:t>the</a:t>
            </a:r>
            <a:r>
              <a:rPr dirty="0" sz="800" spc="-35">
                <a:solidFill>
                  <a:srgbClr val="6C6C6C"/>
                </a:solidFill>
                <a:latin typeface="Verdana"/>
                <a:cs typeface="Verdana"/>
              </a:rPr>
              <a:t> impacts</a:t>
            </a:r>
            <a:r>
              <a:rPr dirty="0" sz="800" spc="-30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25">
                <a:solidFill>
                  <a:srgbClr val="6C6C6C"/>
                </a:solidFill>
                <a:latin typeface="Verdana"/>
                <a:cs typeface="Verdana"/>
              </a:rPr>
              <a:t>of</a:t>
            </a:r>
            <a:r>
              <a:rPr dirty="0" sz="800" spc="-30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40">
                <a:solidFill>
                  <a:srgbClr val="6C6C6C"/>
                </a:solidFill>
                <a:latin typeface="Verdana"/>
                <a:cs typeface="Verdana"/>
              </a:rPr>
              <a:t>hedging</a:t>
            </a:r>
            <a:r>
              <a:rPr dirty="0" sz="800" spc="-30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10">
                <a:solidFill>
                  <a:srgbClr val="6C6C6C"/>
                </a:solidFill>
                <a:latin typeface="Verdana"/>
                <a:cs typeface="Verdana"/>
              </a:rPr>
              <a:t>gains.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178" name="object 178"/>
          <p:cNvSpPr txBox="1"/>
          <p:nvPr/>
        </p:nvSpPr>
        <p:spPr>
          <a:xfrm>
            <a:off x="11453621" y="6583933"/>
            <a:ext cx="18034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>
                <a:latin typeface="Verdana"/>
                <a:cs typeface="Verdana"/>
              </a:rPr>
              <a:t>21</a:t>
            </a:r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0" y="0"/>
            <a:ext cx="12192000" cy="5943600"/>
            <a:chOff x="0" y="0"/>
            <a:chExt cx="12192000" cy="594360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12192000" cy="5943600"/>
            </a:xfrm>
            <a:custGeom>
              <a:avLst/>
              <a:gdLst/>
              <a:ahLst/>
              <a:cxnLst/>
              <a:rect l="l" t="t" r="r" b="b"/>
              <a:pathLst>
                <a:path w="12192000" h="5943600">
                  <a:moveTo>
                    <a:pt x="0" y="5943600"/>
                  </a:moveTo>
                  <a:lnTo>
                    <a:pt x="12192000" y="5943600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5943600"/>
                  </a:lnTo>
                  <a:close/>
                </a:path>
              </a:pathLst>
            </a:custGeom>
            <a:solidFill>
              <a:srgbClr val="CEE9F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033252" y="565404"/>
              <a:ext cx="635634" cy="445008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566293" y="485521"/>
            <a:ext cx="9489440" cy="1049655"/>
          </a:xfrm>
          <a:prstGeom prst="rect"/>
        </p:spPr>
        <p:txBody>
          <a:bodyPr wrap="square" lIns="0" tIns="89535" rIns="0" bIns="0" rtlCol="0" vert="horz">
            <a:spAutoFit/>
          </a:bodyPr>
          <a:lstStyle/>
          <a:p>
            <a:pPr marL="12700" marR="5080">
              <a:lnSpc>
                <a:spcPts val="3740"/>
              </a:lnSpc>
              <a:spcBef>
                <a:spcPts val="705"/>
              </a:spcBef>
            </a:pPr>
            <a:r>
              <a:rPr dirty="0" spc="110">
                <a:solidFill>
                  <a:srgbClr val="022C60"/>
                </a:solidFill>
              </a:rPr>
              <a:t>Q2</a:t>
            </a:r>
            <a:r>
              <a:rPr dirty="0" spc="-5">
                <a:solidFill>
                  <a:srgbClr val="022C60"/>
                </a:solidFill>
              </a:rPr>
              <a:t> </a:t>
            </a:r>
            <a:r>
              <a:rPr dirty="0" spc="-140">
                <a:solidFill>
                  <a:srgbClr val="022C60"/>
                </a:solidFill>
              </a:rPr>
              <a:t>FY27</a:t>
            </a:r>
            <a:r>
              <a:rPr dirty="0" spc="-5">
                <a:solidFill>
                  <a:srgbClr val="022C60"/>
                </a:solidFill>
              </a:rPr>
              <a:t> </a:t>
            </a:r>
            <a:r>
              <a:rPr dirty="0"/>
              <a:t>Key </a:t>
            </a:r>
            <a:r>
              <a:rPr dirty="0" spc="85"/>
              <a:t>Balance</a:t>
            </a:r>
            <a:r>
              <a:rPr dirty="0" spc="-5"/>
              <a:t> </a:t>
            </a:r>
            <a:r>
              <a:rPr dirty="0"/>
              <a:t>Sheet </a:t>
            </a:r>
            <a:r>
              <a:rPr dirty="0" spc="160"/>
              <a:t>and</a:t>
            </a:r>
            <a:r>
              <a:rPr dirty="0" spc="-5"/>
              <a:t> </a:t>
            </a:r>
            <a:r>
              <a:rPr dirty="0"/>
              <a:t>Cash </a:t>
            </a:r>
            <a:r>
              <a:rPr dirty="0" spc="-65"/>
              <a:t>Flow </a:t>
            </a:r>
            <a:r>
              <a:rPr dirty="0"/>
              <a:t>Metrics</a:t>
            </a:r>
            <a:r>
              <a:rPr dirty="0" spc="-35"/>
              <a:t> </a:t>
            </a:r>
            <a:r>
              <a:rPr dirty="0"/>
              <a:t>Growth</a:t>
            </a:r>
            <a:r>
              <a:rPr dirty="0" spc="-35"/>
              <a:t> </a:t>
            </a:r>
            <a:r>
              <a:rPr dirty="0"/>
              <a:t>Rate</a:t>
            </a:r>
            <a:r>
              <a:rPr dirty="0" spc="-35"/>
              <a:t> </a:t>
            </a:r>
            <a:r>
              <a:rPr dirty="0" spc="-10"/>
              <a:t>Trends</a:t>
            </a: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578993" y="1751965"/>
          <a:ext cx="11134725" cy="33235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29075"/>
                <a:gridCol w="1183639"/>
                <a:gridCol w="1171575"/>
                <a:gridCol w="1171575"/>
                <a:gridCol w="1159509"/>
                <a:gridCol w="1189354"/>
                <a:gridCol w="1153795"/>
              </a:tblGrid>
              <a:tr h="4476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DADADA"/>
                      </a:solidFill>
                      <a:prstDash val="solid"/>
                    </a:lnR>
                    <a:solidFill>
                      <a:srgbClr val="CEE9FE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444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Q1’</a:t>
                      </a:r>
                      <a:r>
                        <a:rPr dirty="0" sz="1400" spc="9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02870">
                    <a:lnL w="12700">
                      <a:solidFill>
                        <a:srgbClr val="DADADA"/>
                      </a:solidFill>
                      <a:prstDash val="solid"/>
                    </a:lnL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001E5A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587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Q2’</a:t>
                      </a:r>
                      <a:r>
                        <a:rPr dirty="0" sz="1400" spc="9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02870"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001E5A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587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Q3’</a:t>
                      </a:r>
                      <a:r>
                        <a:rPr dirty="0" sz="1400" spc="9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02870"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001E5A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5080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Q4’</a:t>
                      </a:r>
                      <a:r>
                        <a:rPr dirty="0" sz="1400" spc="9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02870">
                    <a:lnR w="12700">
                      <a:solidFill>
                        <a:srgbClr val="DADADA"/>
                      </a:solidFill>
                      <a:prstDash val="solid"/>
                    </a:lnR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001E5A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0160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Q1’</a:t>
                      </a:r>
                      <a:r>
                        <a:rPr dirty="0" sz="1400" spc="9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02870">
                    <a:lnL w="12700">
                      <a:solidFill>
                        <a:srgbClr val="DADADA"/>
                      </a:solidFill>
                      <a:prstDash val="solid"/>
                    </a:lnL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001E5A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0160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Q2’</a:t>
                      </a:r>
                      <a:r>
                        <a:rPr dirty="0" sz="1400" spc="9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02870"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001E5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121920">
                        <a:lnSpc>
                          <a:spcPct val="100000"/>
                        </a:lnSpc>
                        <a:spcBef>
                          <a:spcPts val="1295"/>
                        </a:spcBef>
                      </a:pPr>
                      <a:r>
                        <a:rPr dirty="0" sz="1400" spc="-25" b="1">
                          <a:solidFill>
                            <a:srgbClr val="022C5F"/>
                          </a:solidFill>
                          <a:latin typeface="Arial"/>
                          <a:cs typeface="Arial"/>
                        </a:rPr>
                        <a:t>Total</a:t>
                      </a:r>
                      <a:r>
                        <a:rPr dirty="0" sz="1400" spc="-50" b="1">
                          <a:solidFill>
                            <a:srgbClr val="022C5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5" b="1">
                          <a:solidFill>
                            <a:srgbClr val="022C5F"/>
                          </a:solidFill>
                          <a:latin typeface="Arial"/>
                          <a:cs typeface="Arial"/>
                        </a:rPr>
                        <a:t>RPO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4465"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1430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400" spc="-25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13%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163195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400" spc="-25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12%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163195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400" spc="-25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12%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163195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1430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400" spc="-25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14%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163195">
                    <a:lnR w="12700">
                      <a:solidFill>
                        <a:srgbClr val="DADADA"/>
                      </a:solidFill>
                      <a:prstDash val="solid"/>
                    </a:lnR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715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400" spc="-25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11%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163195">
                    <a:lnL w="12700">
                      <a:solidFill>
                        <a:srgbClr val="DADADA"/>
                      </a:solidFill>
                      <a:prstDash val="solid"/>
                    </a:lnL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715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400" spc="-25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11%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163195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121920">
                        <a:lnSpc>
                          <a:spcPct val="100000"/>
                        </a:lnSpc>
                        <a:spcBef>
                          <a:spcPts val="1295"/>
                        </a:spcBef>
                      </a:pPr>
                      <a:r>
                        <a:rPr dirty="0" sz="1400" spc="-20" b="1">
                          <a:solidFill>
                            <a:srgbClr val="022C5F"/>
                          </a:solidFill>
                          <a:latin typeface="Arial"/>
                          <a:cs typeface="Arial"/>
                        </a:rPr>
                        <a:t>cRPO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4465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1430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400" spc="-25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12%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163195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400" spc="-25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11%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163195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400" spc="-25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11%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163195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1430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400" spc="-25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16%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163195">
                    <a:lnR w="12700">
                      <a:solidFill>
                        <a:srgbClr val="DADADA"/>
                      </a:solidFill>
                      <a:prstDash val="solid"/>
                    </a:lnR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715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400" spc="-25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14%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163195">
                    <a:lnL w="12700">
                      <a:solidFill>
                        <a:srgbClr val="DADADA"/>
                      </a:solidFill>
                      <a:prstDash val="solid"/>
                    </a:lnL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715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400" spc="-25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14%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163195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4640">
                <a:tc>
                  <a:txBody>
                    <a:bodyPr/>
                    <a:lstStyle/>
                    <a:p>
                      <a:pPr marL="12192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dirty="0" sz="1400" spc="-25" b="1">
                          <a:solidFill>
                            <a:srgbClr val="022C5F"/>
                          </a:solidFill>
                          <a:latin typeface="Arial"/>
                          <a:cs typeface="Arial"/>
                        </a:rPr>
                        <a:t>cRPO</a:t>
                      </a:r>
                      <a:r>
                        <a:rPr dirty="0" sz="1400" spc="-30" b="1">
                          <a:solidFill>
                            <a:srgbClr val="022C5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b="1" i="1">
                          <a:solidFill>
                            <a:srgbClr val="022C5F"/>
                          </a:solidFill>
                          <a:latin typeface="Arial"/>
                          <a:cs typeface="Arial"/>
                        </a:rPr>
                        <a:t>(in</a:t>
                      </a:r>
                      <a:r>
                        <a:rPr dirty="0" sz="1400" spc="-30" b="1" i="1">
                          <a:solidFill>
                            <a:srgbClr val="022C5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b="1" i="1">
                          <a:solidFill>
                            <a:srgbClr val="022C5F"/>
                          </a:solidFill>
                          <a:latin typeface="Arial"/>
                          <a:cs typeface="Arial"/>
                        </a:rPr>
                        <a:t>Constant</a:t>
                      </a:r>
                      <a:r>
                        <a:rPr dirty="0" sz="1400" spc="-30" b="1" i="1">
                          <a:solidFill>
                            <a:srgbClr val="022C5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 b="1" i="1">
                          <a:solidFill>
                            <a:srgbClr val="022C5F"/>
                          </a:solidFill>
                          <a:latin typeface="Arial"/>
                          <a:cs typeface="Arial"/>
                        </a:rPr>
                        <a:t>Currency)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26670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143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400" spc="-25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11%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25400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400" spc="-25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10%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25400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400" spc="-25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11%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25400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143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400" spc="-25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13%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25400">
                    <a:lnR w="12700">
                      <a:solidFill>
                        <a:srgbClr val="DADADA"/>
                      </a:solidFill>
                      <a:prstDash val="solid"/>
                    </a:lnR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71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400" spc="-25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13%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25400">
                    <a:lnL w="12700">
                      <a:solidFill>
                        <a:srgbClr val="DADADA"/>
                      </a:solidFill>
                      <a:prstDash val="solid"/>
                    </a:lnL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71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400" spc="-25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14%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25400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marL="12192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dirty="0" sz="1400" spc="-25" b="1" i="1">
                          <a:solidFill>
                            <a:srgbClr val="022C5F"/>
                          </a:solidFill>
                          <a:latin typeface="Arial"/>
                          <a:cs typeface="Arial"/>
                        </a:rPr>
                        <a:t>cRPO</a:t>
                      </a:r>
                      <a:r>
                        <a:rPr dirty="0" sz="1400" spc="70" b="1" i="1">
                          <a:solidFill>
                            <a:srgbClr val="022C5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80" b="1" i="1">
                          <a:solidFill>
                            <a:srgbClr val="022C5F"/>
                          </a:solidFill>
                          <a:latin typeface="Arial"/>
                          <a:cs typeface="Arial"/>
                        </a:rPr>
                        <a:t>FX</a:t>
                      </a:r>
                      <a:r>
                        <a:rPr dirty="0" sz="1400" spc="70" b="1" i="1">
                          <a:solidFill>
                            <a:srgbClr val="022C5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50" b="1" i="1">
                          <a:solidFill>
                            <a:srgbClr val="022C5F"/>
                          </a:solidFill>
                          <a:latin typeface="Arial"/>
                          <a:cs typeface="Arial"/>
                        </a:rPr>
                        <a:t>$M</a:t>
                      </a:r>
                      <a:r>
                        <a:rPr dirty="0" sz="1400" spc="75" b="1" i="1">
                          <a:solidFill>
                            <a:srgbClr val="022C5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b="1" i="1">
                          <a:solidFill>
                            <a:srgbClr val="022C5F"/>
                          </a:solidFill>
                          <a:latin typeface="Arial"/>
                          <a:cs typeface="Arial"/>
                        </a:rPr>
                        <a:t>(Headwind)</a:t>
                      </a:r>
                      <a:r>
                        <a:rPr dirty="0" sz="1400" spc="70" b="1" i="1">
                          <a:solidFill>
                            <a:srgbClr val="022C5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254" b="1" i="1">
                          <a:solidFill>
                            <a:srgbClr val="022C5F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dirty="0" sz="1400" spc="75" b="1" i="1">
                          <a:solidFill>
                            <a:srgbClr val="022C5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 b="1" i="1">
                          <a:solidFill>
                            <a:srgbClr val="022C5F"/>
                          </a:solidFill>
                          <a:latin typeface="Arial"/>
                          <a:cs typeface="Arial"/>
                        </a:rPr>
                        <a:t>Tailwind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26670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143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400" spc="-10" i="1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$300M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24765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400" spc="-10" i="1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$300M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24765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400" spc="-10" i="1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$200M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24765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143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400" spc="-10" i="1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$800M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24765">
                    <a:lnR w="12700">
                      <a:solidFill>
                        <a:srgbClr val="DADADA"/>
                      </a:solidFill>
                      <a:prstDash val="solid"/>
                    </a:lnR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71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400" spc="-10" i="1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$100M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24765">
                    <a:lnL w="12700">
                      <a:solidFill>
                        <a:srgbClr val="DADADA"/>
                      </a:solidFill>
                      <a:prstDash val="solid"/>
                    </a:lnL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71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400" spc="-25" i="1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$0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24765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121920">
                        <a:lnSpc>
                          <a:spcPct val="100000"/>
                        </a:lnSpc>
                        <a:spcBef>
                          <a:spcPts val="1295"/>
                        </a:spcBef>
                      </a:pPr>
                      <a:r>
                        <a:rPr dirty="0" sz="1400" b="1">
                          <a:solidFill>
                            <a:srgbClr val="022C5F"/>
                          </a:solidFill>
                          <a:latin typeface="Arial"/>
                          <a:cs typeface="Arial"/>
                        </a:rPr>
                        <a:t>Operating</a:t>
                      </a:r>
                      <a:r>
                        <a:rPr dirty="0" sz="1400" spc="150" b="1">
                          <a:solidFill>
                            <a:srgbClr val="022C5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b="1">
                          <a:solidFill>
                            <a:srgbClr val="022C5F"/>
                          </a:solidFill>
                          <a:latin typeface="Arial"/>
                          <a:cs typeface="Arial"/>
                        </a:rPr>
                        <a:t>Cash</a:t>
                      </a:r>
                      <a:r>
                        <a:rPr dirty="0" sz="1400" spc="150" b="1">
                          <a:solidFill>
                            <a:srgbClr val="022C5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0" b="1">
                          <a:solidFill>
                            <a:srgbClr val="022C5F"/>
                          </a:solidFill>
                          <a:latin typeface="Arial"/>
                          <a:cs typeface="Arial"/>
                        </a:rPr>
                        <a:t>Flow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4465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1430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400" spc="45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4%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163195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400" spc="-10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(17)%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163195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400" spc="-25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17%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163195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1430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400" spc="-25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38%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163195">
                    <a:lnR w="12700">
                      <a:solidFill>
                        <a:srgbClr val="DADADA"/>
                      </a:solidFill>
                      <a:prstDash val="solid"/>
                    </a:lnR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715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400" spc="45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3%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163195">
                    <a:lnL w="12700">
                      <a:solidFill>
                        <a:srgbClr val="DADADA"/>
                      </a:solidFill>
                      <a:prstDash val="solid"/>
                    </a:lnL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715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400" spc="-25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71%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163195">
                    <a:lnT w="12700">
                      <a:solidFill>
                        <a:srgbClr val="DADADA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1295"/>
                        </a:spcBef>
                      </a:pPr>
                      <a:r>
                        <a:rPr dirty="0" sz="1400" b="1">
                          <a:solidFill>
                            <a:srgbClr val="022C5F"/>
                          </a:solidFill>
                          <a:latin typeface="Arial"/>
                          <a:cs typeface="Arial"/>
                        </a:rPr>
                        <a:t>Free</a:t>
                      </a:r>
                      <a:r>
                        <a:rPr dirty="0" sz="1400" spc="-10" b="1">
                          <a:solidFill>
                            <a:srgbClr val="022C5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b="1">
                          <a:solidFill>
                            <a:srgbClr val="022C5F"/>
                          </a:solidFill>
                          <a:latin typeface="Arial"/>
                          <a:cs typeface="Arial"/>
                        </a:rPr>
                        <a:t>Cash</a:t>
                      </a:r>
                      <a:r>
                        <a:rPr dirty="0" sz="1400" spc="-5" b="1">
                          <a:solidFill>
                            <a:srgbClr val="022C5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0" b="1">
                          <a:solidFill>
                            <a:srgbClr val="022C5F"/>
                          </a:solidFill>
                          <a:latin typeface="Arial"/>
                          <a:cs typeface="Arial"/>
                        </a:rPr>
                        <a:t>Flow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64465">
                    <a:lnT w="12700">
                      <a:solidFill>
                        <a:srgbClr val="DADADA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1430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400" spc="45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4%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163195">
                    <a:lnT w="12700">
                      <a:solidFill>
                        <a:srgbClr val="DADADA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400" spc="-10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(20)%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163195">
                    <a:lnT w="12700">
                      <a:solidFill>
                        <a:srgbClr val="DADADA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400" spc="-25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22%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163195">
                    <a:lnT w="12700">
                      <a:solidFill>
                        <a:srgbClr val="DADADA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1430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400" spc="-25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39%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163195">
                    <a:lnR w="12700">
                      <a:solidFill>
                        <a:srgbClr val="DADADA"/>
                      </a:solidFill>
                      <a:prstDash val="solid"/>
                    </a:lnR>
                    <a:lnT w="12700">
                      <a:solidFill>
                        <a:srgbClr val="DADADA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715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400" spc="45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4%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163195">
                    <a:lnL w="12700">
                      <a:solidFill>
                        <a:srgbClr val="DADADA"/>
                      </a:solidFill>
                      <a:prstDash val="solid"/>
                    </a:lnL>
                    <a:lnT w="12700">
                      <a:solidFill>
                        <a:srgbClr val="DADADA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715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400" spc="-25">
                          <a:solidFill>
                            <a:srgbClr val="022C5F"/>
                          </a:solidFill>
                          <a:latin typeface="Verdana"/>
                          <a:cs typeface="Verdana"/>
                        </a:rPr>
                        <a:t>81%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163195">
                    <a:lnT w="12700">
                      <a:solidFill>
                        <a:srgbClr val="DADADA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2146554" y="5262498"/>
            <a:ext cx="738060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 i="1">
                <a:solidFill>
                  <a:srgbClr val="013247"/>
                </a:solidFill>
                <a:latin typeface="Verdana"/>
                <a:cs typeface="Verdana"/>
              </a:rPr>
              <a:t>Notes:</a:t>
            </a:r>
            <a:endParaRPr sz="1000">
              <a:latin typeface="Verdana"/>
              <a:cs typeface="Verdana"/>
            </a:endParaRPr>
          </a:p>
          <a:p>
            <a:pPr marL="469265" indent="-227965">
              <a:lnSpc>
                <a:spcPct val="100000"/>
              </a:lnSpc>
              <a:buChar char="•"/>
              <a:tabLst>
                <a:tab pos="469265" algn="l"/>
              </a:tabLst>
            </a:pPr>
            <a:r>
              <a:rPr dirty="0" sz="1000" spc="-40" i="1">
                <a:solidFill>
                  <a:srgbClr val="013247"/>
                </a:solidFill>
                <a:latin typeface="Verdana"/>
                <a:cs typeface="Verdana"/>
              </a:rPr>
              <a:t>RPO</a:t>
            </a:r>
            <a:r>
              <a:rPr dirty="0" sz="1000" spc="-70" i="1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000" spc="-55" i="1">
                <a:solidFill>
                  <a:srgbClr val="013247"/>
                </a:solidFill>
                <a:latin typeface="Verdana"/>
                <a:cs typeface="Verdana"/>
              </a:rPr>
              <a:t>growth</a:t>
            </a:r>
            <a:r>
              <a:rPr dirty="0" sz="1000" spc="-70" i="1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000" spc="-55" i="1">
                <a:solidFill>
                  <a:srgbClr val="013247"/>
                </a:solidFill>
                <a:latin typeface="Verdana"/>
                <a:cs typeface="Verdana"/>
              </a:rPr>
              <a:t>rate</a:t>
            </a:r>
            <a:r>
              <a:rPr dirty="0" sz="1000" spc="-70" i="1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000" spc="-45" i="1">
                <a:solidFill>
                  <a:srgbClr val="013247"/>
                </a:solidFill>
                <a:latin typeface="Verdana"/>
                <a:cs typeface="Verdana"/>
              </a:rPr>
              <a:t>change</a:t>
            </a:r>
            <a:r>
              <a:rPr dirty="0" sz="1000" spc="-65" i="1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000" spc="-45" i="1">
                <a:solidFill>
                  <a:srgbClr val="013247"/>
                </a:solidFill>
                <a:latin typeface="Verdana"/>
                <a:cs typeface="Verdana"/>
              </a:rPr>
              <a:t>from</a:t>
            </a:r>
            <a:r>
              <a:rPr dirty="0" sz="1000" spc="-70" i="1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000" spc="-25" i="1">
                <a:solidFill>
                  <a:srgbClr val="013247"/>
                </a:solidFill>
                <a:latin typeface="Verdana"/>
                <a:cs typeface="Verdana"/>
              </a:rPr>
              <a:t>Q4'26</a:t>
            </a:r>
            <a:r>
              <a:rPr dirty="0" sz="1000" spc="-70" i="1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000" spc="-40" i="1">
                <a:solidFill>
                  <a:srgbClr val="013247"/>
                </a:solidFill>
                <a:latin typeface="Verdana"/>
                <a:cs typeface="Verdana"/>
              </a:rPr>
              <a:t>to</a:t>
            </a:r>
            <a:r>
              <a:rPr dirty="0" sz="1000" spc="-65" i="1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000" spc="-25" i="1">
                <a:solidFill>
                  <a:srgbClr val="013247"/>
                </a:solidFill>
                <a:latin typeface="Verdana"/>
                <a:cs typeface="Verdana"/>
              </a:rPr>
              <a:t>Q1'27</a:t>
            </a:r>
            <a:r>
              <a:rPr dirty="0" sz="1000" spc="-70" i="1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000" spc="-60" i="1">
                <a:solidFill>
                  <a:srgbClr val="013247"/>
                </a:solidFill>
                <a:latin typeface="Verdana"/>
                <a:cs typeface="Verdana"/>
              </a:rPr>
              <a:t>was</a:t>
            </a:r>
            <a:r>
              <a:rPr dirty="0" sz="1000" spc="-70" i="1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000" spc="-55" i="1">
                <a:solidFill>
                  <a:srgbClr val="013247"/>
                </a:solidFill>
                <a:latin typeface="Verdana"/>
                <a:cs typeface="Verdana"/>
              </a:rPr>
              <a:t>primarily</a:t>
            </a:r>
            <a:r>
              <a:rPr dirty="0" sz="1000" spc="-65" i="1">
                <a:solidFill>
                  <a:srgbClr val="013247"/>
                </a:solidFill>
                <a:latin typeface="Verdana"/>
                <a:cs typeface="Verdana"/>
              </a:rPr>
              <a:t> driven</a:t>
            </a:r>
            <a:r>
              <a:rPr dirty="0" sz="1000" spc="-70" i="1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000" spc="-80" i="1">
                <a:solidFill>
                  <a:srgbClr val="013247"/>
                </a:solidFill>
                <a:latin typeface="Verdana"/>
                <a:cs typeface="Verdana"/>
              </a:rPr>
              <a:t>by</a:t>
            </a:r>
            <a:r>
              <a:rPr dirty="0" sz="1000" spc="-70" i="1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000" spc="-25" i="1">
                <a:solidFill>
                  <a:srgbClr val="013247"/>
                </a:solidFill>
                <a:latin typeface="Verdana"/>
                <a:cs typeface="Verdana"/>
              </a:rPr>
              <a:t>FX.</a:t>
            </a:r>
            <a:endParaRPr sz="1000">
              <a:latin typeface="Verdana"/>
              <a:cs typeface="Verdana"/>
            </a:endParaRPr>
          </a:p>
          <a:p>
            <a:pPr marL="469265" indent="-227965">
              <a:lnSpc>
                <a:spcPct val="100000"/>
              </a:lnSpc>
              <a:buChar char="•"/>
              <a:tabLst>
                <a:tab pos="469265" algn="l"/>
              </a:tabLst>
            </a:pPr>
            <a:r>
              <a:rPr dirty="0" sz="1000" spc="-40" i="1">
                <a:solidFill>
                  <a:srgbClr val="013247"/>
                </a:solidFill>
                <a:latin typeface="Verdana"/>
                <a:cs typeface="Verdana"/>
              </a:rPr>
              <a:t>cRPO</a:t>
            </a:r>
            <a:r>
              <a:rPr dirty="0" sz="1000" spc="-65" i="1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000" spc="-40" i="1">
                <a:solidFill>
                  <a:srgbClr val="013247"/>
                </a:solidFill>
                <a:latin typeface="Verdana"/>
                <a:cs typeface="Verdana"/>
              </a:rPr>
              <a:t>to</a:t>
            </a:r>
            <a:r>
              <a:rPr dirty="0" sz="1000" spc="-65" i="1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000" spc="-75" i="1">
                <a:solidFill>
                  <a:srgbClr val="013247"/>
                </a:solidFill>
                <a:latin typeface="Verdana"/>
                <a:cs typeface="Verdana"/>
              </a:rPr>
              <a:t>revenue</a:t>
            </a:r>
            <a:r>
              <a:rPr dirty="0" sz="1000" spc="-60" i="1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000" spc="-45" i="1">
                <a:solidFill>
                  <a:srgbClr val="013247"/>
                </a:solidFill>
                <a:latin typeface="Verdana"/>
                <a:cs typeface="Verdana"/>
              </a:rPr>
              <a:t>relationship</a:t>
            </a:r>
            <a:r>
              <a:rPr dirty="0" sz="1000" spc="-65" i="1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000" spc="-70" i="1">
                <a:solidFill>
                  <a:srgbClr val="013247"/>
                </a:solidFill>
                <a:latin typeface="Verdana"/>
                <a:cs typeface="Verdana"/>
              </a:rPr>
              <a:t>may</a:t>
            </a:r>
            <a:r>
              <a:rPr dirty="0" sz="1000" spc="-65" i="1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000" spc="-45" i="1">
                <a:solidFill>
                  <a:srgbClr val="013247"/>
                </a:solidFill>
                <a:latin typeface="Verdana"/>
                <a:cs typeface="Verdana"/>
              </a:rPr>
              <a:t>change</a:t>
            </a:r>
            <a:r>
              <a:rPr dirty="0" sz="1000" spc="-60" i="1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000" spc="-45" i="1">
                <a:solidFill>
                  <a:srgbClr val="013247"/>
                </a:solidFill>
                <a:latin typeface="Verdana"/>
                <a:cs typeface="Verdana"/>
              </a:rPr>
              <a:t>as</a:t>
            </a:r>
            <a:r>
              <a:rPr dirty="0" sz="1000" spc="-65" i="1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000" spc="-75" i="1">
                <a:solidFill>
                  <a:srgbClr val="013247"/>
                </a:solidFill>
                <a:latin typeface="Verdana"/>
                <a:cs typeface="Verdana"/>
              </a:rPr>
              <a:t>we</a:t>
            </a:r>
            <a:r>
              <a:rPr dirty="0" sz="1000" spc="-60" i="1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000" spc="-75" i="1">
                <a:solidFill>
                  <a:srgbClr val="013247"/>
                </a:solidFill>
                <a:latin typeface="Verdana"/>
                <a:cs typeface="Verdana"/>
              </a:rPr>
              <a:t>evolve</a:t>
            </a:r>
            <a:r>
              <a:rPr dirty="0" sz="1000" spc="-65" i="1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000" spc="-50" i="1">
                <a:solidFill>
                  <a:srgbClr val="013247"/>
                </a:solidFill>
                <a:latin typeface="Verdana"/>
                <a:cs typeface="Verdana"/>
              </a:rPr>
              <a:t>our</a:t>
            </a:r>
            <a:r>
              <a:rPr dirty="0" sz="1000" spc="-65" i="1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000" spc="-60" i="1">
                <a:solidFill>
                  <a:srgbClr val="013247"/>
                </a:solidFill>
                <a:latin typeface="Verdana"/>
                <a:cs typeface="Verdana"/>
              </a:rPr>
              <a:t>business </a:t>
            </a:r>
            <a:r>
              <a:rPr dirty="0" sz="1000" spc="-40" i="1">
                <a:solidFill>
                  <a:srgbClr val="013247"/>
                </a:solidFill>
                <a:latin typeface="Verdana"/>
                <a:cs typeface="Verdana"/>
              </a:rPr>
              <a:t>model</a:t>
            </a:r>
            <a:r>
              <a:rPr dirty="0" sz="1000" spc="-65" i="1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000" spc="-40" i="1">
                <a:solidFill>
                  <a:srgbClr val="013247"/>
                </a:solidFill>
                <a:latin typeface="Verdana"/>
                <a:cs typeface="Verdana"/>
              </a:rPr>
              <a:t>to</a:t>
            </a:r>
            <a:r>
              <a:rPr dirty="0" sz="1000" spc="-65" i="1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000" spc="-45" i="1">
                <a:solidFill>
                  <a:srgbClr val="013247"/>
                </a:solidFill>
                <a:latin typeface="Verdana"/>
                <a:cs typeface="Verdana"/>
              </a:rPr>
              <a:t>incorporate</a:t>
            </a:r>
            <a:r>
              <a:rPr dirty="0" sz="1000" spc="-60" i="1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000" spc="-55" i="1">
                <a:solidFill>
                  <a:srgbClr val="013247"/>
                </a:solidFill>
                <a:latin typeface="Verdana"/>
                <a:cs typeface="Verdana"/>
              </a:rPr>
              <a:t>more</a:t>
            </a:r>
            <a:r>
              <a:rPr dirty="0" sz="1000" spc="-65" i="1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000" spc="-45" i="1">
                <a:solidFill>
                  <a:srgbClr val="013247"/>
                </a:solidFill>
                <a:latin typeface="Verdana"/>
                <a:cs typeface="Verdana"/>
              </a:rPr>
              <a:t>consumption</a:t>
            </a:r>
            <a:r>
              <a:rPr dirty="0" sz="1000" spc="-60" i="1">
                <a:solidFill>
                  <a:srgbClr val="013247"/>
                </a:solidFill>
                <a:latin typeface="Verdana"/>
                <a:cs typeface="Verdana"/>
              </a:rPr>
              <a:t> </a:t>
            </a:r>
            <a:r>
              <a:rPr dirty="0" sz="1000" spc="-35" i="1">
                <a:solidFill>
                  <a:srgbClr val="013247"/>
                </a:solidFill>
                <a:latin typeface="Verdana"/>
                <a:cs typeface="Verdana"/>
              </a:rPr>
              <a:t>revenue.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2" name="object 2"/>
          <p:cNvSpPr/>
          <p:nvPr/>
        </p:nvSpPr>
        <p:spPr>
          <a:xfrm>
            <a:off x="0" y="6449186"/>
            <a:ext cx="12192000" cy="408940"/>
          </a:xfrm>
          <a:custGeom>
            <a:avLst/>
            <a:gdLst/>
            <a:ahLst/>
            <a:cxnLst/>
            <a:rect l="l" t="t" r="r" b="b"/>
            <a:pathLst>
              <a:path w="12192000" h="408940">
                <a:moveTo>
                  <a:pt x="0" y="408813"/>
                </a:moveTo>
                <a:lnTo>
                  <a:pt x="12192000" y="408813"/>
                </a:lnTo>
                <a:lnTo>
                  <a:pt x="12192000" y="0"/>
                </a:lnTo>
                <a:lnTo>
                  <a:pt x="0" y="0"/>
                </a:lnTo>
                <a:lnTo>
                  <a:pt x="0" y="408813"/>
                </a:lnTo>
                <a:close/>
              </a:path>
            </a:pathLst>
          </a:custGeom>
          <a:solidFill>
            <a:srgbClr val="CEE9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0" y="5943600"/>
            <a:ext cx="12192000" cy="506095"/>
          </a:xfrm>
          <a:custGeom>
            <a:avLst/>
            <a:gdLst/>
            <a:ahLst/>
            <a:cxnLst/>
            <a:rect l="l" t="t" r="r" b="b"/>
            <a:pathLst>
              <a:path w="12192000" h="506095">
                <a:moveTo>
                  <a:pt x="12191999" y="505587"/>
                </a:moveTo>
                <a:lnTo>
                  <a:pt x="12192000" y="0"/>
                </a:lnTo>
                <a:lnTo>
                  <a:pt x="0" y="0"/>
                </a:lnTo>
                <a:lnTo>
                  <a:pt x="0" y="505587"/>
                </a:lnTo>
                <a:lnTo>
                  <a:pt x="12191999" y="505587"/>
                </a:lnTo>
                <a:close/>
              </a:path>
            </a:pathLst>
          </a:custGeom>
          <a:solidFill>
            <a:srgbClr val="012A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335405" y="6009894"/>
            <a:ext cx="93478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45" b="1">
                <a:solidFill>
                  <a:srgbClr val="FFFFFF"/>
                </a:solidFill>
                <a:latin typeface="Arial"/>
                <a:cs typeface="Arial"/>
              </a:rPr>
              <a:t>Strong</a:t>
            </a:r>
            <a:r>
              <a:rPr dirty="0" sz="18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55" b="1">
                <a:solidFill>
                  <a:srgbClr val="FFFFFF"/>
                </a:solidFill>
                <a:latin typeface="Arial"/>
                <a:cs typeface="Arial"/>
              </a:rPr>
              <a:t>Q2</a:t>
            </a:r>
            <a:r>
              <a:rPr dirty="0" sz="18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80" b="1">
                <a:solidFill>
                  <a:srgbClr val="FFFFFF"/>
                </a:solidFill>
                <a:latin typeface="Arial"/>
                <a:cs typeface="Arial"/>
              </a:rPr>
              <a:t>results</a:t>
            </a:r>
            <a:r>
              <a:rPr dirty="0" sz="18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Arial"/>
                <a:cs typeface="Arial"/>
              </a:rPr>
              <a:t>across</a:t>
            </a:r>
            <a:r>
              <a:rPr dirty="0" sz="18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75" b="1">
                <a:solidFill>
                  <a:srgbClr val="FFFFFF"/>
                </a:solidFill>
                <a:latin typeface="Arial"/>
                <a:cs typeface="Arial"/>
              </a:rPr>
              <a:t>RPO,</a:t>
            </a:r>
            <a:r>
              <a:rPr dirty="0" sz="18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0" b="1">
                <a:solidFill>
                  <a:srgbClr val="FFFFFF"/>
                </a:solidFill>
                <a:latin typeface="Arial"/>
                <a:cs typeface="Arial"/>
              </a:rPr>
              <a:t>cRPO,</a:t>
            </a:r>
            <a:r>
              <a:rPr dirty="0" sz="18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80" b="1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8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cash</a:t>
            </a:r>
            <a:r>
              <a:rPr dirty="0" sz="18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flow,</a:t>
            </a:r>
            <a:r>
              <a:rPr dirty="0" sz="18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with</a:t>
            </a:r>
            <a:r>
              <a:rPr dirty="0" sz="18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5" b="1">
                <a:solidFill>
                  <a:srgbClr val="FFFFFF"/>
                </a:solidFill>
                <a:latin typeface="Arial"/>
                <a:cs typeface="Arial"/>
              </a:rPr>
              <a:t>cRPO</a:t>
            </a:r>
            <a:r>
              <a:rPr dirty="0" sz="18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100" b="1">
                <a:solidFill>
                  <a:srgbClr val="FFFFFF"/>
                </a:solidFill>
                <a:latin typeface="Arial"/>
                <a:cs typeface="Arial"/>
              </a:rPr>
              <a:t>CC</a:t>
            </a:r>
            <a:r>
              <a:rPr dirty="0" sz="18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growth</a:t>
            </a:r>
            <a:r>
              <a:rPr dirty="0" sz="18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up</a:t>
            </a:r>
            <a:r>
              <a:rPr dirty="0" sz="18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1pt</a:t>
            </a:r>
            <a:r>
              <a:rPr dirty="0" sz="18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155" b="1">
                <a:solidFill>
                  <a:srgbClr val="FFFFFF"/>
                </a:solidFill>
                <a:latin typeface="Arial"/>
                <a:cs typeface="Arial"/>
              </a:rPr>
              <a:t>Q/Q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22225">
              <a:lnSpc>
                <a:spcPct val="100000"/>
              </a:lnSpc>
              <a:spcBef>
                <a:spcPts val="90"/>
              </a:spcBef>
            </a:pPr>
            <a:fld id="{81D60167-4931-47E6-BA6A-407CBD079E47}" type="slidenum">
              <a:rPr dirty="0" spc="-25"/>
              <a:t>22</a:t>
            </a:fld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0" y="0"/>
            <a:ext cx="12192000" cy="5943600"/>
            <a:chOff x="0" y="0"/>
            <a:chExt cx="12192000" cy="594360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12192000" cy="5943600"/>
            </a:xfrm>
            <a:custGeom>
              <a:avLst/>
              <a:gdLst/>
              <a:ahLst/>
              <a:cxnLst/>
              <a:rect l="l" t="t" r="r" b="b"/>
              <a:pathLst>
                <a:path w="12192000" h="5943600">
                  <a:moveTo>
                    <a:pt x="0" y="5943600"/>
                  </a:moveTo>
                  <a:lnTo>
                    <a:pt x="12192000" y="5943600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5943600"/>
                  </a:lnTo>
                  <a:close/>
                </a:path>
              </a:pathLst>
            </a:custGeom>
            <a:solidFill>
              <a:srgbClr val="CEE9F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571500" y="1341246"/>
              <a:ext cx="11049000" cy="4192904"/>
            </a:xfrm>
            <a:custGeom>
              <a:avLst/>
              <a:gdLst/>
              <a:ahLst/>
              <a:cxnLst/>
              <a:rect l="l" t="t" r="r" b="b"/>
              <a:pathLst>
                <a:path w="11049000" h="4192904">
                  <a:moveTo>
                    <a:pt x="10858754" y="0"/>
                  </a:moveTo>
                  <a:lnTo>
                    <a:pt x="190245" y="0"/>
                  </a:lnTo>
                  <a:lnTo>
                    <a:pt x="146637" y="5026"/>
                  </a:lnTo>
                  <a:lnTo>
                    <a:pt x="106598" y="19344"/>
                  </a:lnTo>
                  <a:lnTo>
                    <a:pt x="71274" y="41807"/>
                  </a:lnTo>
                  <a:lnTo>
                    <a:pt x="41807" y="71274"/>
                  </a:lnTo>
                  <a:lnTo>
                    <a:pt x="19343" y="106598"/>
                  </a:lnTo>
                  <a:lnTo>
                    <a:pt x="5026" y="146637"/>
                  </a:lnTo>
                  <a:lnTo>
                    <a:pt x="0" y="190246"/>
                  </a:lnTo>
                  <a:lnTo>
                    <a:pt x="0" y="4002278"/>
                  </a:lnTo>
                  <a:lnTo>
                    <a:pt x="5026" y="4045886"/>
                  </a:lnTo>
                  <a:lnTo>
                    <a:pt x="19343" y="4085925"/>
                  </a:lnTo>
                  <a:lnTo>
                    <a:pt x="41807" y="4121250"/>
                  </a:lnTo>
                  <a:lnTo>
                    <a:pt x="71274" y="4150716"/>
                  </a:lnTo>
                  <a:lnTo>
                    <a:pt x="106598" y="4173180"/>
                  </a:lnTo>
                  <a:lnTo>
                    <a:pt x="146637" y="4187497"/>
                  </a:lnTo>
                  <a:lnTo>
                    <a:pt x="190245" y="4192524"/>
                  </a:lnTo>
                  <a:lnTo>
                    <a:pt x="10858754" y="4192524"/>
                  </a:lnTo>
                  <a:lnTo>
                    <a:pt x="10902362" y="4187497"/>
                  </a:lnTo>
                  <a:lnTo>
                    <a:pt x="10942401" y="4173180"/>
                  </a:lnTo>
                  <a:lnTo>
                    <a:pt x="10977725" y="4150716"/>
                  </a:lnTo>
                  <a:lnTo>
                    <a:pt x="11007192" y="4121250"/>
                  </a:lnTo>
                  <a:lnTo>
                    <a:pt x="11029655" y="4085925"/>
                  </a:lnTo>
                  <a:lnTo>
                    <a:pt x="11043973" y="4045886"/>
                  </a:lnTo>
                  <a:lnTo>
                    <a:pt x="11049000" y="4002278"/>
                  </a:lnTo>
                  <a:lnTo>
                    <a:pt x="11049000" y="190246"/>
                  </a:lnTo>
                  <a:lnTo>
                    <a:pt x="11043973" y="146637"/>
                  </a:lnTo>
                  <a:lnTo>
                    <a:pt x="11029655" y="106598"/>
                  </a:lnTo>
                  <a:lnTo>
                    <a:pt x="11007192" y="71274"/>
                  </a:lnTo>
                  <a:lnTo>
                    <a:pt x="10977725" y="41807"/>
                  </a:lnTo>
                  <a:lnTo>
                    <a:pt x="10942401" y="19344"/>
                  </a:lnTo>
                  <a:lnTo>
                    <a:pt x="10902362" y="5026"/>
                  </a:lnTo>
                  <a:lnTo>
                    <a:pt x="10858754" y="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033252" y="565404"/>
              <a:ext cx="635634" cy="445008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3952" rIns="0" bIns="0" rtlCol="0" vert="horz">
            <a:spAutoFit/>
          </a:bodyPr>
          <a:lstStyle/>
          <a:p>
            <a:pPr marL="6604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22C60"/>
                </a:solidFill>
              </a:rPr>
              <a:t>Returned</a:t>
            </a:r>
            <a:r>
              <a:rPr dirty="0" spc="5">
                <a:solidFill>
                  <a:srgbClr val="022C60"/>
                </a:solidFill>
              </a:rPr>
              <a:t> </a:t>
            </a:r>
            <a:r>
              <a:rPr dirty="0"/>
              <a:t>)27.9B</a:t>
            </a:r>
            <a:r>
              <a:rPr dirty="0" spc="5"/>
              <a:t> </a:t>
            </a:r>
            <a:r>
              <a:rPr dirty="0" spc="100"/>
              <a:t>Capital</a:t>
            </a:r>
            <a:r>
              <a:rPr dirty="0" spc="5"/>
              <a:t> </a:t>
            </a:r>
            <a:r>
              <a:rPr dirty="0" spc="110">
                <a:solidFill>
                  <a:srgbClr val="001E5A"/>
                </a:solidFill>
              </a:rPr>
              <a:t>Q2</a:t>
            </a:r>
            <a:r>
              <a:rPr dirty="0" spc="10">
                <a:solidFill>
                  <a:srgbClr val="001E5A"/>
                </a:solidFill>
              </a:rPr>
              <a:t> </a:t>
            </a:r>
            <a:r>
              <a:rPr dirty="0" spc="-140">
                <a:solidFill>
                  <a:srgbClr val="001E5A"/>
                </a:solidFill>
              </a:rPr>
              <a:t>FY27</a:t>
            </a:r>
            <a:r>
              <a:rPr dirty="0" spc="5">
                <a:solidFill>
                  <a:srgbClr val="001E5A"/>
                </a:solidFill>
              </a:rPr>
              <a:t> </a:t>
            </a:r>
            <a:r>
              <a:rPr dirty="0" spc="-355">
                <a:solidFill>
                  <a:srgbClr val="001E5A"/>
                </a:solidFill>
              </a:rPr>
              <a:t>YTD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912113" y="1544573"/>
            <a:ext cx="15938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50" b="1">
                <a:solidFill>
                  <a:srgbClr val="012ABF"/>
                </a:solidFill>
                <a:latin typeface="Arial"/>
                <a:cs typeface="Arial"/>
              </a:rPr>
              <a:t>Capital</a:t>
            </a:r>
            <a:r>
              <a:rPr dirty="0" sz="1800" b="1">
                <a:solidFill>
                  <a:srgbClr val="012ABF"/>
                </a:solidFill>
                <a:latin typeface="Arial"/>
                <a:cs typeface="Arial"/>
              </a:rPr>
              <a:t> </a:t>
            </a:r>
            <a:r>
              <a:rPr dirty="0" sz="1800" spc="-50" b="1">
                <a:solidFill>
                  <a:srgbClr val="012ABF"/>
                </a:solidFill>
                <a:latin typeface="Arial"/>
                <a:cs typeface="Arial"/>
              </a:rPr>
              <a:t>Return</a:t>
            </a:r>
            <a:endParaRPr sz="18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232268" y="1461516"/>
            <a:ext cx="1168400" cy="367665"/>
          </a:xfrm>
          <a:prstGeom prst="rect">
            <a:avLst/>
          </a:prstGeom>
        </p:spPr>
        <p:txBody>
          <a:bodyPr wrap="square" lIns="0" tIns="46355" rIns="0" bIns="0" rtlCol="0" vert="horz">
            <a:spAutoFit/>
          </a:bodyPr>
          <a:lstStyle/>
          <a:p>
            <a:pPr marL="147955" indent="-135255">
              <a:lnSpc>
                <a:spcPct val="100000"/>
              </a:lnSpc>
              <a:spcBef>
                <a:spcPts val="365"/>
              </a:spcBef>
              <a:buClr>
                <a:srgbClr val="00B2FF"/>
              </a:buClr>
              <a:buFont typeface="Segoe UI Symbol"/>
              <a:buChar char="●"/>
              <a:tabLst>
                <a:tab pos="147955" algn="l"/>
              </a:tabLst>
            </a:pPr>
            <a:r>
              <a:rPr dirty="0" sz="900" spc="-10">
                <a:solidFill>
                  <a:srgbClr val="434343"/>
                </a:solidFill>
                <a:latin typeface="Verdana"/>
                <a:cs typeface="Verdana"/>
              </a:rPr>
              <a:t>Dividends</a:t>
            </a:r>
            <a:endParaRPr sz="900">
              <a:latin typeface="Verdana"/>
              <a:cs typeface="Verdana"/>
            </a:endParaRPr>
          </a:p>
          <a:p>
            <a:pPr marL="147955" indent="-135255">
              <a:lnSpc>
                <a:spcPct val="100000"/>
              </a:lnSpc>
              <a:spcBef>
                <a:spcPts val="270"/>
              </a:spcBef>
              <a:buClr>
                <a:srgbClr val="012ABF"/>
              </a:buClr>
              <a:buFont typeface="Segoe UI Symbol"/>
              <a:buChar char="●"/>
              <a:tabLst>
                <a:tab pos="147955" algn="l"/>
              </a:tabLst>
            </a:pPr>
            <a:r>
              <a:rPr dirty="0" sz="900" spc="-65">
                <a:solidFill>
                  <a:srgbClr val="434343"/>
                </a:solidFill>
                <a:latin typeface="Verdana"/>
                <a:cs typeface="Verdana"/>
              </a:rPr>
              <a:t>Share</a:t>
            </a:r>
            <a:r>
              <a:rPr dirty="0" sz="900" spc="-40">
                <a:solidFill>
                  <a:srgbClr val="434343"/>
                </a:solidFill>
                <a:latin typeface="Verdana"/>
                <a:cs typeface="Verdana"/>
              </a:rPr>
              <a:t> Repurchases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116217" y="1918775"/>
            <a:ext cx="57721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solidFill>
                  <a:srgbClr val="585858"/>
                </a:solidFill>
                <a:latin typeface="Arial"/>
                <a:cs typeface="Arial"/>
              </a:rPr>
              <a:t>)27.5B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939656" y="1557908"/>
            <a:ext cx="0" cy="3809365"/>
          </a:xfrm>
          <a:custGeom>
            <a:avLst/>
            <a:gdLst/>
            <a:ahLst/>
            <a:cxnLst/>
            <a:rect l="l" t="t" r="r" b="b"/>
            <a:pathLst>
              <a:path w="0" h="3809365">
                <a:moveTo>
                  <a:pt x="0" y="0"/>
                </a:moveTo>
                <a:lnTo>
                  <a:pt x="0" y="3809111"/>
                </a:lnTo>
              </a:path>
            </a:pathLst>
          </a:custGeom>
          <a:ln w="9525">
            <a:solidFill>
              <a:srgbClr val="666666"/>
            </a:solidFill>
            <a:prstDash val="dot"/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9106534" y="1492195"/>
            <a:ext cx="2249805" cy="1175385"/>
          </a:xfrm>
          <a:prstGeom prst="rect">
            <a:avLst/>
          </a:prstGeom>
        </p:spPr>
        <p:txBody>
          <a:bodyPr wrap="square" lIns="0" tIns="8636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680"/>
              </a:spcBef>
            </a:pPr>
            <a:r>
              <a:rPr dirty="0" sz="2600" spc="-10" b="1">
                <a:solidFill>
                  <a:srgbClr val="012ABF"/>
                </a:solidFill>
                <a:latin typeface="Arial"/>
                <a:cs typeface="Arial"/>
              </a:rPr>
              <a:t>)59.3B</a:t>
            </a:r>
            <a:endParaRPr sz="2600">
              <a:latin typeface="Arial"/>
              <a:cs typeface="Arial"/>
            </a:endParaRPr>
          </a:p>
          <a:p>
            <a:pPr algn="ctr" marL="12700" marR="5080">
              <a:lnSpc>
                <a:spcPct val="100000"/>
              </a:lnSpc>
              <a:spcBef>
                <a:spcPts val="310"/>
              </a:spcBef>
            </a:pPr>
            <a:r>
              <a:rPr dirty="0" sz="1400" spc="75">
                <a:solidFill>
                  <a:srgbClr val="022C5F"/>
                </a:solidFill>
                <a:latin typeface="Arial MT"/>
                <a:cs typeface="Arial MT"/>
              </a:rPr>
              <a:t>Cumulative</a:t>
            </a:r>
            <a:r>
              <a:rPr dirty="0" sz="1400" spc="40">
                <a:solidFill>
                  <a:srgbClr val="022C5F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022C5F"/>
                </a:solidFill>
                <a:latin typeface="Arial MT"/>
                <a:cs typeface="Arial MT"/>
              </a:rPr>
              <a:t>Repurchases </a:t>
            </a:r>
            <a:r>
              <a:rPr dirty="0" sz="1400">
                <a:solidFill>
                  <a:srgbClr val="022C5F"/>
                </a:solidFill>
                <a:latin typeface="Arial MT"/>
                <a:cs typeface="Arial MT"/>
              </a:rPr>
              <a:t>Since</a:t>
            </a:r>
            <a:r>
              <a:rPr dirty="0" sz="1400" spc="80">
                <a:solidFill>
                  <a:srgbClr val="022C5F"/>
                </a:solidFill>
                <a:latin typeface="Arial MT"/>
                <a:cs typeface="Arial MT"/>
              </a:rPr>
              <a:t> </a:t>
            </a:r>
            <a:r>
              <a:rPr dirty="0" sz="1400" spc="75">
                <a:solidFill>
                  <a:srgbClr val="022C5F"/>
                </a:solidFill>
                <a:latin typeface="Arial MT"/>
                <a:cs typeface="Arial MT"/>
              </a:rPr>
              <a:t>Inception,</a:t>
            </a:r>
            <a:r>
              <a:rPr dirty="0" sz="1400" spc="70">
                <a:solidFill>
                  <a:srgbClr val="022C5F"/>
                </a:solidFill>
                <a:latin typeface="Arial MT"/>
                <a:cs typeface="Arial MT"/>
              </a:rPr>
              <a:t> </a:t>
            </a:r>
            <a:r>
              <a:rPr dirty="0" sz="1400" spc="55">
                <a:solidFill>
                  <a:srgbClr val="022C5F"/>
                </a:solidFill>
                <a:latin typeface="Arial MT"/>
                <a:cs typeface="Arial MT"/>
              </a:rPr>
              <a:t>Including</a:t>
            </a:r>
            <a:endParaRPr sz="14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dirty="0" sz="1400" spc="-20">
                <a:solidFill>
                  <a:srgbClr val="022C5F"/>
                </a:solidFill>
                <a:latin typeface="Arial MT"/>
                <a:cs typeface="Arial MT"/>
              </a:rPr>
              <a:t>$25B</a:t>
            </a:r>
            <a:r>
              <a:rPr dirty="0" sz="1400" spc="-70">
                <a:solidFill>
                  <a:srgbClr val="022C5F"/>
                </a:solidFill>
                <a:latin typeface="Arial MT"/>
                <a:cs typeface="Arial MT"/>
              </a:rPr>
              <a:t> </a:t>
            </a:r>
            <a:r>
              <a:rPr dirty="0" sz="1400" spc="-25">
                <a:solidFill>
                  <a:srgbClr val="022C5F"/>
                </a:solidFill>
                <a:latin typeface="Arial MT"/>
                <a:cs typeface="Arial MT"/>
              </a:rPr>
              <a:t>ASR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939783" y="2736088"/>
            <a:ext cx="2363470" cy="0"/>
          </a:xfrm>
          <a:custGeom>
            <a:avLst/>
            <a:gdLst/>
            <a:ahLst/>
            <a:cxnLst/>
            <a:rect l="l" t="t" r="r" b="b"/>
            <a:pathLst>
              <a:path w="2363470" h="0">
                <a:moveTo>
                  <a:pt x="2363089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666666"/>
            </a:solidFill>
            <a:prstDash val="dot"/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9132316" y="2694885"/>
            <a:ext cx="2199005" cy="1175385"/>
          </a:xfrm>
          <a:prstGeom prst="rect">
            <a:avLst/>
          </a:prstGeom>
        </p:spPr>
        <p:txBody>
          <a:bodyPr wrap="square" lIns="0" tIns="8636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680"/>
              </a:spcBef>
            </a:pPr>
            <a:r>
              <a:rPr dirty="0" sz="2600" spc="-10" b="1">
                <a:solidFill>
                  <a:srgbClr val="012ABF"/>
                </a:solidFill>
                <a:latin typeface="Arial"/>
                <a:cs typeface="Arial"/>
              </a:rPr>
              <a:t>)3.9B</a:t>
            </a:r>
            <a:endParaRPr sz="2600">
              <a:latin typeface="Arial"/>
              <a:cs typeface="Arial"/>
            </a:endParaRPr>
          </a:p>
          <a:p>
            <a:pPr algn="ctr" marL="12700" marR="5080" indent="-635">
              <a:lnSpc>
                <a:spcPct val="100000"/>
              </a:lnSpc>
              <a:spcBef>
                <a:spcPts val="310"/>
              </a:spcBef>
            </a:pPr>
            <a:r>
              <a:rPr dirty="0" sz="1400" spc="75">
                <a:solidFill>
                  <a:srgbClr val="022C5F"/>
                </a:solidFill>
                <a:latin typeface="Arial MT"/>
                <a:cs typeface="Arial MT"/>
              </a:rPr>
              <a:t>Cumulative</a:t>
            </a:r>
            <a:r>
              <a:rPr dirty="0" sz="1400" spc="40">
                <a:solidFill>
                  <a:srgbClr val="022C5F"/>
                </a:solidFill>
                <a:latin typeface="Arial MT"/>
                <a:cs typeface="Arial MT"/>
              </a:rPr>
              <a:t> </a:t>
            </a:r>
            <a:r>
              <a:rPr dirty="0" sz="1400" spc="45">
                <a:solidFill>
                  <a:srgbClr val="022C5F"/>
                </a:solidFill>
                <a:latin typeface="Arial MT"/>
                <a:cs typeface="Arial MT"/>
              </a:rPr>
              <a:t>Quarterly </a:t>
            </a:r>
            <a:r>
              <a:rPr dirty="0" sz="1400" spc="70">
                <a:solidFill>
                  <a:srgbClr val="022C5F"/>
                </a:solidFill>
                <a:latin typeface="Arial MT"/>
                <a:cs typeface="Arial MT"/>
              </a:rPr>
              <a:t>Dividend</a:t>
            </a:r>
            <a:r>
              <a:rPr dirty="0" sz="1400" spc="20">
                <a:solidFill>
                  <a:srgbClr val="022C5F"/>
                </a:solidFill>
                <a:latin typeface="Arial MT"/>
                <a:cs typeface="Arial MT"/>
              </a:rPr>
              <a:t> </a:t>
            </a:r>
            <a:r>
              <a:rPr dirty="0" sz="1400" spc="45">
                <a:solidFill>
                  <a:srgbClr val="022C5F"/>
                </a:solidFill>
                <a:latin typeface="Arial MT"/>
                <a:cs typeface="Arial MT"/>
              </a:rPr>
              <a:t>Payments</a:t>
            </a:r>
            <a:r>
              <a:rPr dirty="0" sz="1400" spc="25">
                <a:solidFill>
                  <a:srgbClr val="022C5F"/>
                </a:solidFill>
                <a:latin typeface="Arial MT"/>
                <a:cs typeface="Arial MT"/>
              </a:rPr>
              <a:t> </a:t>
            </a:r>
            <a:r>
              <a:rPr dirty="0" sz="1400" spc="-20">
                <a:solidFill>
                  <a:srgbClr val="022C5F"/>
                </a:solidFill>
                <a:latin typeface="Arial MT"/>
                <a:cs typeface="Arial MT"/>
              </a:rPr>
              <a:t>Since </a:t>
            </a:r>
            <a:r>
              <a:rPr dirty="0" sz="1400" spc="75">
                <a:solidFill>
                  <a:srgbClr val="022C5F"/>
                </a:solidFill>
                <a:latin typeface="Arial MT"/>
                <a:cs typeface="Arial MT"/>
              </a:rPr>
              <a:t>Inception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84767" y="3899099"/>
            <a:ext cx="2093595" cy="1379220"/>
          </a:xfrm>
          <a:prstGeom prst="rect">
            <a:avLst/>
          </a:prstGeom>
        </p:spPr>
        <p:txBody>
          <a:bodyPr wrap="square" lIns="0" tIns="8636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680"/>
              </a:spcBef>
            </a:pPr>
            <a:r>
              <a:rPr dirty="0" sz="2600" b="1">
                <a:solidFill>
                  <a:srgbClr val="012ABF"/>
                </a:solidFill>
                <a:latin typeface="Arial"/>
                <a:cs typeface="Arial"/>
              </a:rPr>
              <a:t>(15)%</a:t>
            </a:r>
            <a:r>
              <a:rPr dirty="0" sz="2600" spc="150" b="1">
                <a:solidFill>
                  <a:srgbClr val="012ABF"/>
                </a:solidFill>
                <a:latin typeface="Arial"/>
                <a:cs typeface="Arial"/>
              </a:rPr>
              <a:t> </a:t>
            </a:r>
            <a:r>
              <a:rPr dirty="0" sz="2600" spc="35" b="1">
                <a:solidFill>
                  <a:srgbClr val="012ABF"/>
                </a:solidFill>
                <a:latin typeface="Arial"/>
                <a:cs typeface="Arial"/>
              </a:rPr>
              <a:t>Y/Y</a:t>
            </a:r>
            <a:endParaRPr sz="2600">
              <a:latin typeface="Arial"/>
              <a:cs typeface="Arial"/>
            </a:endParaRPr>
          </a:p>
          <a:p>
            <a:pPr algn="ctr" marL="12700" marR="5080" indent="-635">
              <a:lnSpc>
                <a:spcPts val="1460"/>
              </a:lnSpc>
              <a:spcBef>
                <a:spcPts val="540"/>
              </a:spcBef>
            </a:pPr>
            <a:r>
              <a:rPr dirty="0" sz="1400" spc="65">
                <a:solidFill>
                  <a:srgbClr val="022C5F"/>
                </a:solidFill>
                <a:latin typeface="Arial MT"/>
                <a:cs typeface="Arial MT"/>
              </a:rPr>
              <a:t>Q2</a:t>
            </a:r>
            <a:r>
              <a:rPr dirty="0" sz="1400">
                <a:solidFill>
                  <a:srgbClr val="022C5F"/>
                </a:solidFill>
                <a:latin typeface="Arial MT"/>
                <a:cs typeface="Arial MT"/>
              </a:rPr>
              <a:t> </a:t>
            </a:r>
            <a:r>
              <a:rPr dirty="0" sz="1400" spc="-70">
                <a:solidFill>
                  <a:srgbClr val="022C5F"/>
                </a:solidFill>
                <a:latin typeface="Arial MT"/>
                <a:cs typeface="Arial MT"/>
              </a:rPr>
              <a:t>FY27</a:t>
            </a:r>
            <a:r>
              <a:rPr dirty="0" sz="1400">
                <a:solidFill>
                  <a:srgbClr val="022C5F"/>
                </a:solidFill>
                <a:latin typeface="Arial MT"/>
                <a:cs typeface="Arial MT"/>
              </a:rPr>
              <a:t> </a:t>
            </a:r>
            <a:r>
              <a:rPr dirty="0" sz="1400" spc="55">
                <a:solidFill>
                  <a:srgbClr val="022C5F"/>
                </a:solidFill>
                <a:latin typeface="Arial MT"/>
                <a:cs typeface="Arial MT"/>
              </a:rPr>
              <a:t>Diluted</a:t>
            </a:r>
            <a:r>
              <a:rPr dirty="0" sz="1400" spc="5">
                <a:solidFill>
                  <a:srgbClr val="022C5F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022C5F"/>
                </a:solidFill>
                <a:latin typeface="Arial MT"/>
                <a:cs typeface="Arial MT"/>
              </a:rPr>
              <a:t>Share </a:t>
            </a:r>
            <a:r>
              <a:rPr dirty="0" sz="1400" spc="95">
                <a:solidFill>
                  <a:srgbClr val="022C5F"/>
                </a:solidFill>
                <a:latin typeface="Arial MT"/>
                <a:cs typeface="Arial MT"/>
              </a:rPr>
              <a:t>Count</a:t>
            </a:r>
            <a:r>
              <a:rPr dirty="0" sz="1400" spc="75">
                <a:solidFill>
                  <a:srgbClr val="022C5F"/>
                </a:solidFill>
                <a:latin typeface="Arial MT"/>
                <a:cs typeface="Arial MT"/>
              </a:rPr>
              <a:t> </a:t>
            </a:r>
            <a:r>
              <a:rPr dirty="0" sz="1400" spc="90">
                <a:solidFill>
                  <a:srgbClr val="022C5F"/>
                </a:solidFill>
                <a:latin typeface="Arial MT"/>
                <a:cs typeface="Arial MT"/>
              </a:rPr>
              <a:t>Down</a:t>
            </a:r>
            <a:r>
              <a:rPr dirty="0" sz="1400" spc="75">
                <a:solidFill>
                  <a:srgbClr val="022C5F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22C5F"/>
                </a:solidFill>
                <a:latin typeface="Arial MT"/>
                <a:cs typeface="Arial MT"/>
              </a:rPr>
              <a:t>(141M)</a:t>
            </a:r>
            <a:r>
              <a:rPr dirty="0" sz="1400" spc="80">
                <a:solidFill>
                  <a:srgbClr val="022C5F"/>
                </a:solidFill>
                <a:latin typeface="Arial MT"/>
                <a:cs typeface="Arial MT"/>
              </a:rPr>
              <a:t> </a:t>
            </a:r>
            <a:r>
              <a:rPr dirty="0" sz="1400" spc="-25">
                <a:solidFill>
                  <a:srgbClr val="022C5F"/>
                </a:solidFill>
                <a:latin typeface="Arial MT"/>
                <a:cs typeface="Arial MT"/>
              </a:rPr>
              <a:t>Y/Y</a:t>
            </a:r>
            <a:endParaRPr sz="1400">
              <a:latin typeface="Arial MT"/>
              <a:cs typeface="Arial MT"/>
            </a:endParaRPr>
          </a:p>
          <a:p>
            <a:pPr algn="ctr" marL="82550" marR="75565">
              <a:lnSpc>
                <a:spcPts val="1460"/>
              </a:lnSpc>
              <a:spcBef>
                <a:spcPts val="595"/>
              </a:spcBef>
            </a:pPr>
            <a:r>
              <a:rPr dirty="0" sz="1400" b="1">
                <a:solidFill>
                  <a:srgbClr val="012ABF"/>
                </a:solidFill>
                <a:latin typeface="Arial"/>
                <a:cs typeface="Arial"/>
              </a:rPr>
              <a:t>Continued</a:t>
            </a:r>
            <a:r>
              <a:rPr dirty="0" sz="1400" spc="45" b="1">
                <a:solidFill>
                  <a:srgbClr val="012ABF"/>
                </a:solidFill>
                <a:latin typeface="Arial"/>
                <a:cs typeface="Arial"/>
              </a:rPr>
              <a:t> </a:t>
            </a:r>
            <a:r>
              <a:rPr dirty="0" sz="1400" spc="-30" b="1">
                <a:solidFill>
                  <a:srgbClr val="012ABF"/>
                </a:solidFill>
                <a:latin typeface="Arial"/>
                <a:cs typeface="Arial"/>
              </a:rPr>
              <a:t>Focus</a:t>
            </a:r>
            <a:r>
              <a:rPr dirty="0" sz="1400" spc="50" b="1">
                <a:solidFill>
                  <a:srgbClr val="012ABF"/>
                </a:solidFill>
                <a:latin typeface="Arial"/>
                <a:cs typeface="Arial"/>
              </a:rPr>
              <a:t> </a:t>
            </a:r>
            <a:r>
              <a:rPr dirty="0" sz="1400" spc="-25" b="1">
                <a:solidFill>
                  <a:srgbClr val="012ABF"/>
                </a:solidFill>
                <a:latin typeface="Arial"/>
                <a:cs typeface="Arial"/>
              </a:rPr>
              <a:t>on </a:t>
            </a:r>
            <a:r>
              <a:rPr dirty="0" sz="1400" b="1">
                <a:solidFill>
                  <a:srgbClr val="012ABF"/>
                </a:solidFill>
                <a:latin typeface="Arial"/>
                <a:cs typeface="Arial"/>
              </a:rPr>
              <a:t>Reducing Share </a:t>
            </a:r>
            <a:r>
              <a:rPr dirty="0" sz="1400" spc="-20" b="1">
                <a:solidFill>
                  <a:srgbClr val="012ABF"/>
                </a:solidFill>
                <a:latin typeface="Arial"/>
                <a:cs typeface="Arial"/>
              </a:rPr>
              <a:t>Count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/>
          <p:nvPr/>
        </p:nvSpPr>
        <p:spPr>
          <a:xfrm>
            <a:off x="0" y="6461886"/>
            <a:ext cx="12192000" cy="396240"/>
          </a:xfrm>
          <a:custGeom>
            <a:avLst/>
            <a:gdLst/>
            <a:ahLst/>
            <a:cxnLst/>
            <a:rect l="l" t="t" r="r" b="b"/>
            <a:pathLst>
              <a:path w="12192000" h="396240">
                <a:moveTo>
                  <a:pt x="0" y="396113"/>
                </a:moveTo>
                <a:lnTo>
                  <a:pt x="12192000" y="396113"/>
                </a:lnTo>
                <a:lnTo>
                  <a:pt x="12192000" y="0"/>
                </a:lnTo>
                <a:lnTo>
                  <a:pt x="0" y="0"/>
                </a:lnTo>
                <a:lnTo>
                  <a:pt x="0" y="396113"/>
                </a:lnTo>
                <a:close/>
              </a:path>
            </a:pathLst>
          </a:custGeom>
          <a:solidFill>
            <a:srgbClr val="CEE9FE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3" name="object 13"/>
          <p:cNvGrpSpPr/>
          <p:nvPr/>
        </p:nvGrpSpPr>
        <p:grpSpPr>
          <a:xfrm>
            <a:off x="0" y="2206921"/>
            <a:ext cx="12192000" cy="4255135"/>
            <a:chOff x="0" y="2206921"/>
            <a:chExt cx="12192000" cy="4255135"/>
          </a:xfrm>
        </p:grpSpPr>
        <p:sp>
          <p:nvSpPr>
            <p:cNvPr id="14" name="object 14"/>
            <p:cNvSpPr/>
            <p:nvPr/>
          </p:nvSpPr>
          <p:spPr>
            <a:xfrm>
              <a:off x="8939783" y="3971163"/>
              <a:ext cx="2363470" cy="0"/>
            </a:xfrm>
            <a:custGeom>
              <a:avLst/>
              <a:gdLst/>
              <a:ahLst/>
              <a:cxnLst/>
              <a:rect l="l" t="t" r="r" b="b"/>
              <a:pathLst>
                <a:path w="2363470" h="0">
                  <a:moveTo>
                    <a:pt x="2363089" y="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666666"/>
              </a:solidFill>
              <a:prstDash val="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010615" y="5209338"/>
              <a:ext cx="7729220" cy="0"/>
            </a:xfrm>
            <a:custGeom>
              <a:avLst/>
              <a:gdLst/>
              <a:ahLst/>
              <a:cxnLst/>
              <a:rect l="l" t="t" r="r" b="b"/>
              <a:pathLst>
                <a:path w="7729220" h="0">
                  <a:moveTo>
                    <a:pt x="0" y="0"/>
                  </a:moveTo>
                  <a:lnTo>
                    <a:pt x="7728915" y="0"/>
                  </a:lnTo>
                </a:path>
              </a:pathLst>
            </a:custGeom>
            <a:ln w="9546">
              <a:solidFill>
                <a:srgbClr val="8A8A8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412506" y="2254656"/>
              <a:ext cx="5379720" cy="2950210"/>
            </a:xfrm>
            <a:custGeom>
              <a:avLst/>
              <a:gdLst/>
              <a:ahLst/>
              <a:cxnLst/>
              <a:rect l="l" t="t" r="r" b="b"/>
              <a:pathLst>
                <a:path w="5379720" h="2950210">
                  <a:moveTo>
                    <a:pt x="741984" y="2711246"/>
                  </a:moveTo>
                  <a:lnTo>
                    <a:pt x="0" y="2711246"/>
                  </a:lnTo>
                  <a:lnTo>
                    <a:pt x="0" y="2949918"/>
                  </a:lnTo>
                  <a:lnTo>
                    <a:pt x="741984" y="2949918"/>
                  </a:lnTo>
                  <a:lnTo>
                    <a:pt x="741984" y="2711246"/>
                  </a:lnTo>
                  <a:close/>
                </a:path>
                <a:path w="5379720" h="2950210">
                  <a:moveTo>
                    <a:pt x="2287765" y="2539415"/>
                  </a:moveTo>
                  <a:lnTo>
                    <a:pt x="1545793" y="2539415"/>
                  </a:lnTo>
                  <a:lnTo>
                    <a:pt x="1545793" y="2949918"/>
                  </a:lnTo>
                  <a:lnTo>
                    <a:pt x="2287765" y="2949918"/>
                  </a:lnTo>
                  <a:lnTo>
                    <a:pt x="2287765" y="2539415"/>
                  </a:lnTo>
                  <a:close/>
                </a:path>
                <a:path w="5379720" h="2950210">
                  <a:moveTo>
                    <a:pt x="3833545" y="2520315"/>
                  </a:moveTo>
                  <a:lnTo>
                    <a:pt x="3091573" y="2520315"/>
                  </a:lnTo>
                  <a:lnTo>
                    <a:pt x="3091573" y="2949918"/>
                  </a:lnTo>
                  <a:lnTo>
                    <a:pt x="3833545" y="2949918"/>
                  </a:lnTo>
                  <a:lnTo>
                    <a:pt x="3833545" y="2520315"/>
                  </a:lnTo>
                  <a:close/>
                </a:path>
                <a:path w="5379720" h="2950210">
                  <a:moveTo>
                    <a:pt x="5379326" y="0"/>
                  </a:moveTo>
                  <a:lnTo>
                    <a:pt x="4637354" y="0"/>
                  </a:lnTo>
                  <a:lnTo>
                    <a:pt x="4637354" y="2949918"/>
                  </a:lnTo>
                  <a:lnTo>
                    <a:pt x="5379326" y="2949918"/>
                  </a:lnTo>
                  <a:lnTo>
                    <a:pt x="5379326" y="0"/>
                  </a:lnTo>
                  <a:close/>
                </a:path>
              </a:pathLst>
            </a:custGeom>
            <a:solidFill>
              <a:srgbClr val="0129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412506" y="2206929"/>
              <a:ext cx="6925309" cy="2997835"/>
            </a:xfrm>
            <a:custGeom>
              <a:avLst/>
              <a:gdLst/>
              <a:ahLst/>
              <a:cxnLst/>
              <a:rect l="l" t="t" r="r" b="b"/>
              <a:pathLst>
                <a:path w="6925309" h="2997835">
                  <a:moveTo>
                    <a:pt x="741984" y="2711246"/>
                  </a:moveTo>
                  <a:lnTo>
                    <a:pt x="0" y="2711246"/>
                  </a:lnTo>
                  <a:lnTo>
                    <a:pt x="0" y="2758973"/>
                  </a:lnTo>
                  <a:lnTo>
                    <a:pt x="741984" y="2758973"/>
                  </a:lnTo>
                  <a:lnTo>
                    <a:pt x="741984" y="2711246"/>
                  </a:lnTo>
                  <a:close/>
                </a:path>
                <a:path w="6925309" h="2997835">
                  <a:moveTo>
                    <a:pt x="2287765" y="2539403"/>
                  </a:moveTo>
                  <a:lnTo>
                    <a:pt x="1545793" y="2539403"/>
                  </a:lnTo>
                  <a:lnTo>
                    <a:pt x="1545793" y="2587142"/>
                  </a:lnTo>
                  <a:lnTo>
                    <a:pt x="2287765" y="2587142"/>
                  </a:lnTo>
                  <a:lnTo>
                    <a:pt x="2287765" y="2539403"/>
                  </a:lnTo>
                  <a:close/>
                </a:path>
                <a:path w="6925309" h="2997835">
                  <a:moveTo>
                    <a:pt x="3833545" y="2520315"/>
                  </a:moveTo>
                  <a:lnTo>
                    <a:pt x="3091573" y="2520315"/>
                  </a:lnTo>
                  <a:lnTo>
                    <a:pt x="3091573" y="2568041"/>
                  </a:lnTo>
                  <a:lnTo>
                    <a:pt x="3833545" y="2568041"/>
                  </a:lnTo>
                  <a:lnTo>
                    <a:pt x="3833545" y="2520315"/>
                  </a:lnTo>
                  <a:close/>
                </a:path>
                <a:path w="6925309" h="2997835">
                  <a:moveTo>
                    <a:pt x="5379326" y="0"/>
                  </a:moveTo>
                  <a:lnTo>
                    <a:pt x="4637354" y="0"/>
                  </a:lnTo>
                  <a:lnTo>
                    <a:pt x="4637354" y="47726"/>
                  </a:lnTo>
                  <a:lnTo>
                    <a:pt x="5379326" y="47726"/>
                  </a:lnTo>
                  <a:lnTo>
                    <a:pt x="5379326" y="0"/>
                  </a:lnTo>
                  <a:close/>
                </a:path>
                <a:path w="6925309" h="2997835">
                  <a:moveTo>
                    <a:pt x="6925119" y="2959455"/>
                  </a:moveTo>
                  <a:lnTo>
                    <a:pt x="6183134" y="2959455"/>
                  </a:lnTo>
                  <a:lnTo>
                    <a:pt x="6183134" y="2997644"/>
                  </a:lnTo>
                  <a:lnTo>
                    <a:pt x="6925119" y="2997644"/>
                  </a:lnTo>
                  <a:lnTo>
                    <a:pt x="6925119" y="2959455"/>
                  </a:lnTo>
                  <a:close/>
                </a:path>
              </a:pathLst>
            </a:custGeom>
            <a:solidFill>
              <a:srgbClr val="00B3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0" y="5943599"/>
              <a:ext cx="12192000" cy="518795"/>
            </a:xfrm>
            <a:custGeom>
              <a:avLst/>
              <a:gdLst/>
              <a:ahLst/>
              <a:cxnLst/>
              <a:rect l="l" t="t" r="r" b="b"/>
              <a:pathLst>
                <a:path w="12192000" h="518795">
                  <a:moveTo>
                    <a:pt x="12191999" y="518287"/>
                  </a:moveTo>
                  <a:lnTo>
                    <a:pt x="12192000" y="0"/>
                  </a:lnTo>
                  <a:lnTo>
                    <a:pt x="0" y="0"/>
                  </a:lnTo>
                  <a:lnTo>
                    <a:pt x="0" y="518287"/>
                  </a:lnTo>
                  <a:lnTo>
                    <a:pt x="12191999" y="518287"/>
                  </a:lnTo>
                  <a:close/>
                </a:path>
              </a:pathLst>
            </a:custGeom>
            <a:solidFill>
              <a:srgbClr val="012AB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3078274" y="4458180"/>
            <a:ext cx="47752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solidFill>
                  <a:srgbClr val="585858"/>
                </a:solidFill>
                <a:latin typeface="Arial"/>
                <a:cs typeface="Arial"/>
              </a:rPr>
              <a:t>)4.2B</a:t>
            </a:r>
            <a:endParaRPr sz="14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22151" y="4439087"/>
            <a:ext cx="47752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solidFill>
                  <a:srgbClr val="585858"/>
                </a:solidFill>
                <a:latin typeface="Arial"/>
                <a:cs typeface="Arial"/>
              </a:rPr>
              <a:t>)4.4B</a:t>
            </a:r>
            <a:endParaRPr sz="14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34397" y="4630020"/>
            <a:ext cx="47752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solidFill>
                  <a:srgbClr val="585858"/>
                </a:solidFill>
                <a:latin typeface="Arial"/>
                <a:cs typeface="Arial"/>
              </a:rPr>
              <a:t>)2.6B</a:t>
            </a:r>
            <a:endParaRPr sz="14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709906" y="4878232"/>
            <a:ext cx="47752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solidFill>
                  <a:srgbClr val="585858"/>
                </a:solidFill>
                <a:latin typeface="Arial"/>
                <a:cs typeface="Arial"/>
              </a:rPr>
              <a:t>)0.4B</a:t>
            </a:r>
            <a:endParaRPr sz="14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467686" y="5257164"/>
            <a:ext cx="62039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585858"/>
                </a:solidFill>
                <a:latin typeface="Arial"/>
                <a:cs typeface="Arial"/>
              </a:rPr>
              <a:t>Q2</a:t>
            </a:r>
            <a:r>
              <a:rPr dirty="0" sz="1200" spc="70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200" spc="-40" b="1">
                <a:solidFill>
                  <a:srgbClr val="585858"/>
                </a:solidFill>
                <a:latin typeface="Arial"/>
                <a:cs typeface="Arial"/>
              </a:rPr>
              <a:t>FY26</a:t>
            </a:r>
            <a:endParaRPr sz="12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011563" y="5257164"/>
            <a:ext cx="62039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585858"/>
                </a:solidFill>
                <a:latin typeface="Arial"/>
                <a:cs typeface="Arial"/>
              </a:rPr>
              <a:t>Q3</a:t>
            </a:r>
            <a:r>
              <a:rPr dirty="0" sz="1200" spc="70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200" spc="-40" b="1">
                <a:solidFill>
                  <a:srgbClr val="585858"/>
                </a:solidFill>
                <a:latin typeface="Arial"/>
                <a:cs typeface="Arial"/>
              </a:rPr>
              <a:t>FY26</a:t>
            </a:r>
            <a:endParaRPr sz="12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555440" y="5257164"/>
            <a:ext cx="62039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585858"/>
                </a:solidFill>
                <a:latin typeface="Arial"/>
                <a:cs typeface="Arial"/>
              </a:rPr>
              <a:t>Q4</a:t>
            </a:r>
            <a:r>
              <a:rPr dirty="0" sz="1200" spc="70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200" spc="-40" b="1">
                <a:solidFill>
                  <a:srgbClr val="585858"/>
                </a:solidFill>
                <a:latin typeface="Arial"/>
                <a:cs typeface="Arial"/>
              </a:rPr>
              <a:t>FY26</a:t>
            </a:r>
            <a:endParaRPr sz="12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099318" y="5257164"/>
            <a:ext cx="62039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585858"/>
                </a:solidFill>
                <a:latin typeface="Arial"/>
                <a:cs typeface="Arial"/>
              </a:rPr>
              <a:t>Q1</a:t>
            </a:r>
            <a:r>
              <a:rPr dirty="0" sz="1200" spc="70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200" spc="-40" b="1">
                <a:solidFill>
                  <a:srgbClr val="585858"/>
                </a:solidFill>
                <a:latin typeface="Arial"/>
                <a:cs typeface="Arial"/>
              </a:rPr>
              <a:t>FY27</a:t>
            </a:r>
            <a:endParaRPr sz="12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643194" y="5257164"/>
            <a:ext cx="62039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585858"/>
                </a:solidFill>
                <a:latin typeface="Arial"/>
                <a:cs typeface="Arial"/>
              </a:rPr>
              <a:t>Q2</a:t>
            </a:r>
            <a:r>
              <a:rPr dirty="0" sz="1200" spc="70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200" spc="-40" b="1">
                <a:solidFill>
                  <a:srgbClr val="585858"/>
                </a:solidFill>
                <a:latin typeface="Arial"/>
                <a:cs typeface="Arial"/>
              </a:rPr>
              <a:t>FY27</a:t>
            </a:r>
            <a:endParaRPr sz="12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03350" y="6016371"/>
            <a:ext cx="102120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Committed</a:t>
            </a:r>
            <a:r>
              <a:rPr dirty="0" sz="1800" spc="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800" spc="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35" b="1">
                <a:solidFill>
                  <a:srgbClr val="FFFFFF"/>
                </a:solidFill>
                <a:latin typeface="Arial"/>
                <a:cs typeface="Arial"/>
              </a:rPr>
              <a:t>robust</a:t>
            </a:r>
            <a:r>
              <a:rPr dirty="0" sz="1800" spc="55" b="1">
                <a:solidFill>
                  <a:srgbClr val="FFFFFF"/>
                </a:solidFill>
                <a:latin typeface="Arial"/>
                <a:cs typeface="Arial"/>
              </a:rPr>
              <a:t> capital</a:t>
            </a:r>
            <a:r>
              <a:rPr dirty="0" sz="1800" spc="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0" b="1">
                <a:solidFill>
                  <a:srgbClr val="FFFFFF"/>
                </a:solidFill>
                <a:latin typeface="Arial"/>
                <a:cs typeface="Arial"/>
              </a:rPr>
              <a:t>return,</a:t>
            </a:r>
            <a:r>
              <a:rPr dirty="0" sz="1800" spc="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)63.1B</a:t>
            </a:r>
            <a:r>
              <a:rPr dirty="0" sz="1800" spc="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returned</a:t>
            </a:r>
            <a:r>
              <a:rPr dirty="0" sz="1800" spc="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since</a:t>
            </a:r>
            <a:r>
              <a:rPr dirty="0" sz="1800" spc="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inception</a:t>
            </a:r>
            <a:r>
              <a:rPr dirty="0" sz="1800" spc="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including</a:t>
            </a:r>
            <a:r>
              <a:rPr dirty="0" sz="1800" spc="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)25B</a:t>
            </a:r>
            <a:r>
              <a:rPr dirty="0" sz="1800" spc="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70" b="1">
                <a:solidFill>
                  <a:srgbClr val="FFFFFF"/>
                </a:solidFill>
                <a:latin typeface="Arial"/>
                <a:cs typeface="Arial"/>
              </a:rPr>
              <a:t>ASR</a:t>
            </a:r>
            <a:r>
              <a:rPr dirty="0" sz="1800" spc="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dirty="0" sz="1800" spc="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30" b="1">
                <a:solidFill>
                  <a:srgbClr val="FFFFFF"/>
                </a:solidFill>
                <a:latin typeface="Arial"/>
                <a:cs typeface="Arial"/>
              </a:rPr>
              <a:t>Q1</a:t>
            </a:r>
            <a:endParaRPr sz="1800">
              <a:latin typeface="Arial"/>
              <a:cs typeface="Arial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22225">
              <a:lnSpc>
                <a:spcPct val="100000"/>
              </a:lnSpc>
              <a:spcBef>
                <a:spcPts val="90"/>
              </a:spcBef>
            </a:pPr>
            <a:fld id="{81D60167-4931-47E6-BA6A-407CBD079E47}" type="slidenum">
              <a:rPr dirty="0" spc="-25"/>
              <a:t>22</a:t>
            </a:fld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0" y="0"/>
            <a:ext cx="12192000" cy="5852160"/>
            <a:chOff x="0" y="0"/>
            <a:chExt cx="12192000" cy="585216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12192000" cy="5852160"/>
            </a:xfrm>
            <a:custGeom>
              <a:avLst/>
              <a:gdLst/>
              <a:ahLst/>
              <a:cxnLst/>
              <a:rect l="l" t="t" r="r" b="b"/>
              <a:pathLst>
                <a:path w="12192000" h="5852160">
                  <a:moveTo>
                    <a:pt x="0" y="5852159"/>
                  </a:moveTo>
                  <a:lnTo>
                    <a:pt x="12192000" y="585215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5852159"/>
                  </a:lnTo>
                  <a:close/>
                </a:path>
              </a:pathLst>
            </a:custGeom>
            <a:solidFill>
              <a:srgbClr val="CEE9F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571500" y="1341246"/>
              <a:ext cx="11049000" cy="4192904"/>
            </a:xfrm>
            <a:custGeom>
              <a:avLst/>
              <a:gdLst/>
              <a:ahLst/>
              <a:cxnLst/>
              <a:rect l="l" t="t" r="r" b="b"/>
              <a:pathLst>
                <a:path w="11049000" h="4192904">
                  <a:moveTo>
                    <a:pt x="10858754" y="0"/>
                  </a:moveTo>
                  <a:lnTo>
                    <a:pt x="190245" y="0"/>
                  </a:lnTo>
                  <a:lnTo>
                    <a:pt x="146637" y="5026"/>
                  </a:lnTo>
                  <a:lnTo>
                    <a:pt x="106598" y="19344"/>
                  </a:lnTo>
                  <a:lnTo>
                    <a:pt x="71274" y="41807"/>
                  </a:lnTo>
                  <a:lnTo>
                    <a:pt x="41807" y="71274"/>
                  </a:lnTo>
                  <a:lnTo>
                    <a:pt x="19343" y="106598"/>
                  </a:lnTo>
                  <a:lnTo>
                    <a:pt x="5026" y="146637"/>
                  </a:lnTo>
                  <a:lnTo>
                    <a:pt x="0" y="190246"/>
                  </a:lnTo>
                  <a:lnTo>
                    <a:pt x="0" y="4002278"/>
                  </a:lnTo>
                  <a:lnTo>
                    <a:pt x="5026" y="4045886"/>
                  </a:lnTo>
                  <a:lnTo>
                    <a:pt x="19343" y="4085925"/>
                  </a:lnTo>
                  <a:lnTo>
                    <a:pt x="41807" y="4121250"/>
                  </a:lnTo>
                  <a:lnTo>
                    <a:pt x="71274" y="4150716"/>
                  </a:lnTo>
                  <a:lnTo>
                    <a:pt x="106598" y="4173180"/>
                  </a:lnTo>
                  <a:lnTo>
                    <a:pt x="146637" y="4187497"/>
                  </a:lnTo>
                  <a:lnTo>
                    <a:pt x="190245" y="4192524"/>
                  </a:lnTo>
                  <a:lnTo>
                    <a:pt x="10858754" y="4192524"/>
                  </a:lnTo>
                  <a:lnTo>
                    <a:pt x="10902362" y="4187497"/>
                  </a:lnTo>
                  <a:lnTo>
                    <a:pt x="10942401" y="4173180"/>
                  </a:lnTo>
                  <a:lnTo>
                    <a:pt x="10977725" y="4150716"/>
                  </a:lnTo>
                  <a:lnTo>
                    <a:pt x="11007192" y="4121250"/>
                  </a:lnTo>
                  <a:lnTo>
                    <a:pt x="11029655" y="4085925"/>
                  </a:lnTo>
                  <a:lnTo>
                    <a:pt x="11043973" y="4045886"/>
                  </a:lnTo>
                  <a:lnTo>
                    <a:pt x="11049000" y="4002278"/>
                  </a:lnTo>
                  <a:lnTo>
                    <a:pt x="11049000" y="190246"/>
                  </a:lnTo>
                  <a:lnTo>
                    <a:pt x="11043973" y="146637"/>
                  </a:lnTo>
                  <a:lnTo>
                    <a:pt x="11029655" y="106598"/>
                  </a:lnTo>
                  <a:lnTo>
                    <a:pt x="11007192" y="71274"/>
                  </a:lnTo>
                  <a:lnTo>
                    <a:pt x="10977725" y="41807"/>
                  </a:lnTo>
                  <a:lnTo>
                    <a:pt x="10942401" y="19344"/>
                  </a:lnTo>
                  <a:lnTo>
                    <a:pt x="10902362" y="5026"/>
                  </a:lnTo>
                  <a:lnTo>
                    <a:pt x="10858754" y="0"/>
                  </a:lnTo>
                  <a:close/>
                </a:path>
              </a:pathLst>
            </a:custGeom>
            <a:solidFill>
              <a:srgbClr val="FFFEF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033252" y="565404"/>
              <a:ext cx="635634" cy="445008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566419" y="485647"/>
            <a:ext cx="1023048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10"/>
              <a:t>Q2</a:t>
            </a:r>
            <a:r>
              <a:rPr dirty="0" spc="-90"/>
              <a:t> </a:t>
            </a:r>
            <a:r>
              <a:rPr dirty="0"/>
              <a:t>&amp;</a:t>
            </a:r>
            <a:r>
              <a:rPr dirty="0" spc="-75"/>
              <a:t> </a:t>
            </a:r>
            <a:r>
              <a:rPr dirty="0" spc="-190"/>
              <a:t>Full</a:t>
            </a:r>
            <a:r>
              <a:rPr dirty="0" spc="-60"/>
              <a:t> </a:t>
            </a:r>
            <a:r>
              <a:rPr dirty="0" spc="60"/>
              <a:t>Year</a:t>
            </a:r>
            <a:r>
              <a:rPr dirty="0" spc="-75"/>
              <a:t> </a:t>
            </a:r>
            <a:r>
              <a:rPr dirty="0" spc="-140"/>
              <a:t>FY27</a:t>
            </a:r>
            <a:r>
              <a:rPr dirty="0" spc="-75"/>
              <a:t> </a:t>
            </a:r>
            <a:r>
              <a:rPr dirty="0" spc="100"/>
              <a:t>Non-</a:t>
            </a:r>
            <a:r>
              <a:rPr dirty="0"/>
              <a:t>GAAP</a:t>
            </a:r>
            <a:r>
              <a:rPr dirty="0" spc="-75"/>
              <a:t> </a:t>
            </a:r>
            <a:r>
              <a:rPr dirty="0"/>
              <a:t>Expense</a:t>
            </a:r>
            <a:r>
              <a:rPr dirty="0" spc="-75"/>
              <a:t> </a:t>
            </a:r>
            <a:r>
              <a:rPr dirty="0" spc="-65"/>
              <a:t>Profile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981963" y="1534096"/>
            <a:ext cx="10325735" cy="3850640"/>
            <a:chOff x="981963" y="1534096"/>
            <a:chExt cx="10325735" cy="3850640"/>
          </a:xfrm>
        </p:grpSpPr>
        <p:sp>
          <p:nvSpPr>
            <p:cNvPr id="9" name="object 9"/>
            <p:cNvSpPr/>
            <p:nvPr/>
          </p:nvSpPr>
          <p:spPr>
            <a:xfrm>
              <a:off x="988313" y="4578984"/>
              <a:ext cx="7524750" cy="0"/>
            </a:xfrm>
            <a:custGeom>
              <a:avLst/>
              <a:gdLst/>
              <a:ahLst/>
              <a:cxnLst/>
              <a:rect l="l" t="t" r="r" b="b"/>
              <a:pathLst>
                <a:path w="7524750" h="0">
                  <a:moveTo>
                    <a:pt x="0" y="0"/>
                  </a:moveTo>
                  <a:lnTo>
                    <a:pt x="7524750" y="0"/>
                  </a:lnTo>
                </a:path>
              </a:pathLst>
            </a:custGeom>
            <a:ln w="12700">
              <a:solidFill>
                <a:srgbClr val="DADAD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8939656" y="1538858"/>
              <a:ext cx="2363470" cy="3841115"/>
            </a:xfrm>
            <a:custGeom>
              <a:avLst/>
              <a:gdLst/>
              <a:ahLst/>
              <a:cxnLst/>
              <a:rect l="l" t="t" r="r" b="b"/>
              <a:pathLst>
                <a:path w="2363470" h="3841115">
                  <a:moveTo>
                    <a:pt x="0" y="0"/>
                  </a:moveTo>
                  <a:lnTo>
                    <a:pt x="0" y="3840734"/>
                  </a:lnTo>
                </a:path>
                <a:path w="2363470" h="3841115">
                  <a:moveTo>
                    <a:pt x="2363216" y="2095500"/>
                  </a:moveTo>
                  <a:lnTo>
                    <a:pt x="127" y="2095500"/>
                  </a:lnTo>
                </a:path>
              </a:pathLst>
            </a:custGeom>
            <a:ln w="9525">
              <a:solidFill>
                <a:srgbClr val="666666"/>
              </a:solidFill>
              <a:prstDash val="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726250" y="4261744"/>
              <a:ext cx="5822950" cy="0"/>
            </a:xfrm>
            <a:custGeom>
              <a:avLst/>
              <a:gdLst/>
              <a:ahLst/>
              <a:cxnLst/>
              <a:rect l="l" t="t" r="r" b="b"/>
              <a:pathLst>
                <a:path w="5822950" h="0">
                  <a:moveTo>
                    <a:pt x="0" y="0"/>
                  </a:moveTo>
                  <a:lnTo>
                    <a:pt x="5822693" y="0"/>
                  </a:lnTo>
                </a:path>
              </a:pathLst>
            </a:custGeom>
            <a:ln w="9540">
              <a:solidFill>
                <a:srgbClr val="8A8A8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926549" y="3150234"/>
              <a:ext cx="5422265" cy="944880"/>
            </a:xfrm>
            <a:custGeom>
              <a:avLst/>
              <a:gdLst/>
              <a:ahLst/>
              <a:cxnLst/>
              <a:rect l="l" t="t" r="r" b="b"/>
              <a:pathLst>
                <a:path w="5422265" h="944879">
                  <a:moveTo>
                    <a:pt x="763930" y="0"/>
                  </a:moveTo>
                  <a:lnTo>
                    <a:pt x="0" y="0"/>
                  </a:lnTo>
                  <a:lnTo>
                    <a:pt x="0" y="915924"/>
                  </a:lnTo>
                  <a:lnTo>
                    <a:pt x="763930" y="915924"/>
                  </a:lnTo>
                  <a:lnTo>
                    <a:pt x="763930" y="0"/>
                  </a:lnTo>
                  <a:close/>
                </a:path>
                <a:path w="5422265" h="944879">
                  <a:moveTo>
                    <a:pt x="1928469" y="0"/>
                  </a:moveTo>
                  <a:lnTo>
                    <a:pt x="1164539" y="0"/>
                  </a:lnTo>
                  <a:lnTo>
                    <a:pt x="1164539" y="915924"/>
                  </a:lnTo>
                  <a:lnTo>
                    <a:pt x="1928469" y="915924"/>
                  </a:lnTo>
                  <a:lnTo>
                    <a:pt x="1928469" y="0"/>
                  </a:lnTo>
                  <a:close/>
                </a:path>
                <a:path w="5422265" h="944879">
                  <a:moveTo>
                    <a:pt x="3093008" y="0"/>
                  </a:moveTo>
                  <a:lnTo>
                    <a:pt x="2329078" y="0"/>
                  </a:lnTo>
                  <a:lnTo>
                    <a:pt x="2329078" y="915924"/>
                  </a:lnTo>
                  <a:lnTo>
                    <a:pt x="3093008" y="915924"/>
                  </a:lnTo>
                  <a:lnTo>
                    <a:pt x="3093008" y="0"/>
                  </a:lnTo>
                  <a:close/>
                </a:path>
                <a:path w="5422265" h="944879">
                  <a:moveTo>
                    <a:pt x="4257548" y="66789"/>
                  </a:moveTo>
                  <a:lnTo>
                    <a:pt x="3493605" y="66789"/>
                  </a:lnTo>
                  <a:lnTo>
                    <a:pt x="3493605" y="944549"/>
                  </a:lnTo>
                  <a:lnTo>
                    <a:pt x="4257548" y="944549"/>
                  </a:lnTo>
                  <a:lnTo>
                    <a:pt x="4257548" y="66789"/>
                  </a:lnTo>
                  <a:close/>
                </a:path>
                <a:path w="5422265" h="944879">
                  <a:moveTo>
                    <a:pt x="5422087" y="28625"/>
                  </a:moveTo>
                  <a:lnTo>
                    <a:pt x="4658144" y="28625"/>
                  </a:lnTo>
                  <a:lnTo>
                    <a:pt x="4658144" y="944549"/>
                  </a:lnTo>
                  <a:lnTo>
                    <a:pt x="5422087" y="944549"/>
                  </a:lnTo>
                  <a:lnTo>
                    <a:pt x="5422087" y="28625"/>
                  </a:lnTo>
                  <a:close/>
                </a:path>
              </a:pathLst>
            </a:custGeom>
            <a:solidFill>
              <a:srgbClr val="0A817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926549" y="2768599"/>
              <a:ext cx="5422265" cy="448945"/>
            </a:xfrm>
            <a:custGeom>
              <a:avLst/>
              <a:gdLst/>
              <a:ahLst/>
              <a:cxnLst/>
              <a:rect l="l" t="t" r="r" b="b"/>
              <a:pathLst>
                <a:path w="5422265" h="448944">
                  <a:moveTo>
                    <a:pt x="763930" y="0"/>
                  </a:moveTo>
                  <a:lnTo>
                    <a:pt x="0" y="0"/>
                  </a:lnTo>
                  <a:lnTo>
                    <a:pt x="0" y="381635"/>
                  </a:lnTo>
                  <a:lnTo>
                    <a:pt x="763930" y="381635"/>
                  </a:lnTo>
                  <a:lnTo>
                    <a:pt x="763930" y="0"/>
                  </a:lnTo>
                  <a:close/>
                </a:path>
                <a:path w="5422265" h="448944">
                  <a:moveTo>
                    <a:pt x="1928469" y="38163"/>
                  </a:moveTo>
                  <a:lnTo>
                    <a:pt x="1164539" y="38163"/>
                  </a:lnTo>
                  <a:lnTo>
                    <a:pt x="1164539" y="381635"/>
                  </a:lnTo>
                  <a:lnTo>
                    <a:pt x="1928469" y="381635"/>
                  </a:lnTo>
                  <a:lnTo>
                    <a:pt x="1928469" y="38163"/>
                  </a:lnTo>
                  <a:close/>
                </a:path>
                <a:path w="5422265" h="448944">
                  <a:moveTo>
                    <a:pt x="3093008" y="0"/>
                  </a:moveTo>
                  <a:lnTo>
                    <a:pt x="2329078" y="0"/>
                  </a:lnTo>
                  <a:lnTo>
                    <a:pt x="2329078" y="381635"/>
                  </a:lnTo>
                  <a:lnTo>
                    <a:pt x="3093008" y="381635"/>
                  </a:lnTo>
                  <a:lnTo>
                    <a:pt x="3093008" y="0"/>
                  </a:lnTo>
                  <a:close/>
                </a:path>
                <a:path w="5422265" h="448944">
                  <a:moveTo>
                    <a:pt x="4257548" y="66789"/>
                  </a:moveTo>
                  <a:lnTo>
                    <a:pt x="3493605" y="66789"/>
                  </a:lnTo>
                  <a:lnTo>
                    <a:pt x="3493605" y="448424"/>
                  </a:lnTo>
                  <a:lnTo>
                    <a:pt x="4257548" y="448424"/>
                  </a:lnTo>
                  <a:lnTo>
                    <a:pt x="4257548" y="66789"/>
                  </a:lnTo>
                  <a:close/>
                </a:path>
                <a:path w="5422265" h="448944">
                  <a:moveTo>
                    <a:pt x="5422087" y="38163"/>
                  </a:moveTo>
                  <a:lnTo>
                    <a:pt x="4658144" y="38163"/>
                  </a:lnTo>
                  <a:lnTo>
                    <a:pt x="4658144" y="410260"/>
                  </a:lnTo>
                  <a:lnTo>
                    <a:pt x="5422087" y="410260"/>
                  </a:lnTo>
                  <a:lnTo>
                    <a:pt x="5422087" y="38163"/>
                  </a:lnTo>
                  <a:close/>
                </a:path>
              </a:pathLst>
            </a:custGeom>
            <a:solidFill>
              <a:srgbClr val="00B3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926549" y="2177059"/>
              <a:ext cx="5422265" cy="658495"/>
            </a:xfrm>
            <a:custGeom>
              <a:avLst/>
              <a:gdLst/>
              <a:ahLst/>
              <a:cxnLst/>
              <a:rect l="l" t="t" r="r" b="b"/>
              <a:pathLst>
                <a:path w="5422265" h="658494">
                  <a:moveTo>
                    <a:pt x="763930" y="0"/>
                  </a:moveTo>
                  <a:lnTo>
                    <a:pt x="0" y="0"/>
                  </a:lnTo>
                  <a:lnTo>
                    <a:pt x="0" y="591540"/>
                  </a:lnTo>
                  <a:lnTo>
                    <a:pt x="763930" y="591540"/>
                  </a:lnTo>
                  <a:lnTo>
                    <a:pt x="763930" y="0"/>
                  </a:lnTo>
                  <a:close/>
                </a:path>
                <a:path w="5422265" h="658494">
                  <a:moveTo>
                    <a:pt x="1928469" y="28625"/>
                  </a:moveTo>
                  <a:lnTo>
                    <a:pt x="1164539" y="28625"/>
                  </a:lnTo>
                  <a:lnTo>
                    <a:pt x="1164539" y="629704"/>
                  </a:lnTo>
                  <a:lnTo>
                    <a:pt x="1928469" y="629704"/>
                  </a:lnTo>
                  <a:lnTo>
                    <a:pt x="1928469" y="28625"/>
                  </a:lnTo>
                  <a:close/>
                </a:path>
                <a:path w="5422265" h="658494">
                  <a:moveTo>
                    <a:pt x="3093008" y="0"/>
                  </a:moveTo>
                  <a:lnTo>
                    <a:pt x="2329078" y="0"/>
                  </a:lnTo>
                  <a:lnTo>
                    <a:pt x="2329078" y="591540"/>
                  </a:lnTo>
                  <a:lnTo>
                    <a:pt x="3093008" y="591540"/>
                  </a:lnTo>
                  <a:lnTo>
                    <a:pt x="3093008" y="0"/>
                  </a:lnTo>
                  <a:close/>
                </a:path>
                <a:path w="5422265" h="658494">
                  <a:moveTo>
                    <a:pt x="4257548" y="28625"/>
                  </a:moveTo>
                  <a:lnTo>
                    <a:pt x="3493605" y="28625"/>
                  </a:lnTo>
                  <a:lnTo>
                    <a:pt x="3493605" y="658329"/>
                  </a:lnTo>
                  <a:lnTo>
                    <a:pt x="4257548" y="658329"/>
                  </a:lnTo>
                  <a:lnTo>
                    <a:pt x="4257548" y="28625"/>
                  </a:lnTo>
                  <a:close/>
                </a:path>
                <a:path w="5422265" h="658494">
                  <a:moveTo>
                    <a:pt x="5422087" y="0"/>
                  </a:moveTo>
                  <a:lnTo>
                    <a:pt x="4658144" y="0"/>
                  </a:lnTo>
                  <a:lnTo>
                    <a:pt x="4658144" y="629704"/>
                  </a:lnTo>
                  <a:lnTo>
                    <a:pt x="5422087" y="629704"/>
                  </a:lnTo>
                  <a:lnTo>
                    <a:pt x="5422087" y="0"/>
                  </a:lnTo>
                  <a:close/>
                </a:path>
              </a:pathLst>
            </a:custGeom>
            <a:solidFill>
              <a:srgbClr val="0129B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912113" y="1506473"/>
            <a:ext cx="2805430" cy="6369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50" b="1">
                <a:solidFill>
                  <a:srgbClr val="001E5A"/>
                </a:solidFill>
                <a:latin typeface="Arial"/>
                <a:cs typeface="Arial"/>
              </a:rPr>
              <a:t>Non-</a:t>
            </a:r>
            <a:r>
              <a:rPr dirty="0" sz="1800" b="1">
                <a:solidFill>
                  <a:srgbClr val="001E5A"/>
                </a:solidFill>
                <a:latin typeface="Arial"/>
                <a:cs typeface="Arial"/>
              </a:rPr>
              <a:t>GAAP</a:t>
            </a:r>
            <a:r>
              <a:rPr dirty="0" sz="1800" spc="-50" b="1">
                <a:solidFill>
                  <a:srgbClr val="001E5A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1E5A"/>
                </a:solidFill>
                <a:latin typeface="Arial"/>
                <a:cs typeface="Arial"/>
              </a:rPr>
              <a:t>%</a:t>
            </a:r>
            <a:r>
              <a:rPr dirty="0" sz="1800" spc="-45" b="1">
                <a:solidFill>
                  <a:srgbClr val="001E5A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1E5A"/>
                </a:solidFill>
                <a:latin typeface="Arial"/>
                <a:cs typeface="Arial"/>
              </a:rPr>
              <a:t>of</a:t>
            </a:r>
            <a:r>
              <a:rPr dirty="0" sz="1800" spc="-45" b="1">
                <a:solidFill>
                  <a:srgbClr val="001E5A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001E5A"/>
                </a:solidFill>
                <a:latin typeface="Arial"/>
                <a:cs typeface="Arial"/>
              </a:rPr>
              <a:t>Revenue</a:t>
            </a:r>
            <a:endParaRPr sz="1800">
              <a:latin typeface="Arial"/>
              <a:cs typeface="Arial"/>
            </a:endParaRPr>
          </a:p>
          <a:p>
            <a:pPr algn="r" marR="261620">
              <a:lnSpc>
                <a:spcPct val="100000"/>
              </a:lnSpc>
              <a:spcBef>
                <a:spcPts val="1210"/>
              </a:spcBef>
            </a:pPr>
            <a:r>
              <a:rPr dirty="0" sz="1200" spc="-25" b="1">
                <a:latin typeface="Trebuchet MS"/>
                <a:cs typeface="Trebuchet MS"/>
              </a:rPr>
              <a:t>66%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298288" y="1962852"/>
            <a:ext cx="32512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latin typeface="Trebuchet MS"/>
                <a:cs typeface="Trebuchet MS"/>
              </a:rPr>
              <a:t>65%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460921" y="1934230"/>
            <a:ext cx="32512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latin typeface="Trebuchet MS"/>
                <a:cs typeface="Trebuchet MS"/>
              </a:rPr>
              <a:t>66%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623553" y="1962852"/>
            <a:ext cx="32512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latin typeface="Trebuchet MS"/>
                <a:cs typeface="Trebuchet MS"/>
              </a:rPr>
              <a:t>65%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786186" y="1934230"/>
            <a:ext cx="32512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latin typeface="Trebuchet MS"/>
                <a:cs typeface="Trebuchet MS"/>
              </a:rPr>
              <a:t>66%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099316" y="2360390"/>
            <a:ext cx="39751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solidFill>
                  <a:srgbClr val="FFFFFF"/>
                </a:solidFill>
                <a:latin typeface="Tahoma"/>
                <a:cs typeface="Tahoma"/>
              </a:rPr>
              <a:t>19%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261948" y="2389013"/>
            <a:ext cx="39751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solidFill>
                  <a:srgbClr val="FFFFFF"/>
                </a:solidFill>
                <a:latin typeface="Tahoma"/>
                <a:cs typeface="Tahoma"/>
              </a:rPr>
              <a:t>19%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424581" y="2360390"/>
            <a:ext cx="39751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solidFill>
                  <a:srgbClr val="FFFFFF"/>
                </a:solidFill>
                <a:latin typeface="Tahoma"/>
                <a:cs typeface="Tahoma"/>
              </a:rPr>
              <a:t>19%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587214" y="2408095"/>
            <a:ext cx="39751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solidFill>
                  <a:srgbClr val="FFFFFF"/>
                </a:solidFill>
                <a:latin typeface="Tahoma"/>
                <a:cs typeface="Tahoma"/>
              </a:rPr>
              <a:t>20%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749846" y="2379472"/>
            <a:ext cx="39751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solidFill>
                  <a:srgbClr val="FFFFFF"/>
                </a:solidFill>
                <a:latin typeface="Tahoma"/>
                <a:cs typeface="Tahoma"/>
              </a:rPr>
              <a:t>20%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255506" y="1793747"/>
            <a:ext cx="1986914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49225" marR="142240">
              <a:lnSpc>
                <a:spcPct val="100000"/>
              </a:lnSpc>
              <a:spcBef>
                <a:spcPts val="100"/>
              </a:spcBef>
            </a:pPr>
            <a:r>
              <a:rPr dirty="0" sz="1800" spc="-70" b="1">
                <a:solidFill>
                  <a:srgbClr val="001E5A"/>
                </a:solidFill>
                <a:latin typeface="Arial"/>
                <a:cs typeface="Arial"/>
              </a:rPr>
              <a:t>FY27</a:t>
            </a:r>
            <a:r>
              <a:rPr dirty="0" sz="1800" spc="-50" b="1">
                <a:solidFill>
                  <a:srgbClr val="001E5A"/>
                </a:solidFill>
                <a:latin typeface="Arial"/>
                <a:cs typeface="Arial"/>
              </a:rPr>
              <a:t> </a:t>
            </a:r>
            <a:r>
              <a:rPr dirty="0" sz="1800" spc="60" b="1">
                <a:solidFill>
                  <a:srgbClr val="001E5A"/>
                </a:solidFill>
                <a:latin typeface="Arial"/>
                <a:cs typeface="Arial"/>
              </a:rPr>
              <a:t>Guidance </a:t>
            </a:r>
            <a:r>
              <a:rPr dirty="0" sz="1800" spc="-20" b="1">
                <a:solidFill>
                  <a:srgbClr val="001E5A"/>
                </a:solidFill>
                <a:latin typeface="Arial"/>
                <a:cs typeface="Arial"/>
              </a:rPr>
              <a:t>GAAP</a:t>
            </a:r>
            <a:endParaRPr sz="1800">
              <a:latin typeface="Arial"/>
              <a:cs typeface="Arial"/>
            </a:endParaRPr>
          </a:p>
          <a:p>
            <a:pPr algn="ctr" marL="12700" marR="5080">
              <a:lnSpc>
                <a:spcPct val="100000"/>
              </a:lnSpc>
            </a:pPr>
            <a:r>
              <a:rPr dirty="0" sz="1800" b="1">
                <a:solidFill>
                  <a:srgbClr val="001E5A"/>
                </a:solidFill>
                <a:latin typeface="Arial"/>
                <a:cs typeface="Arial"/>
              </a:rPr>
              <a:t>Operating</a:t>
            </a:r>
            <a:r>
              <a:rPr dirty="0" sz="1800" spc="340" b="1">
                <a:solidFill>
                  <a:srgbClr val="001E5A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001E5A"/>
                </a:solidFill>
                <a:latin typeface="Arial"/>
                <a:cs typeface="Arial"/>
              </a:rPr>
              <a:t>Margin </a:t>
            </a:r>
            <a:r>
              <a:rPr dirty="0" sz="1800" b="1">
                <a:solidFill>
                  <a:srgbClr val="001E5A"/>
                </a:solidFill>
                <a:latin typeface="Arial"/>
                <a:cs typeface="Arial"/>
              </a:rPr>
              <a:t>Stable</a:t>
            </a:r>
            <a:r>
              <a:rPr dirty="0" sz="1800" spc="20" b="1">
                <a:solidFill>
                  <a:srgbClr val="001E5A"/>
                </a:solidFill>
                <a:latin typeface="Arial"/>
                <a:cs typeface="Arial"/>
              </a:rPr>
              <a:t> </a:t>
            </a:r>
            <a:r>
              <a:rPr dirty="0" sz="1800" spc="25" b="1">
                <a:solidFill>
                  <a:srgbClr val="001E5A"/>
                </a:solidFill>
                <a:latin typeface="Arial"/>
                <a:cs typeface="Arial"/>
              </a:rPr>
              <a:t>Y/Y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75613" y="2817368"/>
            <a:ext cx="1503045" cy="709930"/>
          </a:xfrm>
          <a:prstGeom prst="rect">
            <a:avLst/>
          </a:prstGeom>
        </p:spPr>
        <p:txBody>
          <a:bodyPr wrap="square" lIns="0" tIns="46355" rIns="0" bIns="0" rtlCol="0" vert="horz">
            <a:spAutoFit/>
          </a:bodyPr>
          <a:lstStyle/>
          <a:p>
            <a:pPr marL="147955" indent="-135255">
              <a:lnSpc>
                <a:spcPct val="100000"/>
              </a:lnSpc>
              <a:spcBef>
                <a:spcPts val="365"/>
              </a:spcBef>
              <a:buClr>
                <a:srgbClr val="012ABF"/>
              </a:buClr>
              <a:buFont typeface="Segoe UI Symbol"/>
              <a:buChar char="●"/>
              <a:tabLst>
                <a:tab pos="147955" algn="l"/>
              </a:tabLst>
            </a:pPr>
            <a:r>
              <a:rPr dirty="0" sz="900" spc="-40">
                <a:solidFill>
                  <a:srgbClr val="434343"/>
                </a:solidFill>
                <a:latin typeface="Verdana"/>
                <a:cs typeface="Verdana"/>
              </a:rPr>
              <a:t>Cost</a:t>
            </a:r>
            <a:r>
              <a:rPr dirty="0" sz="900" spc="-65">
                <a:solidFill>
                  <a:srgbClr val="434343"/>
                </a:solidFill>
                <a:latin typeface="Verdana"/>
                <a:cs typeface="Verdana"/>
              </a:rPr>
              <a:t> </a:t>
            </a:r>
            <a:r>
              <a:rPr dirty="0" sz="900" spc="-20">
                <a:solidFill>
                  <a:srgbClr val="434343"/>
                </a:solidFill>
                <a:latin typeface="Verdana"/>
                <a:cs typeface="Verdana"/>
              </a:rPr>
              <a:t>of</a:t>
            </a:r>
            <a:r>
              <a:rPr dirty="0" sz="900" spc="-65">
                <a:solidFill>
                  <a:srgbClr val="434343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434343"/>
                </a:solidFill>
                <a:latin typeface="Verdana"/>
                <a:cs typeface="Verdana"/>
              </a:rPr>
              <a:t>Revenues</a:t>
            </a:r>
            <a:endParaRPr sz="900">
              <a:latin typeface="Verdana"/>
              <a:cs typeface="Verdana"/>
            </a:endParaRPr>
          </a:p>
          <a:p>
            <a:pPr marL="147955" indent="-135255">
              <a:lnSpc>
                <a:spcPct val="100000"/>
              </a:lnSpc>
              <a:spcBef>
                <a:spcPts val="265"/>
              </a:spcBef>
              <a:buClr>
                <a:srgbClr val="00B2FF"/>
              </a:buClr>
              <a:buFont typeface="Segoe UI Symbol"/>
              <a:buChar char="●"/>
              <a:tabLst>
                <a:tab pos="147955" algn="l"/>
              </a:tabLst>
            </a:pPr>
            <a:r>
              <a:rPr dirty="0" sz="900" spc="-55">
                <a:solidFill>
                  <a:srgbClr val="434343"/>
                </a:solidFill>
                <a:latin typeface="Verdana"/>
                <a:cs typeface="Verdana"/>
              </a:rPr>
              <a:t>Research</a:t>
            </a:r>
            <a:r>
              <a:rPr dirty="0" sz="900" spc="-45">
                <a:solidFill>
                  <a:srgbClr val="434343"/>
                </a:solidFill>
                <a:latin typeface="Verdana"/>
                <a:cs typeface="Verdana"/>
              </a:rPr>
              <a:t> </a:t>
            </a:r>
            <a:r>
              <a:rPr dirty="0" sz="900" spc="-60">
                <a:solidFill>
                  <a:srgbClr val="434343"/>
                </a:solidFill>
                <a:latin typeface="Verdana"/>
                <a:cs typeface="Verdana"/>
              </a:rPr>
              <a:t>&amp;</a:t>
            </a:r>
            <a:r>
              <a:rPr dirty="0" sz="900" spc="-45">
                <a:solidFill>
                  <a:srgbClr val="434343"/>
                </a:solidFill>
                <a:latin typeface="Verdana"/>
                <a:cs typeface="Verdana"/>
              </a:rPr>
              <a:t> </a:t>
            </a:r>
            <a:r>
              <a:rPr dirty="0" sz="900" spc="-25">
                <a:solidFill>
                  <a:srgbClr val="434343"/>
                </a:solidFill>
                <a:latin typeface="Verdana"/>
                <a:cs typeface="Verdana"/>
              </a:rPr>
              <a:t>Development</a:t>
            </a:r>
            <a:endParaRPr sz="900">
              <a:latin typeface="Verdana"/>
              <a:cs typeface="Verdana"/>
            </a:endParaRPr>
          </a:p>
          <a:p>
            <a:pPr marL="147955" indent="-135255">
              <a:lnSpc>
                <a:spcPct val="100000"/>
              </a:lnSpc>
              <a:spcBef>
                <a:spcPts val="270"/>
              </a:spcBef>
              <a:buClr>
                <a:srgbClr val="0B817B"/>
              </a:buClr>
              <a:buFont typeface="Segoe UI Symbol"/>
              <a:buChar char="●"/>
              <a:tabLst>
                <a:tab pos="147955" algn="l"/>
              </a:tabLst>
            </a:pPr>
            <a:r>
              <a:rPr dirty="0" sz="900" spc="-65">
                <a:solidFill>
                  <a:srgbClr val="434343"/>
                </a:solidFill>
                <a:latin typeface="Verdana"/>
                <a:cs typeface="Verdana"/>
              </a:rPr>
              <a:t>Sales </a:t>
            </a:r>
            <a:r>
              <a:rPr dirty="0" sz="900" spc="-60">
                <a:solidFill>
                  <a:srgbClr val="434343"/>
                </a:solidFill>
                <a:latin typeface="Verdana"/>
                <a:cs typeface="Verdana"/>
              </a:rPr>
              <a:t>&amp;</a:t>
            </a:r>
            <a:r>
              <a:rPr dirty="0" sz="900" spc="-65">
                <a:solidFill>
                  <a:srgbClr val="434343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434343"/>
                </a:solidFill>
                <a:latin typeface="Verdana"/>
                <a:cs typeface="Verdana"/>
              </a:rPr>
              <a:t>Marketing</a:t>
            </a:r>
            <a:endParaRPr sz="900">
              <a:latin typeface="Verdana"/>
              <a:cs typeface="Verdana"/>
            </a:endParaRPr>
          </a:p>
          <a:p>
            <a:pPr marL="147955" indent="-135255">
              <a:lnSpc>
                <a:spcPct val="100000"/>
              </a:lnSpc>
              <a:spcBef>
                <a:spcPts val="265"/>
              </a:spcBef>
              <a:buClr>
                <a:srgbClr val="7426E3"/>
              </a:buClr>
              <a:buFont typeface="Segoe UI Symbol"/>
              <a:buChar char="●"/>
              <a:tabLst>
                <a:tab pos="147955" algn="l"/>
              </a:tabLst>
            </a:pPr>
            <a:r>
              <a:rPr dirty="0" sz="900" spc="-45">
                <a:solidFill>
                  <a:srgbClr val="434343"/>
                </a:solidFill>
                <a:latin typeface="Verdana"/>
                <a:cs typeface="Verdana"/>
              </a:rPr>
              <a:t>General</a:t>
            </a:r>
            <a:r>
              <a:rPr dirty="0" sz="900" spc="-50">
                <a:solidFill>
                  <a:srgbClr val="434343"/>
                </a:solidFill>
                <a:latin typeface="Verdana"/>
                <a:cs typeface="Verdana"/>
              </a:rPr>
              <a:t> </a:t>
            </a:r>
            <a:r>
              <a:rPr dirty="0" sz="900" spc="-60">
                <a:solidFill>
                  <a:srgbClr val="434343"/>
                </a:solidFill>
                <a:latin typeface="Verdana"/>
                <a:cs typeface="Verdana"/>
              </a:rPr>
              <a:t>&amp;</a:t>
            </a:r>
            <a:r>
              <a:rPr dirty="0" sz="900" spc="-50">
                <a:solidFill>
                  <a:srgbClr val="434343"/>
                </a:solidFill>
                <a:latin typeface="Verdana"/>
                <a:cs typeface="Verdana"/>
              </a:rPr>
              <a:t> </a:t>
            </a:r>
            <a:r>
              <a:rPr dirty="0" sz="900" spc="-25">
                <a:solidFill>
                  <a:srgbClr val="434343"/>
                </a:solidFill>
                <a:latin typeface="Verdana"/>
                <a:cs typeface="Verdana"/>
              </a:rPr>
              <a:t>Administrative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099316" y="2846976"/>
            <a:ext cx="39751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solidFill>
                  <a:srgbClr val="FFFFFF"/>
                </a:solidFill>
                <a:latin typeface="Tahoma"/>
                <a:cs typeface="Tahoma"/>
              </a:rPr>
              <a:t>12%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261948" y="2866058"/>
            <a:ext cx="39751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solidFill>
                  <a:srgbClr val="FFFFFF"/>
                </a:solidFill>
                <a:latin typeface="Tahoma"/>
                <a:cs typeface="Tahoma"/>
              </a:rPr>
              <a:t>11%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424581" y="2846976"/>
            <a:ext cx="39751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solidFill>
                  <a:srgbClr val="FFFFFF"/>
                </a:solidFill>
                <a:latin typeface="Tahoma"/>
                <a:cs typeface="Tahoma"/>
              </a:rPr>
              <a:t>12%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587214" y="2913763"/>
            <a:ext cx="39751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solidFill>
                  <a:srgbClr val="FFFFFF"/>
                </a:solidFill>
                <a:latin typeface="Tahoma"/>
                <a:cs typeface="Tahoma"/>
              </a:rPr>
              <a:t>12%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749846" y="2875599"/>
            <a:ext cx="39751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solidFill>
                  <a:srgbClr val="FFFFFF"/>
                </a:solidFill>
                <a:latin typeface="Tahoma"/>
                <a:cs typeface="Tahoma"/>
              </a:rPr>
              <a:t>12%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548876" y="3110611"/>
            <a:ext cx="1400175" cy="4254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0480" marR="5080" indent="-18415">
              <a:lnSpc>
                <a:spcPct val="109200"/>
              </a:lnSpc>
              <a:spcBef>
                <a:spcPts val="100"/>
              </a:spcBef>
            </a:pPr>
            <a:r>
              <a:rPr dirty="0" sz="1200" b="1">
                <a:solidFill>
                  <a:srgbClr val="001E5A"/>
                </a:solidFill>
                <a:latin typeface="Arial"/>
                <a:cs typeface="Arial"/>
              </a:rPr>
              <a:t>Includes</a:t>
            </a:r>
            <a:r>
              <a:rPr dirty="0" sz="1200" spc="130" b="1">
                <a:solidFill>
                  <a:srgbClr val="001E5A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001E5A"/>
                </a:solidFill>
                <a:latin typeface="Arial"/>
                <a:cs typeface="Arial"/>
              </a:rPr>
              <a:t>impact</a:t>
            </a:r>
            <a:r>
              <a:rPr dirty="0" sz="1200" spc="130" b="1">
                <a:solidFill>
                  <a:srgbClr val="001E5A"/>
                </a:solidFill>
                <a:latin typeface="Arial"/>
                <a:cs typeface="Arial"/>
              </a:rPr>
              <a:t> </a:t>
            </a:r>
            <a:r>
              <a:rPr dirty="0" sz="1200" spc="-25" b="1">
                <a:solidFill>
                  <a:srgbClr val="001E5A"/>
                </a:solidFill>
                <a:latin typeface="Arial"/>
                <a:cs typeface="Arial"/>
              </a:rPr>
              <a:t>of </a:t>
            </a:r>
            <a:r>
              <a:rPr dirty="0" sz="1200" b="1">
                <a:solidFill>
                  <a:srgbClr val="001E5A"/>
                </a:solidFill>
                <a:latin typeface="Arial"/>
                <a:cs typeface="Arial"/>
              </a:rPr>
              <a:t>Contentful</a:t>
            </a:r>
            <a:r>
              <a:rPr dirty="0" sz="1200" spc="-30" b="1">
                <a:solidFill>
                  <a:srgbClr val="001E5A"/>
                </a:solidFill>
                <a:latin typeface="Arial"/>
                <a:cs typeface="Arial"/>
              </a:rPr>
              <a:t> </a:t>
            </a:r>
            <a:r>
              <a:rPr dirty="0" sz="1200" spc="50" b="1">
                <a:solidFill>
                  <a:srgbClr val="001E5A"/>
                </a:solidFill>
                <a:latin typeface="Arial"/>
                <a:cs typeface="Arial"/>
              </a:rPr>
              <a:t>and</a:t>
            </a:r>
            <a:r>
              <a:rPr dirty="0" sz="1200" spc="-30" b="1">
                <a:solidFill>
                  <a:srgbClr val="001E5A"/>
                </a:solidFill>
                <a:latin typeface="Arial"/>
                <a:cs typeface="Arial"/>
              </a:rPr>
              <a:t> </a:t>
            </a:r>
            <a:r>
              <a:rPr dirty="0" sz="1200" spc="-35" b="1">
                <a:solidFill>
                  <a:srgbClr val="001E5A"/>
                </a:solidFill>
                <a:latin typeface="Arial"/>
                <a:cs typeface="Arial"/>
              </a:rPr>
              <a:t>Fin</a:t>
            </a:r>
            <a:endParaRPr sz="1200">
              <a:latin typeface="Arial"/>
              <a:cs typeface="Arial"/>
            </a:endParaRPr>
          </a:p>
        </p:txBody>
      </p:sp>
      <p:graphicFrame>
        <p:nvGraphicFramePr>
          <p:cNvPr id="35" name="object 35"/>
          <p:cNvGraphicFramePr>
            <a:graphicFrameLocks noGrp="1"/>
          </p:cNvGraphicFramePr>
          <p:nvPr/>
        </p:nvGraphicFramePr>
        <p:xfrm>
          <a:off x="988313" y="3538302"/>
          <a:ext cx="7437120" cy="17767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38020"/>
                <a:gridCol w="763905"/>
                <a:gridCol w="400685"/>
                <a:gridCol w="763904"/>
                <a:gridCol w="400685"/>
                <a:gridCol w="763904"/>
                <a:gridCol w="400685"/>
                <a:gridCol w="763904"/>
                <a:gridCol w="400685"/>
                <a:gridCol w="763904"/>
              </a:tblGrid>
              <a:tr h="52451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EE9FE"/>
                    </a:solidFill>
                  </a:tcPr>
                </a:tc>
                <a:tc>
                  <a:txBody>
                    <a:bodyPr/>
                    <a:lstStyle/>
                    <a:p>
                      <a:pPr marL="185420">
                        <a:lnSpc>
                          <a:spcPts val="1205"/>
                        </a:lnSpc>
                      </a:pPr>
                      <a:r>
                        <a:rPr dirty="0" sz="120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29%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solidFill>
                      <a:srgbClr val="0A817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EE9FE"/>
                    </a:solidFill>
                  </a:tcPr>
                </a:tc>
                <a:tc>
                  <a:txBody>
                    <a:bodyPr/>
                    <a:lstStyle/>
                    <a:p>
                      <a:pPr marL="183515">
                        <a:lnSpc>
                          <a:spcPts val="1205"/>
                        </a:lnSpc>
                      </a:pPr>
                      <a:r>
                        <a:rPr dirty="0" sz="120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29%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solidFill>
                      <a:srgbClr val="0A817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EE9FE"/>
                    </a:solidFill>
                  </a:tcPr>
                </a:tc>
                <a:tc>
                  <a:txBody>
                    <a:bodyPr/>
                    <a:lstStyle/>
                    <a:p>
                      <a:pPr marL="181610">
                        <a:lnSpc>
                          <a:spcPts val="1205"/>
                        </a:lnSpc>
                      </a:pPr>
                      <a:r>
                        <a:rPr dirty="0" sz="120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29%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solidFill>
                      <a:srgbClr val="0A817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EE9FE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2476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dirty="0" sz="120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28%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B="0" marT="17780">
                    <a:solidFill>
                      <a:srgbClr val="0A817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EE9FE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28575">
                        <a:lnSpc>
                          <a:spcPts val="1430"/>
                        </a:lnSpc>
                      </a:pPr>
                      <a:r>
                        <a:rPr dirty="0" sz="120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29%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solidFill>
                      <a:srgbClr val="0A817C"/>
                    </a:solidFill>
                  </a:tcPr>
                </a:tc>
              </a:tr>
              <a:tr h="20510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solidFill>
                      <a:srgbClr val="CEE9FE"/>
                    </a:solidFill>
                  </a:tcPr>
                </a:tc>
                <a:tc>
                  <a:txBody>
                    <a:bodyPr/>
                    <a:lstStyle/>
                    <a:p>
                      <a:pPr marL="231775">
                        <a:lnSpc>
                          <a:spcPts val="1410"/>
                        </a:lnSpc>
                      </a:pPr>
                      <a:r>
                        <a:rPr dirty="0" sz="120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6%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solidFill>
                      <a:srgbClr val="7425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EE9FE"/>
                    </a:solidFill>
                  </a:tcPr>
                </a:tc>
                <a:tc>
                  <a:txBody>
                    <a:bodyPr/>
                    <a:lstStyle/>
                    <a:p>
                      <a:pPr marL="229870">
                        <a:lnSpc>
                          <a:spcPts val="1410"/>
                        </a:lnSpc>
                      </a:pPr>
                      <a:r>
                        <a:rPr dirty="0" sz="120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6%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solidFill>
                      <a:srgbClr val="7425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EE9FE"/>
                    </a:solidFill>
                  </a:tcPr>
                </a:tc>
                <a:tc>
                  <a:txBody>
                    <a:bodyPr/>
                    <a:lstStyle/>
                    <a:p>
                      <a:pPr marL="227965">
                        <a:lnSpc>
                          <a:spcPts val="1295"/>
                        </a:lnSpc>
                      </a:pPr>
                      <a:r>
                        <a:rPr dirty="0" sz="120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6%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solidFill>
                      <a:srgbClr val="7425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EE9FE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24765">
                        <a:lnSpc>
                          <a:spcPts val="1315"/>
                        </a:lnSpc>
                      </a:pPr>
                      <a:r>
                        <a:rPr dirty="0" sz="120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5%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solidFill>
                      <a:srgbClr val="7425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EE9FE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28575">
                        <a:lnSpc>
                          <a:spcPts val="1315"/>
                        </a:lnSpc>
                      </a:pPr>
                      <a:r>
                        <a:rPr dirty="0" sz="1200" spc="-2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5%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solidFill>
                      <a:srgbClr val="7425E3"/>
                    </a:solidFill>
                  </a:tcPr>
                </a:tc>
              </a:tr>
              <a:tr h="31051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200" spc="-25" b="1">
                          <a:solidFill>
                            <a:srgbClr val="444444"/>
                          </a:solidFill>
                          <a:latin typeface="Tahoma"/>
                          <a:cs typeface="Tahoma"/>
                        </a:rPr>
                        <a:t>Operating</a:t>
                      </a:r>
                      <a:r>
                        <a:rPr dirty="0" sz="1200" b="1">
                          <a:solidFill>
                            <a:srgbClr val="44444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200" spc="-10" b="1">
                          <a:solidFill>
                            <a:srgbClr val="444444"/>
                          </a:solidFill>
                          <a:latin typeface="Tahoma"/>
                          <a:cs typeface="Tahoma"/>
                        </a:rPr>
                        <a:t>Margin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B="0" marT="48895">
                    <a:solidFill>
                      <a:srgbClr val="CEE9FE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200" b="1">
                          <a:solidFill>
                            <a:srgbClr val="494949"/>
                          </a:solidFill>
                          <a:latin typeface="Tahoma"/>
                          <a:cs typeface="Tahoma"/>
                        </a:rPr>
                        <a:t>Q2</a:t>
                      </a:r>
                      <a:r>
                        <a:rPr dirty="0" sz="1200" spc="-20" b="1">
                          <a:solidFill>
                            <a:srgbClr val="494949"/>
                          </a:solidFill>
                          <a:latin typeface="Tahoma"/>
                          <a:cs typeface="Tahoma"/>
                        </a:rPr>
                        <a:t> FY26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B="0" marT="51435">
                    <a:solidFill>
                      <a:srgbClr val="CEE9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EE9FE"/>
                    </a:solidFill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200" b="1">
                          <a:solidFill>
                            <a:srgbClr val="494949"/>
                          </a:solidFill>
                          <a:latin typeface="Tahoma"/>
                          <a:cs typeface="Tahoma"/>
                        </a:rPr>
                        <a:t>Q3</a:t>
                      </a:r>
                      <a:r>
                        <a:rPr dirty="0" sz="1200" spc="-20" b="1">
                          <a:solidFill>
                            <a:srgbClr val="494949"/>
                          </a:solidFill>
                          <a:latin typeface="Tahoma"/>
                          <a:cs typeface="Tahoma"/>
                        </a:rPr>
                        <a:t> FY26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B="0" marT="51435">
                    <a:solidFill>
                      <a:srgbClr val="CEE9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EE9FE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200" b="1">
                          <a:solidFill>
                            <a:srgbClr val="494949"/>
                          </a:solidFill>
                          <a:latin typeface="Tahoma"/>
                          <a:cs typeface="Tahoma"/>
                        </a:rPr>
                        <a:t>Q4</a:t>
                      </a:r>
                      <a:r>
                        <a:rPr dirty="0" sz="1200" spc="-20" b="1">
                          <a:solidFill>
                            <a:srgbClr val="494949"/>
                          </a:solidFill>
                          <a:latin typeface="Tahoma"/>
                          <a:cs typeface="Tahoma"/>
                        </a:rPr>
                        <a:t> FY26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B="0" marT="51435">
                    <a:solidFill>
                      <a:srgbClr val="CEE9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EE9FE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524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200" b="1">
                          <a:solidFill>
                            <a:srgbClr val="494949"/>
                          </a:solidFill>
                          <a:latin typeface="Tahoma"/>
                          <a:cs typeface="Tahoma"/>
                        </a:rPr>
                        <a:t>Q1</a:t>
                      </a:r>
                      <a:r>
                        <a:rPr dirty="0" sz="1200" spc="-20" b="1">
                          <a:solidFill>
                            <a:srgbClr val="494949"/>
                          </a:solidFill>
                          <a:latin typeface="Tahoma"/>
                          <a:cs typeface="Tahoma"/>
                        </a:rPr>
                        <a:t> FY27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B="0" marT="51435">
                    <a:solidFill>
                      <a:srgbClr val="CEE9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EE9FE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905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200" b="1">
                          <a:solidFill>
                            <a:srgbClr val="494949"/>
                          </a:solidFill>
                          <a:latin typeface="Tahoma"/>
                          <a:cs typeface="Tahoma"/>
                        </a:rPr>
                        <a:t>Q2</a:t>
                      </a:r>
                      <a:r>
                        <a:rPr dirty="0" sz="1200" spc="-20" b="1">
                          <a:solidFill>
                            <a:srgbClr val="494949"/>
                          </a:solidFill>
                          <a:latin typeface="Tahoma"/>
                          <a:cs typeface="Tahoma"/>
                        </a:rPr>
                        <a:t> FY27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B="0" marT="51435">
                    <a:solidFill>
                      <a:srgbClr val="CEE9FE"/>
                    </a:solidFill>
                  </a:tcPr>
                </a:tc>
              </a:tr>
              <a:tr h="38544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700" spc="-20" b="1">
                          <a:solidFill>
                            <a:srgbClr val="022C5F"/>
                          </a:solidFill>
                          <a:latin typeface="Arial"/>
                          <a:cs typeface="Arial"/>
                        </a:rPr>
                        <a:t>GAAP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35560">
                    <a:solidFill>
                      <a:srgbClr val="CEE9F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700" spc="-10" b="1">
                          <a:solidFill>
                            <a:srgbClr val="012ABF"/>
                          </a:solidFill>
                          <a:latin typeface="Arial"/>
                          <a:cs typeface="Arial"/>
                        </a:rPr>
                        <a:t>22.8%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35560">
                    <a:solidFill>
                      <a:srgbClr val="CEE9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EE9FE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841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700" spc="-10" b="1">
                          <a:solidFill>
                            <a:srgbClr val="012ABF"/>
                          </a:solidFill>
                          <a:latin typeface="Arial"/>
                          <a:cs typeface="Arial"/>
                        </a:rPr>
                        <a:t>21.3%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35560">
                    <a:solidFill>
                      <a:srgbClr val="CEE9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EE9FE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000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700" spc="-10" b="1">
                          <a:solidFill>
                            <a:srgbClr val="012ABF"/>
                          </a:solidFill>
                          <a:latin typeface="Arial"/>
                          <a:cs typeface="Arial"/>
                        </a:rPr>
                        <a:t>16.7%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35560">
                    <a:solidFill>
                      <a:srgbClr val="CEE9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EE9F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651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700" spc="-10" b="1">
                          <a:solidFill>
                            <a:srgbClr val="012ABF"/>
                          </a:solidFill>
                          <a:latin typeface="Arial"/>
                          <a:cs typeface="Arial"/>
                        </a:rPr>
                        <a:t>21.1%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35560">
                    <a:solidFill>
                      <a:srgbClr val="CEE9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EE9FE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841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700" spc="-10" b="1">
                          <a:solidFill>
                            <a:srgbClr val="012ABF"/>
                          </a:solidFill>
                          <a:latin typeface="Arial"/>
                          <a:cs typeface="Arial"/>
                        </a:rPr>
                        <a:t>20.5%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35560">
                    <a:solidFill>
                      <a:srgbClr val="CEE9FE"/>
                    </a:solidFill>
                  </a:tcPr>
                </a:tc>
              </a:tr>
              <a:tr h="35115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700" b="1">
                          <a:solidFill>
                            <a:srgbClr val="022C5F"/>
                          </a:solidFill>
                          <a:latin typeface="Arial"/>
                          <a:cs typeface="Arial"/>
                        </a:rPr>
                        <a:t>Non-</a:t>
                      </a:r>
                      <a:r>
                        <a:rPr dirty="0" sz="1700" spc="-20" b="1">
                          <a:solidFill>
                            <a:srgbClr val="022C5F"/>
                          </a:solidFill>
                          <a:latin typeface="Arial"/>
                          <a:cs typeface="Arial"/>
                        </a:rPr>
                        <a:t>GAAP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21590">
                    <a:solidFill>
                      <a:srgbClr val="CEE9F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700" spc="-10" b="1">
                          <a:solidFill>
                            <a:srgbClr val="012ABF"/>
                          </a:solidFill>
                          <a:latin typeface="Arial"/>
                          <a:cs typeface="Arial"/>
                        </a:rPr>
                        <a:t>34.3%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21590">
                    <a:solidFill>
                      <a:srgbClr val="CEE9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EE9FE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841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700" spc="-10" b="1">
                          <a:solidFill>
                            <a:srgbClr val="012ABF"/>
                          </a:solidFill>
                          <a:latin typeface="Arial"/>
                          <a:cs typeface="Arial"/>
                        </a:rPr>
                        <a:t>35.5%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21590">
                    <a:solidFill>
                      <a:srgbClr val="CEE9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EE9FE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000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700" spc="-10" b="1">
                          <a:solidFill>
                            <a:srgbClr val="012ABF"/>
                          </a:solidFill>
                          <a:latin typeface="Arial"/>
                          <a:cs typeface="Arial"/>
                        </a:rPr>
                        <a:t>34.2%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21590">
                    <a:solidFill>
                      <a:srgbClr val="CEE9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EE9F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651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700" spc="-10" b="1">
                          <a:solidFill>
                            <a:srgbClr val="012ABF"/>
                          </a:solidFill>
                          <a:latin typeface="Arial"/>
                          <a:cs typeface="Arial"/>
                        </a:rPr>
                        <a:t>34.8%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21590">
                    <a:solidFill>
                      <a:srgbClr val="CEE9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EE9FE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841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700" spc="-10" b="1">
                          <a:solidFill>
                            <a:srgbClr val="012ABF"/>
                          </a:solidFill>
                          <a:latin typeface="Arial"/>
                          <a:cs typeface="Arial"/>
                        </a:rPr>
                        <a:t>34.1%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21590">
                    <a:solidFill>
                      <a:srgbClr val="CEE9FE"/>
                    </a:solidFill>
                  </a:tcPr>
                </a:tc>
              </a:tr>
            </a:tbl>
          </a:graphicData>
        </a:graphic>
      </p:graphicFrame>
      <p:sp>
        <p:nvSpPr>
          <p:cNvPr id="17" name="object 17"/>
          <p:cNvSpPr txBox="1"/>
          <p:nvPr/>
        </p:nvSpPr>
        <p:spPr>
          <a:xfrm>
            <a:off x="9104756" y="3783105"/>
            <a:ext cx="2288540" cy="1566545"/>
          </a:xfrm>
          <a:prstGeom prst="rect">
            <a:avLst/>
          </a:prstGeom>
        </p:spPr>
        <p:txBody>
          <a:bodyPr wrap="square" lIns="0" tIns="2667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10"/>
              </a:spcBef>
            </a:pPr>
            <a:r>
              <a:rPr dirty="0" sz="1800" spc="-70" b="1">
                <a:solidFill>
                  <a:srgbClr val="001E5A"/>
                </a:solidFill>
                <a:latin typeface="Arial"/>
                <a:cs typeface="Arial"/>
              </a:rPr>
              <a:t>FY27</a:t>
            </a:r>
            <a:r>
              <a:rPr dirty="0" sz="1800" spc="-50" b="1">
                <a:solidFill>
                  <a:srgbClr val="001E5A"/>
                </a:solidFill>
                <a:latin typeface="Arial"/>
                <a:cs typeface="Arial"/>
              </a:rPr>
              <a:t> </a:t>
            </a:r>
            <a:r>
              <a:rPr dirty="0" sz="1800" spc="60" b="1">
                <a:solidFill>
                  <a:srgbClr val="001E5A"/>
                </a:solidFill>
                <a:latin typeface="Arial"/>
                <a:cs typeface="Arial"/>
              </a:rPr>
              <a:t>Guidance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60"/>
              </a:spcBef>
            </a:pPr>
            <a:r>
              <a:rPr dirty="0" sz="2600" spc="-10" b="1">
                <a:solidFill>
                  <a:srgbClr val="012ABF"/>
                </a:solidFill>
                <a:latin typeface="Arial"/>
                <a:cs typeface="Arial"/>
              </a:rPr>
              <a:t>20bps</a:t>
            </a:r>
            <a:endParaRPr sz="2600">
              <a:latin typeface="Arial"/>
              <a:cs typeface="Arial"/>
            </a:endParaRPr>
          </a:p>
          <a:p>
            <a:pPr algn="ctr" marL="12700" marR="5080">
              <a:lnSpc>
                <a:spcPct val="100000"/>
              </a:lnSpc>
              <a:spcBef>
                <a:spcPts val="234"/>
              </a:spcBef>
            </a:pPr>
            <a:r>
              <a:rPr dirty="0" sz="1700" b="1">
                <a:solidFill>
                  <a:srgbClr val="001E5A"/>
                </a:solidFill>
                <a:latin typeface="Arial"/>
                <a:cs typeface="Arial"/>
              </a:rPr>
              <a:t>Non-GAAP</a:t>
            </a:r>
            <a:r>
              <a:rPr dirty="0" sz="1700" spc="135" b="1">
                <a:solidFill>
                  <a:srgbClr val="001E5A"/>
                </a:solidFill>
                <a:latin typeface="Arial"/>
                <a:cs typeface="Arial"/>
              </a:rPr>
              <a:t> </a:t>
            </a:r>
            <a:r>
              <a:rPr dirty="0" sz="1700" spc="-10" b="1">
                <a:solidFill>
                  <a:srgbClr val="001E5A"/>
                </a:solidFill>
                <a:latin typeface="Arial"/>
                <a:cs typeface="Arial"/>
              </a:rPr>
              <a:t>Operating Margin</a:t>
            </a:r>
            <a:endParaRPr sz="17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1800" spc="-25" b="1">
                <a:solidFill>
                  <a:srgbClr val="001E5A"/>
                </a:solidFill>
                <a:latin typeface="Arial"/>
                <a:cs typeface="Arial"/>
              </a:rPr>
              <a:t>Expansion</a:t>
            </a:r>
            <a:r>
              <a:rPr dirty="0" sz="1800" spc="-80" b="1">
                <a:solidFill>
                  <a:srgbClr val="001E5A"/>
                </a:solidFill>
                <a:latin typeface="Arial"/>
                <a:cs typeface="Arial"/>
              </a:rPr>
              <a:t> </a:t>
            </a:r>
            <a:r>
              <a:rPr dirty="0" sz="1700" spc="-25" b="1">
                <a:solidFill>
                  <a:srgbClr val="001E5A"/>
                </a:solidFill>
                <a:latin typeface="Arial"/>
                <a:cs typeface="Arial"/>
              </a:rPr>
              <a:t>Y/Y</a:t>
            </a:r>
            <a:endParaRPr sz="1700">
              <a:latin typeface="Arial"/>
              <a:cs typeface="Arial"/>
            </a:endParaRPr>
          </a:p>
        </p:txBody>
      </p:sp>
      <p:sp>
        <p:nvSpPr>
          <p:cNvPr id="2" name="object 2"/>
          <p:cNvSpPr/>
          <p:nvPr/>
        </p:nvSpPr>
        <p:spPr>
          <a:xfrm>
            <a:off x="0" y="6370446"/>
            <a:ext cx="12192000" cy="487680"/>
          </a:xfrm>
          <a:custGeom>
            <a:avLst/>
            <a:gdLst/>
            <a:ahLst/>
            <a:cxnLst/>
            <a:rect l="l" t="t" r="r" b="b"/>
            <a:pathLst>
              <a:path w="12192000" h="487679">
                <a:moveTo>
                  <a:pt x="0" y="487553"/>
                </a:moveTo>
                <a:lnTo>
                  <a:pt x="12192000" y="487553"/>
                </a:lnTo>
                <a:lnTo>
                  <a:pt x="12192000" y="0"/>
                </a:lnTo>
                <a:lnTo>
                  <a:pt x="0" y="0"/>
                </a:lnTo>
                <a:lnTo>
                  <a:pt x="0" y="487553"/>
                </a:lnTo>
                <a:close/>
              </a:path>
            </a:pathLst>
          </a:custGeom>
          <a:solidFill>
            <a:srgbClr val="CEE9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0" y="5852159"/>
            <a:ext cx="12192000" cy="518795"/>
          </a:xfrm>
          <a:custGeom>
            <a:avLst/>
            <a:gdLst/>
            <a:ahLst/>
            <a:cxnLst/>
            <a:rect l="l" t="t" r="r" b="b"/>
            <a:pathLst>
              <a:path w="12192000" h="518795">
                <a:moveTo>
                  <a:pt x="0" y="518287"/>
                </a:moveTo>
                <a:lnTo>
                  <a:pt x="0" y="0"/>
                </a:lnTo>
                <a:lnTo>
                  <a:pt x="12191999" y="0"/>
                </a:lnTo>
                <a:lnTo>
                  <a:pt x="12192000" y="518287"/>
                </a:lnTo>
                <a:lnTo>
                  <a:pt x="0" y="518287"/>
                </a:lnTo>
                <a:close/>
              </a:path>
            </a:pathLst>
          </a:custGeom>
          <a:solidFill>
            <a:srgbClr val="012A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302133" y="5924930"/>
            <a:ext cx="114147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Operating</a:t>
            </a:r>
            <a:r>
              <a:rPr dirty="0" sz="1800" spc="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as</a:t>
            </a:r>
            <a:r>
              <a:rPr dirty="0" sz="1800" spc="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180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800" spc="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lean,</a:t>
            </a:r>
            <a:r>
              <a:rPr dirty="0" sz="1800" spc="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55" b="1">
                <a:solidFill>
                  <a:srgbClr val="FFFFFF"/>
                </a:solidFill>
                <a:latin typeface="Arial"/>
                <a:cs typeface="Arial"/>
              </a:rPr>
              <a:t>agentic</a:t>
            </a:r>
            <a:r>
              <a:rPr dirty="0" sz="1800" spc="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enterprise,</a:t>
            </a:r>
            <a:r>
              <a:rPr dirty="0" sz="1800" spc="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0" b="1">
                <a:solidFill>
                  <a:srgbClr val="FFFFFF"/>
                </a:solidFill>
                <a:latin typeface="Arial"/>
                <a:cs typeface="Arial"/>
              </a:rPr>
              <a:t>investing</a:t>
            </a:r>
            <a:r>
              <a:rPr dirty="0" sz="1800" spc="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dirty="0" sz="1800" spc="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growth,</a:t>
            </a:r>
            <a:r>
              <a:rPr dirty="0" sz="1800" spc="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while</a:t>
            </a:r>
            <a:r>
              <a:rPr dirty="0" sz="1800" spc="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driving</a:t>
            </a:r>
            <a:r>
              <a:rPr dirty="0" sz="1800" spc="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efficiency</a:t>
            </a:r>
            <a:r>
              <a:rPr dirty="0" sz="1800" spc="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80" b="1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800" spc="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AI</a:t>
            </a:r>
            <a:r>
              <a:rPr dirty="0" sz="1800" spc="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Arial"/>
                <a:cs typeface="Arial"/>
              </a:rPr>
              <a:t>productivity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453621" y="6583933"/>
            <a:ext cx="18034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>
                <a:latin typeface="Verdana"/>
                <a:cs typeface="Verdana"/>
              </a:rPr>
              <a:t>24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902716" y="6676643"/>
            <a:ext cx="889317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40">
                <a:solidFill>
                  <a:srgbClr val="6C6C6C"/>
                </a:solidFill>
                <a:latin typeface="Verdana"/>
                <a:cs typeface="Verdana"/>
              </a:rPr>
              <a:t>Current </a:t>
            </a:r>
            <a:r>
              <a:rPr dirty="0" sz="800" spc="-30">
                <a:solidFill>
                  <a:srgbClr val="6C6C6C"/>
                </a:solidFill>
                <a:latin typeface="Verdana"/>
                <a:cs typeface="Verdana"/>
              </a:rPr>
              <a:t>Guidance</a:t>
            </a:r>
            <a:r>
              <a:rPr dirty="0" sz="800" spc="-45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25">
                <a:solidFill>
                  <a:srgbClr val="6C6C6C"/>
                </a:solidFill>
                <a:latin typeface="Verdana"/>
                <a:cs typeface="Verdana"/>
              </a:rPr>
              <a:t>includes</a:t>
            </a:r>
            <a:r>
              <a:rPr dirty="0" sz="800" spc="-35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30">
                <a:solidFill>
                  <a:srgbClr val="6C6C6C"/>
                </a:solidFill>
                <a:latin typeface="Verdana"/>
                <a:cs typeface="Verdana"/>
              </a:rPr>
              <a:t>the</a:t>
            </a:r>
            <a:r>
              <a:rPr dirty="0" sz="800" spc="-45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30">
                <a:solidFill>
                  <a:srgbClr val="6C6C6C"/>
                </a:solidFill>
                <a:latin typeface="Verdana"/>
                <a:cs typeface="Verdana"/>
              </a:rPr>
              <a:t>anticipated</a:t>
            </a:r>
            <a:r>
              <a:rPr dirty="0" sz="800" spc="-45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30">
                <a:solidFill>
                  <a:srgbClr val="6C6C6C"/>
                </a:solidFill>
                <a:latin typeface="Verdana"/>
                <a:cs typeface="Verdana"/>
              </a:rPr>
              <a:t>contribution</a:t>
            </a:r>
            <a:r>
              <a:rPr dirty="0" sz="800" spc="-40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25">
                <a:solidFill>
                  <a:srgbClr val="6C6C6C"/>
                </a:solidFill>
                <a:latin typeface="Verdana"/>
                <a:cs typeface="Verdana"/>
              </a:rPr>
              <a:t>of</a:t>
            </a:r>
            <a:r>
              <a:rPr dirty="0" sz="800" spc="-35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30">
                <a:solidFill>
                  <a:srgbClr val="6C6C6C"/>
                </a:solidFill>
                <a:latin typeface="Verdana"/>
                <a:cs typeface="Verdana"/>
              </a:rPr>
              <a:t>Contentful</a:t>
            </a:r>
            <a:r>
              <a:rPr dirty="0" sz="800" spc="-40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35">
                <a:solidFill>
                  <a:srgbClr val="6C6C6C"/>
                </a:solidFill>
                <a:latin typeface="Verdana"/>
                <a:cs typeface="Verdana"/>
              </a:rPr>
              <a:t>and</a:t>
            </a:r>
            <a:r>
              <a:rPr dirty="0" sz="800" spc="-40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45">
                <a:solidFill>
                  <a:srgbClr val="6C6C6C"/>
                </a:solidFill>
                <a:latin typeface="Verdana"/>
                <a:cs typeface="Verdana"/>
              </a:rPr>
              <a:t>Fin,</a:t>
            </a:r>
            <a:r>
              <a:rPr dirty="0" sz="800" spc="-40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30">
                <a:solidFill>
                  <a:srgbClr val="6C6C6C"/>
                </a:solidFill>
                <a:latin typeface="Verdana"/>
                <a:cs typeface="Verdana"/>
              </a:rPr>
              <a:t>which</a:t>
            </a:r>
            <a:r>
              <a:rPr dirty="0" sz="800" spc="-40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35">
                <a:solidFill>
                  <a:srgbClr val="6C6C6C"/>
                </a:solidFill>
                <a:latin typeface="Verdana"/>
                <a:cs typeface="Verdana"/>
              </a:rPr>
              <a:t>we</a:t>
            </a:r>
            <a:r>
              <a:rPr dirty="0" sz="800" spc="-40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35">
                <a:solidFill>
                  <a:srgbClr val="6C6C6C"/>
                </a:solidFill>
                <a:latin typeface="Verdana"/>
                <a:cs typeface="Verdana"/>
              </a:rPr>
              <a:t>expect</a:t>
            </a:r>
            <a:r>
              <a:rPr dirty="0" sz="800" spc="-40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20">
                <a:solidFill>
                  <a:srgbClr val="6C6C6C"/>
                </a:solidFill>
                <a:latin typeface="Verdana"/>
                <a:cs typeface="Verdana"/>
              </a:rPr>
              <a:t>to</a:t>
            </a:r>
            <a:r>
              <a:rPr dirty="0" sz="800" spc="-45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35">
                <a:solidFill>
                  <a:srgbClr val="6C6C6C"/>
                </a:solidFill>
                <a:latin typeface="Verdana"/>
                <a:cs typeface="Verdana"/>
              </a:rPr>
              <a:t>each </a:t>
            </a:r>
            <a:r>
              <a:rPr dirty="0" sz="800" spc="-30">
                <a:solidFill>
                  <a:srgbClr val="6C6C6C"/>
                </a:solidFill>
                <a:latin typeface="Verdana"/>
                <a:cs typeface="Verdana"/>
              </a:rPr>
              <a:t>close</a:t>
            </a:r>
            <a:r>
              <a:rPr dirty="0" sz="800" spc="-45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30">
                <a:solidFill>
                  <a:srgbClr val="6C6C6C"/>
                </a:solidFill>
                <a:latin typeface="Verdana"/>
                <a:cs typeface="Verdana"/>
              </a:rPr>
              <a:t>in</a:t>
            </a:r>
            <a:r>
              <a:rPr dirty="0" sz="800" spc="-40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30">
                <a:solidFill>
                  <a:srgbClr val="6C6C6C"/>
                </a:solidFill>
                <a:latin typeface="Verdana"/>
                <a:cs typeface="Verdana"/>
              </a:rPr>
              <a:t>the</a:t>
            </a:r>
            <a:r>
              <a:rPr dirty="0" sz="800" spc="-40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30">
                <a:solidFill>
                  <a:srgbClr val="6C6C6C"/>
                </a:solidFill>
                <a:latin typeface="Verdana"/>
                <a:cs typeface="Verdana"/>
              </a:rPr>
              <a:t>coming</a:t>
            </a:r>
            <a:r>
              <a:rPr dirty="0" sz="800" spc="-40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55">
                <a:solidFill>
                  <a:srgbClr val="6C6C6C"/>
                </a:solidFill>
                <a:latin typeface="Verdana"/>
                <a:cs typeface="Verdana"/>
              </a:rPr>
              <a:t>weeks,</a:t>
            </a:r>
            <a:r>
              <a:rPr dirty="0" sz="800" spc="-40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35">
                <a:solidFill>
                  <a:srgbClr val="6C6C6C"/>
                </a:solidFill>
                <a:latin typeface="Verdana"/>
                <a:cs typeface="Verdana"/>
              </a:rPr>
              <a:t>and</a:t>
            </a:r>
            <a:r>
              <a:rPr dirty="0" sz="800" spc="-40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50">
                <a:solidFill>
                  <a:srgbClr val="6C6C6C"/>
                </a:solidFill>
                <a:latin typeface="Verdana"/>
                <a:cs typeface="Verdana"/>
              </a:rPr>
              <a:t>is</a:t>
            </a:r>
            <a:r>
              <a:rPr dirty="0" sz="800" spc="-40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30">
                <a:solidFill>
                  <a:srgbClr val="6C6C6C"/>
                </a:solidFill>
                <a:latin typeface="Verdana"/>
                <a:cs typeface="Verdana"/>
              </a:rPr>
              <a:t>conditional</a:t>
            </a:r>
            <a:r>
              <a:rPr dirty="0" sz="800" spc="-35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20">
                <a:solidFill>
                  <a:srgbClr val="6C6C6C"/>
                </a:solidFill>
                <a:latin typeface="Verdana"/>
                <a:cs typeface="Verdana"/>
              </a:rPr>
              <a:t>upon</a:t>
            </a:r>
            <a:r>
              <a:rPr dirty="0" sz="800" spc="-40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30">
                <a:solidFill>
                  <a:srgbClr val="6C6C6C"/>
                </a:solidFill>
                <a:latin typeface="Verdana"/>
                <a:cs typeface="Verdana"/>
              </a:rPr>
              <a:t>the</a:t>
            </a:r>
            <a:r>
              <a:rPr dirty="0" sz="800" spc="-45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35">
                <a:solidFill>
                  <a:srgbClr val="6C6C6C"/>
                </a:solidFill>
                <a:latin typeface="Verdana"/>
                <a:cs typeface="Verdana"/>
              </a:rPr>
              <a:t>closing </a:t>
            </a:r>
            <a:r>
              <a:rPr dirty="0" sz="800" spc="-25">
                <a:solidFill>
                  <a:srgbClr val="6C6C6C"/>
                </a:solidFill>
                <a:latin typeface="Verdana"/>
                <a:cs typeface="Verdana"/>
              </a:rPr>
              <a:t>of</a:t>
            </a:r>
            <a:r>
              <a:rPr dirty="0" sz="800" spc="-40">
                <a:solidFill>
                  <a:srgbClr val="6C6C6C"/>
                </a:solidFill>
                <a:latin typeface="Verdana"/>
                <a:cs typeface="Verdana"/>
              </a:rPr>
              <a:t> these</a:t>
            </a:r>
            <a:r>
              <a:rPr dirty="0" sz="800" spc="-45">
                <a:solidFill>
                  <a:srgbClr val="6C6C6C"/>
                </a:solidFill>
                <a:latin typeface="Verdana"/>
                <a:cs typeface="Verdana"/>
              </a:rPr>
              <a:t> </a:t>
            </a:r>
            <a:r>
              <a:rPr dirty="0" sz="800" spc="-10">
                <a:solidFill>
                  <a:srgbClr val="6C6C6C"/>
                </a:solidFill>
                <a:latin typeface="Verdana"/>
                <a:cs typeface="Verdana"/>
              </a:rPr>
              <a:t>transactions.</a:t>
            </a:r>
            <a:endParaRPr sz="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33252" y="565404"/>
            <a:ext cx="635634" cy="445008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621030" y="1206500"/>
            <a:ext cx="11034395" cy="5320030"/>
          </a:xfrm>
          <a:custGeom>
            <a:avLst/>
            <a:gdLst/>
            <a:ahLst/>
            <a:cxnLst/>
            <a:rect l="l" t="t" r="r" b="b"/>
            <a:pathLst>
              <a:path w="11034395" h="5320030">
                <a:moveTo>
                  <a:pt x="10888726" y="0"/>
                </a:moveTo>
                <a:lnTo>
                  <a:pt x="145161" y="0"/>
                </a:lnTo>
                <a:lnTo>
                  <a:pt x="99291" y="7403"/>
                </a:lnTo>
                <a:lnTo>
                  <a:pt x="59445" y="28017"/>
                </a:lnTo>
                <a:lnTo>
                  <a:pt x="28017" y="59445"/>
                </a:lnTo>
                <a:lnTo>
                  <a:pt x="7403" y="99291"/>
                </a:lnTo>
                <a:lnTo>
                  <a:pt x="0" y="145160"/>
                </a:lnTo>
                <a:lnTo>
                  <a:pt x="0" y="5174615"/>
                </a:lnTo>
                <a:lnTo>
                  <a:pt x="7403" y="5220484"/>
                </a:lnTo>
                <a:lnTo>
                  <a:pt x="28017" y="5260330"/>
                </a:lnTo>
                <a:lnTo>
                  <a:pt x="59445" y="5291758"/>
                </a:lnTo>
                <a:lnTo>
                  <a:pt x="99291" y="5312372"/>
                </a:lnTo>
                <a:lnTo>
                  <a:pt x="145161" y="5319776"/>
                </a:lnTo>
                <a:lnTo>
                  <a:pt x="10888726" y="5319776"/>
                </a:lnTo>
                <a:lnTo>
                  <a:pt x="10934595" y="5312372"/>
                </a:lnTo>
                <a:lnTo>
                  <a:pt x="10974442" y="5291758"/>
                </a:lnTo>
                <a:lnTo>
                  <a:pt x="11005870" y="5260330"/>
                </a:lnTo>
                <a:lnTo>
                  <a:pt x="11026483" y="5220484"/>
                </a:lnTo>
                <a:lnTo>
                  <a:pt x="11033887" y="5174615"/>
                </a:lnTo>
                <a:lnTo>
                  <a:pt x="11033887" y="145160"/>
                </a:lnTo>
                <a:lnTo>
                  <a:pt x="11026483" y="99291"/>
                </a:lnTo>
                <a:lnTo>
                  <a:pt x="11005870" y="59445"/>
                </a:lnTo>
                <a:lnTo>
                  <a:pt x="10974442" y="28017"/>
                </a:lnTo>
                <a:lnTo>
                  <a:pt x="10934595" y="7403"/>
                </a:lnTo>
                <a:lnTo>
                  <a:pt x="1088872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4078" rIns="0" bIns="0" rtlCol="0" vert="horz">
            <a:spAutoFit/>
          </a:bodyPr>
          <a:lstStyle/>
          <a:p>
            <a:pPr marL="66675">
              <a:lnSpc>
                <a:spcPct val="100000"/>
              </a:lnSpc>
              <a:spcBef>
                <a:spcPts val="100"/>
              </a:spcBef>
            </a:pPr>
            <a:r>
              <a:rPr dirty="0" spc="100"/>
              <a:t>Non-</a:t>
            </a:r>
            <a:r>
              <a:rPr dirty="0"/>
              <a:t>GAAP</a:t>
            </a:r>
            <a:r>
              <a:rPr dirty="0" spc="-15"/>
              <a:t> </a:t>
            </a:r>
            <a:r>
              <a:rPr dirty="0"/>
              <a:t>Financial</a:t>
            </a:r>
            <a:r>
              <a:rPr dirty="0" spc="-5"/>
              <a:t> </a:t>
            </a:r>
            <a:r>
              <a:rPr dirty="0" spc="-10"/>
              <a:t>Measures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97687" y="1509776"/>
            <a:ext cx="10836275" cy="52520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01295">
              <a:lnSpc>
                <a:spcPct val="100000"/>
              </a:lnSpc>
              <a:spcBef>
                <a:spcPts val="100"/>
              </a:spcBef>
            </a:pP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This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presentation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includes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information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about 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non-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GAAP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diluted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earnings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per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60">
                <a:solidFill>
                  <a:srgbClr val="022C5F"/>
                </a:solidFill>
                <a:latin typeface="Verdana"/>
                <a:cs typeface="Verdana"/>
              </a:rPr>
              <a:t>share,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non-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GAAP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income 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from 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operations,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non-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GAAP 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expenses,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non-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GAAP 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operating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margin,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free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cash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flow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and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free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cash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 flow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10">
                <a:solidFill>
                  <a:srgbClr val="022C5F"/>
                </a:solidFill>
                <a:latin typeface="Verdana"/>
                <a:cs typeface="Verdana"/>
              </a:rPr>
              <a:t>growth, 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constant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currency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revenue</a:t>
            </a:r>
            <a:r>
              <a:rPr dirty="0" sz="850" spc="-2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and 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revenue</a:t>
            </a:r>
            <a:r>
              <a:rPr dirty="0" sz="850" spc="-2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growth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60">
                <a:solidFill>
                  <a:srgbClr val="022C5F"/>
                </a:solidFill>
                <a:latin typeface="Verdana"/>
                <a:cs typeface="Verdana"/>
              </a:rPr>
              <a:t>rates,</a:t>
            </a:r>
            <a:r>
              <a:rPr dirty="0" sz="850" spc="-2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and 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constant</a:t>
            </a:r>
            <a:r>
              <a:rPr dirty="0" sz="850" spc="-2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currency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current</a:t>
            </a:r>
            <a:r>
              <a:rPr dirty="0" sz="850" spc="-2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remaining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performance</a:t>
            </a:r>
            <a:r>
              <a:rPr dirty="0" sz="850" spc="-2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obligation 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growth</a:t>
            </a:r>
            <a:r>
              <a:rPr dirty="0" sz="850" spc="-2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5">
                <a:solidFill>
                  <a:srgbClr val="022C5F"/>
                </a:solidFill>
                <a:latin typeface="Verdana"/>
                <a:cs typeface="Verdana"/>
              </a:rPr>
              <a:t>rates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(collectively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the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“non-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GAAP</a:t>
            </a:r>
            <a:r>
              <a:rPr dirty="0" sz="850" spc="-2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financial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5">
                <a:solidFill>
                  <a:srgbClr val="022C5F"/>
                </a:solidFill>
                <a:latin typeface="Verdana"/>
                <a:cs typeface="Verdana"/>
              </a:rPr>
              <a:t>measures”).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These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non-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GAAP</a:t>
            </a:r>
            <a:r>
              <a:rPr dirty="0" sz="850" spc="-2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10">
                <a:solidFill>
                  <a:srgbClr val="022C5F"/>
                </a:solidFill>
                <a:latin typeface="Verdana"/>
                <a:cs typeface="Verdana"/>
              </a:rPr>
              <a:t>financial 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measures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5">
                <a:solidFill>
                  <a:srgbClr val="022C5F"/>
                </a:solidFill>
                <a:latin typeface="Verdana"/>
                <a:cs typeface="Verdana"/>
              </a:rPr>
              <a:t>are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measurements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10">
                <a:solidFill>
                  <a:srgbClr val="022C5F"/>
                </a:solidFill>
                <a:latin typeface="Verdana"/>
                <a:cs typeface="Verdana"/>
              </a:rPr>
              <a:t>of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financial performance 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that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5">
                <a:solidFill>
                  <a:srgbClr val="022C5F"/>
                </a:solidFill>
                <a:latin typeface="Verdana"/>
                <a:cs typeface="Verdana"/>
              </a:rPr>
              <a:t>are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not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prepared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in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accordance 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with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80">
                <a:solidFill>
                  <a:srgbClr val="022C5F"/>
                </a:solidFill>
                <a:latin typeface="Verdana"/>
                <a:cs typeface="Verdana"/>
              </a:rPr>
              <a:t>U.S.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generally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accepted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accounting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principles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and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computational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methods </a:t>
            </a:r>
            <a:r>
              <a:rPr dirty="0" sz="850" spc="-65">
                <a:solidFill>
                  <a:srgbClr val="022C5F"/>
                </a:solidFill>
                <a:latin typeface="Verdana"/>
                <a:cs typeface="Verdana"/>
              </a:rPr>
              <a:t>may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differ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from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those used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by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10">
                <a:solidFill>
                  <a:srgbClr val="022C5F"/>
                </a:solidFill>
                <a:latin typeface="Verdana"/>
                <a:cs typeface="Verdana"/>
              </a:rPr>
              <a:t>other 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companies.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Non-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GAAP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financial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measures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5">
                <a:solidFill>
                  <a:srgbClr val="022C5F"/>
                </a:solidFill>
                <a:latin typeface="Verdana"/>
                <a:cs typeface="Verdana"/>
              </a:rPr>
              <a:t>are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not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meant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to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be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considered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in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isolation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or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65">
                <a:solidFill>
                  <a:srgbClr val="022C5F"/>
                </a:solidFill>
                <a:latin typeface="Verdana"/>
                <a:cs typeface="Verdana"/>
              </a:rPr>
              <a:t>as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60">
                <a:solidFill>
                  <a:srgbClr val="022C5F"/>
                </a:solidFill>
                <a:latin typeface="Verdana"/>
                <a:cs typeface="Verdana"/>
              </a:rPr>
              <a:t>a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substitute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for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comparable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GAAP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measures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and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should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be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read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only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in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conjunction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with 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the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Company’s </a:t>
            </a:r>
            <a:r>
              <a:rPr dirty="0" sz="850" spc="-10">
                <a:solidFill>
                  <a:srgbClr val="022C5F"/>
                </a:solidFill>
                <a:latin typeface="Verdana"/>
                <a:cs typeface="Verdana"/>
              </a:rPr>
              <a:t>condensed 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consolidated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financial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statements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prepared 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in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accordance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with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GAAP.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Management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5">
                <a:solidFill>
                  <a:srgbClr val="022C5F"/>
                </a:solidFill>
                <a:latin typeface="Verdana"/>
                <a:cs typeface="Verdana"/>
              </a:rPr>
              <a:t>uses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20">
                <a:solidFill>
                  <a:srgbClr val="022C5F"/>
                </a:solidFill>
                <a:latin typeface="Verdana"/>
                <a:cs typeface="Verdana"/>
              </a:rPr>
              <a:t>both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 GAAP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 and 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non-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GAAP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financial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measures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when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planning,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 monitoring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and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evaluating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the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Company’s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10">
                <a:solidFill>
                  <a:srgbClr val="022C5F"/>
                </a:solidFill>
                <a:latin typeface="Verdana"/>
                <a:cs typeface="Verdana"/>
              </a:rPr>
              <a:t>performance.</a:t>
            </a:r>
            <a:endParaRPr sz="850">
              <a:latin typeface="Verdana"/>
              <a:cs typeface="Verdana"/>
            </a:endParaRPr>
          </a:p>
          <a:p>
            <a:pPr marL="12700" marR="277495">
              <a:lnSpc>
                <a:spcPct val="100000"/>
              </a:lnSpc>
              <a:spcBef>
                <a:spcPts val="1019"/>
              </a:spcBef>
            </a:pP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The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 primary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purpose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10">
                <a:solidFill>
                  <a:srgbClr val="022C5F"/>
                </a:solidFill>
                <a:latin typeface="Verdana"/>
                <a:cs typeface="Verdana"/>
              </a:rPr>
              <a:t>of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using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non-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GAAP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financial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measures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is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to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provide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supplemental 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information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 that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65">
                <a:solidFill>
                  <a:srgbClr val="022C5F"/>
                </a:solidFill>
                <a:latin typeface="Verdana"/>
                <a:cs typeface="Verdana"/>
              </a:rPr>
              <a:t>may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 prove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useful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to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investors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and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to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enable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investors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to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evaluate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the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Company’s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results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in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the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same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way 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management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does.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Management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believes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that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supplementing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 GAAP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disclosure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with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non-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GAAP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disclosure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provides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investors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with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60">
                <a:solidFill>
                  <a:srgbClr val="022C5F"/>
                </a:solidFill>
                <a:latin typeface="Verdana"/>
                <a:cs typeface="Verdana"/>
              </a:rPr>
              <a:t>a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more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complete </a:t>
            </a:r>
            <a:r>
              <a:rPr dirty="0" sz="850" spc="-55">
                <a:solidFill>
                  <a:srgbClr val="022C5F"/>
                </a:solidFill>
                <a:latin typeface="Verdana"/>
                <a:cs typeface="Verdana"/>
              </a:rPr>
              <a:t>view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10">
                <a:solidFill>
                  <a:srgbClr val="022C5F"/>
                </a:solidFill>
                <a:latin typeface="Verdana"/>
                <a:cs typeface="Verdana"/>
              </a:rPr>
              <a:t>of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the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Company’s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operational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performance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 and 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allows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for 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meaningful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period-</a:t>
            </a:r>
            <a:r>
              <a:rPr dirty="0" sz="850" spc="-60">
                <a:solidFill>
                  <a:srgbClr val="022C5F"/>
                </a:solidFill>
                <a:latin typeface="Verdana"/>
                <a:cs typeface="Verdana"/>
              </a:rPr>
              <a:t>to-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period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comparisons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 and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5">
                <a:solidFill>
                  <a:srgbClr val="022C5F"/>
                </a:solidFill>
                <a:latin typeface="Verdana"/>
                <a:cs typeface="Verdana"/>
              </a:rPr>
              <a:t>analysis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10">
                <a:solidFill>
                  <a:srgbClr val="022C5F"/>
                </a:solidFill>
                <a:latin typeface="Verdana"/>
                <a:cs typeface="Verdana"/>
              </a:rPr>
              <a:t>of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trends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 in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the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Company’s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business.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Further,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to 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the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extent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that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other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companies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use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similar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methods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in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calculating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non-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GAAP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financial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5">
                <a:solidFill>
                  <a:srgbClr val="022C5F"/>
                </a:solidFill>
                <a:latin typeface="Verdana"/>
                <a:cs typeface="Verdana"/>
              </a:rPr>
              <a:t>measures,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the 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provision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10">
                <a:solidFill>
                  <a:srgbClr val="022C5F"/>
                </a:solidFill>
                <a:latin typeface="Verdana"/>
                <a:cs typeface="Verdana"/>
              </a:rPr>
              <a:t>of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supplemental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non-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GAAP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 information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can allow 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for </a:t>
            </a:r>
            <a:r>
              <a:rPr dirty="0" sz="850" spc="-60">
                <a:solidFill>
                  <a:srgbClr val="022C5F"/>
                </a:solidFill>
                <a:latin typeface="Verdana"/>
                <a:cs typeface="Verdana"/>
              </a:rPr>
              <a:t>a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 comparison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10">
                <a:solidFill>
                  <a:srgbClr val="022C5F"/>
                </a:solidFill>
                <a:latin typeface="Verdana"/>
                <a:cs typeface="Verdana"/>
              </a:rPr>
              <a:t>of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the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Company’s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relative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performance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against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other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companies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that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also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report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non-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GAAP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operating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10">
                <a:solidFill>
                  <a:srgbClr val="022C5F"/>
                </a:solidFill>
                <a:latin typeface="Verdana"/>
                <a:cs typeface="Verdana"/>
              </a:rPr>
              <a:t>results.</a:t>
            </a:r>
            <a:endParaRPr sz="850">
              <a:latin typeface="Verdana"/>
              <a:cs typeface="Verdana"/>
            </a:endParaRPr>
          </a:p>
          <a:p>
            <a:pPr marL="12700" marR="243204">
              <a:lnSpc>
                <a:spcPct val="100000"/>
              </a:lnSpc>
              <a:spcBef>
                <a:spcPts val="1019"/>
              </a:spcBef>
            </a:pP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Non-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GAAP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operating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margin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is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the 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proportion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10">
                <a:solidFill>
                  <a:srgbClr val="022C5F"/>
                </a:solidFill>
                <a:latin typeface="Verdana"/>
                <a:cs typeface="Verdana"/>
              </a:rPr>
              <a:t>of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non-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GAAP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income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from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operations </a:t>
            </a:r>
            <a:r>
              <a:rPr dirty="0" sz="850" spc="-65">
                <a:solidFill>
                  <a:srgbClr val="022C5F"/>
                </a:solidFill>
                <a:latin typeface="Verdana"/>
                <a:cs typeface="Verdana"/>
              </a:rPr>
              <a:t>as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60">
                <a:solidFill>
                  <a:srgbClr val="022C5F"/>
                </a:solidFill>
                <a:latin typeface="Verdana"/>
                <a:cs typeface="Verdana"/>
              </a:rPr>
              <a:t>a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percentage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10">
                <a:solidFill>
                  <a:srgbClr val="022C5F"/>
                </a:solidFill>
                <a:latin typeface="Verdana"/>
                <a:cs typeface="Verdana"/>
              </a:rPr>
              <a:t>of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GAAP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5">
                <a:solidFill>
                  <a:srgbClr val="022C5F"/>
                </a:solidFill>
                <a:latin typeface="Verdana"/>
                <a:cs typeface="Verdana"/>
              </a:rPr>
              <a:t>revenue.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Non-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GAAP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income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from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operations 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excludes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the 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impact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10">
                <a:solidFill>
                  <a:srgbClr val="022C5F"/>
                </a:solidFill>
                <a:latin typeface="Verdana"/>
                <a:cs typeface="Verdana"/>
              </a:rPr>
              <a:t>of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the 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following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65">
                <a:solidFill>
                  <a:srgbClr val="022C5F"/>
                </a:solidFill>
                <a:latin typeface="Verdana"/>
                <a:cs typeface="Verdana"/>
              </a:rPr>
              <a:t>items: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5">
                <a:solidFill>
                  <a:srgbClr val="022C5F"/>
                </a:solidFill>
                <a:latin typeface="Verdana"/>
                <a:cs typeface="Verdana"/>
              </a:rPr>
              <a:t>stock-</a:t>
            </a:r>
            <a:r>
              <a:rPr dirty="0" sz="850" spc="-10">
                <a:solidFill>
                  <a:srgbClr val="022C5F"/>
                </a:solidFill>
                <a:latin typeface="Verdana"/>
                <a:cs typeface="Verdana"/>
              </a:rPr>
              <a:t>based 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compensation</a:t>
            </a:r>
            <a:r>
              <a:rPr dirty="0" sz="850" spc="-2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expense,</a:t>
            </a:r>
            <a:r>
              <a:rPr dirty="0" sz="850" spc="-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amortization</a:t>
            </a:r>
            <a:r>
              <a:rPr dirty="0" sz="850" spc="-1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10">
                <a:solidFill>
                  <a:srgbClr val="022C5F"/>
                </a:solidFill>
                <a:latin typeface="Verdana"/>
                <a:cs typeface="Verdana"/>
              </a:rPr>
              <a:t>of 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acquisition-related</a:t>
            </a:r>
            <a:r>
              <a:rPr dirty="0" sz="850" spc="-1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intangibles</a:t>
            </a:r>
            <a:r>
              <a:rPr dirty="0" sz="850" spc="-1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and</a:t>
            </a:r>
            <a:r>
              <a:rPr dirty="0" sz="850" spc="-1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charges</a:t>
            </a:r>
            <a:r>
              <a:rPr dirty="0" sz="850" spc="-1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related</a:t>
            </a:r>
            <a:r>
              <a:rPr dirty="0" sz="850" spc="-1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to</a:t>
            </a:r>
            <a:r>
              <a:rPr dirty="0" sz="850" spc="-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restructuring</a:t>
            </a:r>
            <a:r>
              <a:rPr dirty="0" sz="850" spc="-1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initiatives</a:t>
            </a:r>
            <a:r>
              <a:rPr dirty="0" sz="850" spc="-1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and</a:t>
            </a:r>
            <a:r>
              <a:rPr dirty="0" sz="850" spc="-1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acquisition-related</a:t>
            </a:r>
            <a:r>
              <a:rPr dirty="0" sz="850" spc="-1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10">
                <a:solidFill>
                  <a:srgbClr val="022C5F"/>
                </a:solidFill>
                <a:latin typeface="Verdana"/>
                <a:cs typeface="Verdana"/>
              </a:rPr>
              <a:t>costs.</a:t>
            </a:r>
            <a:endParaRPr sz="850">
              <a:latin typeface="Verdana"/>
              <a:cs typeface="Verdana"/>
            </a:endParaRPr>
          </a:p>
          <a:p>
            <a:pPr marL="12700" marR="373380">
              <a:lnSpc>
                <a:spcPct val="100000"/>
              </a:lnSpc>
              <a:spcBef>
                <a:spcPts val="1020"/>
              </a:spcBef>
            </a:pP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Non-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GAAP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diluted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earnings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per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share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excludes,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 to 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the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extent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applicable,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the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impact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10">
                <a:solidFill>
                  <a:srgbClr val="022C5F"/>
                </a:solidFill>
                <a:latin typeface="Verdana"/>
                <a:cs typeface="Verdana"/>
              </a:rPr>
              <a:t>of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the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following </a:t>
            </a:r>
            <a:r>
              <a:rPr dirty="0" sz="850" spc="-65">
                <a:solidFill>
                  <a:srgbClr val="022C5F"/>
                </a:solidFill>
                <a:latin typeface="Verdana"/>
                <a:cs typeface="Verdana"/>
              </a:rPr>
              <a:t>items: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5">
                <a:solidFill>
                  <a:srgbClr val="022C5F"/>
                </a:solidFill>
                <a:latin typeface="Verdana"/>
                <a:cs typeface="Verdana"/>
              </a:rPr>
              <a:t>stock-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based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compensation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expense,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amortization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10">
                <a:solidFill>
                  <a:srgbClr val="022C5F"/>
                </a:solidFill>
                <a:latin typeface="Verdana"/>
                <a:cs typeface="Verdana"/>
              </a:rPr>
              <a:t>of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purchased 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intangibles,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charges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related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to 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restructuring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initiatives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and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acquisition-related 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costs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and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income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5">
                <a:solidFill>
                  <a:srgbClr val="022C5F"/>
                </a:solidFill>
                <a:latin typeface="Verdana"/>
                <a:cs typeface="Verdana"/>
              </a:rPr>
              <a:t>tax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adjustments.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These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items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5">
                <a:solidFill>
                  <a:srgbClr val="022C5F"/>
                </a:solidFill>
                <a:latin typeface="Verdana"/>
                <a:cs typeface="Verdana"/>
              </a:rPr>
              <a:t>are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excluded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because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the decisions 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that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60">
                <a:solidFill>
                  <a:srgbClr val="022C5F"/>
                </a:solidFill>
                <a:latin typeface="Verdana"/>
                <a:cs typeface="Verdana"/>
              </a:rPr>
              <a:t>give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rise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to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them </a:t>
            </a:r>
            <a:r>
              <a:rPr dirty="0" sz="850" spc="-55">
                <a:solidFill>
                  <a:srgbClr val="022C5F"/>
                </a:solidFill>
                <a:latin typeface="Verdana"/>
                <a:cs typeface="Verdana"/>
              </a:rPr>
              <a:t>are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not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made 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to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increase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revenue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in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60">
                <a:solidFill>
                  <a:srgbClr val="022C5F"/>
                </a:solidFill>
                <a:latin typeface="Verdana"/>
                <a:cs typeface="Verdana"/>
              </a:rPr>
              <a:t>a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particular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10">
                <a:solidFill>
                  <a:srgbClr val="022C5F"/>
                </a:solidFill>
                <a:latin typeface="Verdana"/>
                <a:cs typeface="Verdana"/>
              </a:rPr>
              <a:t>period, 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but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instead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for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the 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Company’s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long-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term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benefit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over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multiple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10">
                <a:solidFill>
                  <a:srgbClr val="022C5F"/>
                </a:solidFill>
                <a:latin typeface="Verdana"/>
                <a:cs typeface="Verdana"/>
              </a:rPr>
              <a:t>periods.</a:t>
            </a:r>
            <a:endParaRPr sz="850">
              <a:latin typeface="Verdana"/>
              <a:cs typeface="Verdana"/>
            </a:endParaRPr>
          </a:p>
          <a:p>
            <a:pPr marL="12700" marR="549910">
              <a:lnSpc>
                <a:spcPct val="100000"/>
              </a:lnSpc>
              <a:spcBef>
                <a:spcPts val="1019"/>
              </a:spcBef>
            </a:pP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The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Company 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defines the 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non-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GAAP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measure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free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cash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flow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65">
                <a:solidFill>
                  <a:srgbClr val="022C5F"/>
                </a:solidFill>
                <a:latin typeface="Verdana"/>
                <a:cs typeface="Verdana"/>
              </a:rPr>
              <a:t>as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GAAP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net 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cash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provided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by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operating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activities,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5">
                <a:solidFill>
                  <a:srgbClr val="022C5F"/>
                </a:solidFill>
                <a:latin typeface="Verdana"/>
                <a:cs typeface="Verdana"/>
              </a:rPr>
              <a:t>less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capital 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expenditures.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Trailing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5">
                <a:solidFill>
                  <a:srgbClr val="022C5F"/>
                </a:solidFill>
                <a:latin typeface="Verdana"/>
                <a:cs typeface="Verdana"/>
              </a:rPr>
              <a:t>twelve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months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free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cash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flow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is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calculated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65">
                <a:solidFill>
                  <a:srgbClr val="022C5F"/>
                </a:solidFill>
                <a:latin typeface="Verdana"/>
                <a:cs typeface="Verdana"/>
              </a:rPr>
              <a:t>as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GAAP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net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20">
                <a:solidFill>
                  <a:srgbClr val="022C5F"/>
                </a:solidFill>
                <a:latin typeface="Verdana"/>
                <a:cs typeface="Verdana"/>
              </a:rPr>
              <a:t>cash 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provided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by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operating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activities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for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the </a:t>
            </a:r>
            <a:r>
              <a:rPr dirty="0" sz="850" spc="-55">
                <a:solidFill>
                  <a:srgbClr val="022C5F"/>
                </a:solidFill>
                <a:latin typeface="Verdana"/>
                <a:cs typeface="Verdana"/>
              </a:rPr>
              <a:t>aggregate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 four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preceding 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fiscal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quarters,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5">
                <a:solidFill>
                  <a:srgbClr val="022C5F"/>
                </a:solidFill>
                <a:latin typeface="Verdana"/>
                <a:cs typeface="Verdana"/>
              </a:rPr>
              <a:t>less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capital 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expenditures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over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that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same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10">
                <a:solidFill>
                  <a:srgbClr val="022C5F"/>
                </a:solidFill>
                <a:latin typeface="Verdana"/>
                <a:cs typeface="Verdana"/>
              </a:rPr>
              <a:t>period.</a:t>
            </a:r>
            <a:endParaRPr sz="850">
              <a:latin typeface="Verdana"/>
              <a:cs typeface="Verdana"/>
            </a:endParaRPr>
          </a:p>
          <a:p>
            <a:pPr marL="12700" marR="203835">
              <a:lnSpc>
                <a:spcPct val="100000"/>
              </a:lnSpc>
              <a:spcBef>
                <a:spcPts val="1020"/>
              </a:spcBef>
            </a:pP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Constant 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currency 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information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is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provided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65">
                <a:solidFill>
                  <a:srgbClr val="022C5F"/>
                </a:solidFill>
                <a:latin typeface="Verdana"/>
                <a:cs typeface="Verdana"/>
              </a:rPr>
              <a:t>as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60">
                <a:solidFill>
                  <a:srgbClr val="022C5F"/>
                </a:solidFill>
                <a:latin typeface="Verdana"/>
                <a:cs typeface="Verdana"/>
              </a:rPr>
              <a:t>a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framework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for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5">
                <a:solidFill>
                  <a:srgbClr val="022C5F"/>
                </a:solidFill>
                <a:latin typeface="Verdana"/>
                <a:cs typeface="Verdana"/>
              </a:rPr>
              <a:t>assessing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20">
                <a:solidFill>
                  <a:srgbClr val="022C5F"/>
                </a:solidFill>
                <a:latin typeface="Verdana"/>
                <a:cs typeface="Verdana"/>
              </a:rPr>
              <a:t>how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our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underlying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business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performed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excluding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the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effect </a:t>
            </a:r>
            <a:r>
              <a:rPr dirty="0" sz="850" spc="-10">
                <a:solidFill>
                  <a:srgbClr val="022C5F"/>
                </a:solidFill>
                <a:latin typeface="Verdana"/>
                <a:cs typeface="Verdana"/>
              </a:rPr>
              <a:t>of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foreign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 currency 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rate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fluctuations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and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the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impact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10">
                <a:solidFill>
                  <a:srgbClr val="022C5F"/>
                </a:solidFill>
                <a:latin typeface="Verdana"/>
                <a:cs typeface="Verdana"/>
              </a:rPr>
              <a:t>of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hedging 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gains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10">
                <a:solidFill>
                  <a:srgbClr val="022C5F"/>
                </a:solidFill>
                <a:latin typeface="Verdana"/>
                <a:cs typeface="Verdana"/>
              </a:rPr>
              <a:t>(losses). 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To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present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constant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currency </a:t>
            </a:r>
            <a:r>
              <a:rPr dirty="0" sz="850" spc="-55">
                <a:solidFill>
                  <a:srgbClr val="022C5F"/>
                </a:solidFill>
                <a:latin typeface="Verdana"/>
                <a:cs typeface="Verdana"/>
              </a:rPr>
              <a:t>revenue,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current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and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comparative 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prior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period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results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for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entities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reporting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in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currencies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other 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than 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United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65">
                <a:solidFill>
                  <a:srgbClr val="022C5F"/>
                </a:solidFill>
                <a:latin typeface="Verdana"/>
                <a:cs typeface="Verdana"/>
              </a:rPr>
              <a:t>States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dollars </a:t>
            </a:r>
            <a:r>
              <a:rPr dirty="0" sz="850" spc="-55">
                <a:solidFill>
                  <a:srgbClr val="022C5F"/>
                </a:solidFill>
                <a:latin typeface="Verdana"/>
                <a:cs typeface="Verdana"/>
              </a:rPr>
              <a:t>are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converted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into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United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65">
                <a:solidFill>
                  <a:srgbClr val="022C5F"/>
                </a:solidFill>
                <a:latin typeface="Verdana"/>
                <a:cs typeface="Verdana"/>
              </a:rPr>
              <a:t>States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dollars 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at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the </a:t>
            </a:r>
            <a:r>
              <a:rPr dirty="0" sz="850" spc="-10">
                <a:solidFill>
                  <a:srgbClr val="022C5F"/>
                </a:solidFill>
                <a:latin typeface="Verdana"/>
                <a:cs typeface="Verdana"/>
              </a:rPr>
              <a:t>weighted </a:t>
            </a:r>
            <a:r>
              <a:rPr dirty="0" sz="850" spc="-60">
                <a:solidFill>
                  <a:srgbClr val="022C5F"/>
                </a:solidFill>
                <a:latin typeface="Verdana"/>
                <a:cs typeface="Verdana"/>
              </a:rPr>
              <a:t>average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exchange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rate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for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the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quarter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being 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compared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to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for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growth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rate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calculations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presented,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rather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than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the 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actual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exchange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5">
                <a:solidFill>
                  <a:srgbClr val="022C5F"/>
                </a:solidFill>
                <a:latin typeface="Verdana"/>
                <a:cs typeface="Verdana"/>
              </a:rPr>
              <a:t>rates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in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effect during 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that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period.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To 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present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current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remaining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10">
                <a:solidFill>
                  <a:srgbClr val="022C5F"/>
                </a:solidFill>
                <a:latin typeface="Verdana"/>
                <a:cs typeface="Verdana"/>
              </a:rPr>
              <a:t>performance 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obligation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10">
                <a:solidFill>
                  <a:srgbClr val="022C5F"/>
                </a:solidFill>
                <a:latin typeface="Verdana"/>
                <a:cs typeface="Verdana"/>
              </a:rPr>
              <a:t>on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60">
                <a:solidFill>
                  <a:srgbClr val="022C5F"/>
                </a:solidFill>
                <a:latin typeface="Verdana"/>
                <a:cs typeface="Verdana"/>
              </a:rPr>
              <a:t>a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constant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currency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5">
                <a:solidFill>
                  <a:srgbClr val="022C5F"/>
                </a:solidFill>
                <a:latin typeface="Verdana"/>
                <a:cs typeface="Verdana"/>
              </a:rPr>
              <a:t>basis,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we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convert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the 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current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remaining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performance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 obligation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balances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in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local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currencies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in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previous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comparable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periods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using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the 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United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65">
                <a:solidFill>
                  <a:srgbClr val="022C5F"/>
                </a:solidFill>
                <a:latin typeface="Verdana"/>
                <a:cs typeface="Verdana"/>
              </a:rPr>
              <a:t>States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dollar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currency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exchange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20">
                <a:solidFill>
                  <a:srgbClr val="022C5F"/>
                </a:solidFill>
                <a:latin typeface="Verdana"/>
                <a:cs typeface="Verdana"/>
              </a:rPr>
              <a:t>rate </a:t>
            </a:r>
            <a:r>
              <a:rPr dirty="0" sz="850" spc="-65">
                <a:solidFill>
                  <a:srgbClr val="022C5F"/>
                </a:solidFill>
                <a:latin typeface="Verdana"/>
                <a:cs typeface="Verdana"/>
              </a:rPr>
              <a:t>as</a:t>
            </a:r>
            <a:r>
              <a:rPr dirty="0" sz="850" spc="-5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10">
                <a:solidFill>
                  <a:srgbClr val="022C5F"/>
                </a:solidFill>
                <a:latin typeface="Verdana"/>
                <a:cs typeface="Verdana"/>
              </a:rPr>
              <a:t>of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the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most</a:t>
            </a:r>
            <a:r>
              <a:rPr dirty="0" sz="850" spc="-5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recent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balance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sheet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20">
                <a:solidFill>
                  <a:srgbClr val="022C5F"/>
                </a:solidFill>
                <a:latin typeface="Verdana"/>
                <a:cs typeface="Verdana"/>
              </a:rPr>
              <a:t>date.</a:t>
            </a:r>
            <a:endParaRPr sz="850">
              <a:latin typeface="Verdana"/>
              <a:cs typeface="Verdana"/>
            </a:endParaRPr>
          </a:p>
          <a:p>
            <a:pPr marL="12700" marR="225425">
              <a:lnSpc>
                <a:spcPct val="100000"/>
              </a:lnSpc>
              <a:spcBef>
                <a:spcPts val="1020"/>
              </a:spcBef>
            </a:pPr>
            <a:r>
              <a:rPr dirty="0" sz="850" spc="-10" b="1">
                <a:solidFill>
                  <a:srgbClr val="022C5F"/>
                </a:solidFill>
                <a:latin typeface="Tahoma"/>
                <a:cs typeface="Tahoma"/>
              </a:rPr>
              <a:t>Other</a:t>
            </a:r>
            <a:r>
              <a:rPr dirty="0" sz="850" spc="15" b="1">
                <a:solidFill>
                  <a:srgbClr val="022C5F"/>
                </a:solidFill>
                <a:latin typeface="Tahoma"/>
                <a:cs typeface="Tahoma"/>
              </a:rPr>
              <a:t> </a:t>
            </a:r>
            <a:r>
              <a:rPr dirty="0" sz="850" spc="-45" b="1">
                <a:solidFill>
                  <a:srgbClr val="022C5F"/>
                </a:solidFill>
                <a:latin typeface="Tahoma"/>
                <a:cs typeface="Tahoma"/>
              </a:rPr>
              <a:t>Metrics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: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The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Company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defines Agentforce 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and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Data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360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annual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recurring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revenue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60">
                <a:solidFill>
                  <a:srgbClr val="022C5F"/>
                </a:solidFill>
                <a:latin typeface="Verdana"/>
                <a:cs typeface="Verdana"/>
              </a:rPr>
              <a:t>("ARR")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65">
                <a:solidFill>
                  <a:srgbClr val="022C5F"/>
                </a:solidFill>
                <a:latin typeface="Verdana"/>
                <a:cs typeface="Verdana"/>
              </a:rPr>
              <a:t>as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the 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annualized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 recurring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value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10">
                <a:solidFill>
                  <a:srgbClr val="022C5F"/>
                </a:solidFill>
                <a:latin typeface="Verdana"/>
                <a:cs typeface="Verdana"/>
              </a:rPr>
              <a:t>of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active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Data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360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and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certain 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generative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artificial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intelligence </a:t>
            </a:r>
            <a:r>
              <a:rPr dirty="0" sz="850" spc="-60">
                <a:solidFill>
                  <a:srgbClr val="022C5F"/>
                </a:solidFill>
                <a:latin typeface="Verdana"/>
                <a:cs typeface="Verdana"/>
              </a:rPr>
              <a:t>("AI")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10">
                <a:solidFill>
                  <a:srgbClr val="022C5F"/>
                </a:solidFill>
                <a:latin typeface="Verdana"/>
                <a:cs typeface="Verdana"/>
              </a:rPr>
              <a:t>subscription </a:t>
            </a:r>
            <a:r>
              <a:rPr dirty="0" sz="850" spc="-55">
                <a:solidFill>
                  <a:srgbClr val="022C5F"/>
                </a:solidFill>
                <a:latin typeface="Verdana"/>
                <a:cs typeface="Verdana"/>
              </a:rPr>
              <a:t>agreements,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including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those 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for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Agentforce,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generative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AI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products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and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features,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and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 Headless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360,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that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5">
                <a:solidFill>
                  <a:srgbClr val="022C5F"/>
                </a:solidFill>
                <a:latin typeface="Verdana"/>
                <a:cs typeface="Verdana"/>
              </a:rPr>
              <a:t>were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executed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at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the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end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10">
                <a:solidFill>
                  <a:srgbClr val="022C5F"/>
                </a:solidFill>
                <a:latin typeface="Verdana"/>
                <a:cs typeface="Verdana"/>
              </a:rPr>
              <a:t>of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the 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reporting 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period.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 The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Company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defines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Informatica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20">
                <a:solidFill>
                  <a:srgbClr val="022C5F"/>
                </a:solidFill>
                <a:latin typeface="Verdana"/>
                <a:cs typeface="Verdana"/>
              </a:rPr>
              <a:t>Cloud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ARR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65">
                <a:solidFill>
                  <a:srgbClr val="022C5F"/>
                </a:solidFill>
                <a:latin typeface="Verdana"/>
                <a:cs typeface="Verdana"/>
              </a:rPr>
              <a:t>as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the 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annualized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 recurring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value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10">
                <a:solidFill>
                  <a:srgbClr val="022C5F"/>
                </a:solidFill>
                <a:latin typeface="Verdana"/>
                <a:cs typeface="Verdana"/>
              </a:rPr>
              <a:t>of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active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Informatica </a:t>
            </a:r>
            <a:r>
              <a:rPr dirty="0" sz="850" spc="-20">
                <a:solidFill>
                  <a:srgbClr val="022C5F"/>
                </a:solidFill>
                <a:latin typeface="Verdana"/>
                <a:cs typeface="Verdana"/>
              </a:rPr>
              <a:t>Cloud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subscription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agreements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that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5">
                <a:solidFill>
                  <a:srgbClr val="022C5F"/>
                </a:solidFill>
                <a:latin typeface="Verdana"/>
                <a:cs typeface="Verdana"/>
              </a:rPr>
              <a:t>were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executed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at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the 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end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10">
                <a:solidFill>
                  <a:srgbClr val="022C5F"/>
                </a:solidFill>
                <a:latin typeface="Verdana"/>
                <a:cs typeface="Verdana"/>
              </a:rPr>
              <a:t>of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the 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reporting 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period.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From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time 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to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time,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we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65">
                <a:solidFill>
                  <a:srgbClr val="022C5F"/>
                </a:solidFill>
                <a:latin typeface="Verdana"/>
                <a:cs typeface="Verdana"/>
              </a:rPr>
              <a:t>may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update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this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metric 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to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incorporate 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new </a:t>
            </a:r>
            <a:r>
              <a:rPr dirty="0" sz="850" spc="-10">
                <a:solidFill>
                  <a:srgbClr val="022C5F"/>
                </a:solidFill>
                <a:latin typeface="Verdana"/>
                <a:cs typeface="Verdana"/>
              </a:rPr>
              <a:t>products, 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feature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offerings,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 or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acquired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technologies 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that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meet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its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definition.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Beginning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in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10">
                <a:solidFill>
                  <a:srgbClr val="022C5F"/>
                </a:solidFill>
                <a:latin typeface="Verdana"/>
                <a:cs typeface="Verdana"/>
              </a:rPr>
              <a:t>Q2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FY27,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Agentforce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ARR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includes our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latest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AI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offerings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Slackbot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 and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Headless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20">
                <a:solidFill>
                  <a:srgbClr val="022C5F"/>
                </a:solidFill>
                <a:latin typeface="Verdana"/>
                <a:cs typeface="Verdana"/>
              </a:rPr>
              <a:t>360.</a:t>
            </a:r>
            <a:endParaRPr sz="850">
              <a:latin typeface="Verdana"/>
              <a:cs typeface="Verdana"/>
            </a:endParaRPr>
          </a:p>
          <a:p>
            <a:pPr marL="12700" marR="295910">
              <a:lnSpc>
                <a:spcPct val="100000"/>
              </a:lnSpc>
              <a:spcBef>
                <a:spcPts val="1020"/>
              </a:spcBef>
            </a:pP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The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Company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defines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Net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New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Annual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Order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Value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("NNAOV")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65">
                <a:solidFill>
                  <a:srgbClr val="022C5F"/>
                </a:solidFill>
                <a:latin typeface="Verdana"/>
                <a:cs typeface="Verdana"/>
              </a:rPr>
              <a:t>as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the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net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change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in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the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annual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order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value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10">
                <a:solidFill>
                  <a:srgbClr val="022C5F"/>
                </a:solidFill>
                <a:latin typeface="Verdana"/>
                <a:cs typeface="Verdana"/>
              </a:rPr>
              <a:t>of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our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customer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subscription</a:t>
            </a:r>
            <a:r>
              <a:rPr dirty="0" sz="850" spc="-5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agreements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during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60">
                <a:solidFill>
                  <a:srgbClr val="022C5F"/>
                </a:solidFill>
                <a:latin typeface="Verdana"/>
                <a:cs typeface="Verdana"/>
              </a:rPr>
              <a:t>a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given 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period.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10">
                <a:solidFill>
                  <a:srgbClr val="022C5F"/>
                </a:solidFill>
                <a:latin typeface="Verdana"/>
                <a:cs typeface="Verdana"/>
              </a:rPr>
              <a:t>NNAOV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 is 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calculated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65">
                <a:solidFill>
                  <a:srgbClr val="022C5F"/>
                </a:solidFill>
                <a:latin typeface="Verdana"/>
                <a:cs typeface="Verdana"/>
              </a:rPr>
              <a:t>as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the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 sum </a:t>
            </a:r>
            <a:r>
              <a:rPr dirty="0" sz="850" spc="-65">
                <a:solidFill>
                  <a:srgbClr val="022C5F"/>
                </a:solidFill>
                <a:latin typeface="Verdana"/>
                <a:cs typeface="Verdana"/>
              </a:rPr>
              <a:t>of: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(i) 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the 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annualized 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contract 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value 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from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new 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and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existing 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customers 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who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enter 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into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subscription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agreements 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during the 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period; </a:t>
            </a:r>
            <a:r>
              <a:rPr dirty="0" sz="850" spc="-55">
                <a:solidFill>
                  <a:srgbClr val="022C5F"/>
                </a:solidFill>
                <a:latin typeface="Verdana"/>
                <a:cs typeface="Verdana"/>
              </a:rPr>
              <a:t>less (ii) 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the 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reduction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in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annualized 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order 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value 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from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customer cancellations, </a:t>
            </a:r>
            <a:r>
              <a:rPr dirty="0" sz="850" spc="-20">
                <a:solidFill>
                  <a:srgbClr val="022C5F"/>
                </a:solidFill>
                <a:latin typeface="Verdana"/>
                <a:cs typeface="Verdana"/>
              </a:rPr>
              <a:t>non-</a:t>
            </a:r>
            <a:r>
              <a:rPr dirty="0" sz="850" spc="-55">
                <a:solidFill>
                  <a:srgbClr val="022C5F"/>
                </a:solidFill>
                <a:latin typeface="Verdana"/>
                <a:cs typeface="Verdana"/>
              </a:rPr>
              <a:t>renewals,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or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downgrades 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during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the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10">
                <a:solidFill>
                  <a:srgbClr val="022C5F"/>
                </a:solidFill>
                <a:latin typeface="Verdana"/>
                <a:cs typeface="Verdana"/>
              </a:rPr>
              <a:t>period.</a:t>
            </a:r>
            <a:endParaRPr sz="850">
              <a:latin typeface="Verdana"/>
              <a:cs typeface="Verdana"/>
            </a:endParaRPr>
          </a:p>
          <a:p>
            <a:pPr marL="12700" marR="603250">
              <a:lnSpc>
                <a:spcPct val="100000"/>
              </a:lnSpc>
              <a:spcBef>
                <a:spcPts val="1020"/>
              </a:spcBef>
            </a:pP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The 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Company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defines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an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Agentic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Work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Unit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("AWU") </a:t>
            </a:r>
            <a:r>
              <a:rPr dirty="0" sz="850" spc="-65">
                <a:solidFill>
                  <a:srgbClr val="022C5F"/>
                </a:solidFill>
                <a:latin typeface="Verdana"/>
                <a:cs typeface="Verdana"/>
              </a:rPr>
              <a:t>as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60">
                <a:solidFill>
                  <a:srgbClr val="022C5F"/>
                </a:solidFill>
                <a:latin typeface="Verdana"/>
                <a:cs typeface="Verdana"/>
              </a:rPr>
              <a:t>a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measure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10">
                <a:solidFill>
                  <a:srgbClr val="022C5F"/>
                </a:solidFill>
                <a:latin typeface="Verdana"/>
                <a:cs typeface="Verdana"/>
              </a:rPr>
              <a:t>of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discrete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60">
                <a:solidFill>
                  <a:srgbClr val="022C5F"/>
                </a:solidFill>
                <a:latin typeface="Verdana"/>
                <a:cs typeface="Verdana"/>
              </a:rPr>
              <a:t>tasks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executed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 by 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AI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agents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in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production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across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the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Salesforce 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platform, 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including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Agentforce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and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60">
                <a:solidFill>
                  <a:srgbClr val="022C5F"/>
                </a:solidFill>
                <a:latin typeface="Verdana"/>
                <a:cs typeface="Verdana"/>
              </a:rPr>
              <a:t>Slack.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AWUs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represent 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the 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conversion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10">
                <a:solidFill>
                  <a:srgbClr val="022C5F"/>
                </a:solidFill>
                <a:latin typeface="Verdana"/>
                <a:cs typeface="Verdana"/>
              </a:rPr>
              <a:t>of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generative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AI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capabilities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 into 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measurable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business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outputs,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such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65">
                <a:solidFill>
                  <a:srgbClr val="022C5F"/>
                </a:solidFill>
                <a:latin typeface="Verdana"/>
                <a:cs typeface="Verdana"/>
              </a:rPr>
              <a:t>as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5">
                <a:solidFill>
                  <a:srgbClr val="022C5F"/>
                </a:solidFill>
                <a:latin typeface="Verdana"/>
                <a:cs typeface="Verdana"/>
              </a:rPr>
              <a:t>resolving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customer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60">
                <a:solidFill>
                  <a:srgbClr val="022C5F"/>
                </a:solidFill>
                <a:latin typeface="Verdana"/>
                <a:cs typeface="Verdana"/>
              </a:rPr>
              <a:t>cases,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updating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40">
                <a:solidFill>
                  <a:srgbClr val="022C5F"/>
                </a:solidFill>
                <a:latin typeface="Verdana"/>
                <a:cs typeface="Verdana"/>
              </a:rPr>
              <a:t>records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or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50">
                <a:solidFill>
                  <a:srgbClr val="022C5F"/>
                </a:solidFill>
                <a:latin typeface="Verdana"/>
                <a:cs typeface="Verdana"/>
              </a:rPr>
              <a:t>triggering</a:t>
            </a:r>
            <a:r>
              <a:rPr dirty="0" sz="850" spc="-25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35">
                <a:solidFill>
                  <a:srgbClr val="022C5F"/>
                </a:solidFill>
                <a:latin typeface="Verdana"/>
                <a:cs typeface="Verdana"/>
              </a:rPr>
              <a:t>automated</a:t>
            </a:r>
            <a:r>
              <a:rPr dirty="0" sz="850" spc="-30">
                <a:solidFill>
                  <a:srgbClr val="022C5F"/>
                </a:solidFill>
                <a:latin typeface="Verdana"/>
                <a:cs typeface="Verdana"/>
              </a:rPr>
              <a:t> </a:t>
            </a:r>
            <a:r>
              <a:rPr dirty="0" sz="850" spc="-10">
                <a:solidFill>
                  <a:srgbClr val="022C5F"/>
                </a:solidFill>
                <a:latin typeface="Verdana"/>
                <a:cs typeface="Verdana"/>
              </a:rPr>
              <a:t>workflows.</a:t>
            </a:r>
            <a:endParaRPr sz="8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850">
              <a:latin typeface="Verdana"/>
              <a:cs typeface="Verdana"/>
            </a:endParaRPr>
          </a:p>
          <a:p>
            <a:pPr algn="r" marR="5080">
              <a:lnSpc>
                <a:spcPct val="100000"/>
              </a:lnSpc>
            </a:pPr>
            <a:r>
              <a:rPr dirty="0" sz="1000" spc="-25">
                <a:latin typeface="Verdana"/>
                <a:cs typeface="Verdana"/>
              </a:rPr>
              <a:t>25</a:t>
            </a:r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76553" y="565404"/>
            <a:ext cx="10792460" cy="4891405"/>
            <a:chOff x="876553" y="565404"/>
            <a:chExt cx="10792460" cy="48914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033251" y="565404"/>
              <a:ext cx="635634" cy="44500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76553" y="570738"/>
              <a:ext cx="10233025" cy="4885690"/>
            </a:xfrm>
            <a:custGeom>
              <a:avLst/>
              <a:gdLst/>
              <a:ahLst/>
              <a:cxnLst/>
              <a:rect l="l" t="t" r="r" b="b"/>
              <a:pathLst>
                <a:path w="10233025" h="4885690">
                  <a:moveTo>
                    <a:pt x="9450959" y="0"/>
                  </a:moveTo>
                  <a:lnTo>
                    <a:pt x="781685" y="0"/>
                  </a:lnTo>
                  <a:lnTo>
                    <a:pt x="734071" y="1426"/>
                  </a:lnTo>
                  <a:lnTo>
                    <a:pt x="687211" y="5652"/>
                  </a:lnTo>
                  <a:lnTo>
                    <a:pt x="641186" y="12595"/>
                  </a:lnTo>
                  <a:lnTo>
                    <a:pt x="596079" y="22173"/>
                  </a:lnTo>
                  <a:lnTo>
                    <a:pt x="551972" y="34305"/>
                  </a:lnTo>
                  <a:lnTo>
                    <a:pt x="508945" y="48908"/>
                  </a:lnTo>
                  <a:lnTo>
                    <a:pt x="467082" y="65902"/>
                  </a:lnTo>
                  <a:lnTo>
                    <a:pt x="426463" y="85203"/>
                  </a:lnTo>
                  <a:lnTo>
                    <a:pt x="387171" y="106731"/>
                  </a:lnTo>
                  <a:lnTo>
                    <a:pt x="349287" y="130404"/>
                  </a:lnTo>
                  <a:lnTo>
                    <a:pt x="312893" y="156139"/>
                  </a:lnTo>
                  <a:lnTo>
                    <a:pt x="278071" y="183855"/>
                  </a:lnTo>
                  <a:lnTo>
                    <a:pt x="244903" y="213470"/>
                  </a:lnTo>
                  <a:lnTo>
                    <a:pt x="213470" y="244903"/>
                  </a:lnTo>
                  <a:lnTo>
                    <a:pt x="183855" y="278071"/>
                  </a:lnTo>
                  <a:lnTo>
                    <a:pt x="156139" y="312893"/>
                  </a:lnTo>
                  <a:lnTo>
                    <a:pt x="130404" y="349287"/>
                  </a:lnTo>
                  <a:lnTo>
                    <a:pt x="106731" y="387171"/>
                  </a:lnTo>
                  <a:lnTo>
                    <a:pt x="85203" y="426463"/>
                  </a:lnTo>
                  <a:lnTo>
                    <a:pt x="65902" y="467082"/>
                  </a:lnTo>
                  <a:lnTo>
                    <a:pt x="48908" y="508945"/>
                  </a:lnTo>
                  <a:lnTo>
                    <a:pt x="34305" y="551972"/>
                  </a:lnTo>
                  <a:lnTo>
                    <a:pt x="22173" y="596079"/>
                  </a:lnTo>
                  <a:lnTo>
                    <a:pt x="12595" y="641186"/>
                  </a:lnTo>
                  <a:lnTo>
                    <a:pt x="5652" y="687210"/>
                  </a:lnTo>
                  <a:lnTo>
                    <a:pt x="1426" y="734070"/>
                  </a:lnTo>
                  <a:lnTo>
                    <a:pt x="0" y="781684"/>
                  </a:lnTo>
                  <a:lnTo>
                    <a:pt x="0" y="4103877"/>
                  </a:lnTo>
                  <a:lnTo>
                    <a:pt x="1426" y="4151491"/>
                  </a:lnTo>
                  <a:lnTo>
                    <a:pt x="5652" y="4198351"/>
                  </a:lnTo>
                  <a:lnTo>
                    <a:pt x="12595" y="4244376"/>
                  </a:lnTo>
                  <a:lnTo>
                    <a:pt x="22173" y="4289483"/>
                  </a:lnTo>
                  <a:lnTo>
                    <a:pt x="34305" y="4333590"/>
                  </a:lnTo>
                  <a:lnTo>
                    <a:pt x="48908" y="4376617"/>
                  </a:lnTo>
                  <a:lnTo>
                    <a:pt x="65902" y="4418480"/>
                  </a:lnTo>
                  <a:lnTo>
                    <a:pt x="85203" y="4459099"/>
                  </a:lnTo>
                  <a:lnTo>
                    <a:pt x="106731" y="4498391"/>
                  </a:lnTo>
                  <a:lnTo>
                    <a:pt x="130404" y="4536275"/>
                  </a:lnTo>
                  <a:lnTo>
                    <a:pt x="156139" y="4572669"/>
                  </a:lnTo>
                  <a:lnTo>
                    <a:pt x="183855" y="4607491"/>
                  </a:lnTo>
                  <a:lnTo>
                    <a:pt x="213470" y="4640659"/>
                  </a:lnTo>
                  <a:lnTo>
                    <a:pt x="244903" y="4672092"/>
                  </a:lnTo>
                  <a:lnTo>
                    <a:pt x="278071" y="4701707"/>
                  </a:lnTo>
                  <a:lnTo>
                    <a:pt x="312893" y="4729423"/>
                  </a:lnTo>
                  <a:lnTo>
                    <a:pt x="349287" y="4755158"/>
                  </a:lnTo>
                  <a:lnTo>
                    <a:pt x="387171" y="4778831"/>
                  </a:lnTo>
                  <a:lnTo>
                    <a:pt x="426463" y="4800359"/>
                  </a:lnTo>
                  <a:lnTo>
                    <a:pt x="467082" y="4819660"/>
                  </a:lnTo>
                  <a:lnTo>
                    <a:pt x="508945" y="4836654"/>
                  </a:lnTo>
                  <a:lnTo>
                    <a:pt x="551972" y="4851257"/>
                  </a:lnTo>
                  <a:lnTo>
                    <a:pt x="596079" y="4863389"/>
                  </a:lnTo>
                  <a:lnTo>
                    <a:pt x="641186" y="4872967"/>
                  </a:lnTo>
                  <a:lnTo>
                    <a:pt x="687211" y="4879910"/>
                  </a:lnTo>
                  <a:lnTo>
                    <a:pt x="734071" y="4884136"/>
                  </a:lnTo>
                  <a:lnTo>
                    <a:pt x="781685" y="4885563"/>
                  </a:lnTo>
                  <a:lnTo>
                    <a:pt x="9450959" y="4885563"/>
                  </a:lnTo>
                  <a:lnTo>
                    <a:pt x="9498572" y="4884136"/>
                  </a:lnTo>
                  <a:lnTo>
                    <a:pt x="9545433" y="4879910"/>
                  </a:lnTo>
                  <a:lnTo>
                    <a:pt x="9591457" y="4872967"/>
                  </a:lnTo>
                  <a:lnTo>
                    <a:pt x="9636564" y="4863389"/>
                  </a:lnTo>
                  <a:lnTo>
                    <a:pt x="9680671" y="4851257"/>
                  </a:lnTo>
                  <a:lnTo>
                    <a:pt x="9723698" y="4836654"/>
                  </a:lnTo>
                  <a:lnTo>
                    <a:pt x="9765561" y="4819660"/>
                  </a:lnTo>
                  <a:lnTo>
                    <a:pt x="9806180" y="4800359"/>
                  </a:lnTo>
                  <a:lnTo>
                    <a:pt x="9845472" y="4778831"/>
                  </a:lnTo>
                  <a:lnTo>
                    <a:pt x="9883356" y="4755158"/>
                  </a:lnTo>
                  <a:lnTo>
                    <a:pt x="9919750" y="4729423"/>
                  </a:lnTo>
                  <a:lnTo>
                    <a:pt x="9954572" y="4701707"/>
                  </a:lnTo>
                  <a:lnTo>
                    <a:pt x="9987740" y="4672092"/>
                  </a:lnTo>
                  <a:lnTo>
                    <a:pt x="10019173" y="4640659"/>
                  </a:lnTo>
                  <a:lnTo>
                    <a:pt x="10048788" y="4607491"/>
                  </a:lnTo>
                  <a:lnTo>
                    <a:pt x="10076504" y="4572669"/>
                  </a:lnTo>
                  <a:lnTo>
                    <a:pt x="10102239" y="4536275"/>
                  </a:lnTo>
                  <a:lnTo>
                    <a:pt x="10125912" y="4498391"/>
                  </a:lnTo>
                  <a:lnTo>
                    <a:pt x="10147440" y="4459099"/>
                  </a:lnTo>
                  <a:lnTo>
                    <a:pt x="10166741" y="4418480"/>
                  </a:lnTo>
                  <a:lnTo>
                    <a:pt x="10183735" y="4376617"/>
                  </a:lnTo>
                  <a:lnTo>
                    <a:pt x="10198338" y="4333590"/>
                  </a:lnTo>
                  <a:lnTo>
                    <a:pt x="10210470" y="4289483"/>
                  </a:lnTo>
                  <a:lnTo>
                    <a:pt x="10220048" y="4244376"/>
                  </a:lnTo>
                  <a:lnTo>
                    <a:pt x="10226991" y="4198351"/>
                  </a:lnTo>
                  <a:lnTo>
                    <a:pt x="10231217" y="4151491"/>
                  </a:lnTo>
                  <a:lnTo>
                    <a:pt x="10232643" y="4103877"/>
                  </a:lnTo>
                  <a:lnTo>
                    <a:pt x="10232643" y="781684"/>
                  </a:lnTo>
                  <a:lnTo>
                    <a:pt x="10231217" y="734070"/>
                  </a:lnTo>
                  <a:lnTo>
                    <a:pt x="10226991" y="687210"/>
                  </a:lnTo>
                  <a:lnTo>
                    <a:pt x="10220048" y="641186"/>
                  </a:lnTo>
                  <a:lnTo>
                    <a:pt x="10210470" y="596079"/>
                  </a:lnTo>
                  <a:lnTo>
                    <a:pt x="10198338" y="551972"/>
                  </a:lnTo>
                  <a:lnTo>
                    <a:pt x="10183735" y="508945"/>
                  </a:lnTo>
                  <a:lnTo>
                    <a:pt x="10166741" y="467082"/>
                  </a:lnTo>
                  <a:lnTo>
                    <a:pt x="10147440" y="426463"/>
                  </a:lnTo>
                  <a:lnTo>
                    <a:pt x="10125912" y="387171"/>
                  </a:lnTo>
                  <a:lnTo>
                    <a:pt x="10102239" y="349287"/>
                  </a:lnTo>
                  <a:lnTo>
                    <a:pt x="10076504" y="312893"/>
                  </a:lnTo>
                  <a:lnTo>
                    <a:pt x="10048788" y="278071"/>
                  </a:lnTo>
                  <a:lnTo>
                    <a:pt x="10019173" y="244903"/>
                  </a:lnTo>
                  <a:lnTo>
                    <a:pt x="9987740" y="213470"/>
                  </a:lnTo>
                  <a:lnTo>
                    <a:pt x="9954572" y="183855"/>
                  </a:lnTo>
                  <a:lnTo>
                    <a:pt x="9919750" y="156139"/>
                  </a:lnTo>
                  <a:lnTo>
                    <a:pt x="9883356" y="130404"/>
                  </a:lnTo>
                  <a:lnTo>
                    <a:pt x="9845472" y="106731"/>
                  </a:lnTo>
                  <a:lnTo>
                    <a:pt x="9806180" y="85203"/>
                  </a:lnTo>
                  <a:lnTo>
                    <a:pt x="9765561" y="65902"/>
                  </a:lnTo>
                  <a:lnTo>
                    <a:pt x="9723698" y="48908"/>
                  </a:lnTo>
                  <a:lnTo>
                    <a:pt x="9680671" y="34305"/>
                  </a:lnTo>
                  <a:lnTo>
                    <a:pt x="9636564" y="22173"/>
                  </a:lnTo>
                  <a:lnTo>
                    <a:pt x="9591457" y="12595"/>
                  </a:lnTo>
                  <a:lnTo>
                    <a:pt x="9545433" y="5652"/>
                  </a:lnTo>
                  <a:lnTo>
                    <a:pt x="9498572" y="1426"/>
                  </a:lnTo>
                  <a:lnTo>
                    <a:pt x="94509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669925" y="17526"/>
            <a:ext cx="984631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2D60"/>
                </a:solidFill>
              </a:rPr>
              <a:t>GAAP</a:t>
            </a:r>
            <a:r>
              <a:rPr dirty="0" spc="-25">
                <a:solidFill>
                  <a:srgbClr val="002D60"/>
                </a:solidFill>
              </a:rPr>
              <a:t> </a:t>
            </a:r>
            <a:r>
              <a:rPr dirty="0">
                <a:solidFill>
                  <a:srgbClr val="002D60"/>
                </a:solidFill>
              </a:rPr>
              <a:t>to</a:t>
            </a:r>
            <a:r>
              <a:rPr dirty="0" spc="-20">
                <a:solidFill>
                  <a:srgbClr val="002D60"/>
                </a:solidFill>
              </a:rPr>
              <a:t> </a:t>
            </a:r>
            <a:r>
              <a:rPr dirty="0" spc="100">
                <a:solidFill>
                  <a:srgbClr val="002D60"/>
                </a:solidFill>
              </a:rPr>
              <a:t>Non-</a:t>
            </a:r>
            <a:r>
              <a:rPr dirty="0">
                <a:solidFill>
                  <a:srgbClr val="002D60"/>
                </a:solidFill>
              </a:rPr>
              <a:t>GAAP</a:t>
            </a:r>
            <a:r>
              <a:rPr dirty="0" spc="-25">
                <a:solidFill>
                  <a:srgbClr val="002D60"/>
                </a:solidFill>
              </a:rPr>
              <a:t> </a:t>
            </a:r>
            <a:r>
              <a:rPr dirty="0">
                <a:solidFill>
                  <a:srgbClr val="002D60"/>
                </a:solidFill>
              </a:rPr>
              <a:t>Financial</a:t>
            </a:r>
            <a:r>
              <a:rPr dirty="0" spc="-20">
                <a:solidFill>
                  <a:srgbClr val="002D60"/>
                </a:solidFill>
              </a:rPr>
              <a:t> </a:t>
            </a:r>
            <a:r>
              <a:rPr dirty="0" spc="-10">
                <a:solidFill>
                  <a:srgbClr val="002D60"/>
                </a:solidFill>
              </a:rPr>
              <a:t>Reconciliation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456816" y="614426"/>
            <a:ext cx="46545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0" b="1">
                <a:latin typeface="Tahoma"/>
                <a:cs typeface="Tahoma"/>
              </a:rPr>
              <a:t>(in</a:t>
            </a:r>
            <a:r>
              <a:rPr dirty="0" sz="600" spc="-15" b="1">
                <a:latin typeface="Tahoma"/>
                <a:cs typeface="Tahoma"/>
              </a:rPr>
              <a:t> </a:t>
            </a:r>
            <a:r>
              <a:rPr dirty="0" sz="600" spc="-10" b="1">
                <a:latin typeface="Tahoma"/>
                <a:cs typeface="Tahoma"/>
              </a:rPr>
              <a:t>millions)</a:t>
            </a:r>
            <a:endParaRPr sz="6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50890" y="582548"/>
            <a:ext cx="143954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5" b="1">
                <a:latin typeface="Tahoma"/>
                <a:cs typeface="Tahoma"/>
              </a:rPr>
              <a:t>Three</a:t>
            </a:r>
            <a:r>
              <a:rPr dirty="0" sz="800" spc="-15" b="1">
                <a:latin typeface="Tahoma"/>
                <a:cs typeface="Tahoma"/>
              </a:rPr>
              <a:t> </a:t>
            </a:r>
            <a:r>
              <a:rPr dirty="0" sz="800" spc="-10" b="1">
                <a:latin typeface="Tahoma"/>
                <a:cs typeface="Tahoma"/>
              </a:rPr>
              <a:t>Months Ended </a:t>
            </a:r>
            <a:r>
              <a:rPr dirty="0" sz="800" spc="-45" b="1">
                <a:latin typeface="Tahoma"/>
                <a:cs typeface="Tahoma"/>
              </a:rPr>
              <a:t>July</a:t>
            </a:r>
            <a:r>
              <a:rPr dirty="0" sz="800" spc="-15" b="1">
                <a:latin typeface="Tahoma"/>
                <a:cs typeface="Tahoma"/>
              </a:rPr>
              <a:t> </a:t>
            </a:r>
            <a:r>
              <a:rPr dirty="0" sz="800" spc="-25" b="1">
                <a:latin typeface="Tahoma"/>
                <a:cs typeface="Tahoma"/>
              </a:rPr>
              <a:t>31,</a:t>
            </a:r>
            <a:endParaRPr sz="800">
              <a:latin typeface="Tahoma"/>
              <a:cs typeface="Tahoma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436116" y="741933"/>
          <a:ext cx="9334500" cy="12687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14725"/>
                <a:gridCol w="66675"/>
                <a:gridCol w="257810"/>
                <a:gridCol w="389889"/>
                <a:gridCol w="409575"/>
                <a:gridCol w="66675"/>
                <a:gridCol w="238760"/>
                <a:gridCol w="351789"/>
                <a:gridCol w="390525"/>
                <a:gridCol w="2390775"/>
                <a:gridCol w="66675"/>
                <a:gridCol w="1114425"/>
              </a:tblGrid>
              <a:tr h="14287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600" spc="-30" b="1">
                          <a:latin typeface="Tahoma"/>
                          <a:cs typeface="Tahoma"/>
                        </a:rPr>
                        <a:t>Non-</a:t>
                      </a:r>
                      <a:r>
                        <a:rPr dirty="0" sz="600" spc="-20" b="1">
                          <a:latin typeface="Tahoma"/>
                          <a:cs typeface="Tahoma"/>
                        </a:rPr>
                        <a:t>GAAP</a:t>
                      </a:r>
                      <a:r>
                        <a:rPr dirty="0" sz="600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600" spc="-10" b="1">
                          <a:latin typeface="Tahoma"/>
                          <a:cs typeface="Tahoma"/>
                        </a:rPr>
                        <a:t>income</a:t>
                      </a:r>
                      <a:r>
                        <a:rPr dirty="0" sz="600" spc="5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600" spc="-10" b="1">
                          <a:latin typeface="Tahoma"/>
                          <a:cs typeface="Tahoma"/>
                        </a:rPr>
                        <a:t>from</a:t>
                      </a:r>
                      <a:r>
                        <a:rPr dirty="0" sz="600" spc="5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600" spc="-10" b="1">
                          <a:latin typeface="Tahoma"/>
                          <a:cs typeface="Tahoma"/>
                        </a:rPr>
                        <a:t>operations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2794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80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600" spc="-20" b="1">
                          <a:latin typeface="Tahoma"/>
                          <a:cs typeface="Tahoma"/>
                        </a:rPr>
                        <a:t>2025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75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600" spc="-20" b="1">
                          <a:latin typeface="Tahoma"/>
                          <a:cs typeface="Tahoma"/>
                        </a:rPr>
                        <a:t>2026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64579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600" spc="-30" b="1">
                          <a:latin typeface="Tahoma"/>
                          <a:cs typeface="Tahoma"/>
                        </a:rPr>
                        <a:t>Non-</a:t>
                      </a:r>
                      <a:r>
                        <a:rPr dirty="0" sz="600" spc="-20" b="1">
                          <a:latin typeface="Tahoma"/>
                          <a:cs typeface="Tahoma"/>
                        </a:rPr>
                        <a:t>GAAP</a:t>
                      </a:r>
                      <a:r>
                        <a:rPr dirty="0" sz="600" spc="30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600" spc="-20" b="1">
                          <a:latin typeface="Tahoma"/>
                          <a:cs typeface="Tahoma"/>
                        </a:rPr>
                        <a:t>operating</a:t>
                      </a:r>
                      <a:r>
                        <a:rPr dirty="0" sz="600" spc="30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600" spc="-10" b="1">
                          <a:latin typeface="Tahoma"/>
                          <a:cs typeface="Tahoma"/>
                        </a:rPr>
                        <a:t>margin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2794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600" spc="-10" b="1">
                          <a:latin typeface="Tahoma"/>
                          <a:cs typeface="Tahoma"/>
                        </a:rPr>
                        <a:t>Full </a:t>
                      </a:r>
                      <a:r>
                        <a:rPr dirty="0" sz="600" spc="-30" b="1">
                          <a:latin typeface="Tahoma"/>
                          <a:cs typeface="Tahoma"/>
                        </a:rPr>
                        <a:t>Year</a:t>
                      </a:r>
                      <a:r>
                        <a:rPr dirty="0" sz="600" spc="-5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600" spc="-40" b="1">
                          <a:latin typeface="Tahoma"/>
                          <a:cs typeface="Tahoma"/>
                        </a:rPr>
                        <a:t>FY27</a:t>
                      </a:r>
                      <a:r>
                        <a:rPr dirty="0" sz="600" spc="-5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600" spc="-10" b="1">
                          <a:latin typeface="Tahoma"/>
                          <a:cs typeface="Tahoma"/>
                        </a:rPr>
                        <a:t>Guidance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2794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600" spc="-20">
                          <a:latin typeface="Verdana"/>
                          <a:cs typeface="Verdana"/>
                        </a:rPr>
                        <a:t>GAAP</a:t>
                      </a:r>
                      <a:r>
                        <a:rPr dirty="0" sz="600" spc="-3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600" spc="-20">
                          <a:latin typeface="Verdana"/>
                          <a:cs typeface="Verdana"/>
                        </a:rPr>
                        <a:t>income</a:t>
                      </a:r>
                      <a:r>
                        <a:rPr dirty="0" sz="600" spc="-25">
                          <a:latin typeface="Verdana"/>
                          <a:cs typeface="Verdana"/>
                        </a:rPr>
                        <a:t> from </a:t>
                      </a:r>
                      <a:r>
                        <a:rPr dirty="0" sz="600" spc="-10">
                          <a:latin typeface="Verdana"/>
                          <a:cs typeface="Verdana"/>
                        </a:rPr>
                        <a:t>operations</a:t>
                      </a:r>
                      <a:endParaRPr sz="600">
                        <a:latin typeface="Verdana"/>
                        <a:cs typeface="Verdana"/>
                      </a:endParaRPr>
                    </a:p>
                    <a:p>
                      <a:pPr marL="3302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600" spc="-10">
                          <a:latin typeface="Verdana"/>
                          <a:cs typeface="Verdana"/>
                        </a:rPr>
                        <a:t>Plus:</a:t>
                      </a:r>
                      <a:endParaRPr sz="600">
                        <a:latin typeface="Verdana"/>
                        <a:cs typeface="Verdana"/>
                      </a:endParaRPr>
                    </a:p>
                    <a:p>
                      <a:pPr marL="13081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600" spc="-25">
                          <a:latin typeface="Verdana"/>
                          <a:cs typeface="Verdana"/>
                        </a:rPr>
                        <a:t>Amortization</a:t>
                      </a:r>
                      <a:r>
                        <a:rPr dirty="0" sz="600" spc="-1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600" spc="-10">
                          <a:latin typeface="Verdana"/>
                          <a:cs typeface="Verdana"/>
                        </a:rPr>
                        <a:t>of</a:t>
                      </a:r>
                      <a:r>
                        <a:rPr dirty="0" sz="600" spc="-1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600" spc="-30">
                          <a:latin typeface="Verdana"/>
                          <a:cs typeface="Verdana"/>
                        </a:rPr>
                        <a:t>purchased</a:t>
                      </a:r>
                      <a:r>
                        <a:rPr dirty="0" sz="600" spc="-10">
                          <a:latin typeface="Verdana"/>
                          <a:cs typeface="Verdana"/>
                        </a:rPr>
                        <a:t> intangibles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600" spc="-50">
                          <a:latin typeface="Verdana"/>
                          <a:cs typeface="Verdana"/>
                        </a:rPr>
                        <a:t>S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2255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600" spc="-10">
                          <a:latin typeface="Verdana"/>
                          <a:cs typeface="Verdana"/>
                        </a:rPr>
                        <a:t>2,332</a:t>
                      </a:r>
                      <a:endParaRPr sz="600">
                        <a:latin typeface="Verdana"/>
                        <a:cs typeface="Verdana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algn="r" marR="122555">
                        <a:lnSpc>
                          <a:spcPct val="100000"/>
                        </a:lnSpc>
                      </a:pPr>
                      <a:r>
                        <a:rPr dirty="0" sz="600" spc="-25">
                          <a:latin typeface="Verdana"/>
                          <a:cs typeface="Verdana"/>
                        </a:rPr>
                        <a:t>380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600" spc="-50">
                          <a:latin typeface="Verdana"/>
                          <a:cs typeface="Verdana"/>
                        </a:rPr>
                        <a:t>S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2255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600" spc="-10">
                          <a:latin typeface="Verdana"/>
                          <a:cs typeface="Verdana"/>
                        </a:rPr>
                        <a:t>2,331</a:t>
                      </a:r>
                      <a:endParaRPr sz="600">
                        <a:latin typeface="Verdana"/>
                        <a:cs typeface="Verdana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algn="r" marR="122555">
                        <a:lnSpc>
                          <a:spcPct val="100000"/>
                        </a:lnSpc>
                      </a:pPr>
                      <a:r>
                        <a:rPr dirty="0" sz="600" spc="-25">
                          <a:latin typeface="Verdana"/>
                          <a:cs typeface="Verdana"/>
                        </a:rPr>
                        <a:t>522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600" spc="-20">
                          <a:latin typeface="Verdana"/>
                          <a:cs typeface="Verdana"/>
                        </a:rPr>
                        <a:t>GAAP</a:t>
                      </a:r>
                      <a:r>
                        <a:rPr dirty="0" sz="6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600" spc="-30">
                          <a:latin typeface="Verdana"/>
                          <a:cs typeface="Verdana"/>
                        </a:rPr>
                        <a:t>operating</a:t>
                      </a:r>
                      <a:r>
                        <a:rPr dirty="0" sz="600" spc="-10">
                          <a:latin typeface="Verdana"/>
                          <a:cs typeface="Verdana"/>
                        </a:rPr>
                        <a:t> margin</a:t>
                      </a:r>
                      <a:r>
                        <a:rPr dirty="0" baseline="27777" sz="600" spc="-15">
                          <a:solidFill>
                            <a:srgbClr val="707070"/>
                          </a:solidFill>
                          <a:latin typeface="Verdana"/>
                          <a:cs typeface="Verdana"/>
                        </a:rPr>
                        <a:t>2</a:t>
                      </a:r>
                      <a:endParaRPr baseline="27777" sz="600">
                        <a:latin typeface="Verdana"/>
                        <a:cs typeface="Verdana"/>
                      </a:endParaRPr>
                    </a:p>
                    <a:p>
                      <a:pPr marL="7112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600" spc="-10">
                          <a:latin typeface="Verdana"/>
                          <a:cs typeface="Verdana"/>
                        </a:rPr>
                        <a:t>Plus:</a:t>
                      </a:r>
                      <a:endParaRPr sz="600">
                        <a:latin typeface="Verdana"/>
                        <a:cs typeface="Verdana"/>
                      </a:endParaRPr>
                    </a:p>
                    <a:p>
                      <a:pPr marL="16891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600" spc="-25">
                          <a:latin typeface="Verdana"/>
                          <a:cs typeface="Verdana"/>
                        </a:rPr>
                        <a:t>Amortization</a:t>
                      </a:r>
                      <a:r>
                        <a:rPr dirty="0" sz="600" spc="-1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600" spc="-10">
                          <a:latin typeface="Verdana"/>
                          <a:cs typeface="Verdana"/>
                        </a:rPr>
                        <a:t>of</a:t>
                      </a:r>
                      <a:r>
                        <a:rPr dirty="0" sz="600" spc="-1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600" spc="-30">
                          <a:latin typeface="Verdana"/>
                          <a:cs typeface="Verdana"/>
                        </a:rPr>
                        <a:t>purchased</a:t>
                      </a:r>
                      <a:r>
                        <a:rPr dirty="0" sz="600" spc="-10">
                          <a:latin typeface="Verdana"/>
                          <a:cs typeface="Verdana"/>
                        </a:rPr>
                        <a:t> intangibles</a:t>
                      </a:r>
                      <a:r>
                        <a:rPr dirty="0" baseline="27777" sz="600" spc="-15">
                          <a:solidFill>
                            <a:srgbClr val="707070"/>
                          </a:solidFill>
                          <a:latin typeface="Verdana"/>
                          <a:cs typeface="Verdana"/>
                        </a:rPr>
                        <a:t>4</a:t>
                      </a:r>
                      <a:endParaRPr baseline="27777" sz="600">
                        <a:latin typeface="Verdana"/>
                        <a:cs typeface="Verdana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90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600" spc="-25">
                          <a:latin typeface="Verdana"/>
                          <a:cs typeface="Verdana"/>
                        </a:rPr>
                        <a:t>20.1</a:t>
                      </a:r>
                      <a:r>
                        <a:rPr dirty="0" sz="600" spc="-2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600" spc="25">
                          <a:latin typeface="Verdana"/>
                          <a:cs typeface="Verdana"/>
                        </a:rPr>
                        <a:t>%</a:t>
                      </a:r>
                      <a:endParaRPr sz="600">
                        <a:latin typeface="Verdana"/>
                        <a:cs typeface="Verdana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algn="r" marR="1905">
                        <a:lnSpc>
                          <a:spcPct val="100000"/>
                        </a:lnSpc>
                      </a:pPr>
                      <a:r>
                        <a:rPr dirty="0" sz="600" spc="-30">
                          <a:latin typeface="Verdana"/>
                          <a:cs typeface="Verdana"/>
                        </a:rPr>
                        <a:t>4.4</a:t>
                      </a:r>
                      <a:r>
                        <a:rPr dirty="0" sz="6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600" spc="25">
                          <a:latin typeface="Verdana"/>
                          <a:cs typeface="Verdana"/>
                        </a:rPr>
                        <a:t>%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600" spc="-50">
                          <a:latin typeface="Verdana"/>
                          <a:cs typeface="Verdana"/>
                        </a:rPr>
                        <a:t>Stock-</a:t>
                      </a:r>
                      <a:r>
                        <a:rPr dirty="0" sz="600" spc="-35">
                          <a:latin typeface="Verdana"/>
                          <a:cs typeface="Verdana"/>
                        </a:rPr>
                        <a:t>based</a:t>
                      </a:r>
                      <a:r>
                        <a:rPr dirty="0" sz="600" spc="3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600" spc="-25">
                          <a:latin typeface="Verdana"/>
                          <a:cs typeface="Verdana"/>
                        </a:rPr>
                        <a:t>compensation</a:t>
                      </a:r>
                      <a:r>
                        <a:rPr dirty="0" sz="600" spc="3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600" spc="-10">
                          <a:latin typeface="Verdana"/>
                          <a:cs typeface="Verdana"/>
                        </a:rPr>
                        <a:t>expense</a:t>
                      </a:r>
                      <a:r>
                        <a:rPr dirty="0" baseline="27777" sz="600" spc="-15">
                          <a:latin typeface="Verdana"/>
                          <a:cs typeface="Verdana"/>
                        </a:rPr>
                        <a:t>5</a:t>
                      </a:r>
                      <a:endParaRPr baseline="27777" sz="600">
                        <a:latin typeface="Verdana"/>
                        <a:cs typeface="Verdana"/>
                      </a:endParaRPr>
                    </a:p>
                  </a:txBody>
                  <a:tcPr marL="0" marR="0" marB="0" marT="215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600" spc="-25">
                          <a:latin typeface="Verdana"/>
                          <a:cs typeface="Verdana"/>
                        </a:rPr>
                        <a:t>793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215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2065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600" spc="-25">
                          <a:latin typeface="Verdana"/>
                          <a:cs typeface="Verdana"/>
                        </a:rPr>
                        <a:t>904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21590"/>
                </a:tc>
                <a:tc>
                  <a:txBody>
                    <a:bodyPr/>
                    <a:lstStyle/>
                    <a:p>
                      <a:pPr marL="16891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600" spc="-50">
                          <a:latin typeface="Verdana"/>
                          <a:cs typeface="Verdana"/>
                        </a:rPr>
                        <a:t>Stock-</a:t>
                      </a:r>
                      <a:r>
                        <a:rPr dirty="0" sz="600" spc="-35">
                          <a:latin typeface="Verdana"/>
                          <a:cs typeface="Verdana"/>
                        </a:rPr>
                        <a:t>based</a:t>
                      </a:r>
                      <a:r>
                        <a:rPr dirty="0" sz="600" spc="3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600" spc="-25">
                          <a:latin typeface="Verdana"/>
                          <a:cs typeface="Verdana"/>
                        </a:rPr>
                        <a:t>compensation</a:t>
                      </a:r>
                      <a:r>
                        <a:rPr dirty="0" sz="600" spc="3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600" spc="-10">
                          <a:latin typeface="Verdana"/>
                          <a:cs typeface="Verdana"/>
                        </a:rPr>
                        <a:t>expense</a:t>
                      </a:r>
                      <a:r>
                        <a:rPr dirty="0" baseline="27777" sz="600" spc="-15">
                          <a:latin typeface="Verdana"/>
                          <a:cs typeface="Verdana"/>
                        </a:rPr>
                        <a:t>4,5</a:t>
                      </a:r>
                      <a:endParaRPr baseline="27777" sz="600">
                        <a:latin typeface="Verdana"/>
                        <a:cs typeface="Verdana"/>
                      </a:endParaRPr>
                    </a:p>
                  </a:txBody>
                  <a:tcPr marL="0" marR="0" marB="0" marT="215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90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600" spc="-30">
                          <a:latin typeface="Verdana"/>
                          <a:cs typeface="Verdana"/>
                        </a:rPr>
                        <a:t>9.0</a:t>
                      </a:r>
                      <a:r>
                        <a:rPr dirty="0" sz="6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600" spc="25">
                          <a:latin typeface="Verdana"/>
                          <a:cs typeface="Verdana"/>
                        </a:rPr>
                        <a:t>%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21590"/>
                </a:tc>
              </a:tr>
              <a:tr h="136525"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600" spc="-35">
                          <a:latin typeface="Verdana"/>
                          <a:cs typeface="Verdana"/>
                        </a:rPr>
                        <a:t>Restructuring</a:t>
                      </a:r>
                      <a:r>
                        <a:rPr dirty="0" sz="600" spc="3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600" spc="-25"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sz="600" spc="4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600" spc="-30">
                          <a:latin typeface="Verdana"/>
                          <a:cs typeface="Verdana"/>
                        </a:rPr>
                        <a:t>acquisition-</a:t>
                      </a:r>
                      <a:r>
                        <a:rPr dirty="0" sz="600" spc="-35">
                          <a:latin typeface="Verdana"/>
                          <a:cs typeface="Verdana"/>
                        </a:rPr>
                        <a:t>related</a:t>
                      </a:r>
                      <a:r>
                        <a:rPr dirty="0" sz="600" spc="3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600" spc="-20">
                          <a:latin typeface="Verdana"/>
                          <a:cs typeface="Verdana"/>
                        </a:rPr>
                        <a:t>costs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215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241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600" spc="-50">
                          <a:latin typeface="Verdana"/>
                          <a:cs typeface="Verdana"/>
                        </a:rPr>
                        <a:t>4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2159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600" spc="-25">
                          <a:latin typeface="Verdana"/>
                          <a:cs typeface="Verdana"/>
                        </a:rPr>
                        <a:t>115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2159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63246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600" spc="-35">
                          <a:latin typeface="Verdana"/>
                          <a:cs typeface="Verdana"/>
                        </a:rPr>
                        <a:t>Restructuring</a:t>
                      </a:r>
                      <a:r>
                        <a:rPr dirty="0" sz="600" spc="3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600" spc="-25"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sz="600" spc="4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600" spc="-30">
                          <a:latin typeface="Verdana"/>
                          <a:cs typeface="Verdana"/>
                        </a:rPr>
                        <a:t>acquisition-</a:t>
                      </a:r>
                      <a:r>
                        <a:rPr dirty="0" sz="600" spc="-35">
                          <a:latin typeface="Verdana"/>
                          <a:cs typeface="Verdana"/>
                        </a:rPr>
                        <a:t>related</a:t>
                      </a:r>
                      <a:r>
                        <a:rPr dirty="0" sz="600" spc="3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600" spc="-10">
                          <a:latin typeface="Verdana"/>
                          <a:cs typeface="Verdana"/>
                        </a:rPr>
                        <a:t>costs</a:t>
                      </a:r>
                      <a:r>
                        <a:rPr dirty="0" baseline="27777" sz="600" spc="-15">
                          <a:latin typeface="Verdana"/>
                          <a:cs typeface="Verdana"/>
                        </a:rPr>
                        <a:t>4,5</a:t>
                      </a:r>
                      <a:endParaRPr baseline="27777" sz="600">
                        <a:latin typeface="Verdana"/>
                        <a:cs typeface="Verdana"/>
                      </a:endParaRPr>
                    </a:p>
                  </a:txBody>
                  <a:tcPr marL="0" marR="0" marB="0" marT="215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90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600" spc="-30">
                          <a:latin typeface="Verdana"/>
                          <a:cs typeface="Verdana"/>
                        </a:rPr>
                        <a:t>0.8</a:t>
                      </a:r>
                      <a:r>
                        <a:rPr dirty="0" sz="6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600" spc="25">
                          <a:latin typeface="Verdana"/>
                          <a:cs typeface="Verdana"/>
                        </a:rPr>
                        <a:t>%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2159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600" spc="-30">
                          <a:latin typeface="Verdana"/>
                          <a:cs typeface="Verdana"/>
                        </a:rPr>
                        <a:t>Non-</a:t>
                      </a:r>
                      <a:r>
                        <a:rPr dirty="0" sz="600" spc="-20">
                          <a:latin typeface="Verdana"/>
                          <a:cs typeface="Verdana"/>
                        </a:rPr>
                        <a:t>GAAP income</a:t>
                      </a:r>
                      <a:r>
                        <a:rPr dirty="0" sz="600" spc="-1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600" spc="-25">
                          <a:latin typeface="Verdana"/>
                          <a:cs typeface="Verdana"/>
                        </a:rPr>
                        <a:t>from</a:t>
                      </a:r>
                      <a:r>
                        <a:rPr dirty="0" sz="600" spc="-2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600" spc="-10">
                          <a:latin typeface="Verdana"/>
                          <a:cs typeface="Verdana"/>
                        </a:rPr>
                        <a:t>operations</a:t>
                      </a:r>
                      <a:r>
                        <a:rPr dirty="0" baseline="27777" sz="600" spc="-15">
                          <a:latin typeface="Verdana"/>
                          <a:cs typeface="Verdana"/>
                        </a:rPr>
                        <a:t>1</a:t>
                      </a:r>
                      <a:endParaRPr baseline="27777" sz="600">
                        <a:latin typeface="Verdana"/>
                        <a:cs typeface="Verdana"/>
                      </a:endParaRPr>
                    </a:p>
                  </a:txBody>
                  <a:tcPr marL="0" marR="0" marB="0" marT="2794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600" spc="-50">
                          <a:latin typeface="Verdana"/>
                          <a:cs typeface="Verdana"/>
                        </a:rPr>
                        <a:t>S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600" spc="-10">
                          <a:latin typeface="Verdana"/>
                          <a:cs typeface="Verdana"/>
                        </a:rPr>
                        <a:t>3,509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600" spc="-50">
                          <a:latin typeface="Verdana"/>
                          <a:cs typeface="Verdana"/>
                        </a:rPr>
                        <a:t>S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600" spc="-10">
                          <a:latin typeface="Verdana"/>
                          <a:cs typeface="Verdana"/>
                        </a:rPr>
                        <a:t>3,872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600" spc="-30">
                          <a:latin typeface="Verdana"/>
                          <a:cs typeface="Verdana"/>
                        </a:rPr>
                        <a:t>Non-</a:t>
                      </a:r>
                      <a:r>
                        <a:rPr dirty="0" sz="600" spc="-20">
                          <a:latin typeface="Verdana"/>
                          <a:cs typeface="Verdana"/>
                        </a:rPr>
                        <a:t>GAAP</a:t>
                      </a:r>
                      <a:r>
                        <a:rPr dirty="0" sz="600" spc="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600" spc="-30">
                          <a:latin typeface="Verdana"/>
                          <a:cs typeface="Verdana"/>
                        </a:rPr>
                        <a:t>operating</a:t>
                      </a:r>
                      <a:r>
                        <a:rPr dirty="0" sz="600" spc="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600" spc="-10">
                          <a:latin typeface="Verdana"/>
                          <a:cs typeface="Verdana"/>
                        </a:rPr>
                        <a:t>margin</a:t>
                      </a:r>
                      <a:r>
                        <a:rPr dirty="0" baseline="27777" sz="600" spc="-15">
                          <a:latin typeface="Verdana"/>
                          <a:cs typeface="Verdana"/>
                        </a:rPr>
                        <a:t>2</a:t>
                      </a:r>
                      <a:endParaRPr baseline="27777" sz="600">
                        <a:latin typeface="Verdana"/>
                        <a:cs typeface="Verdana"/>
                      </a:endParaRPr>
                    </a:p>
                  </a:txBody>
                  <a:tcPr marL="0" marR="0" marB="0" marT="2794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90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600" spc="-25">
                          <a:latin typeface="Verdana"/>
                          <a:cs typeface="Verdana"/>
                        </a:rPr>
                        <a:t>34.3</a:t>
                      </a:r>
                      <a:r>
                        <a:rPr dirty="0" sz="600" spc="-2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600" spc="25">
                          <a:latin typeface="Verdana"/>
                          <a:cs typeface="Verdana"/>
                        </a:rPr>
                        <a:t>%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600" spc="-10">
                          <a:latin typeface="Verdana"/>
                          <a:cs typeface="Verdana"/>
                        </a:rPr>
                        <a:t>Revenue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2794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034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600" spc="-10">
                          <a:latin typeface="Verdana"/>
                          <a:cs typeface="Verdana"/>
                        </a:rPr>
                        <a:t>10,236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600" spc="-10">
                          <a:latin typeface="Verdana"/>
                          <a:cs typeface="Verdana"/>
                        </a:rPr>
                        <a:t>11,345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26364">
                <a:tc>
                  <a:txBody>
                    <a:bodyPr/>
                    <a:lstStyle/>
                    <a:p>
                      <a:pPr marL="33020">
                        <a:lnSpc>
                          <a:spcPts val="675"/>
                        </a:lnSpc>
                        <a:spcBef>
                          <a:spcPts val="220"/>
                        </a:spcBef>
                      </a:pPr>
                      <a:r>
                        <a:rPr dirty="0" sz="600" spc="-30">
                          <a:latin typeface="Verdana"/>
                          <a:cs typeface="Verdana"/>
                        </a:rPr>
                        <a:t>Non-</a:t>
                      </a:r>
                      <a:r>
                        <a:rPr dirty="0" sz="600" spc="-20">
                          <a:latin typeface="Verdana"/>
                          <a:cs typeface="Verdana"/>
                        </a:rPr>
                        <a:t>GAAP</a:t>
                      </a:r>
                      <a:r>
                        <a:rPr dirty="0" sz="600" spc="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600" spc="-30">
                          <a:latin typeface="Verdana"/>
                          <a:cs typeface="Verdana"/>
                        </a:rPr>
                        <a:t>operating</a:t>
                      </a:r>
                      <a:r>
                        <a:rPr dirty="0" sz="600" spc="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600" spc="-10">
                          <a:latin typeface="Verdana"/>
                          <a:cs typeface="Verdana"/>
                        </a:rPr>
                        <a:t>margin</a:t>
                      </a:r>
                      <a:r>
                        <a:rPr dirty="0" baseline="27777" sz="600" spc="-15">
                          <a:solidFill>
                            <a:srgbClr val="707070"/>
                          </a:solidFill>
                          <a:latin typeface="Verdana"/>
                          <a:cs typeface="Verdana"/>
                        </a:rPr>
                        <a:t>2</a:t>
                      </a:r>
                      <a:endParaRPr baseline="27777" sz="600">
                        <a:latin typeface="Verdana"/>
                        <a:cs typeface="Verdana"/>
                      </a:endParaRPr>
                    </a:p>
                  </a:txBody>
                  <a:tcPr marL="0" marR="0" marB="0" marT="2794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19380">
                        <a:lnSpc>
                          <a:spcPts val="675"/>
                        </a:lnSpc>
                        <a:spcBef>
                          <a:spcPts val="220"/>
                        </a:spcBef>
                      </a:pPr>
                      <a:r>
                        <a:rPr dirty="0" sz="600" spc="-25">
                          <a:latin typeface="Verdana"/>
                          <a:cs typeface="Verdana"/>
                        </a:rPr>
                        <a:t>34.3</a:t>
                      </a:r>
                      <a:r>
                        <a:rPr dirty="0" sz="600" spc="-2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600" spc="25">
                          <a:latin typeface="Verdana"/>
                          <a:cs typeface="Verdana"/>
                        </a:rPr>
                        <a:t>%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ts val="675"/>
                        </a:lnSpc>
                        <a:spcBef>
                          <a:spcPts val="220"/>
                        </a:spcBef>
                      </a:pPr>
                      <a:r>
                        <a:rPr dirty="0" sz="600" spc="-25">
                          <a:latin typeface="Verdana"/>
                          <a:cs typeface="Verdana"/>
                        </a:rPr>
                        <a:t>34.1</a:t>
                      </a:r>
                      <a:r>
                        <a:rPr dirty="0" sz="600" spc="-2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600" spc="25">
                          <a:latin typeface="Verdana"/>
                          <a:cs typeface="Verdana"/>
                        </a:rPr>
                        <a:t>%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1456816" y="2243201"/>
            <a:ext cx="46545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0" b="1">
                <a:latin typeface="Tahoma"/>
                <a:cs typeface="Tahoma"/>
              </a:rPr>
              <a:t>(in</a:t>
            </a:r>
            <a:r>
              <a:rPr dirty="0" sz="600" spc="-15" b="1">
                <a:latin typeface="Tahoma"/>
                <a:cs typeface="Tahoma"/>
              </a:rPr>
              <a:t> </a:t>
            </a:r>
            <a:r>
              <a:rPr dirty="0" sz="600" spc="-10" b="1">
                <a:latin typeface="Tahoma"/>
                <a:cs typeface="Tahoma"/>
              </a:rPr>
              <a:t>millions)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50890" y="2211323"/>
            <a:ext cx="143954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5" b="1">
                <a:latin typeface="Tahoma"/>
                <a:cs typeface="Tahoma"/>
              </a:rPr>
              <a:t>Three</a:t>
            </a:r>
            <a:r>
              <a:rPr dirty="0" sz="800" spc="-15" b="1">
                <a:latin typeface="Tahoma"/>
                <a:cs typeface="Tahoma"/>
              </a:rPr>
              <a:t> </a:t>
            </a:r>
            <a:r>
              <a:rPr dirty="0" sz="800" spc="-10" b="1">
                <a:latin typeface="Tahoma"/>
                <a:cs typeface="Tahoma"/>
              </a:rPr>
              <a:t>Months Ended </a:t>
            </a:r>
            <a:r>
              <a:rPr dirty="0" sz="800" spc="-45" b="1">
                <a:latin typeface="Tahoma"/>
                <a:cs typeface="Tahoma"/>
              </a:rPr>
              <a:t>July</a:t>
            </a:r>
            <a:r>
              <a:rPr dirty="0" sz="800" spc="-15" b="1">
                <a:latin typeface="Tahoma"/>
                <a:cs typeface="Tahoma"/>
              </a:rPr>
              <a:t> </a:t>
            </a:r>
            <a:r>
              <a:rPr dirty="0" sz="800" spc="-25" b="1">
                <a:latin typeface="Tahoma"/>
                <a:cs typeface="Tahoma"/>
              </a:rPr>
              <a:t>31,</a:t>
            </a:r>
            <a:endParaRPr sz="800">
              <a:latin typeface="Tahoma"/>
              <a:cs typeface="Tahoma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1436116" y="2370708"/>
          <a:ext cx="5762625" cy="5708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14725"/>
                <a:gridCol w="66675"/>
                <a:gridCol w="257810"/>
                <a:gridCol w="433070"/>
                <a:gridCol w="367029"/>
                <a:gridCol w="66675"/>
                <a:gridCol w="238760"/>
                <a:gridCol w="375285"/>
                <a:gridCol w="367664"/>
              </a:tblGrid>
              <a:tr h="14287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600" spc="-10" b="1">
                          <a:latin typeface="Tahoma"/>
                          <a:cs typeface="Tahoma"/>
                        </a:rPr>
                        <a:t>Computations</a:t>
                      </a:r>
                      <a:r>
                        <a:rPr dirty="0" sz="600" spc="-15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600" b="1">
                          <a:latin typeface="Tahoma"/>
                          <a:cs typeface="Tahoma"/>
                        </a:rPr>
                        <a:t>of</a:t>
                      </a:r>
                      <a:r>
                        <a:rPr dirty="0" sz="600" spc="-15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600" spc="-20" b="1">
                          <a:latin typeface="Tahoma"/>
                          <a:cs typeface="Tahoma"/>
                        </a:rPr>
                        <a:t>free</a:t>
                      </a:r>
                      <a:r>
                        <a:rPr dirty="0" sz="600" spc="-15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600" spc="-20" b="1">
                          <a:latin typeface="Tahoma"/>
                          <a:cs typeface="Tahoma"/>
                        </a:rPr>
                        <a:t>cash</a:t>
                      </a:r>
                      <a:r>
                        <a:rPr dirty="0" sz="600" spc="-15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600" spc="-20" b="1">
                          <a:latin typeface="Tahoma"/>
                          <a:cs typeface="Tahoma"/>
                        </a:rPr>
                        <a:t>flow,</a:t>
                      </a:r>
                      <a:r>
                        <a:rPr dirty="0" sz="600" spc="-15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600" b="1">
                          <a:latin typeface="Tahoma"/>
                          <a:cs typeface="Tahoma"/>
                        </a:rPr>
                        <a:t>a</a:t>
                      </a:r>
                      <a:r>
                        <a:rPr dirty="0" sz="600" spc="-15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600" spc="-30" b="1">
                          <a:latin typeface="Tahoma"/>
                          <a:cs typeface="Tahoma"/>
                        </a:rPr>
                        <a:t>non-</a:t>
                      </a:r>
                      <a:r>
                        <a:rPr dirty="0" sz="600" spc="-20" b="1">
                          <a:latin typeface="Tahoma"/>
                          <a:cs typeface="Tahoma"/>
                        </a:rPr>
                        <a:t>GAAP</a:t>
                      </a:r>
                      <a:r>
                        <a:rPr dirty="0" sz="600" spc="-15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600" spc="-10" b="1">
                          <a:latin typeface="Tahoma"/>
                          <a:cs typeface="Tahoma"/>
                        </a:rPr>
                        <a:t>measure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2794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80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600" spc="-20" b="1">
                          <a:latin typeface="Tahoma"/>
                          <a:cs typeface="Tahoma"/>
                        </a:rPr>
                        <a:t>2025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75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600" spc="-20" b="1">
                          <a:latin typeface="Tahoma"/>
                          <a:cs typeface="Tahoma"/>
                        </a:rPr>
                        <a:t>2026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859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600" spc="-20">
                          <a:latin typeface="Verdana"/>
                          <a:cs typeface="Verdana"/>
                        </a:rPr>
                        <a:t>GAAP</a:t>
                      </a:r>
                      <a:r>
                        <a:rPr dirty="0" sz="600" spc="-2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600" spc="-30">
                          <a:latin typeface="Verdana"/>
                          <a:cs typeface="Verdana"/>
                        </a:rPr>
                        <a:t>net</a:t>
                      </a:r>
                      <a:r>
                        <a:rPr dirty="0" sz="600" spc="-2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600" spc="-35">
                          <a:latin typeface="Verdana"/>
                          <a:cs typeface="Verdana"/>
                        </a:rPr>
                        <a:t>cash</a:t>
                      </a:r>
                      <a:r>
                        <a:rPr dirty="0" sz="600" spc="-25">
                          <a:latin typeface="Verdana"/>
                          <a:cs typeface="Verdana"/>
                        </a:rPr>
                        <a:t> provided </a:t>
                      </a:r>
                      <a:r>
                        <a:rPr dirty="0" sz="600" spc="-45">
                          <a:latin typeface="Verdana"/>
                          <a:cs typeface="Verdana"/>
                        </a:rPr>
                        <a:t>by</a:t>
                      </a:r>
                      <a:r>
                        <a:rPr dirty="0" sz="600" spc="-2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600" spc="-30">
                          <a:latin typeface="Verdana"/>
                          <a:cs typeface="Verdana"/>
                        </a:rPr>
                        <a:t>operating</a:t>
                      </a:r>
                      <a:r>
                        <a:rPr dirty="0" sz="600" spc="-2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600" spc="-10">
                          <a:latin typeface="Verdana"/>
                          <a:cs typeface="Verdana"/>
                        </a:rPr>
                        <a:t>activities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600" spc="-50">
                          <a:latin typeface="Verdana"/>
                          <a:cs typeface="Verdana"/>
                        </a:rPr>
                        <a:t>S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2540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600" spc="-25">
                          <a:latin typeface="Verdana"/>
                          <a:cs typeface="Verdana"/>
                        </a:rPr>
                        <a:t>740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600" spc="-50">
                          <a:latin typeface="Verdana"/>
                          <a:cs typeface="Verdana"/>
                        </a:rPr>
                        <a:t>S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9207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600" spc="-10">
                          <a:latin typeface="Verdana"/>
                          <a:cs typeface="Verdana"/>
                        </a:rPr>
                        <a:t>1,269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36525"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600" spc="-35">
                          <a:latin typeface="Verdana"/>
                          <a:cs typeface="Verdana"/>
                        </a:rPr>
                        <a:t>(Capital</a:t>
                      </a:r>
                      <a:r>
                        <a:rPr dirty="0" sz="600" spc="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600" spc="-10">
                          <a:latin typeface="Verdana"/>
                          <a:cs typeface="Verdana"/>
                        </a:rPr>
                        <a:t>expenditures)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215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2540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600" spc="-10">
                          <a:latin typeface="Verdana"/>
                          <a:cs typeface="Verdana"/>
                        </a:rPr>
                        <a:t>(135)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2159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2476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600" spc="-10">
                          <a:latin typeface="Verdana"/>
                          <a:cs typeface="Verdana"/>
                        </a:rPr>
                        <a:t>(171)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2159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dirty="0" sz="600" spc="-40">
                          <a:latin typeface="Verdana"/>
                          <a:cs typeface="Verdana"/>
                        </a:rPr>
                        <a:t>Free</a:t>
                      </a:r>
                      <a:r>
                        <a:rPr dirty="0" sz="600" spc="-3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600" spc="-35">
                          <a:latin typeface="Verdana"/>
                          <a:cs typeface="Verdana"/>
                        </a:rPr>
                        <a:t>cash</a:t>
                      </a:r>
                      <a:r>
                        <a:rPr dirty="0" sz="600" spc="-3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600" spc="-10">
                          <a:latin typeface="Verdana"/>
                          <a:cs typeface="Verdana"/>
                        </a:rPr>
                        <a:t>flow</a:t>
                      </a:r>
                      <a:r>
                        <a:rPr dirty="0" baseline="27777" sz="600" spc="-15">
                          <a:solidFill>
                            <a:srgbClr val="707070"/>
                          </a:solidFill>
                          <a:latin typeface="Verdana"/>
                          <a:cs typeface="Verdana"/>
                        </a:rPr>
                        <a:t>3</a:t>
                      </a:r>
                      <a:endParaRPr baseline="27777" sz="600">
                        <a:latin typeface="Verdana"/>
                        <a:cs typeface="Verdana"/>
                      </a:endParaRPr>
                    </a:p>
                  </a:txBody>
                  <a:tcPr marL="0" marR="0" marB="0" marT="26034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600" spc="-50">
                          <a:latin typeface="Verdana"/>
                          <a:cs typeface="Verdana"/>
                        </a:rPr>
                        <a:t>S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2540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600" spc="-25">
                          <a:latin typeface="Verdana"/>
                          <a:cs typeface="Verdana"/>
                        </a:rPr>
                        <a:t>605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600" spc="-50">
                          <a:latin typeface="Verdana"/>
                          <a:cs typeface="Verdana"/>
                        </a:rPr>
                        <a:t>S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9207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600" spc="-10">
                          <a:latin typeface="Verdana"/>
                          <a:cs typeface="Verdana"/>
                        </a:rPr>
                        <a:t>1,098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5350890" y="3125723"/>
            <a:ext cx="143954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5" b="1">
                <a:latin typeface="Tahoma"/>
                <a:cs typeface="Tahoma"/>
              </a:rPr>
              <a:t>Three</a:t>
            </a:r>
            <a:r>
              <a:rPr dirty="0" sz="800" spc="-15" b="1">
                <a:latin typeface="Tahoma"/>
                <a:cs typeface="Tahoma"/>
              </a:rPr>
              <a:t> </a:t>
            </a:r>
            <a:r>
              <a:rPr dirty="0" sz="800" spc="-10" b="1">
                <a:latin typeface="Tahoma"/>
                <a:cs typeface="Tahoma"/>
              </a:rPr>
              <a:t>Months Ended </a:t>
            </a:r>
            <a:r>
              <a:rPr dirty="0" sz="800" spc="-45" b="1">
                <a:latin typeface="Tahoma"/>
                <a:cs typeface="Tahoma"/>
              </a:rPr>
              <a:t>July</a:t>
            </a:r>
            <a:r>
              <a:rPr dirty="0" sz="800" spc="-15" b="1">
                <a:latin typeface="Tahoma"/>
                <a:cs typeface="Tahoma"/>
              </a:rPr>
              <a:t> </a:t>
            </a:r>
            <a:r>
              <a:rPr dirty="0" sz="800" spc="-25" b="1">
                <a:latin typeface="Tahoma"/>
                <a:cs typeface="Tahoma"/>
              </a:rPr>
              <a:t>31,</a:t>
            </a:r>
            <a:endParaRPr sz="800">
              <a:latin typeface="Tahoma"/>
              <a:cs typeface="Tahoma"/>
            </a:endParaRPr>
          </a:p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1436116" y="3285109"/>
          <a:ext cx="9334500" cy="20707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14725"/>
                <a:gridCol w="66675"/>
                <a:gridCol w="183514"/>
                <a:gridCol w="496570"/>
                <a:gridCol w="376554"/>
                <a:gridCol w="66039"/>
                <a:gridCol w="123825"/>
                <a:gridCol w="497839"/>
                <a:gridCol w="356870"/>
                <a:gridCol w="65404"/>
                <a:gridCol w="127635"/>
                <a:gridCol w="850900"/>
                <a:gridCol w="65404"/>
                <a:gridCol w="155575"/>
                <a:gridCol w="823595"/>
                <a:gridCol w="66040"/>
                <a:gridCol w="227965"/>
                <a:gridCol w="66040"/>
                <a:gridCol w="438784"/>
                <a:gridCol w="246379"/>
                <a:gridCol w="428625"/>
              </a:tblGrid>
              <a:tr h="14287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600" spc="-30" b="1">
                          <a:latin typeface="Tahoma"/>
                          <a:cs typeface="Tahoma"/>
                        </a:rPr>
                        <a:t>Non-</a:t>
                      </a:r>
                      <a:r>
                        <a:rPr dirty="0" sz="600" spc="-20" b="1">
                          <a:latin typeface="Tahoma"/>
                          <a:cs typeface="Tahoma"/>
                        </a:rPr>
                        <a:t>GAAP</a:t>
                      </a:r>
                      <a:r>
                        <a:rPr dirty="0" sz="600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600" spc="-10" b="1">
                          <a:latin typeface="Tahoma"/>
                          <a:cs typeface="Tahoma"/>
                        </a:rPr>
                        <a:t>diluted</a:t>
                      </a:r>
                      <a:r>
                        <a:rPr dirty="0" sz="600" spc="5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600" spc="-25" b="1">
                          <a:latin typeface="Tahoma"/>
                          <a:cs typeface="Tahoma"/>
                        </a:rPr>
                        <a:t>earnings</a:t>
                      </a:r>
                      <a:r>
                        <a:rPr dirty="0" sz="600" spc="5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600" spc="-10" b="1">
                          <a:latin typeface="Tahoma"/>
                          <a:cs typeface="Tahoma"/>
                        </a:rPr>
                        <a:t>per</a:t>
                      </a:r>
                      <a:r>
                        <a:rPr dirty="0" sz="600" spc="5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600" spc="-20" b="1">
                          <a:latin typeface="Tahoma"/>
                          <a:cs typeface="Tahoma"/>
                        </a:rPr>
                        <a:t>share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2794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146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600" spc="-20" b="1">
                          <a:latin typeface="Tahoma"/>
                          <a:cs typeface="Tahoma"/>
                        </a:rPr>
                        <a:t>2025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241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600" spc="-20" b="1">
                          <a:latin typeface="Tahoma"/>
                          <a:cs typeface="Tahoma"/>
                        </a:rPr>
                        <a:t>2026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8">
                  <a:txBody>
                    <a:bodyPr/>
                    <a:lstStyle/>
                    <a:p>
                      <a:pPr algn="ctr" marL="3810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600" b="1">
                          <a:latin typeface="Tahoma"/>
                          <a:cs typeface="Tahoma"/>
                        </a:rPr>
                        <a:t>Q3 </a:t>
                      </a:r>
                      <a:r>
                        <a:rPr dirty="0" sz="600" spc="-40" b="1">
                          <a:latin typeface="Tahoma"/>
                          <a:cs typeface="Tahoma"/>
                        </a:rPr>
                        <a:t>FY27</a:t>
                      </a:r>
                      <a:r>
                        <a:rPr dirty="0" sz="600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600" spc="-10" b="1">
                          <a:latin typeface="Tahoma"/>
                          <a:cs typeface="Tahoma"/>
                        </a:rPr>
                        <a:t>Guidance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2794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gridSpan="3"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600" spc="-10" b="1">
                          <a:latin typeface="Tahoma"/>
                          <a:cs typeface="Tahoma"/>
                        </a:rPr>
                        <a:t>Full </a:t>
                      </a:r>
                      <a:r>
                        <a:rPr dirty="0" sz="600" spc="-30" b="1">
                          <a:latin typeface="Tahoma"/>
                          <a:cs typeface="Tahoma"/>
                        </a:rPr>
                        <a:t>Year</a:t>
                      </a:r>
                      <a:r>
                        <a:rPr dirty="0" sz="600" spc="-5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600" spc="-40" b="1">
                          <a:latin typeface="Tahoma"/>
                          <a:cs typeface="Tahoma"/>
                        </a:rPr>
                        <a:t>FY27</a:t>
                      </a:r>
                      <a:r>
                        <a:rPr dirty="0" sz="600" spc="-5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600" spc="-10" b="1">
                          <a:latin typeface="Tahoma"/>
                          <a:cs typeface="Tahoma"/>
                        </a:rPr>
                        <a:t>Guidance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2794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4859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600" spc="-20">
                          <a:latin typeface="Verdana"/>
                          <a:cs typeface="Verdana"/>
                        </a:rPr>
                        <a:t>GAAP</a:t>
                      </a:r>
                      <a:r>
                        <a:rPr dirty="0" sz="600" spc="-2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600" spc="-20">
                          <a:latin typeface="Verdana"/>
                          <a:cs typeface="Verdana"/>
                        </a:rPr>
                        <a:t>diluted</a:t>
                      </a:r>
                      <a:r>
                        <a:rPr dirty="0" sz="600" spc="-2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600" spc="-35">
                          <a:latin typeface="Verdana"/>
                          <a:cs typeface="Verdana"/>
                        </a:rPr>
                        <a:t>earnings</a:t>
                      </a:r>
                      <a:r>
                        <a:rPr dirty="0" sz="600" spc="-2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600" spc="-30">
                          <a:latin typeface="Verdana"/>
                          <a:cs typeface="Verdana"/>
                        </a:rPr>
                        <a:t>per</a:t>
                      </a:r>
                      <a:r>
                        <a:rPr dirty="0" sz="600" spc="-2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600" spc="-20">
                          <a:latin typeface="Verdana"/>
                          <a:cs typeface="Verdana"/>
                        </a:rPr>
                        <a:t>share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600" spc="-50">
                          <a:latin typeface="Verdana"/>
                          <a:cs typeface="Verdana"/>
                        </a:rPr>
                        <a:t>S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2255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600" spc="-20">
                          <a:latin typeface="Verdana"/>
                          <a:cs typeface="Verdana"/>
                        </a:rPr>
                        <a:t>1.96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317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600" spc="-50">
                          <a:latin typeface="Verdana"/>
                          <a:cs typeface="Verdana"/>
                        </a:rPr>
                        <a:t>S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5461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600" spc="-20">
                          <a:latin typeface="Verdana"/>
                          <a:cs typeface="Verdana"/>
                        </a:rPr>
                        <a:t>4.29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8">
                  <a:txBody>
                    <a:bodyPr/>
                    <a:lstStyle/>
                    <a:p>
                      <a:pPr algn="r" marR="2540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600" spc="-40">
                          <a:latin typeface="Verdana"/>
                          <a:cs typeface="Verdana"/>
                        </a:rPr>
                        <a:t>S1.81</a:t>
                      </a:r>
                      <a:r>
                        <a:rPr dirty="0" sz="600" spc="-4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600" spc="-95">
                          <a:latin typeface="Verdana"/>
                          <a:cs typeface="Verdana"/>
                        </a:rPr>
                        <a:t>-</a:t>
                      </a:r>
                      <a:r>
                        <a:rPr dirty="0" sz="600" spc="-4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600" spc="-10">
                          <a:latin typeface="Verdana"/>
                          <a:cs typeface="Verdana"/>
                        </a:rPr>
                        <a:t>S1.83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gridSpan="3">
                  <a:txBody>
                    <a:bodyPr/>
                    <a:lstStyle/>
                    <a:p>
                      <a:pPr marL="51244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600" spc="-40">
                          <a:latin typeface="Verdana"/>
                          <a:cs typeface="Verdana"/>
                        </a:rPr>
                        <a:t>S10.21</a:t>
                      </a:r>
                      <a:r>
                        <a:rPr dirty="0" sz="600" spc="-3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600" spc="-95">
                          <a:latin typeface="Verdana"/>
                          <a:cs typeface="Verdana"/>
                        </a:rPr>
                        <a:t>-</a:t>
                      </a:r>
                      <a:r>
                        <a:rPr dirty="0" sz="600" spc="-3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600" spc="-10">
                          <a:latin typeface="Verdana"/>
                          <a:cs typeface="Verdana"/>
                        </a:rPr>
                        <a:t>S10.25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4287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600" spc="-10">
                          <a:latin typeface="Verdana"/>
                          <a:cs typeface="Verdana"/>
                        </a:rPr>
                        <a:t>Plus: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215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gridSpan="8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42875"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600" spc="-25">
                          <a:latin typeface="Verdana"/>
                          <a:cs typeface="Verdana"/>
                        </a:rPr>
                        <a:t>Amortization</a:t>
                      </a:r>
                      <a:r>
                        <a:rPr dirty="0" sz="600" spc="-1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600" spc="-10">
                          <a:latin typeface="Verdana"/>
                          <a:cs typeface="Verdana"/>
                        </a:rPr>
                        <a:t>of</a:t>
                      </a:r>
                      <a:r>
                        <a:rPr dirty="0" sz="600" spc="-1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600" spc="-30">
                          <a:latin typeface="Verdana"/>
                          <a:cs typeface="Verdana"/>
                        </a:rPr>
                        <a:t>purchased</a:t>
                      </a:r>
                      <a:r>
                        <a:rPr dirty="0" sz="600" spc="-10">
                          <a:latin typeface="Verdana"/>
                          <a:cs typeface="Verdana"/>
                        </a:rPr>
                        <a:t> intangibles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215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2255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600" spc="-20">
                          <a:latin typeface="Verdana"/>
                          <a:cs typeface="Verdana"/>
                        </a:rPr>
                        <a:t>0.40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215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5461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600" spc="-20">
                          <a:latin typeface="Verdana"/>
                          <a:cs typeface="Verdana"/>
                        </a:rPr>
                        <a:t>0.64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21590"/>
                </a:tc>
                <a:tc gridSpan="8">
                  <a:txBody>
                    <a:bodyPr/>
                    <a:lstStyle/>
                    <a:p>
                      <a:pPr algn="r" marR="3048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600" spc="-20">
                          <a:latin typeface="Verdana"/>
                          <a:cs typeface="Verdana"/>
                        </a:rPr>
                        <a:t>0.57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2159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gridSpan="3">
                  <a:txBody>
                    <a:bodyPr/>
                    <a:lstStyle/>
                    <a:p>
                      <a:pPr algn="r" marR="12255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600" spc="-20">
                          <a:latin typeface="Verdana"/>
                          <a:cs typeface="Verdana"/>
                        </a:rPr>
                        <a:t>2.45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2159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42875"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600" spc="-50">
                          <a:latin typeface="Verdana"/>
                          <a:cs typeface="Verdana"/>
                        </a:rPr>
                        <a:t>Stock-</a:t>
                      </a:r>
                      <a:r>
                        <a:rPr dirty="0" sz="600" spc="-35">
                          <a:latin typeface="Verdana"/>
                          <a:cs typeface="Verdana"/>
                        </a:rPr>
                        <a:t>based</a:t>
                      </a:r>
                      <a:r>
                        <a:rPr dirty="0" sz="600" spc="3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600" spc="-25">
                          <a:latin typeface="Verdana"/>
                          <a:cs typeface="Verdana"/>
                        </a:rPr>
                        <a:t>compensation</a:t>
                      </a:r>
                      <a:r>
                        <a:rPr dirty="0" sz="600" spc="3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600" spc="-10">
                          <a:latin typeface="Verdana"/>
                          <a:cs typeface="Verdana"/>
                        </a:rPr>
                        <a:t>expense</a:t>
                      </a:r>
                      <a:r>
                        <a:rPr dirty="0" baseline="27777" sz="600" spc="-15">
                          <a:latin typeface="Verdana"/>
                          <a:cs typeface="Verdana"/>
                        </a:rPr>
                        <a:t>5</a:t>
                      </a:r>
                      <a:endParaRPr baseline="27777" sz="600">
                        <a:latin typeface="Verdana"/>
                        <a:cs typeface="Verdana"/>
                      </a:endParaRPr>
                    </a:p>
                  </a:txBody>
                  <a:tcPr marL="0" marR="0" marB="0" marT="215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2255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600" spc="-20">
                          <a:latin typeface="Verdana"/>
                          <a:cs typeface="Verdana"/>
                        </a:rPr>
                        <a:t>0.82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215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5461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600" spc="-20">
                          <a:latin typeface="Verdana"/>
                          <a:cs typeface="Verdana"/>
                        </a:rPr>
                        <a:t>1.10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21590"/>
                </a:tc>
                <a:tc gridSpan="8">
                  <a:txBody>
                    <a:bodyPr/>
                    <a:lstStyle/>
                    <a:p>
                      <a:pPr algn="r" marR="3048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600" spc="-20">
                          <a:latin typeface="Verdana"/>
                          <a:cs typeface="Verdana"/>
                        </a:rPr>
                        <a:t>1.29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2159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gridSpan="3">
                  <a:txBody>
                    <a:bodyPr/>
                    <a:lstStyle/>
                    <a:p>
                      <a:pPr algn="r" marR="12255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600" spc="-20">
                          <a:latin typeface="Verdana"/>
                          <a:cs typeface="Verdana"/>
                        </a:rPr>
                        <a:t>4.96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2159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42875"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600" spc="-35">
                          <a:latin typeface="Verdana"/>
                          <a:cs typeface="Verdana"/>
                        </a:rPr>
                        <a:t>Restructuring</a:t>
                      </a:r>
                      <a:r>
                        <a:rPr dirty="0" sz="600" spc="3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600" spc="-25"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sz="600" spc="4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600" spc="-30">
                          <a:latin typeface="Verdana"/>
                          <a:cs typeface="Verdana"/>
                        </a:rPr>
                        <a:t>acquisition-</a:t>
                      </a:r>
                      <a:r>
                        <a:rPr dirty="0" sz="600" spc="-35">
                          <a:latin typeface="Verdana"/>
                          <a:cs typeface="Verdana"/>
                        </a:rPr>
                        <a:t>related</a:t>
                      </a:r>
                      <a:r>
                        <a:rPr dirty="0" sz="600" spc="3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600" spc="-20">
                          <a:latin typeface="Verdana"/>
                          <a:cs typeface="Verdana"/>
                        </a:rPr>
                        <a:t>costs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215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2255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600" spc="-20">
                          <a:latin typeface="Verdana"/>
                          <a:cs typeface="Verdana"/>
                        </a:rPr>
                        <a:t>0.00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215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5461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600" spc="-20">
                          <a:latin typeface="Verdana"/>
                          <a:cs typeface="Verdana"/>
                        </a:rPr>
                        <a:t>0.14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21590"/>
                </a:tc>
                <a:tc gridSpan="8">
                  <a:txBody>
                    <a:bodyPr/>
                    <a:lstStyle/>
                    <a:p>
                      <a:pPr algn="r" marR="3048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600" spc="-20">
                          <a:latin typeface="Verdana"/>
                          <a:cs typeface="Verdana"/>
                        </a:rPr>
                        <a:t>0.12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2159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gridSpan="3">
                  <a:txBody>
                    <a:bodyPr/>
                    <a:lstStyle/>
                    <a:p>
                      <a:pPr algn="r" marR="12255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600" spc="-20">
                          <a:latin typeface="Verdana"/>
                          <a:cs typeface="Verdana"/>
                        </a:rPr>
                        <a:t>0.42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2159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36525"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600" spc="-30">
                          <a:latin typeface="Verdana"/>
                          <a:cs typeface="Verdana"/>
                        </a:rPr>
                        <a:t>(Income</a:t>
                      </a:r>
                      <a:r>
                        <a:rPr dirty="0" sz="600" spc="-2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600" spc="-40">
                          <a:latin typeface="Verdana"/>
                          <a:cs typeface="Verdana"/>
                        </a:rPr>
                        <a:t>tax</a:t>
                      </a:r>
                      <a:r>
                        <a:rPr dirty="0" sz="600" spc="-2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600" spc="-35">
                          <a:latin typeface="Verdana"/>
                          <a:cs typeface="Verdana"/>
                        </a:rPr>
                        <a:t>effects</a:t>
                      </a:r>
                      <a:r>
                        <a:rPr dirty="0" sz="600" spc="-2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600" spc="-25">
                          <a:latin typeface="Verdana"/>
                          <a:cs typeface="Verdana"/>
                        </a:rPr>
                        <a:t>and </a:t>
                      </a:r>
                      <a:r>
                        <a:rPr dirty="0" sz="600" spc="-10">
                          <a:latin typeface="Verdana"/>
                          <a:cs typeface="Verdana"/>
                        </a:rPr>
                        <a:t>adjustments)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215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9461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600" spc="-10">
                          <a:latin typeface="Verdana"/>
                          <a:cs typeface="Verdana"/>
                        </a:rPr>
                        <a:t>(0.27)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2159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5461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600" spc="-10">
                          <a:latin typeface="Verdana"/>
                          <a:cs typeface="Verdana"/>
                        </a:rPr>
                        <a:t>(0.27)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2159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8">
                  <a:txBody>
                    <a:bodyPr/>
                    <a:lstStyle/>
                    <a:p>
                      <a:pPr algn="r" marR="127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600" spc="-10">
                          <a:latin typeface="Verdana"/>
                          <a:cs typeface="Verdana"/>
                        </a:rPr>
                        <a:t>(0.37)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2159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gridSpan="3">
                  <a:txBody>
                    <a:bodyPr/>
                    <a:lstStyle/>
                    <a:p>
                      <a:pPr algn="r" marR="9461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600" spc="-10">
                          <a:latin typeface="Verdana"/>
                          <a:cs typeface="Verdana"/>
                        </a:rPr>
                        <a:t>(1.37)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2159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5557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600" spc="-30">
                          <a:latin typeface="Verdana"/>
                          <a:cs typeface="Verdana"/>
                        </a:rPr>
                        <a:t>Non-</a:t>
                      </a:r>
                      <a:r>
                        <a:rPr dirty="0" sz="600" spc="-20">
                          <a:latin typeface="Verdana"/>
                          <a:cs typeface="Verdana"/>
                        </a:rPr>
                        <a:t>GAAP diluted</a:t>
                      </a:r>
                      <a:r>
                        <a:rPr dirty="0" sz="600" spc="-1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600" spc="-35">
                          <a:latin typeface="Verdana"/>
                          <a:cs typeface="Verdana"/>
                        </a:rPr>
                        <a:t>earnings</a:t>
                      </a:r>
                      <a:r>
                        <a:rPr dirty="0" sz="600" spc="-1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600" spc="-30">
                          <a:latin typeface="Verdana"/>
                          <a:cs typeface="Verdana"/>
                        </a:rPr>
                        <a:t>per</a:t>
                      </a:r>
                      <a:r>
                        <a:rPr dirty="0" sz="600" spc="-2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600" spc="-10">
                          <a:latin typeface="Verdana"/>
                          <a:cs typeface="Verdana"/>
                        </a:rPr>
                        <a:t>share</a:t>
                      </a:r>
                      <a:r>
                        <a:rPr dirty="0" baseline="27777" sz="600" spc="-15">
                          <a:latin typeface="Verdana"/>
                          <a:cs typeface="Verdana"/>
                        </a:rPr>
                        <a:t>6</a:t>
                      </a:r>
                      <a:endParaRPr baseline="27777" sz="600">
                        <a:latin typeface="Verdana"/>
                        <a:cs typeface="Verdana"/>
                      </a:endParaRPr>
                    </a:p>
                  </a:txBody>
                  <a:tcPr marL="0" marR="0" marB="0" marT="2794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600" spc="-50">
                          <a:latin typeface="Verdana"/>
                          <a:cs typeface="Verdana"/>
                        </a:rPr>
                        <a:t>S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2255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600" spc="-20">
                          <a:latin typeface="Verdana"/>
                          <a:cs typeface="Verdana"/>
                        </a:rPr>
                        <a:t>2.91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317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600" spc="-50">
                          <a:latin typeface="Verdana"/>
                          <a:cs typeface="Verdana"/>
                        </a:rPr>
                        <a:t>S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5461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600" spc="-20">
                          <a:latin typeface="Verdana"/>
                          <a:cs typeface="Verdana"/>
                        </a:rPr>
                        <a:t>5.90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8"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20"/>
                        </a:spcBef>
                        <a:tabLst>
                          <a:tab pos="1905635" algn="l"/>
                        </a:tabLst>
                      </a:pPr>
                      <a:r>
                        <a:rPr dirty="0" u="sng" sz="6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u="sng" sz="600" spc="-4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S3.42</a:t>
                      </a:r>
                      <a:r>
                        <a:rPr dirty="0" u="sng" sz="600" spc="-45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u="sng" sz="600" spc="-95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-</a:t>
                      </a:r>
                      <a:r>
                        <a:rPr dirty="0" u="sng" sz="600" spc="-45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S3.44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gridSpan="3">
                  <a:txBody>
                    <a:bodyPr/>
                    <a:lstStyle/>
                    <a:p>
                      <a:pPr marL="53657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600" spc="-40">
                          <a:latin typeface="Verdana"/>
                          <a:cs typeface="Verdana"/>
                        </a:rPr>
                        <a:t>S16.67</a:t>
                      </a:r>
                      <a:r>
                        <a:rPr dirty="0" sz="600" spc="-3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600" spc="-95">
                          <a:latin typeface="Verdana"/>
                          <a:cs typeface="Verdana"/>
                        </a:rPr>
                        <a:t>-</a:t>
                      </a:r>
                      <a:r>
                        <a:rPr dirty="0" sz="600" spc="-35">
                          <a:latin typeface="Verdana"/>
                          <a:cs typeface="Verdana"/>
                        </a:rPr>
                        <a:t> S16.71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13030">
                <a:tc>
                  <a:txBody>
                    <a:bodyPr/>
                    <a:lstStyle/>
                    <a:p>
                      <a:pPr marL="33020">
                        <a:lnSpc>
                          <a:spcPts val="675"/>
                        </a:lnSpc>
                        <a:spcBef>
                          <a:spcPts val="120"/>
                        </a:spcBef>
                      </a:pPr>
                      <a:r>
                        <a:rPr dirty="0" sz="600" spc="-40">
                          <a:latin typeface="Verdana"/>
                          <a:cs typeface="Verdana"/>
                        </a:rPr>
                        <a:t>Shares</a:t>
                      </a:r>
                      <a:r>
                        <a:rPr dirty="0" sz="600" spc="-2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600" spc="-30">
                          <a:latin typeface="Verdana"/>
                          <a:cs typeface="Verdana"/>
                        </a:rPr>
                        <a:t>used</a:t>
                      </a:r>
                      <a:r>
                        <a:rPr dirty="0" sz="600" spc="-20">
                          <a:latin typeface="Verdana"/>
                          <a:cs typeface="Verdana"/>
                        </a:rPr>
                        <a:t> in </a:t>
                      </a:r>
                      <a:r>
                        <a:rPr dirty="0" sz="600" spc="-25">
                          <a:latin typeface="Verdana"/>
                          <a:cs typeface="Verdana"/>
                        </a:rPr>
                        <a:t>computing</a:t>
                      </a:r>
                      <a:r>
                        <a:rPr dirty="0" sz="600" spc="-2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600" spc="-35">
                          <a:latin typeface="Verdana"/>
                          <a:cs typeface="Verdana"/>
                        </a:rPr>
                        <a:t>non-</a:t>
                      </a:r>
                      <a:r>
                        <a:rPr dirty="0" sz="600" spc="-20">
                          <a:latin typeface="Verdana"/>
                          <a:cs typeface="Verdana"/>
                        </a:rPr>
                        <a:t>GAAP diluted </a:t>
                      </a:r>
                      <a:r>
                        <a:rPr dirty="0" sz="600" spc="-35">
                          <a:latin typeface="Verdana"/>
                          <a:cs typeface="Verdana"/>
                        </a:rPr>
                        <a:t>earnings</a:t>
                      </a:r>
                      <a:r>
                        <a:rPr dirty="0" sz="600" spc="-2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600" spc="-30">
                          <a:latin typeface="Verdana"/>
                          <a:cs typeface="Verdana"/>
                        </a:rPr>
                        <a:t>per</a:t>
                      </a:r>
                      <a:r>
                        <a:rPr dirty="0" sz="600" spc="-2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600" spc="-40">
                          <a:latin typeface="Verdana"/>
                          <a:cs typeface="Verdana"/>
                        </a:rPr>
                        <a:t>share</a:t>
                      </a:r>
                      <a:r>
                        <a:rPr dirty="0" sz="600" spc="-2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600" spc="-10">
                          <a:latin typeface="Verdana"/>
                          <a:cs typeface="Verdana"/>
                        </a:rPr>
                        <a:t>(millions)</a:t>
                      </a:r>
                      <a:r>
                        <a:rPr dirty="0" baseline="27777" sz="600" spc="-15">
                          <a:latin typeface="Verdana"/>
                          <a:cs typeface="Verdana"/>
                        </a:rPr>
                        <a:t>7</a:t>
                      </a:r>
                      <a:endParaRPr baseline="27777" sz="600">
                        <a:latin typeface="Verdana"/>
                        <a:cs typeface="Verdana"/>
                      </a:endParaRPr>
                    </a:p>
                  </a:txBody>
                  <a:tcPr marL="0" marR="0" marB="0" marT="1524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22555">
                        <a:lnSpc>
                          <a:spcPts val="675"/>
                        </a:lnSpc>
                        <a:spcBef>
                          <a:spcPts val="220"/>
                        </a:spcBef>
                      </a:pPr>
                      <a:r>
                        <a:rPr dirty="0" sz="600" spc="-25">
                          <a:latin typeface="Verdana"/>
                          <a:cs typeface="Verdana"/>
                        </a:rPr>
                        <a:t>962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34290">
                        <a:lnSpc>
                          <a:spcPts val="675"/>
                        </a:lnSpc>
                        <a:spcBef>
                          <a:spcPts val="120"/>
                        </a:spcBef>
                      </a:pPr>
                      <a:r>
                        <a:rPr dirty="0" sz="600" spc="-25">
                          <a:latin typeface="Verdana"/>
                          <a:cs typeface="Verdana"/>
                        </a:rPr>
                        <a:t>821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1524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8">
                  <a:txBody>
                    <a:bodyPr/>
                    <a:lstStyle/>
                    <a:p>
                      <a:pPr algn="r" marR="29845">
                        <a:lnSpc>
                          <a:spcPts val="675"/>
                        </a:lnSpc>
                        <a:spcBef>
                          <a:spcPts val="120"/>
                        </a:spcBef>
                      </a:pPr>
                      <a:r>
                        <a:rPr dirty="0" sz="600" spc="-25">
                          <a:latin typeface="Verdana"/>
                          <a:cs typeface="Verdana"/>
                        </a:rPr>
                        <a:t>827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1524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gridSpan="3">
                  <a:txBody>
                    <a:bodyPr/>
                    <a:lstStyle/>
                    <a:p>
                      <a:pPr algn="r" marR="122555">
                        <a:lnSpc>
                          <a:spcPts val="675"/>
                        </a:lnSpc>
                        <a:spcBef>
                          <a:spcPts val="220"/>
                        </a:spcBef>
                      </a:pPr>
                      <a:r>
                        <a:rPr dirty="0" sz="600" spc="-25">
                          <a:latin typeface="Verdana"/>
                          <a:cs typeface="Verdana"/>
                        </a:rPr>
                        <a:t>838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19075">
                <a:tc gridSpan="21">
                  <a:txBody>
                    <a:bodyPr/>
                    <a:lstStyle/>
                    <a:p>
                      <a:pPr algn="ctr" marR="1029969">
                        <a:lnSpc>
                          <a:spcPts val="780"/>
                        </a:lnSpc>
                      </a:pPr>
                      <a:r>
                        <a:rPr dirty="0" sz="700" spc="-25" b="1">
                          <a:latin typeface="Tahoma"/>
                          <a:cs typeface="Tahoma"/>
                        </a:rPr>
                        <a:t>Trailing</a:t>
                      </a:r>
                      <a:r>
                        <a:rPr dirty="0" sz="700" spc="-5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700" spc="-10" b="1">
                          <a:latin typeface="Tahoma"/>
                          <a:cs typeface="Tahoma"/>
                        </a:rPr>
                        <a:t>Twelve</a:t>
                      </a:r>
                      <a:endParaRPr sz="700">
                        <a:latin typeface="Tahoma"/>
                        <a:cs typeface="Tahoma"/>
                      </a:endParaRPr>
                    </a:p>
                    <a:p>
                      <a:pPr algn="ctr" marR="2004060">
                        <a:lnSpc>
                          <a:spcPts val="785"/>
                        </a:lnSpc>
                        <a:tabLst>
                          <a:tab pos="3765550" algn="l"/>
                          <a:tab pos="6289040" algn="l"/>
                        </a:tabLst>
                      </a:pPr>
                      <a:r>
                        <a:rPr dirty="0" sz="600" spc="-20" b="1">
                          <a:latin typeface="Tahoma"/>
                          <a:cs typeface="Tahoma"/>
                        </a:rPr>
                        <a:t>(in</a:t>
                      </a:r>
                      <a:r>
                        <a:rPr dirty="0" sz="600" spc="-15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600" spc="-10" b="1">
                          <a:latin typeface="Tahoma"/>
                          <a:cs typeface="Tahoma"/>
                        </a:rPr>
                        <a:t>millions)</a:t>
                      </a:r>
                      <a:r>
                        <a:rPr dirty="0" sz="600" b="1">
                          <a:latin typeface="Tahoma"/>
                          <a:cs typeface="Tahoma"/>
                        </a:rPr>
                        <a:t>	</a:t>
                      </a:r>
                      <a:r>
                        <a:rPr dirty="0" sz="700" spc="-10" b="1">
                          <a:latin typeface="Tahoma"/>
                          <a:cs typeface="Tahoma"/>
                        </a:rPr>
                        <a:t>Months</a:t>
                      </a:r>
                      <a:r>
                        <a:rPr dirty="0" sz="700" spc="-15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700" spc="-10" b="1">
                          <a:latin typeface="Tahoma"/>
                          <a:cs typeface="Tahoma"/>
                        </a:rPr>
                        <a:t>Ended</a:t>
                      </a:r>
                      <a:r>
                        <a:rPr dirty="0" sz="700" b="1">
                          <a:latin typeface="Tahoma"/>
                          <a:cs typeface="Tahoma"/>
                        </a:rPr>
                        <a:t>	</a:t>
                      </a:r>
                      <a:r>
                        <a:rPr dirty="0" sz="700" spc="-20" b="1">
                          <a:latin typeface="Tahoma"/>
                          <a:cs typeface="Tahoma"/>
                        </a:rPr>
                        <a:t>Three</a:t>
                      </a:r>
                      <a:r>
                        <a:rPr dirty="0" sz="700" spc="-10" b="1">
                          <a:latin typeface="Tahoma"/>
                          <a:cs typeface="Tahoma"/>
                        </a:rPr>
                        <a:t> Months Ended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4287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600" spc="-25" b="1">
                          <a:latin typeface="Tahoma"/>
                          <a:cs typeface="Tahoma"/>
                        </a:rPr>
                        <a:t>Free</a:t>
                      </a:r>
                      <a:r>
                        <a:rPr dirty="0" sz="600" spc="-10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600" spc="-20" b="1">
                          <a:latin typeface="Tahoma"/>
                          <a:cs typeface="Tahoma"/>
                        </a:rPr>
                        <a:t>Cash</a:t>
                      </a:r>
                      <a:r>
                        <a:rPr dirty="0" sz="600" spc="-10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600" spc="-20" b="1">
                          <a:latin typeface="Tahoma"/>
                          <a:cs typeface="Tahoma"/>
                        </a:rPr>
                        <a:t>Flow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2794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600" spc="-30" b="1">
                          <a:latin typeface="Tahoma"/>
                          <a:cs typeface="Tahoma"/>
                        </a:rPr>
                        <a:t>July</a:t>
                      </a:r>
                      <a:r>
                        <a:rPr dirty="0" sz="600" spc="-15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600" spc="-20" b="1">
                          <a:latin typeface="Tahoma"/>
                          <a:cs typeface="Tahoma"/>
                        </a:rPr>
                        <a:t>31,</a:t>
                      </a:r>
                      <a:r>
                        <a:rPr dirty="0" sz="600" spc="-10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600" spc="-20" b="1">
                          <a:latin typeface="Tahoma"/>
                          <a:cs typeface="Tahoma"/>
                        </a:rPr>
                        <a:t>2026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4445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600" spc="-10" b="1">
                          <a:latin typeface="Tahoma"/>
                          <a:cs typeface="Tahoma"/>
                        </a:rPr>
                        <a:t>October </a:t>
                      </a:r>
                      <a:r>
                        <a:rPr dirty="0" sz="600" spc="-20" b="1">
                          <a:latin typeface="Tahoma"/>
                          <a:cs typeface="Tahoma"/>
                        </a:rPr>
                        <a:t>31,</a:t>
                      </a:r>
                      <a:r>
                        <a:rPr dirty="0" sz="600" spc="-10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600" spc="-20" b="1">
                          <a:latin typeface="Tahoma"/>
                          <a:cs typeface="Tahoma"/>
                        </a:rPr>
                        <a:t>2025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26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600" spc="-30" b="1">
                          <a:latin typeface="Tahoma"/>
                          <a:cs typeface="Tahoma"/>
                        </a:rPr>
                        <a:t>January</a:t>
                      </a:r>
                      <a:r>
                        <a:rPr dirty="0" sz="600" spc="-10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600" spc="-20" b="1">
                          <a:latin typeface="Tahoma"/>
                          <a:cs typeface="Tahoma"/>
                        </a:rPr>
                        <a:t>31,</a:t>
                      </a:r>
                      <a:r>
                        <a:rPr dirty="0" sz="600" spc="-5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600" spc="-20" b="1">
                          <a:latin typeface="Tahoma"/>
                          <a:cs typeface="Tahoma"/>
                        </a:rPr>
                        <a:t>2026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600" spc="-10" b="1">
                          <a:latin typeface="Tahoma"/>
                          <a:cs typeface="Tahoma"/>
                        </a:rPr>
                        <a:t>April</a:t>
                      </a:r>
                      <a:r>
                        <a:rPr dirty="0" sz="600" spc="-25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600" spc="-20" b="1">
                          <a:latin typeface="Tahoma"/>
                          <a:cs typeface="Tahoma"/>
                        </a:rPr>
                        <a:t>30, 2026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2032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600" spc="-30" b="1">
                          <a:latin typeface="Tahoma"/>
                          <a:cs typeface="Tahoma"/>
                        </a:rPr>
                        <a:t>July</a:t>
                      </a:r>
                      <a:r>
                        <a:rPr dirty="0" sz="600" spc="-15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600" spc="-20" b="1">
                          <a:latin typeface="Tahoma"/>
                          <a:cs typeface="Tahoma"/>
                        </a:rPr>
                        <a:t>31,</a:t>
                      </a:r>
                      <a:r>
                        <a:rPr dirty="0" sz="600" spc="-10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600" spc="-35" b="1">
                          <a:latin typeface="Tahoma"/>
                          <a:cs typeface="Tahoma"/>
                        </a:rPr>
                        <a:t>2026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26364">
                <a:tc>
                  <a:txBody>
                    <a:bodyPr/>
                    <a:lstStyle/>
                    <a:p>
                      <a:pPr marL="33020">
                        <a:lnSpc>
                          <a:spcPts val="675"/>
                        </a:lnSpc>
                        <a:spcBef>
                          <a:spcPts val="220"/>
                        </a:spcBef>
                      </a:pPr>
                      <a:r>
                        <a:rPr dirty="0" sz="600" spc="-20">
                          <a:latin typeface="Verdana"/>
                          <a:cs typeface="Verdana"/>
                        </a:rPr>
                        <a:t>GAAP</a:t>
                      </a:r>
                      <a:r>
                        <a:rPr dirty="0" sz="600" spc="-2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600" spc="-30">
                          <a:latin typeface="Verdana"/>
                          <a:cs typeface="Verdana"/>
                        </a:rPr>
                        <a:t>net</a:t>
                      </a:r>
                      <a:r>
                        <a:rPr dirty="0" sz="600" spc="-2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600" spc="-35">
                          <a:latin typeface="Verdana"/>
                          <a:cs typeface="Verdana"/>
                        </a:rPr>
                        <a:t>cash</a:t>
                      </a:r>
                      <a:r>
                        <a:rPr dirty="0" sz="600" spc="-25">
                          <a:latin typeface="Verdana"/>
                          <a:cs typeface="Verdana"/>
                        </a:rPr>
                        <a:t> provided </a:t>
                      </a:r>
                      <a:r>
                        <a:rPr dirty="0" sz="600" spc="-45">
                          <a:latin typeface="Verdana"/>
                          <a:cs typeface="Verdana"/>
                        </a:rPr>
                        <a:t>by</a:t>
                      </a:r>
                      <a:r>
                        <a:rPr dirty="0" sz="600" spc="-2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600" spc="-30">
                          <a:latin typeface="Verdana"/>
                          <a:cs typeface="Verdana"/>
                        </a:rPr>
                        <a:t>operating</a:t>
                      </a:r>
                      <a:r>
                        <a:rPr dirty="0" sz="600" spc="-2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600" spc="-10">
                          <a:latin typeface="Verdana"/>
                          <a:cs typeface="Verdana"/>
                        </a:rPr>
                        <a:t>activities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ts val="675"/>
                        </a:lnSpc>
                        <a:spcBef>
                          <a:spcPts val="220"/>
                        </a:spcBef>
                      </a:pPr>
                      <a:r>
                        <a:rPr dirty="0" sz="600" spc="-50">
                          <a:latin typeface="Verdana"/>
                          <a:cs typeface="Verdana"/>
                        </a:rPr>
                        <a:t>S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 algn="r" marR="30480">
                        <a:lnSpc>
                          <a:spcPts val="675"/>
                        </a:lnSpc>
                        <a:spcBef>
                          <a:spcPts val="220"/>
                        </a:spcBef>
                      </a:pPr>
                      <a:r>
                        <a:rPr dirty="0" sz="600" spc="-10">
                          <a:latin typeface="Verdana"/>
                          <a:cs typeface="Verdana"/>
                        </a:rPr>
                        <a:t>15,750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3175">
                        <a:lnSpc>
                          <a:spcPts val="675"/>
                        </a:lnSpc>
                        <a:spcBef>
                          <a:spcPts val="220"/>
                        </a:spcBef>
                      </a:pPr>
                      <a:r>
                        <a:rPr dirty="0" sz="600" spc="-50">
                          <a:latin typeface="Verdana"/>
                          <a:cs typeface="Verdana"/>
                        </a:rPr>
                        <a:t>S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 algn="r" marR="29845">
                        <a:lnSpc>
                          <a:spcPts val="675"/>
                        </a:lnSpc>
                        <a:spcBef>
                          <a:spcPts val="220"/>
                        </a:spcBef>
                      </a:pPr>
                      <a:r>
                        <a:rPr dirty="0" sz="600" spc="-10">
                          <a:latin typeface="Verdana"/>
                          <a:cs typeface="Verdana"/>
                        </a:rPr>
                        <a:t>2,316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ts val="675"/>
                        </a:lnSpc>
                        <a:spcBef>
                          <a:spcPts val="220"/>
                        </a:spcBef>
                      </a:pPr>
                      <a:r>
                        <a:rPr dirty="0" sz="600" spc="-50">
                          <a:latin typeface="Verdana"/>
                          <a:cs typeface="Verdana"/>
                        </a:rPr>
                        <a:t>S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30480">
                        <a:lnSpc>
                          <a:spcPts val="675"/>
                        </a:lnSpc>
                        <a:spcBef>
                          <a:spcPts val="220"/>
                        </a:spcBef>
                      </a:pPr>
                      <a:r>
                        <a:rPr dirty="0" sz="600" spc="-10">
                          <a:latin typeface="Verdana"/>
                          <a:cs typeface="Verdana"/>
                        </a:rPr>
                        <a:t>5,464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ts val="675"/>
                        </a:lnSpc>
                        <a:spcBef>
                          <a:spcPts val="220"/>
                        </a:spcBef>
                      </a:pPr>
                      <a:r>
                        <a:rPr dirty="0" sz="600" spc="-50">
                          <a:latin typeface="Verdana"/>
                          <a:cs typeface="Verdana"/>
                        </a:rPr>
                        <a:t>S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30480">
                        <a:lnSpc>
                          <a:spcPts val="675"/>
                        </a:lnSpc>
                        <a:spcBef>
                          <a:spcPts val="220"/>
                        </a:spcBef>
                      </a:pPr>
                      <a:r>
                        <a:rPr dirty="0" sz="600" spc="-10">
                          <a:latin typeface="Verdana"/>
                          <a:cs typeface="Verdana"/>
                        </a:rPr>
                        <a:t>6,701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ts val="675"/>
                        </a:lnSpc>
                        <a:spcBef>
                          <a:spcPts val="220"/>
                        </a:spcBef>
                      </a:pPr>
                      <a:r>
                        <a:rPr dirty="0" sz="600" spc="-50">
                          <a:latin typeface="Verdana"/>
                          <a:cs typeface="Verdana"/>
                        </a:rPr>
                        <a:t>S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905">
                        <a:lnSpc>
                          <a:spcPts val="675"/>
                        </a:lnSpc>
                        <a:spcBef>
                          <a:spcPts val="220"/>
                        </a:spcBef>
                      </a:pPr>
                      <a:r>
                        <a:rPr dirty="0" sz="600" spc="-10">
                          <a:latin typeface="Verdana"/>
                          <a:cs typeface="Verdana"/>
                        </a:rPr>
                        <a:t>1,269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58750">
                <a:tc gridSpan="2"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600" spc="-35">
                          <a:latin typeface="Verdana"/>
                          <a:cs typeface="Verdana"/>
                        </a:rPr>
                        <a:t>(Capital</a:t>
                      </a:r>
                      <a:r>
                        <a:rPr dirty="0" sz="600" spc="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600" spc="-10">
                          <a:latin typeface="Verdana"/>
                          <a:cs typeface="Verdana"/>
                        </a:rPr>
                        <a:t>expenditures)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4445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algn="r" marR="127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600" spc="-10">
                          <a:latin typeface="Verdana"/>
                          <a:cs typeface="Verdana"/>
                        </a:rPr>
                        <a:t>(596)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4445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algn="r" marR="127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600" spc="-10">
                          <a:latin typeface="Verdana"/>
                          <a:cs typeface="Verdana"/>
                        </a:rPr>
                        <a:t>(139)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4445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r" marR="127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600" spc="-10">
                          <a:latin typeface="Verdana"/>
                          <a:cs typeface="Verdana"/>
                        </a:rPr>
                        <a:t>(141)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4445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r" marR="127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600" spc="-10">
                          <a:latin typeface="Verdana"/>
                          <a:cs typeface="Verdana"/>
                        </a:rPr>
                        <a:t>(145)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4445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gridSpan="4">
                  <a:txBody>
                    <a:bodyPr/>
                    <a:lstStyle/>
                    <a:p>
                      <a:pPr algn="r" marR="127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600" spc="-10">
                          <a:latin typeface="Verdana"/>
                          <a:cs typeface="Verdana"/>
                        </a:rPr>
                        <a:t>(171)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4445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55575">
                <a:tc gridSpan="2"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dirty="0" sz="600" spc="-40">
                          <a:latin typeface="Verdana"/>
                          <a:cs typeface="Verdana"/>
                        </a:rPr>
                        <a:t>Free</a:t>
                      </a:r>
                      <a:r>
                        <a:rPr dirty="0" sz="600" spc="-3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600" spc="-35">
                          <a:latin typeface="Verdana"/>
                          <a:cs typeface="Verdana"/>
                        </a:rPr>
                        <a:t>cash</a:t>
                      </a:r>
                      <a:r>
                        <a:rPr dirty="0" sz="600" spc="-3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600" spc="-10">
                          <a:latin typeface="Verdana"/>
                          <a:cs typeface="Verdana"/>
                        </a:rPr>
                        <a:t>flow</a:t>
                      </a:r>
                      <a:r>
                        <a:rPr dirty="0" baseline="27777" sz="600" spc="-15">
                          <a:solidFill>
                            <a:srgbClr val="707070"/>
                          </a:solidFill>
                          <a:latin typeface="Verdana"/>
                          <a:cs typeface="Verdana"/>
                        </a:rPr>
                        <a:t>3</a:t>
                      </a:r>
                      <a:endParaRPr baseline="27777" sz="600">
                        <a:latin typeface="Verdana"/>
                        <a:cs typeface="Verdana"/>
                      </a:endParaRPr>
                    </a:p>
                  </a:txBody>
                  <a:tcPr marL="0" marR="0" marB="0" marT="26034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600" spc="-50">
                          <a:latin typeface="Verdana"/>
                          <a:cs typeface="Verdana"/>
                        </a:rPr>
                        <a:t>S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algn="r" marR="3048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600" spc="-10">
                          <a:latin typeface="Verdana"/>
                          <a:cs typeface="Verdana"/>
                        </a:rPr>
                        <a:t>15,154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317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600" spc="-50">
                          <a:latin typeface="Verdana"/>
                          <a:cs typeface="Verdana"/>
                        </a:rPr>
                        <a:t>S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algn="r" marR="2984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600" spc="-10">
                          <a:latin typeface="Verdana"/>
                          <a:cs typeface="Verdana"/>
                        </a:rPr>
                        <a:t>2,177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0"/>
                        </a:spcBef>
                        <a:tabLst>
                          <a:tab pos="736600" algn="l"/>
                        </a:tabLst>
                      </a:pPr>
                      <a:r>
                        <a:rPr dirty="0" u="sng" sz="600" spc="85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u="sng" sz="600" spc="-5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S</a:t>
                      </a:r>
                      <a:r>
                        <a:rPr dirty="0" u="sng" sz="60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dirty="0" u="sng" sz="600" spc="-1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5,323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0"/>
                        </a:spcBef>
                        <a:tabLst>
                          <a:tab pos="736600" algn="l"/>
                        </a:tabLst>
                      </a:pPr>
                      <a:r>
                        <a:rPr dirty="0" u="sng" sz="600" spc="85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u="sng" sz="600" spc="-5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S</a:t>
                      </a:r>
                      <a:r>
                        <a:rPr dirty="0" u="sng" sz="60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dirty="0" u="sng" sz="600" spc="-1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6,556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0"/>
                        </a:spcBef>
                        <a:tabLst>
                          <a:tab pos="736600" algn="l"/>
                        </a:tabLst>
                      </a:pPr>
                      <a:r>
                        <a:rPr dirty="0" u="sng" sz="600" spc="85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u="sng" sz="600" spc="-5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S</a:t>
                      </a:r>
                      <a:r>
                        <a:rPr dirty="0" u="sng" sz="60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dirty="0" u="sng" sz="600" spc="-1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1,098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13" name="object 13"/>
          <p:cNvSpPr txBox="1"/>
          <p:nvPr/>
        </p:nvSpPr>
        <p:spPr>
          <a:xfrm>
            <a:off x="232156" y="5481701"/>
            <a:ext cx="11044555" cy="1305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414020">
              <a:lnSpc>
                <a:spcPct val="100000"/>
              </a:lnSpc>
              <a:spcBef>
                <a:spcPts val="100"/>
              </a:spcBef>
            </a:pPr>
            <a:r>
              <a:rPr dirty="0" baseline="30864" sz="675" spc="-44">
                <a:latin typeface="Verdana"/>
                <a:cs typeface="Verdana"/>
              </a:rPr>
              <a:t>1</a:t>
            </a:r>
            <a:r>
              <a:rPr dirty="0" sz="700" spc="-30">
                <a:latin typeface="Verdana"/>
                <a:cs typeface="Verdana"/>
              </a:rPr>
              <a:t>Non-</a:t>
            </a:r>
            <a:r>
              <a:rPr dirty="0" sz="700" spc="-20">
                <a:latin typeface="Verdana"/>
                <a:cs typeface="Verdana"/>
              </a:rPr>
              <a:t>GAAP income</a:t>
            </a:r>
            <a:r>
              <a:rPr dirty="0" sz="700" spc="-15">
                <a:latin typeface="Verdana"/>
                <a:cs typeface="Verdana"/>
              </a:rPr>
              <a:t> </a:t>
            </a:r>
            <a:r>
              <a:rPr dirty="0" sz="700" spc="-30">
                <a:latin typeface="Verdana"/>
                <a:cs typeface="Verdana"/>
              </a:rPr>
              <a:t>from</a:t>
            </a:r>
            <a:r>
              <a:rPr dirty="0" sz="700" spc="-15">
                <a:latin typeface="Verdana"/>
                <a:cs typeface="Verdana"/>
              </a:rPr>
              <a:t> </a:t>
            </a:r>
            <a:r>
              <a:rPr dirty="0" sz="700" spc="-30">
                <a:latin typeface="Verdana"/>
                <a:cs typeface="Verdana"/>
              </a:rPr>
              <a:t>operations</a:t>
            </a:r>
            <a:r>
              <a:rPr dirty="0" sz="700" spc="-15">
                <a:latin typeface="Verdana"/>
                <a:cs typeface="Verdana"/>
              </a:rPr>
              <a:t> </a:t>
            </a:r>
            <a:r>
              <a:rPr dirty="0" sz="700" spc="-40">
                <a:latin typeface="Verdana"/>
                <a:cs typeface="Verdana"/>
              </a:rPr>
              <a:t>is</a:t>
            </a:r>
            <a:r>
              <a:rPr dirty="0" sz="700" spc="-15">
                <a:latin typeface="Verdana"/>
                <a:cs typeface="Verdana"/>
              </a:rPr>
              <a:t> </a:t>
            </a:r>
            <a:r>
              <a:rPr dirty="0" sz="700" spc="-30">
                <a:latin typeface="Verdana"/>
                <a:cs typeface="Verdana"/>
              </a:rPr>
              <a:t>used</a:t>
            </a:r>
            <a:r>
              <a:rPr dirty="0" sz="700" spc="-20">
                <a:latin typeface="Verdana"/>
                <a:cs typeface="Verdana"/>
              </a:rPr>
              <a:t> </a:t>
            </a:r>
            <a:r>
              <a:rPr dirty="0" sz="700" spc="-25">
                <a:latin typeface="Verdana"/>
                <a:cs typeface="Verdana"/>
              </a:rPr>
              <a:t>to</a:t>
            </a:r>
            <a:r>
              <a:rPr dirty="0" sz="700" spc="-15">
                <a:latin typeface="Verdana"/>
                <a:cs typeface="Verdana"/>
              </a:rPr>
              <a:t> </a:t>
            </a:r>
            <a:r>
              <a:rPr dirty="0" sz="700" spc="-30">
                <a:latin typeface="Verdana"/>
                <a:cs typeface="Verdana"/>
              </a:rPr>
              <a:t>calculate</a:t>
            </a:r>
            <a:r>
              <a:rPr dirty="0" sz="700" spc="-15">
                <a:latin typeface="Verdana"/>
                <a:cs typeface="Verdana"/>
              </a:rPr>
              <a:t> </a:t>
            </a:r>
            <a:r>
              <a:rPr dirty="0" sz="700" spc="-40">
                <a:latin typeface="Verdana"/>
                <a:cs typeface="Verdana"/>
              </a:rPr>
              <a:t>non-</a:t>
            </a:r>
            <a:r>
              <a:rPr dirty="0" sz="700" spc="-20">
                <a:latin typeface="Verdana"/>
                <a:cs typeface="Verdana"/>
              </a:rPr>
              <a:t>GAAP</a:t>
            </a:r>
            <a:r>
              <a:rPr dirty="0" sz="700" spc="-15">
                <a:latin typeface="Verdana"/>
                <a:cs typeface="Verdana"/>
              </a:rPr>
              <a:t> </a:t>
            </a:r>
            <a:r>
              <a:rPr dirty="0" sz="700" spc="-35">
                <a:latin typeface="Verdana"/>
                <a:cs typeface="Verdana"/>
              </a:rPr>
              <a:t>operating</a:t>
            </a:r>
            <a:r>
              <a:rPr dirty="0" sz="700" spc="-15">
                <a:latin typeface="Verdana"/>
                <a:cs typeface="Verdana"/>
              </a:rPr>
              <a:t> </a:t>
            </a:r>
            <a:r>
              <a:rPr dirty="0" sz="700" spc="-45">
                <a:latin typeface="Verdana"/>
                <a:cs typeface="Verdana"/>
              </a:rPr>
              <a:t>margin.</a:t>
            </a:r>
            <a:r>
              <a:rPr dirty="0" sz="700" spc="-20">
                <a:latin typeface="Verdana"/>
                <a:cs typeface="Verdana"/>
              </a:rPr>
              <a:t> </a:t>
            </a:r>
            <a:r>
              <a:rPr dirty="0" sz="700" spc="-50">
                <a:latin typeface="Verdana"/>
                <a:cs typeface="Verdana"/>
              </a:rPr>
              <a:t>It</a:t>
            </a:r>
            <a:r>
              <a:rPr dirty="0" sz="700" spc="-15">
                <a:latin typeface="Verdana"/>
                <a:cs typeface="Verdana"/>
              </a:rPr>
              <a:t> </a:t>
            </a:r>
            <a:r>
              <a:rPr dirty="0" sz="700" spc="-30">
                <a:latin typeface="Verdana"/>
                <a:cs typeface="Verdana"/>
              </a:rPr>
              <a:t>excludes</a:t>
            </a:r>
            <a:r>
              <a:rPr dirty="0" sz="700" spc="-15">
                <a:latin typeface="Verdana"/>
                <a:cs typeface="Verdana"/>
              </a:rPr>
              <a:t> </a:t>
            </a:r>
            <a:r>
              <a:rPr dirty="0" sz="700" spc="-30">
                <a:latin typeface="Verdana"/>
                <a:cs typeface="Verdana"/>
              </a:rPr>
              <a:t>the</a:t>
            </a:r>
            <a:r>
              <a:rPr dirty="0" sz="700" spc="-15">
                <a:latin typeface="Verdana"/>
                <a:cs typeface="Verdana"/>
              </a:rPr>
              <a:t> </a:t>
            </a:r>
            <a:r>
              <a:rPr dirty="0" sz="700" spc="-25">
                <a:latin typeface="Verdana"/>
                <a:cs typeface="Verdana"/>
              </a:rPr>
              <a:t>impact</a:t>
            </a:r>
            <a:r>
              <a:rPr dirty="0" sz="700" spc="-1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of</a:t>
            </a:r>
            <a:r>
              <a:rPr dirty="0" sz="700" spc="-20">
                <a:latin typeface="Verdana"/>
                <a:cs typeface="Verdana"/>
              </a:rPr>
              <a:t> </a:t>
            </a:r>
            <a:r>
              <a:rPr dirty="0" sz="700" spc="-30">
                <a:latin typeface="Verdana"/>
                <a:cs typeface="Verdana"/>
              </a:rPr>
              <a:t>the</a:t>
            </a:r>
            <a:r>
              <a:rPr dirty="0" sz="700" spc="-15">
                <a:latin typeface="Verdana"/>
                <a:cs typeface="Verdana"/>
              </a:rPr>
              <a:t> </a:t>
            </a:r>
            <a:r>
              <a:rPr dirty="0" sz="700" spc="-35">
                <a:latin typeface="Verdana"/>
                <a:cs typeface="Verdana"/>
              </a:rPr>
              <a:t>amortization</a:t>
            </a:r>
            <a:r>
              <a:rPr dirty="0" sz="700" spc="-1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of</a:t>
            </a:r>
            <a:r>
              <a:rPr dirty="0" sz="700" spc="-15">
                <a:latin typeface="Verdana"/>
                <a:cs typeface="Verdana"/>
              </a:rPr>
              <a:t> </a:t>
            </a:r>
            <a:r>
              <a:rPr dirty="0" sz="700" spc="-30">
                <a:latin typeface="Verdana"/>
                <a:cs typeface="Verdana"/>
              </a:rPr>
              <a:t>purchased</a:t>
            </a:r>
            <a:r>
              <a:rPr dirty="0" sz="700" spc="-15">
                <a:latin typeface="Verdana"/>
                <a:cs typeface="Verdana"/>
              </a:rPr>
              <a:t> </a:t>
            </a:r>
            <a:r>
              <a:rPr dirty="0" sz="700" spc="-35">
                <a:latin typeface="Verdana"/>
                <a:cs typeface="Verdana"/>
              </a:rPr>
              <a:t>intangibles,</a:t>
            </a:r>
            <a:r>
              <a:rPr dirty="0" sz="700" spc="-20">
                <a:latin typeface="Verdana"/>
                <a:cs typeface="Verdana"/>
              </a:rPr>
              <a:t> </a:t>
            </a:r>
            <a:r>
              <a:rPr dirty="0" sz="700" spc="-45">
                <a:latin typeface="Verdana"/>
                <a:cs typeface="Verdana"/>
              </a:rPr>
              <a:t>stock-</a:t>
            </a:r>
            <a:r>
              <a:rPr dirty="0" sz="700" spc="-35">
                <a:latin typeface="Verdana"/>
                <a:cs typeface="Verdana"/>
              </a:rPr>
              <a:t>based</a:t>
            </a:r>
            <a:r>
              <a:rPr dirty="0" sz="700" spc="-15">
                <a:latin typeface="Verdana"/>
                <a:cs typeface="Verdana"/>
              </a:rPr>
              <a:t> </a:t>
            </a:r>
            <a:r>
              <a:rPr dirty="0" sz="700" spc="-25">
                <a:latin typeface="Verdana"/>
                <a:cs typeface="Verdana"/>
              </a:rPr>
              <a:t>compensation</a:t>
            </a:r>
            <a:r>
              <a:rPr dirty="0" sz="700" spc="-15">
                <a:latin typeface="Verdana"/>
                <a:cs typeface="Verdana"/>
              </a:rPr>
              <a:t> </a:t>
            </a:r>
            <a:r>
              <a:rPr dirty="0" sz="700" spc="-35">
                <a:latin typeface="Verdana"/>
                <a:cs typeface="Verdana"/>
              </a:rPr>
              <a:t>expense</a:t>
            </a:r>
            <a:r>
              <a:rPr dirty="0" sz="700" spc="-15">
                <a:latin typeface="Verdana"/>
                <a:cs typeface="Verdana"/>
              </a:rPr>
              <a:t> </a:t>
            </a:r>
            <a:r>
              <a:rPr dirty="0" sz="700" spc="-30">
                <a:latin typeface="Verdana"/>
                <a:cs typeface="Verdana"/>
              </a:rPr>
              <a:t>and</a:t>
            </a:r>
            <a:r>
              <a:rPr dirty="0" sz="700" spc="-15">
                <a:latin typeface="Verdana"/>
                <a:cs typeface="Verdana"/>
              </a:rPr>
              <a:t> </a:t>
            </a:r>
            <a:r>
              <a:rPr dirty="0" sz="700" spc="-45">
                <a:latin typeface="Verdana"/>
                <a:cs typeface="Verdana"/>
              </a:rPr>
              <a:t>charges</a:t>
            </a:r>
            <a:r>
              <a:rPr dirty="0" sz="700" spc="-20">
                <a:latin typeface="Verdana"/>
                <a:cs typeface="Verdana"/>
              </a:rPr>
              <a:t> </a:t>
            </a:r>
            <a:r>
              <a:rPr dirty="0" sz="700" spc="-35">
                <a:latin typeface="Verdana"/>
                <a:cs typeface="Verdana"/>
              </a:rPr>
              <a:t>related</a:t>
            </a:r>
            <a:r>
              <a:rPr dirty="0" sz="700" spc="-15">
                <a:latin typeface="Verdana"/>
                <a:cs typeface="Verdana"/>
              </a:rPr>
              <a:t> </a:t>
            </a:r>
            <a:r>
              <a:rPr dirty="0" sz="700" spc="-25">
                <a:latin typeface="Verdana"/>
                <a:cs typeface="Verdana"/>
              </a:rPr>
              <a:t>to</a:t>
            </a:r>
            <a:r>
              <a:rPr dirty="0" sz="700" spc="-15">
                <a:latin typeface="Verdana"/>
                <a:cs typeface="Verdana"/>
              </a:rPr>
              <a:t> </a:t>
            </a:r>
            <a:r>
              <a:rPr dirty="0" sz="700" spc="-30">
                <a:latin typeface="Verdana"/>
                <a:cs typeface="Verdana"/>
              </a:rPr>
              <a:t>the</a:t>
            </a:r>
            <a:r>
              <a:rPr dirty="0" sz="700" spc="-15">
                <a:latin typeface="Verdana"/>
                <a:cs typeface="Verdana"/>
              </a:rPr>
              <a:t> </a:t>
            </a:r>
            <a:r>
              <a:rPr dirty="0" sz="700" spc="-35">
                <a:latin typeface="Verdana"/>
                <a:cs typeface="Verdana"/>
              </a:rPr>
              <a:t>Company's</a:t>
            </a:r>
            <a:r>
              <a:rPr dirty="0" sz="700" spc="-15">
                <a:latin typeface="Verdana"/>
                <a:cs typeface="Verdana"/>
              </a:rPr>
              <a:t> </a:t>
            </a:r>
            <a:r>
              <a:rPr dirty="0" sz="700" spc="-40">
                <a:latin typeface="Verdana"/>
                <a:cs typeface="Verdana"/>
              </a:rPr>
              <a:t>restructuring</a:t>
            </a:r>
            <a:r>
              <a:rPr dirty="0" sz="700" spc="-20">
                <a:latin typeface="Verdana"/>
                <a:cs typeface="Verdana"/>
              </a:rPr>
              <a:t> </a:t>
            </a:r>
            <a:r>
              <a:rPr dirty="0" sz="700" spc="-35">
                <a:latin typeface="Verdana"/>
                <a:cs typeface="Verdana"/>
              </a:rPr>
              <a:t>initiatives</a:t>
            </a:r>
            <a:r>
              <a:rPr dirty="0" sz="700" spc="-15">
                <a:latin typeface="Verdana"/>
                <a:cs typeface="Verdana"/>
              </a:rPr>
              <a:t> </a:t>
            </a:r>
            <a:r>
              <a:rPr dirty="0" sz="700" spc="-25">
                <a:latin typeface="Verdana"/>
                <a:cs typeface="Verdana"/>
              </a:rPr>
              <a:t>and </a:t>
            </a:r>
            <a:r>
              <a:rPr dirty="0" sz="700" spc="-30">
                <a:latin typeface="Verdana"/>
                <a:cs typeface="Verdana"/>
              </a:rPr>
              <a:t>acquisition-</a:t>
            </a:r>
            <a:r>
              <a:rPr dirty="0" sz="700" spc="-35">
                <a:latin typeface="Verdana"/>
                <a:cs typeface="Verdana"/>
              </a:rPr>
              <a:t>related</a:t>
            </a:r>
            <a:r>
              <a:rPr dirty="0" sz="700" spc="60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costs.</a:t>
            </a:r>
            <a:endParaRPr sz="700">
              <a:latin typeface="Verdana"/>
              <a:cs typeface="Verdana"/>
            </a:endParaRPr>
          </a:p>
          <a:p>
            <a:pPr marL="38100">
              <a:lnSpc>
                <a:spcPct val="100000"/>
              </a:lnSpc>
            </a:pPr>
            <a:r>
              <a:rPr dirty="0" baseline="30864" sz="675" spc="-30">
                <a:latin typeface="Verdana"/>
                <a:cs typeface="Verdana"/>
              </a:rPr>
              <a:t>2</a:t>
            </a:r>
            <a:r>
              <a:rPr dirty="0" sz="700" spc="-20">
                <a:latin typeface="Verdana"/>
                <a:cs typeface="Verdana"/>
              </a:rPr>
              <a:t>GAAP</a:t>
            </a:r>
            <a:r>
              <a:rPr dirty="0" sz="700" spc="-30">
                <a:latin typeface="Verdana"/>
                <a:cs typeface="Verdana"/>
              </a:rPr>
              <a:t> </a:t>
            </a:r>
            <a:r>
              <a:rPr dirty="0" sz="700" spc="-35">
                <a:latin typeface="Verdana"/>
                <a:cs typeface="Verdana"/>
              </a:rPr>
              <a:t>operating</a:t>
            </a:r>
            <a:r>
              <a:rPr dirty="0" sz="700" spc="-30">
                <a:latin typeface="Verdana"/>
                <a:cs typeface="Verdana"/>
              </a:rPr>
              <a:t> </a:t>
            </a:r>
            <a:r>
              <a:rPr dirty="0" sz="700" spc="-40">
                <a:latin typeface="Verdana"/>
                <a:cs typeface="Verdana"/>
              </a:rPr>
              <a:t>margin</a:t>
            </a:r>
            <a:r>
              <a:rPr dirty="0" sz="700" spc="-25">
                <a:latin typeface="Verdana"/>
                <a:cs typeface="Verdana"/>
              </a:rPr>
              <a:t> </a:t>
            </a:r>
            <a:r>
              <a:rPr dirty="0" sz="700" spc="-40">
                <a:latin typeface="Verdana"/>
                <a:cs typeface="Verdana"/>
              </a:rPr>
              <a:t>is</a:t>
            </a:r>
            <a:r>
              <a:rPr dirty="0" sz="700" spc="-30">
                <a:latin typeface="Verdana"/>
                <a:cs typeface="Verdana"/>
              </a:rPr>
              <a:t> the</a:t>
            </a:r>
            <a:r>
              <a:rPr dirty="0" sz="700" spc="-25">
                <a:latin typeface="Verdana"/>
                <a:cs typeface="Verdana"/>
              </a:rPr>
              <a:t> proportion</a:t>
            </a:r>
            <a:r>
              <a:rPr dirty="0" sz="700" spc="-30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of</a:t>
            </a:r>
            <a:r>
              <a:rPr dirty="0" sz="700" spc="-30">
                <a:latin typeface="Verdana"/>
                <a:cs typeface="Verdana"/>
              </a:rPr>
              <a:t> </a:t>
            </a:r>
            <a:r>
              <a:rPr dirty="0" sz="700" spc="-20">
                <a:latin typeface="Verdana"/>
                <a:cs typeface="Verdana"/>
              </a:rPr>
              <a:t>GAAP</a:t>
            </a:r>
            <a:r>
              <a:rPr dirty="0" sz="700" spc="-25">
                <a:latin typeface="Verdana"/>
                <a:cs typeface="Verdana"/>
              </a:rPr>
              <a:t> </a:t>
            </a:r>
            <a:r>
              <a:rPr dirty="0" sz="700" spc="-20">
                <a:latin typeface="Verdana"/>
                <a:cs typeface="Verdana"/>
              </a:rPr>
              <a:t>income</a:t>
            </a:r>
            <a:r>
              <a:rPr dirty="0" sz="700" spc="-30">
                <a:latin typeface="Verdana"/>
                <a:cs typeface="Verdana"/>
              </a:rPr>
              <a:t> from</a:t>
            </a:r>
            <a:r>
              <a:rPr dirty="0" sz="700" spc="-25">
                <a:latin typeface="Verdana"/>
                <a:cs typeface="Verdana"/>
              </a:rPr>
              <a:t> </a:t>
            </a:r>
            <a:r>
              <a:rPr dirty="0" sz="700" spc="-30">
                <a:latin typeface="Verdana"/>
                <a:cs typeface="Verdana"/>
              </a:rPr>
              <a:t>operations </a:t>
            </a:r>
            <a:r>
              <a:rPr dirty="0" sz="700" spc="-60">
                <a:latin typeface="Verdana"/>
                <a:cs typeface="Verdana"/>
              </a:rPr>
              <a:t>as</a:t>
            </a:r>
            <a:r>
              <a:rPr dirty="0" sz="700" spc="-30">
                <a:latin typeface="Verdana"/>
                <a:cs typeface="Verdana"/>
              </a:rPr>
              <a:t> </a:t>
            </a:r>
            <a:r>
              <a:rPr dirty="0" sz="700" spc="-55">
                <a:latin typeface="Verdana"/>
                <a:cs typeface="Verdana"/>
              </a:rPr>
              <a:t>a</a:t>
            </a:r>
            <a:r>
              <a:rPr dirty="0" sz="700" spc="-25">
                <a:latin typeface="Verdana"/>
                <a:cs typeface="Verdana"/>
              </a:rPr>
              <a:t> </a:t>
            </a:r>
            <a:r>
              <a:rPr dirty="0" sz="700" spc="-35">
                <a:latin typeface="Verdana"/>
                <a:cs typeface="Verdana"/>
              </a:rPr>
              <a:t>percentage</a:t>
            </a:r>
            <a:r>
              <a:rPr dirty="0" sz="700" spc="-30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of</a:t>
            </a:r>
            <a:r>
              <a:rPr dirty="0" sz="700" spc="-25">
                <a:latin typeface="Verdana"/>
                <a:cs typeface="Verdana"/>
              </a:rPr>
              <a:t> </a:t>
            </a:r>
            <a:r>
              <a:rPr dirty="0" sz="700" spc="-20">
                <a:latin typeface="Verdana"/>
                <a:cs typeface="Verdana"/>
              </a:rPr>
              <a:t>GAAP</a:t>
            </a:r>
            <a:r>
              <a:rPr dirty="0" sz="700" spc="-30">
                <a:latin typeface="Verdana"/>
                <a:cs typeface="Verdana"/>
              </a:rPr>
              <a:t> </a:t>
            </a:r>
            <a:r>
              <a:rPr dirty="0" sz="700" spc="-40">
                <a:latin typeface="Verdana"/>
                <a:cs typeface="Verdana"/>
              </a:rPr>
              <a:t>revenue.</a:t>
            </a:r>
            <a:r>
              <a:rPr dirty="0" sz="700" spc="-30">
                <a:latin typeface="Verdana"/>
                <a:cs typeface="Verdana"/>
              </a:rPr>
              <a:t> Non-</a:t>
            </a:r>
            <a:r>
              <a:rPr dirty="0" sz="700" spc="-20">
                <a:latin typeface="Verdana"/>
                <a:cs typeface="Verdana"/>
              </a:rPr>
              <a:t>GAAP</a:t>
            </a:r>
            <a:r>
              <a:rPr dirty="0" sz="700" spc="-25">
                <a:latin typeface="Verdana"/>
                <a:cs typeface="Verdana"/>
              </a:rPr>
              <a:t> </a:t>
            </a:r>
            <a:r>
              <a:rPr dirty="0" sz="700" spc="-35">
                <a:latin typeface="Verdana"/>
                <a:cs typeface="Verdana"/>
              </a:rPr>
              <a:t>operating</a:t>
            </a:r>
            <a:r>
              <a:rPr dirty="0" sz="700" spc="-30">
                <a:latin typeface="Verdana"/>
                <a:cs typeface="Verdana"/>
              </a:rPr>
              <a:t> </a:t>
            </a:r>
            <a:r>
              <a:rPr dirty="0" sz="700" spc="-40">
                <a:latin typeface="Verdana"/>
                <a:cs typeface="Verdana"/>
              </a:rPr>
              <a:t>margin</a:t>
            </a:r>
            <a:r>
              <a:rPr dirty="0" sz="700" spc="-25">
                <a:latin typeface="Verdana"/>
                <a:cs typeface="Verdana"/>
              </a:rPr>
              <a:t> </a:t>
            </a:r>
            <a:r>
              <a:rPr dirty="0" sz="700" spc="-40">
                <a:latin typeface="Verdana"/>
                <a:cs typeface="Verdana"/>
              </a:rPr>
              <a:t>is</a:t>
            </a:r>
            <a:r>
              <a:rPr dirty="0" sz="700" spc="-30">
                <a:latin typeface="Verdana"/>
                <a:cs typeface="Verdana"/>
              </a:rPr>
              <a:t> the </a:t>
            </a:r>
            <a:r>
              <a:rPr dirty="0" sz="700" spc="-25">
                <a:latin typeface="Verdana"/>
                <a:cs typeface="Verdana"/>
              </a:rPr>
              <a:t>proportion </a:t>
            </a:r>
            <a:r>
              <a:rPr dirty="0" sz="700" spc="-10">
                <a:latin typeface="Verdana"/>
                <a:cs typeface="Verdana"/>
              </a:rPr>
              <a:t>of</a:t>
            </a:r>
            <a:r>
              <a:rPr dirty="0" sz="700" spc="-30">
                <a:latin typeface="Verdana"/>
                <a:cs typeface="Verdana"/>
              </a:rPr>
              <a:t> </a:t>
            </a:r>
            <a:r>
              <a:rPr dirty="0" sz="700" spc="-40">
                <a:latin typeface="Verdana"/>
                <a:cs typeface="Verdana"/>
              </a:rPr>
              <a:t>non-</a:t>
            </a:r>
            <a:r>
              <a:rPr dirty="0" sz="700" spc="-20">
                <a:latin typeface="Verdana"/>
                <a:cs typeface="Verdana"/>
              </a:rPr>
              <a:t>GAAP</a:t>
            </a:r>
            <a:r>
              <a:rPr dirty="0" sz="700" spc="-25">
                <a:latin typeface="Verdana"/>
                <a:cs typeface="Verdana"/>
              </a:rPr>
              <a:t> </a:t>
            </a:r>
            <a:r>
              <a:rPr dirty="0" sz="700" spc="-20">
                <a:latin typeface="Verdana"/>
                <a:cs typeface="Verdana"/>
              </a:rPr>
              <a:t>income</a:t>
            </a:r>
            <a:r>
              <a:rPr dirty="0" sz="700" spc="-30">
                <a:latin typeface="Verdana"/>
                <a:cs typeface="Verdana"/>
              </a:rPr>
              <a:t> from</a:t>
            </a:r>
            <a:r>
              <a:rPr dirty="0" sz="700" spc="-25">
                <a:latin typeface="Verdana"/>
                <a:cs typeface="Verdana"/>
              </a:rPr>
              <a:t> </a:t>
            </a:r>
            <a:r>
              <a:rPr dirty="0" sz="700" spc="-30">
                <a:latin typeface="Verdana"/>
                <a:cs typeface="Verdana"/>
              </a:rPr>
              <a:t>operations </a:t>
            </a:r>
            <a:r>
              <a:rPr dirty="0" sz="700" spc="-60">
                <a:latin typeface="Verdana"/>
                <a:cs typeface="Verdana"/>
              </a:rPr>
              <a:t>as</a:t>
            </a:r>
            <a:r>
              <a:rPr dirty="0" sz="700" spc="-30">
                <a:latin typeface="Verdana"/>
                <a:cs typeface="Verdana"/>
              </a:rPr>
              <a:t> </a:t>
            </a:r>
            <a:r>
              <a:rPr dirty="0" sz="700" spc="-55">
                <a:latin typeface="Verdana"/>
                <a:cs typeface="Verdana"/>
              </a:rPr>
              <a:t>a</a:t>
            </a:r>
            <a:r>
              <a:rPr dirty="0" sz="700" spc="-25">
                <a:latin typeface="Verdana"/>
                <a:cs typeface="Verdana"/>
              </a:rPr>
              <a:t> </a:t>
            </a:r>
            <a:r>
              <a:rPr dirty="0" sz="700" spc="-35">
                <a:latin typeface="Verdana"/>
                <a:cs typeface="Verdana"/>
              </a:rPr>
              <a:t>percentage</a:t>
            </a:r>
            <a:r>
              <a:rPr dirty="0" sz="700" spc="-30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of</a:t>
            </a:r>
            <a:r>
              <a:rPr dirty="0" sz="700" spc="-25">
                <a:latin typeface="Verdana"/>
                <a:cs typeface="Verdana"/>
              </a:rPr>
              <a:t> </a:t>
            </a:r>
            <a:r>
              <a:rPr dirty="0" sz="700" spc="-20">
                <a:latin typeface="Verdana"/>
                <a:cs typeface="Verdana"/>
              </a:rPr>
              <a:t>GAAP</a:t>
            </a:r>
            <a:r>
              <a:rPr dirty="0" sz="700" spc="-30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revenue.</a:t>
            </a:r>
            <a:endParaRPr sz="700">
              <a:latin typeface="Verdana"/>
              <a:cs typeface="Verdana"/>
            </a:endParaRPr>
          </a:p>
          <a:p>
            <a:pPr marL="38100" marR="30480">
              <a:lnSpc>
                <a:spcPct val="100000"/>
              </a:lnSpc>
            </a:pPr>
            <a:r>
              <a:rPr dirty="0" baseline="30864" sz="675" spc="-52">
                <a:latin typeface="Verdana"/>
                <a:cs typeface="Verdana"/>
              </a:rPr>
              <a:t>3</a:t>
            </a:r>
            <a:r>
              <a:rPr dirty="0" sz="700" spc="-35">
                <a:latin typeface="Verdana"/>
                <a:cs typeface="Verdana"/>
              </a:rPr>
              <a:t>Free</a:t>
            </a:r>
            <a:r>
              <a:rPr dirty="0" sz="700" spc="-30">
                <a:latin typeface="Verdana"/>
                <a:cs typeface="Verdana"/>
              </a:rPr>
              <a:t> </a:t>
            </a:r>
            <a:r>
              <a:rPr dirty="0" sz="700" spc="-40">
                <a:latin typeface="Verdana"/>
                <a:cs typeface="Verdana"/>
              </a:rPr>
              <a:t>cash</a:t>
            </a:r>
            <a:r>
              <a:rPr dirty="0" sz="700" spc="-25">
                <a:latin typeface="Verdana"/>
                <a:cs typeface="Verdana"/>
              </a:rPr>
              <a:t> flow </a:t>
            </a:r>
            <a:r>
              <a:rPr dirty="0" sz="700" spc="-45">
                <a:latin typeface="Verdana"/>
                <a:cs typeface="Verdana"/>
              </a:rPr>
              <a:t>("FCF")</a:t>
            </a:r>
            <a:r>
              <a:rPr dirty="0" sz="700" spc="-25">
                <a:latin typeface="Verdana"/>
                <a:cs typeface="Verdana"/>
              </a:rPr>
              <a:t> </a:t>
            </a:r>
            <a:r>
              <a:rPr dirty="0" sz="700" spc="-40">
                <a:latin typeface="Verdana"/>
                <a:cs typeface="Verdana"/>
              </a:rPr>
              <a:t>is</a:t>
            </a:r>
            <a:r>
              <a:rPr dirty="0" sz="700" spc="-25">
                <a:latin typeface="Verdana"/>
                <a:cs typeface="Verdana"/>
              </a:rPr>
              <a:t> </a:t>
            </a:r>
            <a:r>
              <a:rPr dirty="0" sz="700" spc="-20">
                <a:latin typeface="Verdana"/>
                <a:cs typeface="Verdana"/>
              </a:rPr>
              <a:t>defined</a:t>
            </a:r>
            <a:r>
              <a:rPr dirty="0" sz="700" spc="-25">
                <a:latin typeface="Verdana"/>
                <a:cs typeface="Verdana"/>
              </a:rPr>
              <a:t> </a:t>
            </a:r>
            <a:r>
              <a:rPr dirty="0" sz="700" spc="-60">
                <a:latin typeface="Verdana"/>
                <a:cs typeface="Verdana"/>
              </a:rPr>
              <a:t>as</a:t>
            </a:r>
            <a:r>
              <a:rPr dirty="0" sz="700" spc="-25">
                <a:latin typeface="Verdana"/>
                <a:cs typeface="Verdana"/>
              </a:rPr>
              <a:t> </a:t>
            </a:r>
            <a:r>
              <a:rPr dirty="0" sz="700" spc="-20">
                <a:latin typeface="Verdana"/>
                <a:cs typeface="Verdana"/>
              </a:rPr>
              <a:t>GAAP</a:t>
            </a:r>
            <a:r>
              <a:rPr dirty="0" sz="700" spc="-25">
                <a:latin typeface="Verdana"/>
                <a:cs typeface="Verdana"/>
              </a:rPr>
              <a:t> </a:t>
            </a:r>
            <a:r>
              <a:rPr dirty="0" sz="700" spc="-30">
                <a:latin typeface="Verdana"/>
                <a:cs typeface="Verdana"/>
              </a:rPr>
              <a:t>net</a:t>
            </a:r>
            <a:r>
              <a:rPr dirty="0" sz="700" spc="-25">
                <a:latin typeface="Verdana"/>
                <a:cs typeface="Verdana"/>
              </a:rPr>
              <a:t> </a:t>
            </a:r>
            <a:r>
              <a:rPr dirty="0" sz="700" spc="-40">
                <a:latin typeface="Verdana"/>
                <a:cs typeface="Verdana"/>
              </a:rPr>
              <a:t>cash</a:t>
            </a:r>
            <a:r>
              <a:rPr dirty="0" sz="700" spc="-25">
                <a:latin typeface="Verdana"/>
                <a:cs typeface="Verdana"/>
              </a:rPr>
              <a:t> </a:t>
            </a:r>
            <a:r>
              <a:rPr dirty="0" sz="700" spc="-30">
                <a:latin typeface="Verdana"/>
                <a:cs typeface="Verdana"/>
              </a:rPr>
              <a:t>provided</a:t>
            </a:r>
            <a:r>
              <a:rPr dirty="0" sz="700" spc="-25">
                <a:latin typeface="Verdana"/>
                <a:cs typeface="Verdana"/>
              </a:rPr>
              <a:t> </a:t>
            </a:r>
            <a:r>
              <a:rPr dirty="0" sz="700" spc="-50">
                <a:latin typeface="Verdana"/>
                <a:cs typeface="Verdana"/>
              </a:rPr>
              <a:t>by</a:t>
            </a:r>
            <a:r>
              <a:rPr dirty="0" sz="700" spc="-25">
                <a:latin typeface="Verdana"/>
                <a:cs typeface="Verdana"/>
              </a:rPr>
              <a:t> </a:t>
            </a:r>
            <a:r>
              <a:rPr dirty="0" sz="700" spc="-35">
                <a:latin typeface="Verdana"/>
                <a:cs typeface="Verdana"/>
              </a:rPr>
              <a:t>operating</a:t>
            </a:r>
            <a:r>
              <a:rPr dirty="0" sz="700" spc="-25">
                <a:latin typeface="Verdana"/>
                <a:cs typeface="Verdana"/>
              </a:rPr>
              <a:t> </a:t>
            </a:r>
            <a:r>
              <a:rPr dirty="0" sz="700" spc="-40">
                <a:latin typeface="Verdana"/>
                <a:cs typeface="Verdana"/>
              </a:rPr>
              <a:t>activities,</a:t>
            </a:r>
            <a:r>
              <a:rPr dirty="0" sz="700" spc="-25">
                <a:latin typeface="Verdana"/>
                <a:cs typeface="Verdana"/>
              </a:rPr>
              <a:t> </a:t>
            </a:r>
            <a:r>
              <a:rPr dirty="0" sz="700" spc="-40">
                <a:latin typeface="Verdana"/>
                <a:cs typeface="Verdana"/>
              </a:rPr>
              <a:t>less</a:t>
            </a:r>
            <a:r>
              <a:rPr dirty="0" sz="700" spc="-25">
                <a:latin typeface="Verdana"/>
                <a:cs typeface="Verdana"/>
              </a:rPr>
              <a:t> </a:t>
            </a:r>
            <a:r>
              <a:rPr dirty="0" sz="700" spc="-30">
                <a:latin typeface="Verdana"/>
                <a:cs typeface="Verdana"/>
              </a:rPr>
              <a:t>capital</a:t>
            </a:r>
            <a:r>
              <a:rPr dirty="0" sz="700" spc="-25">
                <a:latin typeface="Verdana"/>
                <a:cs typeface="Verdana"/>
              </a:rPr>
              <a:t> </a:t>
            </a:r>
            <a:r>
              <a:rPr dirty="0" sz="700" spc="-35">
                <a:latin typeface="Verdana"/>
                <a:cs typeface="Verdana"/>
              </a:rPr>
              <a:t>expenditures.</a:t>
            </a:r>
            <a:r>
              <a:rPr dirty="0" sz="700" spc="-25">
                <a:latin typeface="Verdana"/>
                <a:cs typeface="Verdana"/>
              </a:rPr>
              <a:t> </a:t>
            </a:r>
            <a:r>
              <a:rPr dirty="0" sz="700" spc="-40">
                <a:latin typeface="Verdana"/>
                <a:cs typeface="Verdana"/>
              </a:rPr>
              <a:t>Trailing</a:t>
            </a:r>
            <a:r>
              <a:rPr dirty="0" sz="700" spc="-25">
                <a:latin typeface="Verdana"/>
                <a:cs typeface="Verdana"/>
              </a:rPr>
              <a:t> </a:t>
            </a:r>
            <a:r>
              <a:rPr dirty="0" sz="700" spc="-40">
                <a:latin typeface="Verdana"/>
                <a:cs typeface="Verdana"/>
              </a:rPr>
              <a:t>twelve</a:t>
            </a:r>
            <a:r>
              <a:rPr dirty="0" sz="700" spc="-30">
                <a:latin typeface="Verdana"/>
                <a:cs typeface="Verdana"/>
              </a:rPr>
              <a:t> months</a:t>
            </a:r>
            <a:r>
              <a:rPr dirty="0" sz="700" spc="-25">
                <a:latin typeface="Verdana"/>
                <a:cs typeface="Verdana"/>
              </a:rPr>
              <a:t> </a:t>
            </a:r>
            <a:r>
              <a:rPr dirty="0" sz="700" spc="-45">
                <a:latin typeface="Verdana"/>
                <a:cs typeface="Verdana"/>
              </a:rPr>
              <a:t>("TTM")</a:t>
            </a:r>
            <a:r>
              <a:rPr dirty="0" sz="700" spc="-25">
                <a:latin typeface="Verdana"/>
                <a:cs typeface="Verdana"/>
              </a:rPr>
              <a:t> </a:t>
            </a:r>
            <a:r>
              <a:rPr dirty="0" sz="700" spc="-35">
                <a:latin typeface="Verdana"/>
                <a:cs typeface="Verdana"/>
              </a:rPr>
              <a:t>free</a:t>
            </a:r>
            <a:r>
              <a:rPr dirty="0" sz="700" spc="-25">
                <a:latin typeface="Verdana"/>
                <a:cs typeface="Verdana"/>
              </a:rPr>
              <a:t> </a:t>
            </a:r>
            <a:r>
              <a:rPr dirty="0" sz="700" spc="-40">
                <a:latin typeface="Verdana"/>
                <a:cs typeface="Verdana"/>
              </a:rPr>
              <a:t>cash</a:t>
            </a:r>
            <a:r>
              <a:rPr dirty="0" sz="700" spc="-25">
                <a:latin typeface="Verdana"/>
                <a:cs typeface="Verdana"/>
              </a:rPr>
              <a:t> flow </a:t>
            </a:r>
            <a:r>
              <a:rPr dirty="0" sz="700" spc="-40">
                <a:latin typeface="Verdana"/>
                <a:cs typeface="Verdana"/>
              </a:rPr>
              <a:t>is</a:t>
            </a:r>
            <a:r>
              <a:rPr dirty="0" sz="700" spc="-25">
                <a:latin typeface="Verdana"/>
                <a:cs typeface="Verdana"/>
              </a:rPr>
              <a:t> calculated </a:t>
            </a:r>
            <a:r>
              <a:rPr dirty="0" sz="700" spc="-60">
                <a:latin typeface="Verdana"/>
                <a:cs typeface="Verdana"/>
              </a:rPr>
              <a:t>as</a:t>
            </a:r>
            <a:r>
              <a:rPr dirty="0" sz="700" spc="-25">
                <a:latin typeface="Verdana"/>
                <a:cs typeface="Verdana"/>
              </a:rPr>
              <a:t> </a:t>
            </a:r>
            <a:r>
              <a:rPr dirty="0" sz="700" spc="-20">
                <a:latin typeface="Verdana"/>
                <a:cs typeface="Verdana"/>
              </a:rPr>
              <a:t>GAAP</a:t>
            </a:r>
            <a:r>
              <a:rPr dirty="0" sz="700" spc="-25">
                <a:latin typeface="Verdana"/>
                <a:cs typeface="Verdana"/>
              </a:rPr>
              <a:t> </a:t>
            </a:r>
            <a:r>
              <a:rPr dirty="0" sz="700" spc="-30">
                <a:latin typeface="Verdana"/>
                <a:cs typeface="Verdana"/>
              </a:rPr>
              <a:t>net</a:t>
            </a:r>
            <a:r>
              <a:rPr dirty="0" sz="700" spc="-25">
                <a:latin typeface="Verdana"/>
                <a:cs typeface="Verdana"/>
              </a:rPr>
              <a:t> </a:t>
            </a:r>
            <a:r>
              <a:rPr dirty="0" sz="700" spc="-40">
                <a:latin typeface="Verdana"/>
                <a:cs typeface="Verdana"/>
              </a:rPr>
              <a:t>cash</a:t>
            </a:r>
            <a:r>
              <a:rPr dirty="0" sz="700" spc="-25">
                <a:latin typeface="Verdana"/>
                <a:cs typeface="Verdana"/>
              </a:rPr>
              <a:t> </a:t>
            </a:r>
            <a:r>
              <a:rPr dirty="0" sz="700" spc="-30">
                <a:latin typeface="Verdana"/>
                <a:cs typeface="Verdana"/>
              </a:rPr>
              <a:t>provided</a:t>
            </a:r>
            <a:r>
              <a:rPr dirty="0" sz="700" spc="-25">
                <a:latin typeface="Verdana"/>
                <a:cs typeface="Verdana"/>
              </a:rPr>
              <a:t> </a:t>
            </a:r>
            <a:r>
              <a:rPr dirty="0" sz="700" spc="-50">
                <a:latin typeface="Verdana"/>
                <a:cs typeface="Verdana"/>
              </a:rPr>
              <a:t>by</a:t>
            </a:r>
            <a:r>
              <a:rPr dirty="0" sz="700" spc="-25">
                <a:latin typeface="Verdana"/>
                <a:cs typeface="Verdana"/>
              </a:rPr>
              <a:t> </a:t>
            </a:r>
            <a:r>
              <a:rPr dirty="0" sz="700" spc="-35">
                <a:latin typeface="Verdana"/>
                <a:cs typeface="Verdana"/>
              </a:rPr>
              <a:t>operating</a:t>
            </a:r>
            <a:r>
              <a:rPr dirty="0" sz="700" spc="-25">
                <a:latin typeface="Verdana"/>
                <a:cs typeface="Verdana"/>
              </a:rPr>
              <a:t> </a:t>
            </a:r>
            <a:r>
              <a:rPr dirty="0" sz="700" spc="-35">
                <a:latin typeface="Verdana"/>
                <a:cs typeface="Verdana"/>
              </a:rPr>
              <a:t>activities</a:t>
            </a:r>
            <a:r>
              <a:rPr dirty="0" sz="700" spc="-25">
                <a:latin typeface="Verdana"/>
                <a:cs typeface="Verdana"/>
              </a:rPr>
              <a:t> </a:t>
            </a:r>
            <a:r>
              <a:rPr dirty="0" sz="700" spc="-30">
                <a:latin typeface="Verdana"/>
                <a:cs typeface="Verdana"/>
              </a:rPr>
              <a:t>for</a:t>
            </a:r>
            <a:r>
              <a:rPr dirty="0" sz="700" spc="-25">
                <a:latin typeface="Verdana"/>
                <a:cs typeface="Verdana"/>
              </a:rPr>
              <a:t> </a:t>
            </a:r>
            <a:r>
              <a:rPr dirty="0" sz="700" spc="-30">
                <a:latin typeface="Verdana"/>
                <a:cs typeface="Verdana"/>
              </a:rPr>
              <a:t>the</a:t>
            </a:r>
            <a:r>
              <a:rPr dirty="0" sz="700" spc="-25">
                <a:latin typeface="Verdana"/>
                <a:cs typeface="Verdana"/>
              </a:rPr>
              <a:t> </a:t>
            </a:r>
            <a:r>
              <a:rPr dirty="0" sz="700" spc="-50">
                <a:latin typeface="Verdana"/>
                <a:cs typeface="Verdana"/>
              </a:rPr>
              <a:t>aggregate</a:t>
            </a:r>
            <a:r>
              <a:rPr dirty="0" sz="700" spc="-30">
                <a:latin typeface="Verdana"/>
                <a:cs typeface="Verdana"/>
              </a:rPr>
              <a:t> </a:t>
            </a:r>
            <a:r>
              <a:rPr dirty="0" sz="700" spc="-25">
                <a:latin typeface="Verdana"/>
                <a:cs typeface="Verdana"/>
              </a:rPr>
              <a:t>four </a:t>
            </a:r>
            <a:r>
              <a:rPr dirty="0" sz="700" spc="-30">
                <a:latin typeface="Verdana"/>
                <a:cs typeface="Verdana"/>
              </a:rPr>
              <a:t>preceding</a:t>
            </a:r>
            <a:r>
              <a:rPr dirty="0" sz="700" spc="-25">
                <a:latin typeface="Verdana"/>
                <a:cs typeface="Verdana"/>
              </a:rPr>
              <a:t> </a:t>
            </a:r>
            <a:r>
              <a:rPr dirty="0" sz="700" spc="-30">
                <a:latin typeface="Verdana"/>
                <a:cs typeface="Verdana"/>
              </a:rPr>
              <a:t>fiscal</a:t>
            </a:r>
            <a:r>
              <a:rPr dirty="0" sz="700" spc="-2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quarters, </a:t>
            </a:r>
            <a:r>
              <a:rPr dirty="0" sz="700" spc="-40">
                <a:latin typeface="Verdana"/>
                <a:cs typeface="Verdana"/>
              </a:rPr>
              <a:t>less</a:t>
            </a:r>
            <a:r>
              <a:rPr dirty="0" sz="700" spc="-35">
                <a:latin typeface="Verdana"/>
                <a:cs typeface="Verdana"/>
              </a:rPr>
              <a:t> </a:t>
            </a:r>
            <a:r>
              <a:rPr dirty="0" sz="700" spc="-30">
                <a:latin typeface="Verdana"/>
                <a:cs typeface="Verdana"/>
              </a:rPr>
              <a:t>capital expenditures </a:t>
            </a:r>
            <a:r>
              <a:rPr dirty="0" sz="700" spc="-45">
                <a:latin typeface="Verdana"/>
                <a:cs typeface="Verdana"/>
              </a:rPr>
              <a:t>over</a:t>
            </a:r>
            <a:r>
              <a:rPr dirty="0" sz="700" spc="-30">
                <a:latin typeface="Verdana"/>
                <a:cs typeface="Verdana"/>
              </a:rPr>
              <a:t> </a:t>
            </a:r>
            <a:r>
              <a:rPr dirty="0" sz="700" spc="-35">
                <a:latin typeface="Verdana"/>
                <a:cs typeface="Verdana"/>
              </a:rPr>
              <a:t>that</a:t>
            </a:r>
            <a:r>
              <a:rPr dirty="0" sz="700" spc="-30">
                <a:latin typeface="Verdana"/>
                <a:cs typeface="Verdana"/>
              </a:rPr>
              <a:t> </a:t>
            </a:r>
            <a:r>
              <a:rPr dirty="0" sz="700" spc="-40">
                <a:latin typeface="Verdana"/>
                <a:cs typeface="Verdana"/>
              </a:rPr>
              <a:t>same</a:t>
            </a:r>
            <a:r>
              <a:rPr dirty="0" sz="700" spc="-30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period.</a:t>
            </a:r>
            <a:endParaRPr sz="700">
              <a:latin typeface="Verdana"/>
              <a:cs typeface="Verdana"/>
            </a:endParaRPr>
          </a:p>
          <a:p>
            <a:pPr marL="38100">
              <a:lnSpc>
                <a:spcPct val="100000"/>
              </a:lnSpc>
            </a:pPr>
            <a:r>
              <a:rPr dirty="0" baseline="30864" sz="675" spc="-52">
                <a:latin typeface="Verdana"/>
                <a:cs typeface="Verdana"/>
              </a:rPr>
              <a:t>4</a:t>
            </a:r>
            <a:r>
              <a:rPr dirty="0" sz="700" spc="-35">
                <a:latin typeface="Verdana"/>
                <a:cs typeface="Verdana"/>
              </a:rPr>
              <a:t>The</a:t>
            </a:r>
            <a:r>
              <a:rPr dirty="0" sz="700" spc="-45">
                <a:latin typeface="Verdana"/>
                <a:cs typeface="Verdana"/>
              </a:rPr>
              <a:t> </a:t>
            </a:r>
            <a:r>
              <a:rPr dirty="0" sz="700" spc="-30">
                <a:latin typeface="Verdana"/>
                <a:cs typeface="Verdana"/>
              </a:rPr>
              <a:t>percentages</a:t>
            </a:r>
            <a:r>
              <a:rPr dirty="0" sz="700" spc="-40">
                <a:latin typeface="Verdana"/>
                <a:cs typeface="Verdana"/>
              </a:rPr>
              <a:t> </a:t>
            </a:r>
            <a:r>
              <a:rPr dirty="0" sz="700" spc="-30">
                <a:latin typeface="Verdana"/>
                <a:cs typeface="Verdana"/>
              </a:rPr>
              <a:t>shown</a:t>
            </a:r>
            <a:r>
              <a:rPr dirty="0" sz="700" spc="-40">
                <a:latin typeface="Verdana"/>
                <a:cs typeface="Verdana"/>
              </a:rPr>
              <a:t> </a:t>
            </a:r>
            <a:r>
              <a:rPr dirty="0" sz="700" spc="-35">
                <a:latin typeface="Verdana"/>
                <a:cs typeface="Verdana"/>
              </a:rPr>
              <a:t>above</a:t>
            </a:r>
            <a:r>
              <a:rPr dirty="0" sz="700" spc="-40">
                <a:latin typeface="Verdana"/>
                <a:cs typeface="Verdana"/>
              </a:rPr>
              <a:t> </a:t>
            </a:r>
            <a:r>
              <a:rPr dirty="0" sz="700" spc="-45">
                <a:latin typeface="Verdana"/>
                <a:cs typeface="Verdana"/>
              </a:rPr>
              <a:t>have </a:t>
            </a:r>
            <a:r>
              <a:rPr dirty="0" sz="700" spc="-20">
                <a:latin typeface="Verdana"/>
                <a:cs typeface="Verdana"/>
              </a:rPr>
              <a:t>been</a:t>
            </a:r>
            <a:r>
              <a:rPr dirty="0" sz="700" spc="-40">
                <a:latin typeface="Verdana"/>
                <a:cs typeface="Verdana"/>
              </a:rPr>
              <a:t> </a:t>
            </a:r>
            <a:r>
              <a:rPr dirty="0" sz="700" spc="-25">
                <a:latin typeface="Verdana"/>
                <a:cs typeface="Verdana"/>
              </a:rPr>
              <a:t>calculated</a:t>
            </a:r>
            <a:r>
              <a:rPr dirty="0" sz="700" spc="-40">
                <a:latin typeface="Verdana"/>
                <a:cs typeface="Verdana"/>
              </a:rPr>
              <a:t> </a:t>
            </a:r>
            <a:r>
              <a:rPr dirty="0" sz="700" spc="-35">
                <a:latin typeface="Verdana"/>
                <a:cs typeface="Verdana"/>
              </a:rPr>
              <a:t>based</a:t>
            </a:r>
            <a:r>
              <a:rPr dirty="0" sz="700" spc="-40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on</a:t>
            </a:r>
            <a:r>
              <a:rPr dirty="0" sz="700" spc="-40">
                <a:latin typeface="Verdana"/>
                <a:cs typeface="Verdana"/>
              </a:rPr>
              <a:t> </a:t>
            </a:r>
            <a:r>
              <a:rPr dirty="0" sz="700" spc="-30">
                <a:latin typeface="Verdana"/>
                <a:cs typeface="Verdana"/>
              </a:rPr>
              <a:t>the</a:t>
            </a:r>
            <a:r>
              <a:rPr dirty="0" sz="700" spc="-4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midpoint</a:t>
            </a:r>
            <a:r>
              <a:rPr dirty="0" sz="700" spc="-40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of</a:t>
            </a:r>
            <a:r>
              <a:rPr dirty="0" sz="700" spc="-40">
                <a:latin typeface="Verdana"/>
                <a:cs typeface="Verdana"/>
              </a:rPr>
              <a:t> </a:t>
            </a:r>
            <a:r>
              <a:rPr dirty="0" sz="700" spc="-30">
                <a:latin typeface="Verdana"/>
                <a:cs typeface="Verdana"/>
              </a:rPr>
              <a:t>the</a:t>
            </a:r>
            <a:r>
              <a:rPr dirty="0" sz="700" spc="-40">
                <a:latin typeface="Verdana"/>
                <a:cs typeface="Verdana"/>
              </a:rPr>
              <a:t> </a:t>
            </a:r>
            <a:r>
              <a:rPr dirty="0" sz="700" spc="-20">
                <a:latin typeface="Verdana"/>
                <a:cs typeface="Verdana"/>
              </a:rPr>
              <a:t>low</a:t>
            </a:r>
            <a:r>
              <a:rPr dirty="0" sz="700" spc="-40">
                <a:latin typeface="Verdana"/>
                <a:cs typeface="Verdana"/>
              </a:rPr>
              <a:t> </a:t>
            </a:r>
            <a:r>
              <a:rPr dirty="0" sz="700" spc="-30">
                <a:latin typeface="Verdana"/>
                <a:cs typeface="Verdana"/>
              </a:rPr>
              <a:t>and</a:t>
            </a:r>
            <a:r>
              <a:rPr dirty="0" sz="700" spc="-45">
                <a:latin typeface="Verdana"/>
                <a:cs typeface="Verdana"/>
              </a:rPr>
              <a:t> </a:t>
            </a:r>
            <a:r>
              <a:rPr dirty="0" sz="700" spc="-25">
                <a:latin typeface="Verdana"/>
                <a:cs typeface="Verdana"/>
              </a:rPr>
              <a:t>high</a:t>
            </a:r>
            <a:r>
              <a:rPr dirty="0" sz="700" spc="-40">
                <a:latin typeface="Verdana"/>
                <a:cs typeface="Verdana"/>
              </a:rPr>
              <a:t> </a:t>
            </a:r>
            <a:r>
              <a:rPr dirty="0" sz="700" spc="-30">
                <a:latin typeface="Verdana"/>
                <a:cs typeface="Verdana"/>
              </a:rPr>
              <a:t>ends</a:t>
            </a:r>
            <a:r>
              <a:rPr dirty="0" sz="700" spc="-40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of</a:t>
            </a:r>
            <a:r>
              <a:rPr dirty="0" sz="700" spc="-40">
                <a:latin typeface="Verdana"/>
                <a:cs typeface="Verdana"/>
              </a:rPr>
              <a:t> </a:t>
            </a:r>
            <a:r>
              <a:rPr dirty="0" sz="700" spc="-30">
                <a:latin typeface="Verdana"/>
                <a:cs typeface="Verdana"/>
              </a:rPr>
              <a:t>the</a:t>
            </a:r>
            <a:r>
              <a:rPr dirty="0" sz="700" spc="-40">
                <a:latin typeface="Verdana"/>
                <a:cs typeface="Verdana"/>
              </a:rPr>
              <a:t> revenue</a:t>
            </a:r>
            <a:r>
              <a:rPr dirty="0" sz="700" spc="-45">
                <a:latin typeface="Verdana"/>
                <a:cs typeface="Verdana"/>
              </a:rPr>
              <a:t> </a:t>
            </a:r>
            <a:r>
              <a:rPr dirty="0" sz="700" spc="-30">
                <a:latin typeface="Verdana"/>
                <a:cs typeface="Verdana"/>
              </a:rPr>
              <a:t>guidance</a:t>
            </a:r>
            <a:r>
              <a:rPr dirty="0" sz="700" spc="-40">
                <a:latin typeface="Verdana"/>
                <a:cs typeface="Verdana"/>
              </a:rPr>
              <a:t> </a:t>
            </a:r>
            <a:r>
              <a:rPr dirty="0" sz="700" spc="-30">
                <a:latin typeface="Verdana"/>
                <a:cs typeface="Verdana"/>
              </a:rPr>
              <a:t>for</a:t>
            </a:r>
            <a:r>
              <a:rPr dirty="0" sz="700" spc="-40">
                <a:latin typeface="Verdana"/>
                <a:cs typeface="Verdana"/>
              </a:rPr>
              <a:t> </a:t>
            </a:r>
            <a:r>
              <a:rPr dirty="0" sz="700" spc="-20">
                <a:latin typeface="Verdana"/>
                <a:cs typeface="Verdana"/>
              </a:rPr>
              <a:t>full</a:t>
            </a:r>
            <a:r>
              <a:rPr dirty="0" sz="700" spc="-40">
                <a:latin typeface="Verdana"/>
                <a:cs typeface="Verdana"/>
              </a:rPr>
              <a:t> </a:t>
            </a:r>
            <a:r>
              <a:rPr dirty="0" sz="700" spc="-60">
                <a:latin typeface="Verdana"/>
                <a:cs typeface="Verdana"/>
              </a:rPr>
              <a:t>year</a:t>
            </a:r>
            <a:r>
              <a:rPr dirty="0" sz="700" spc="-10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FY27.</a:t>
            </a:r>
            <a:endParaRPr sz="700">
              <a:latin typeface="Verdana"/>
              <a:cs typeface="Verdana"/>
            </a:endParaRPr>
          </a:p>
          <a:p>
            <a:pPr marL="38100" marR="232410">
              <a:lnSpc>
                <a:spcPct val="100000"/>
              </a:lnSpc>
            </a:pPr>
            <a:r>
              <a:rPr dirty="0" baseline="30864" sz="675" spc="-52">
                <a:latin typeface="Verdana"/>
                <a:cs typeface="Verdana"/>
              </a:rPr>
              <a:t>5</a:t>
            </a:r>
            <a:r>
              <a:rPr dirty="0" sz="700" spc="-35">
                <a:latin typeface="Verdana"/>
                <a:cs typeface="Verdana"/>
              </a:rPr>
              <a:t>The</a:t>
            </a:r>
            <a:r>
              <a:rPr dirty="0" sz="700" spc="-15">
                <a:latin typeface="Verdana"/>
                <a:cs typeface="Verdana"/>
              </a:rPr>
              <a:t> </a:t>
            </a:r>
            <a:r>
              <a:rPr dirty="0" sz="700" spc="-30">
                <a:latin typeface="Verdana"/>
                <a:cs typeface="Verdana"/>
              </a:rPr>
              <a:t>percentages</a:t>
            </a:r>
            <a:r>
              <a:rPr dirty="0" sz="700" spc="-15">
                <a:latin typeface="Verdana"/>
                <a:cs typeface="Verdana"/>
              </a:rPr>
              <a:t> </a:t>
            </a:r>
            <a:r>
              <a:rPr dirty="0" sz="700" spc="-30">
                <a:latin typeface="Verdana"/>
                <a:cs typeface="Verdana"/>
              </a:rPr>
              <a:t>shown</a:t>
            </a:r>
            <a:r>
              <a:rPr dirty="0" sz="700" spc="-1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in</a:t>
            </a:r>
            <a:r>
              <a:rPr dirty="0" sz="700" spc="-15">
                <a:latin typeface="Verdana"/>
                <a:cs typeface="Verdana"/>
              </a:rPr>
              <a:t> </a:t>
            </a:r>
            <a:r>
              <a:rPr dirty="0" sz="700" spc="-30">
                <a:latin typeface="Verdana"/>
                <a:cs typeface="Verdana"/>
              </a:rPr>
              <a:t>the</a:t>
            </a:r>
            <a:r>
              <a:rPr dirty="0" sz="700" spc="-15">
                <a:latin typeface="Verdana"/>
                <a:cs typeface="Verdana"/>
              </a:rPr>
              <a:t> </a:t>
            </a:r>
            <a:r>
              <a:rPr dirty="0" sz="700" spc="-40">
                <a:latin typeface="Verdana"/>
                <a:cs typeface="Verdana"/>
              </a:rPr>
              <a:t>restructuring</a:t>
            </a:r>
            <a:r>
              <a:rPr dirty="0" sz="700" spc="-15">
                <a:latin typeface="Verdana"/>
                <a:cs typeface="Verdana"/>
              </a:rPr>
              <a:t> </a:t>
            </a:r>
            <a:r>
              <a:rPr dirty="0" sz="700" spc="-30">
                <a:latin typeface="Verdana"/>
                <a:cs typeface="Verdana"/>
              </a:rPr>
              <a:t>and</a:t>
            </a:r>
            <a:r>
              <a:rPr dirty="0" sz="700" spc="-15">
                <a:latin typeface="Verdana"/>
                <a:cs typeface="Verdana"/>
              </a:rPr>
              <a:t> </a:t>
            </a:r>
            <a:r>
              <a:rPr dirty="0" sz="700" spc="-30">
                <a:latin typeface="Verdana"/>
                <a:cs typeface="Verdana"/>
              </a:rPr>
              <a:t>acquisition-</a:t>
            </a:r>
            <a:r>
              <a:rPr dirty="0" sz="700" spc="-35">
                <a:latin typeface="Verdana"/>
                <a:cs typeface="Verdana"/>
              </a:rPr>
              <a:t>related</a:t>
            </a:r>
            <a:r>
              <a:rPr dirty="0" sz="700" spc="-15">
                <a:latin typeface="Verdana"/>
                <a:cs typeface="Verdana"/>
              </a:rPr>
              <a:t> </a:t>
            </a:r>
            <a:r>
              <a:rPr dirty="0" sz="700" spc="-40">
                <a:latin typeface="Verdana"/>
                <a:cs typeface="Verdana"/>
              </a:rPr>
              <a:t>costs</a:t>
            </a:r>
            <a:r>
              <a:rPr dirty="0" sz="700" spc="-10">
                <a:latin typeface="Verdana"/>
                <a:cs typeface="Verdana"/>
              </a:rPr>
              <a:t> </a:t>
            </a:r>
            <a:r>
              <a:rPr dirty="0" sz="700" spc="-20">
                <a:latin typeface="Verdana"/>
                <a:cs typeface="Verdana"/>
              </a:rPr>
              <a:t>line</a:t>
            </a:r>
            <a:r>
              <a:rPr dirty="0" sz="700" spc="-15">
                <a:latin typeface="Verdana"/>
                <a:cs typeface="Verdana"/>
              </a:rPr>
              <a:t> </a:t>
            </a:r>
            <a:r>
              <a:rPr dirty="0" sz="700" spc="-45">
                <a:latin typeface="Verdana"/>
                <a:cs typeface="Verdana"/>
              </a:rPr>
              <a:t>have</a:t>
            </a:r>
            <a:r>
              <a:rPr dirty="0" sz="700" spc="-15">
                <a:latin typeface="Verdana"/>
                <a:cs typeface="Verdana"/>
              </a:rPr>
              <a:t> </a:t>
            </a:r>
            <a:r>
              <a:rPr dirty="0" sz="700" spc="-20">
                <a:latin typeface="Verdana"/>
                <a:cs typeface="Verdana"/>
              </a:rPr>
              <a:t>been</a:t>
            </a:r>
            <a:r>
              <a:rPr dirty="0" sz="700" spc="-15">
                <a:latin typeface="Verdana"/>
                <a:cs typeface="Verdana"/>
              </a:rPr>
              <a:t> </a:t>
            </a:r>
            <a:r>
              <a:rPr dirty="0" sz="700" spc="-25">
                <a:latin typeface="Verdana"/>
                <a:cs typeface="Verdana"/>
              </a:rPr>
              <a:t>calculated</a:t>
            </a:r>
            <a:r>
              <a:rPr dirty="0" sz="700" spc="-15">
                <a:latin typeface="Verdana"/>
                <a:cs typeface="Verdana"/>
              </a:rPr>
              <a:t> </a:t>
            </a:r>
            <a:r>
              <a:rPr dirty="0" sz="700" spc="-35">
                <a:latin typeface="Verdana"/>
                <a:cs typeface="Verdana"/>
              </a:rPr>
              <a:t>based</a:t>
            </a:r>
            <a:r>
              <a:rPr dirty="0" sz="700" spc="-1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on</a:t>
            </a:r>
            <a:r>
              <a:rPr dirty="0" sz="700" spc="-15">
                <a:latin typeface="Verdana"/>
                <a:cs typeface="Verdana"/>
              </a:rPr>
              <a:t> </a:t>
            </a:r>
            <a:r>
              <a:rPr dirty="0" sz="700" spc="-45">
                <a:latin typeface="Verdana"/>
                <a:cs typeface="Verdana"/>
              </a:rPr>
              <a:t>charges</a:t>
            </a:r>
            <a:r>
              <a:rPr dirty="0" sz="700" spc="-15">
                <a:latin typeface="Verdana"/>
                <a:cs typeface="Verdana"/>
              </a:rPr>
              <a:t> </a:t>
            </a:r>
            <a:r>
              <a:rPr dirty="0" sz="700" spc="-35">
                <a:latin typeface="Verdana"/>
                <a:cs typeface="Verdana"/>
              </a:rPr>
              <a:t>associated</a:t>
            </a:r>
            <a:r>
              <a:rPr dirty="0" sz="700" spc="-10">
                <a:latin typeface="Verdana"/>
                <a:cs typeface="Verdana"/>
              </a:rPr>
              <a:t> </a:t>
            </a:r>
            <a:r>
              <a:rPr dirty="0" sz="700" spc="-30">
                <a:latin typeface="Verdana"/>
                <a:cs typeface="Verdana"/>
              </a:rPr>
              <a:t>with</a:t>
            </a:r>
            <a:r>
              <a:rPr dirty="0" sz="700" spc="-15">
                <a:latin typeface="Verdana"/>
                <a:cs typeface="Verdana"/>
              </a:rPr>
              <a:t> </a:t>
            </a:r>
            <a:r>
              <a:rPr dirty="0" sz="700" spc="-30">
                <a:latin typeface="Verdana"/>
                <a:cs typeface="Verdana"/>
              </a:rPr>
              <a:t>the</a:t>
            </a:r>
            <a:r>
              <a:rPr dirty="0" sz="700" spc="-15">
                <a:latin typeface="Verdana"/>
                <a:cs typeface="Verdana"/>
              </a:rPr>
              <a:t> </a:t>
            </a:r>
            <a:r>
              <a:rPr dirty="0" sz="700" spc="-35">
                <a:latin typeface="Verdana"/>
                <a:cs typeface="Verdana"/>
              </a:rPr>
              <a:t>Company's</a:t>
            </a:r>
            <a:r>
              <a:rPr dirty="0" sz="700" spc="-15">
                <a:latin typeface="Verdana"/>
                <a:cs typeface="Verdana"/>
              </a:rPr>
              <a:t> </a:t>
            </a:r>
            <a:r>
              <a:rPr dirty="0" sz="700" spc="-40">
                <a:latin typeface="Verdana"/>
                <a:cs typeface="Verdana"/>
              </a:rPr>
              <a:t>restructuring</a:t>
            </a:r>
            <a:r>
              <a:rPr dirty="0" sz="700" spc="-15">
                <a:latin typeface="Verdana"/>
                <a:cs typeface="Verdana"/>
              </a:rPr>
              <a:t> </a:t>
            </a:r>
            <a:r>
              <a:rPr dirty="0" sz="700" spc="-35">
                <a:latin typeface="Verdana"/>
                <a:cs typeface="Verdana"/>
              </a:rPr>
              <a:t>initiatives</a:t>
            </a:r>
            <a:r>
              <a:rPr dirty="0" sz="700" spc="-15">
                <a:latin typeface="Verdana"/>
                <a:cs typeface="Verdana"/>
              </a:rPr>
              <a:t> </a:t>
            </a:r>
            <a:r>
              <a:rPr dirty="0" sz="700" spc="-30">
                <a:latin typeface="Verdana"/>
                <a:cs typeface="Verdana"/>
              </a:rPr>
              <a:t>and</a:t>
            </a:r>
            <a:r>
              <a:rPr dirty="0" sz="700" spc="-15">
                <a:latin typeface="Verdana"/>
                <a:cs typeface="Verdana"/>
              </a:rPr>
              <a:t> </a:t>
            </a:r>
            <a:r>
              <a:rPr dirty="0" sz="700" spc="-30">
                <a:latin typeface="Verdana"/>
                <a:cs typeface="Verdana"/>
              </a:rPr>
              <a:t>acquisition-</a:t>
            </a:r>
            <a:r>
              <a:rPr dirty="0" sz="700" spc="-35">
                <a:latin typeface="Verdana"/>
                <a:cs typeface="Verdana"/>
              </a:rPr>
              <a:t>related</a:t>
            </a:r>
            <a:r>
              <a:rPr dirty="0" sz="700" spc="-15">
                <a:latin typeface="Verdana"/>
                <a:cs typeface="Verdana"/>
              </a:rPr>
              <a:t> </a:t>
            </a:r>
            <a:r>
              <a:rPr dirty="0" sz="700" spc="-45">
                <a:latin typeface="Verdana"/>
                <a:cs typeface="Verdana"/>
              </a:rPr>
              <a:t>costs.</a:t>
            </a:r>
            <a:r>
              <a:rPr dirty="0" sz="700" spc="-10">
                <a:latin typeface="Verdana"/>
                <a:cs typeface="Verdana"/>
              </a:rPr>
              <a:t> </a:t>
            </a:r>
            <a:r>
              <a:rPr dirty="0" sz="700" spc="-50">
                <a:latin typeface="Verdana"/>
                <a:cs typeface="Verdana"/>
              </a:rPr>
              <a:t>Stock-</a:t>
            </a:r>
            <a:r>
              <a:rPr dirty="0" sz="700" spc="-35">
                <a:latin typeface="Verdana"/>
                <a:cs typeface="Verdana"/>
              </a:rPr>
              <a:t>based</a:t>
            </a:r>
            <a:r>
              <a:rPr dirty="0" sz="700" spc="-15">
                <a:latin typeface="Verdana"/>
                <a:cs typeface="Verdana"/>
              </a:rPr>
              <a:t> </a:t>
            </a:r>
            <a:r>
              <a:rPr dirty="0" sz="700" spc="-25">
                <a:latin typeface="Verdana"/>
                <a:cs typeface="Verdana"/>
              </a:rPr>
              <a:t>compensation</a:t>
            </a:r>
            <a:r>
              <a:rPr dirty="0" sz="700" spc="-15">
                <a:latin typeface="Verdana"/>
                <a:cs typeface="Verdana"/>
              </a:rPr>
              <a:t> </a:t>
            </a:r>
            <a:r>
              <a:rPr dirty="0" sz="700" spc="-35">
                <a:latin typeface="Verdana"/>
                <a:cs typeface="Verdana"/>
              </a:rPr>
              <a:t>expense</a:t>
            </a:r>
            <a:r>
              <a:rPr dirty="0" sz="700" spc="-15">
                <a:latin typeface="Verdana"/>
                <a:cs typeface="Verdana"/>
              </a:rPr>
              <a:t> </a:t>
            </a:r>
            <a:r>
              <a:rPr dirty="0" sz="700" spc="-30">
                <a:latin typeface="Verdana"/>
                <a:cs typeface="Verdana"/>
              </a:rPr>
              <a:t>excludes</a:t>
            </a:r>
            <a:r>
              <a:rPr dirty="0" sz="700" spc="-15">
                <a:latin typeface="Verdana"/>
                <a:cs typeface="Verdana"/>
              </a:rPr>
              <a:t> </a:t>
            </a:r>
            <a:r>
              <a:rPr dirty="0" sz="700" spc="-45">
                <a:latin typeface="Verdana"/>
                <a:cs typeface="Verdana"/>
              </a:rPr>
              <a:t>stock-</a:t>
            </a:r>
            <a:r>
              <a:rPr dirty="0" sz="700" spc="-10">
                <a:latin typeface="Verdana"/>
                <a:cs typeface="Verdana"/>
              </a:rPr>
              <a:t>based </a:t>
            </a:r>
            <a:r>
              <a:rPr dirty="0" sz="700" spc="-25">
                <a:latin typeface="Verdana"/>
                <a:cs typeface="Verdana"/>
              </a:rPr>
              <a:t>compensation</a:t>
            </a:r>
            <a:r>
              <a:rPr dirty="0" sz="700" spc="-15">
                <a:latin typeface="Verdana"/>
                <a:cs typeface="Verdana"/>
              </a:rPr>
              <a:t> </a:t>
            </a:r>
            <a:r>
              <a:rPr dirty="0" sz="700" spc="-35">
                <a:latin typeface="Verdana"/>
                <a:cs typeface="Verdana"/>
              </a:rPr>
              <a:t>expense</a:t>
            </a:r>
            <a:r>
              <a:rPr dirty="0" sz="700" spc="-15">
                <a:latin typeface="Verdana"/>
                <a:cs typeface="Verdana"/>
              </a:rPr>
              <a:t> </a:t>
            </a:r>
            <a:r>
              <a:rPr dirty="0" sz="700" spc="-35">
                <a:latin typeface="Verdana"/>
                <a:cs typeface="Verdana"/>
              </a:rPr>
              <a:t>related</a:t>
            </a:r>
            <a:r>
              <a:rPr dirty="0" sz="700" spc="-10">
                <a:latin typeface="Verdana"/>
                <a:cs typeface="Verdana"/>
              </a:rPr>
              <a:t> </a:t>
            </a:r>
            <a:r>
              <a:rPr dirty="0" sz="700" spc="-25">
                <a:latin typeface="Verdana"/>
                <a:cs typeface="Verdana"/>
              </a:rPr>
              <a:t>to</a:t>
            </a:r>
            <a:r>
              <a:rPr dirty="0" sz="700" spc="-15">
                <a:latin typeface="Verdana"/>
                <a:cs typeface="Verdana"/>
              </a:rPr>
              <a:t> </a:t>
            </a:r>
            <a:r>
              <a:rPr dirty="0" sz="700" spc="-30">
                <a:latin typeface="Verdana"/>
                <a:cs typeface="Verdana"/>
              </a:rPr>
              <a:t>the</a:t>
            </a:r>
            <a:r>
              <a:rPr dirty="0" sz="700" spc="-15">
                <a:latin typeface="Verdana"/>
                <a:cs typeface="Verdana"/>
              </a:rPr>
              <a:t> </a:t>
            </a:r>
            <a:r>
              <a:rPr dirty="0" sz="700" spc="-35">
                <a:latin typeface="Verdana"/>
                <a:cs typeface="Verdana"/>
              </a:rPr>
              <a:t>Company's</a:t>
            </a:r>
            <a:r>
              <a:rPr dirty="0" sz="700" spc="-10">
                <a:latin typeface="Verdana"/>
                <a:cs typeface="Verdana"/>
              </a:rPr>
              <a:t> </a:t>
            </a:r>
            <a:r>
              <a:rPr dirty="0" sz="700" spc="-40">
                <a:latin typeface="Verdana"/>
                <a:cs typeface="Verdana"/>
              </a:rPr>
              <a:t>restructuring</a:t>
            </a:r>
            <a:r>
              <a:rPr dirty="0" sz="700" spc="-15">
                <a:latin typeface="Verdana"/>
                <a:cs typeface="Verdana"/>
              </a:rPr>
              <a:t> </a:t>
            </a:r>
            <a:r>
              <a:rPr dirty="0" sz="700" spc="-40">
                <a:latin typeface="Verdana"/>
                <a:cs typeface="Verdana"/>
              </a:rPr>
              <a:t>initiatives,</a:t>
            </a:r>
            <a:r>
              <a:rPr dirty="0" sz="700" spc="-15">
                <a:latin typeface="Verdana"/>
                <a:cs typeface="Verdana"/>
              </a:rPr>
              <a:t> </a:t>
            </a:r>
            <a:r>
              <a:rPr dirty="0" sz="700" spc="-25">
                <a:latin typeface="Verdana"/>
                <a:cs typeface="Verdana"/>
              </a:rPr>
              <a:t>which</a:t>
            </a:r>
            <a:r>
              <a:rPr dirty="0" sz="700" spc="-10">
                <a:latin typeface="Verdana"/>
                <a:cs typeface="Verdana"/>
              </a:rPr>
              <a:t> </a:t>
            </a:r>
            <a:r>
              <a:rPr dirty="0" sz="700" spc="-40">
                <a:latin typeface="Verdana"/>
                <a:cs typeface="Verdana"/>
              </a:rPr>
              <a:t>is</a:t>
            </a:r>
            <a:r>
              <a:rPr dirty="0" sz="700" spc="-1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included</a:t>
            </a:r>
            <a:r>
              <a:rPr dirty="0" sz="700" spc="-1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in </a:t>
            </a:r>
            <a:r>
              <a:rPr dirty="0" sz="700" spc="-30">
                <a:latin typeface="Verdana"/>
                <a:cs typeface="Verdana"/>
              </a:rPr>
              <a:t>the</a:t>
            </a:r>
            <a:r>
              <a:rPr dirty="0" sz="700" spc="-15">
                <a:latin typeface="Verdana"/>
                <a:cs typeface="Verdana"/>
              </a:rPr>
              <a:t> </a:t>
            </a:r>
            <a:r>
              <a:rPr dirty="0" sz="700" spc="-40">
                <a:latin typeface="Verdana"/>
                <a:cs typeface="Verdana"/>
              </a:rPr>
              <a:t>restructuring</a:t>
            </a:r>
            <a:r>
              <a:rPr dirty="0" sz="700" spc="-15">
                <a:latin typeface="Verdana"/>
                <a:cs typeface="Verdana"/>
              </a:rPr>
              <a:t> </a:t>
            </a:r>
            <a:r>
              <a:rPr dirty="0" sz="700" spc="-30">
                <a:latin typeface="Verdana"/>
                <a:cs typeface="Verdana"/>
              </a:rPr>
              <a:t>and</a:t>
            </a:r>
            <a:r>
              <a:rPr dirty="0" sz="700" spc="-10">
                <a:latin typeface="Verdana"/>
                <a:cs typeface="Verdana"/>
              </a:rPr>
              <a:t> </a:t>
            </a:r>
            <a:r>
              <a:rPr dirty="0" sz="700" spc="-30">
                <a:latin typeface="Verdana"/>
                <a:cs typeface="Verdana"/>
              </a:rPr>
              <a:t>acquisition-</a:t>
            </a:r>
            <a:r>
              <a:rPr dirty="0" sz="700" spc="-35">
                <a:latin typeface="Verdana"/>
                <a:cs typeface="Verdana"/>
              </a:rPr>
              <a:t>related</a:t>
            </a:r>
            <a:r>
              <a:rPr dirty="0" sz="700" spc="-15">
                <a:latin typeface="Verdana"/>
                <a:cs typeface="Verdana"/>
              </a:rPr>
              <a:t> </a:t>
            </a:r>
            <a:r>
              <a:rPr dirty="0" sz="700" spc="-40">
                <a:latin typeface="Verdana"/>
                <a:cs typeface="Verdana"/>
              </a:rPr>
              <a:t>costs</a:t>
            </a:r>
            <a:r>
              <a:rPr dirty="0" sz="700" spc="-10">
                <a:latin typeface="Verdana"/>
                <a:cs typeface="Verdana"/>
              </a:rPr>
              <a:t> line.</a:t>
            </a:r>
            <a:endParaRPr sz="700">
              <a:latin typeface="Verdana"/>
              <a:cs typeface="Verdana"/>
            </a:endParaRPr>
          </a:p>
          <a:p>
            <a:pPr marL="38100" marR="88900">
              <a:lnSpc>
                <a:spcPct val="100000"/>
              </a:lnSpc>
            </a:pPr>
            <a:r>
              <a:rPr dirty="0" baseline="30864" sz="675" spc="-30">
                <a:latin typeface="Verdana"/>
                <a:cs typeface="Verdana"/>
              </a:rPr>
              <a:t>6</a:t>
            </a:r>
            <a:r>
              <a:rPr dirty="0" sz="700" spc="-20">
                <a:latin typeface="Verdana"/>
                <a:cs typeface="Verdana"/>
              </a:rPr>
              <a:t>GAAP</a:t>
            </a:r>
            <a:r>
              <a:rPr dirty="0" sz="700" spc="-35">
                <a:latin typeface="Verdana"/>
                <a:cs typeface="Verdana"/>
              </a:rPr>
              <a:t> </a:t>
            </a:r>
            <a:r>
              <a:rPr dirty="0" sz="700" spc="-20">
                <a:latin typeface="Verdana"/>
                <a:cs typeface="Verdana"/>
              </a:rPr>
              <a:t>diluted</a:t>
            </a:r>
            <a:r>
              <a:rPr dirty="0" sz="700" spc="-30">
                <a:latin typeface="Verdana"/>
                <a:cs typeface="Verdana"/>
              </a:rPr>
              <a:t> </a:t>
            </a:r>
            <a:r>
              <a:rPr dirty="0" sz="700" spc="-35">
                <a:latin typeface="Verdana"/>
                <a:cs typeface="Verdana"/>
              </a:rPr>
              <a:t>earning</a:t>
            </a:r>
            <a:r>
              <a:rPr dirty="0" sz="700" spc="-30">
                <a:latin typeface="Verdana"/>
                <a:cs typeface="Verdana"/>
              </a:rPr>
              <a:t> per</a:t>
            </a:r>
            <a:r>
              <a:rPr dirty="0" sz="700" spc="-35">
                <a:latin typeface="Verdana"/>
                <a:cs typeface="Verdana"/>
              </a:rPr>
              <a:t> </a:t>
            </a:r>
            <a:r>
              <a:rPr dirty="0" sz="700" spc="-45">
                <a:latin typeface="Verdana"/>
                <a:cs typeface="Verdana"/>
              </a:rPr>
              <a:t>share</a:t>
            </a:r>
            <a:r>
              <a:rPr dirty="0" sz="700" spc="-30">
                <a:latin typeface="Verdana"/>
                <a:cs typeface="Verdana"/>
              </a:rPr>
              <a:t> </a:t>
            </a:r>
            <a:r>
              <a:rPr dirty="0" sz="700" spc="-55">
                <a:latin typeface="Verdana"/>
                <a:cs typeface="Verdana"/>
              </a:rPr>
              <a:t>("EPS")</a:t>
            </a:r>
            <a:r>
              <a:rPr dirty="0" sz="700" spc="-30">
                <a:latin typeface="Verdana"/>
                <a:cs typeface="Verdana"/>
              </a:rPr>
              <a:t> </a:t>
            </a:r>
            <a:r>
              <a:rPr dirty="0" sz="700" spc="-40">
                <a:latin typeface="Verdana"/>
                <a:cs typeface="Verdana"/>
              </a:rPr>
              <a:t>is</a:t>
            </a:r>
            <a:r>
              <a:rPr dirty="0" sz="700" spc="-35">
                <a:latin typeface="Verdana"/>
                <a:cs typeface="Verdana"/>
              </a:rPr>
              <a:t> </a:t>
            </a:r>
            <a:r>
              <a:rPr dirty="0" sz="700" spc="-25">
                <a:latin typeface="Verdana"/>
                <a:cs typeface="Verdana"/>
              </a:rPr>
              <a:t>calculated</a:t>
            </a:r>
            <a:r>
              <a:rPr dirty="0" sz="700" spc="-30">
                <a:latin typeface="Verdana"/>
                <a:cs typeface="Verdana"/>
              </a:rPr>
              <a:t> </a:t>
            </a:r>
            <a:r>
              <a:rPr dirty="0" sz="700" spc="-50">
                <a:latin typeface="Verdana"/>
                <a:cs typeface="Verdana"/>
              </a:rPr>
              <a:t>by</a:t>
            </a:r>
            <a:r>
              <a:rPr dirty="0" sz="700" spc="-30">
                <a:latin typeface="Verdana"/>
                <a:cs typeface="Verdana"/>
              </a:rPr>
              <a:t> dividing </a:t>
            </a:r>
            <a:r>
              <a:rPr dirty="0" sz="700" spc="-20">
                <a:latin typeface="Verdana"/>
                <a:cs typeface="Verdana"/>
              </a:rPr>
              <a:t>GAAP</a:t>
            </a:r>
            <a:r>
              <a:rPr dirty="0" sz="700" spc="-35">
                <a:latin typeface="Verdana"/>
                <a:cs typeface="Verdana"/>
              </a:rPr>
              <a:t> </a:t>
            </a:r>
            <a:r>
              <a:rPr dirty="0" sz="700" spc="-30">
                <a:latin typeface="Verdana"/>
                <a:cs typeface="Verdana"/>
              </a:rPr>
              <a:t>net </a:t>
            </a:r>
            <a:r>
              <a:rPr dirty="0" sz="700" spc="-20">
                <a:latin typeface="Verdana"/>
                <a:cs typeface="Verdana"/>
              </a:rPr>
              <a:t>income</a:t>
            </a:r>
            <a:r>
              <a:rPr dirty="0" sz="700" spc="-30">
                <a:latin typeface="Verdana"/>
                <a:cs typeface="Verdana"/>
              </a:rPr>
              <a:t> </a:t>
            </a:r>
            <a:r>
              <a:rPr dirty="0" sz="700" spc="-50">
                <a:latin typeface="Verdana"/>
                <a:cs typeface="Verdana"/>
              </a:rPr>
              <a:t>by</a:t>
            </a:r>
            <a:r>
              <a:rPr dirty="0" sz="700" spc="-35">
                <a:latin typeface="Verdana"/>
                <a:cs typeface="Verdana"/>
              </a:rPr>
              <a:t> </a:t>
            </a:r>
            <a:r>
              <a:rPr dirty="0" sz="700" spc="-25">
                <a:latin typeface="Verdana"/>
                <a:cs typeface="Verdana"/>
              </a:rPr>
              <a:t>number</a:t>
            </a:r>
            <a:r>
              <a:rPr dirty="0" sz="700" spc="-30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of</a:t>
            </a:r>
            <a:r>
              <a:rPr dirty="0" sz="700" spc="-30">
                <a:latin typeface="Verdana"/>
                <a:cs typeface="Verdana"/>
              </a:rPr>
              <a:t> </a:t>
            </a:r>
            <a:r>
              <a:rPr dirty="0" sz="700" spc="-20">
                <a:latin typeface="Verdana"/>
                <a:cs typeface="Verdana"/>
              </a:rPr>
              <a:t>diluted</a:t>
            </a:r>
            <a:r>
              <a:rPr dirty="0" sz="700" spc="-30">
                <a:latin typeface="Verdana"/>
                <a:cs typeface="Verdana"/>
              </a:rPr>
              <a:t> </a:t>
            </a:r>
            <a:r>
              <a:rPr dirty="0" sz="700" spc="-50">
                <a:latin typeface="Verdana"/>
                <a:cs typeface="Verdana"/>
              </a:rPr>
              <a:t>shares.</a:t>
            </a:r>
            <a:r>
              <a:rPr dirty="0" sz="700" spc="-35">
                <a:latin typeface="Verdana"/>
                <a:cs typeface="Verdana"/>
              </a:rPr>
              <a:t> </a:t>
            </a:r>
            <a:r>
              <a:rPr dirty="0" sz="700" spc="-30">
                <a:latin typeface="Verdana"/>
                <a:cs typeface="Verdana"/>
              </a:rPr>
              <a:t>Non-</a:t>
            </a:r>
            <a:r>
              <a:rPr dirty="0" sz="700" spc="-20">
                <a:latin typeface="Verdana"/>
                <a:cs typeface="Verdana"/>
              </a:rPr>
              <a:t>GAAP</a:t>
            </a:r>
            <a:r>
              <a:rPr dirty="0" sz="700" spc="-30">
                <a:latin typeface="Verdana"/>
                <a:cs typeface="Verdana"/>
              </a:rPr>
              <a:t> </a:t>
            </a:r>
            <a:r>
              <a:rPr dirty="0" sz="700" spc="-20">
                <a:latin typeface="Verdana"/>
                <a:cs typeface="Verdana"/>
              </a:rPr>
              <a:t>diluted</a:t>
            </a:r>
            <a:r>
              <a:rPr dirty="0" sz="700" spc="-30">
                <a:latin typeface="Verdana"/>
                <a:cs typeface="Verdana"/>
              </a:rPr>
              <a:t> </a:t>
            </a:r>
            <a:r>
              <a:rPr dirty="0" sz="700" spc="-50">
                <a:latin typeface="Verdana"/>
                <a:cs typeface="Verdana"/>
              </a:rPr>
              <a:t>EPS</a:t>
            </a:r>
            <a:r>
              <a:rPr dirty="0" sz="700" spc="-35">
                <a:latin typeface="Verdana"/>
                <a:cs typeface="Verdana"/>
              </a:rPr>
              <a:t> </a:t>
            </a:r>
            <a:r>
              <a:rPr dirty="0" sz="700" spc="-40">
                <a:latin typeface="Verdana"/>
                <a:cs typeface="Verdana"/>
              </a:rPr>
              <a:t>is</a:t>
            </a:r>
            <a:r>
              <a:rPr dirty="0" sz="700" spc="-30">
                <a:latin typeface="Verdana"/>
                <a:cs typeface="Verdana"/>
              </a:rPr>
              <a:t> </a:t>
            </a:r>
            <a:r>
              <a:rPr dirty="0" sz="700" spc="-25">
                <a:latin typeface="Verdana"/>
                <a:cs typeface="Verdana"/>
              </a:rPr>
              <a:t>calculated</a:t>
            </a:r>
            <a:r>
              <a:rPr dirty="0" sz="700" spc="-30">
                <a:latin typeface="Verdana"/>
                <a:cs typeface="Verdana"/>
              </a:rPr>
              <a:t> </a:t>
            </a:r>
            <a:r>
              <a:rPr dirty="0" sz="700" spc="-50">
                <a:latin typeface="Verdana"/>
                <a:cs typeface="Verdana"/>
              </a:rPr>
              <a:t>by</a:t>
            </a:r>
            <a:r>
              <a:rPr dirty="0" sz="700" spc="-35">
                <a:latin typeface="Verdana"/>
                <a:cs typeface="Verdana"/>
              </a:rPr>
              <a:t> </a:t>
            </a:r>
            <a:r>
              <a:rPr dirty="0" sz="700" spc="-30">
                <a:latin typeface="Verdana"/>
                <a:cs typeface="Verdana"/>
              </a:rPr>
              <a:t>dividing </a:t>
            </a:r>
            <a:r>
              <a:rPr dirty="0" sz="700" spc="-40">
                <a:latin typeface="Verdana"/>
                <a:cs typeface="Verdana"/>
              </a:rPr>
              <a:t>non-</a:t>
            </a:r>
            <a:r>
              <a:rPr dirty="0" sz="700" spc="-20">
                <a:latin typeface="Verdana"/>
                <a:cs typeface="Verdana"/>
              </a:rPr>
              <a:t>GAAP</a:t>
            </a:r>
            <a:r>
              <a:rPr dirty="0" sz="700" spc="-30">
                <a:latin typeface="Verdana"/>
                <a:cs typeface="Verdana"/>
              </a:rPr>
              <a:t> net </a:t>
            </a:r>
            <a:r>
              <a:rPr dirty="0" sz="700" spc="-20">
                <a:latin typeface="Verdana"/>
                <a:cs typeface="Verdana"/>
              </a:rPr>
              <a:t>income</a:t>
            </a:r>
            <a:r>
              <a:rPr dirty="0" sz="700" spc="-35">
                <a:latin typeface="Verdana"/>
                <a:cs typeface="Verdana"/>
              </a:rPr>
              <a:t> </a:t>
            </a:r>
            <a:r>
              <a:rPr dirty="0" sz="700" spc="-50">
                <a:latin typeface="Verdana"/>
                <a:cs typeface="Verdana"/>
              </a:rPr>
              <a:t>by</a:t>
            </a:r>
            <a:r>
              <a:rPr dirty="0" sz="700" spc="-30">
                <a:latin typeface="Verdana"/>
                <a:cs typeface="Verdana"/>
              </a:rPr>
              <a:t> </a:t>
            </a:r>
            <a:r>
              <a:rPr dirty="0" sz="700" spc="-25">
                <a:latin typeface="Verdana"/>
                <a:cs typeface="Verdana"/>
              </a:rPr>
              <a:t>number</a:t>
            </a:r>
            <a:r>
              <a:rPr dirty="0" sz="700" spc="-30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of</a:t>
            </a:r>
            <a:r>
              <a:rPr dirty="0" sz="700" spc="-35">
                <a:latin typeface="Verdana"/>
                <a:cs typeface="Verdana"/>
              </a:rPr>
              <a:t> </a:t>
            </a:r>
            <a:r>
              <a:rPr dirty="0" sz="700" spc="-20">
                <a:latin typeface="Verdana"/>
                <a:cs typeface="Verdana"/>
              </a:rPr>
              <a:t>diluted</a:t>
            </a:r>
            <a:r>
              <a:rPr dirty="0" sz="700" spc="-30">
                <a:latin typeface="Verdana"/>
                <a:cs typeface="Verdana"/>
              </a:rPr>
              <a:t> </a:t>
            </a:r>
            <a:r>
              <a:rPr dirty="0" sz="700" spc="-50">
                <a:latin typeface="Verdana"/>
                <a:cs typeface="Verdana"/>
              </a:rPr>
              <a:t>shares.</a:t>
            </a:r>
            <a:r>
              <a:rPr dirty="0" sz="700" spc="-30">
                <a:latin typeface="Verdana"/>
                <a:cs typeface="Verdana"/>
              </a:rPr>
              <a:t> </a:t>
            </a:r>
            <a:r>
              <a:rPr dirty="0" sz="700" spc="-50">
                <a:latin typeface="Verdana"/>
                <a:cs typeface="Verdana"/>
              </a:rPr>
              <a:t>It</a:t>
            </a:r>
            <a:r>
              <a:rPr dirty="0" sz="700" spc="-30">
                <a:latin typeface="Verdana"/>
                <a:cs typeface="Verdana"/>
              </a:rPr>
              <a:t> excludes</a:t>
            </a:r>
            <a:r>
              <a:rPr dirty="0" sz="700" spc="-35">
                <a:latin typeface="Verdana"/>
                <a:cs typeface="Verdana"/>
              </a:rPr>
              <a:t> </a:t>
            </a:r>
            <a:r>
              <a:rPr dirty="0" sz="700" spc="-30">
                <a:latin typeface="Verdana"/>
                <a:cs typeface="Verdana"/>
              </a:rPr>
              <a:t>the </a:t>
            </a:r>
            <a:r>
              <a:rPr dirty="0" sz="700" spc="-25">
                <a:latin typeface="Verdana"/>
                <a:cs typeface="Verdana"/>
              </a:rPr>
              <a:t>impact</a:t>
            </a:r>
            <a:r>
              <a:rPr dirty="0" sz="700" spc="-30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of</a:t>
            </a:r>
            <a:r>
              <a:rPr dirty="0" sz="700" spc="-35">
                <a:latin typeface="Verdana"/>
                <a:cs typeface="Verdana"/>
              </a:rPr>
              <a:t> </a:t>
            </a:r>
            <a:r>
              <a:rPr dirty="0" sz="700" spc="-45">
                <a:latin typeface="Verdana"/>
                <a:cs typeface="Verdana"/>
              </a:rPr>
              <a:t>stock-</a:t>
            </a:r>
            <a:r>
              <a:rPr dirty="0" sz="700" spc="-35">
                <a:latin typeface="Verdana"/>
                <a:cs typeface="Verdana"/>
              </a:rPr>
              <a:t>based</a:t>
            </a:r>
            <a:r>
              <a:rPr dirty="0" sz="700" spc="-30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compensation </a:t>
            </a:r>
            <a:r>
              <a:rPr dirty="0" sz="700" spc="-30">
                <a:latin typeface="Verdana"/>
                <a:cs typeface="Verdana"/>
              </a:rPr>
              <a:t>expense,</a:t>
            </a:r>
            <a:r>
              <a:rPr dirty="0" sz="700" spc="-15">
                <a:latin typeface="Verdana"/>
                <a:cs typeface="Verdana"/>
              </a:rPr>
              <a:t> </a:t>
            </a:r>
            <a:r>
              <a:rPr dirty="0" sz="700" spc="-35">
                <a:latin typeface="Verdana"/>
                <a:cs typeface="Verdana"/>
              </a:rPr>
              <a:t>amortization</a:t>
            </a:r>
            <a:r>
              <a:rPr dirty="0" sz="700" spc="-1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of</a:t>
            </a:r>
            <a:r>
              <a:rPr dirty="0" sz="700" spc="-15">
                <a:latin typeface="Verdana"/>
                <a:cs typeface="Verdana"/>
              </a:rPr>
              <a:t> </a:t>
            </a:r>
            <a:r>
              <a:rPr dirty="0" sz="700" spc="-30">
                <a:latin typeface="Verdana"/>
                <a:cs typeface="Verdana"/>
              </a:rPr>
              <a:t>purchased</a:t>
            </a:r>
            <a:r>
              <a:rPr dirty="0" sz="700" spc="-15">
                <a:latin typeface="Verdana"/>
                <a:cs typeface="Verdana"/>
              </a:rPr>
              <a:t> </a:t>
            </a:r>
            <a:r>
              <a:rPr dirty="0" sz="700" spc="-35">
                <a:latin typeface="Verdana"/>
                <a:cs typeface="Verdana"/>
              </a:rPr>
              <a:t>intangibles,</a:t>
            </a:r>
            <a:r>
              <a:rPr dirty="0" sz="700" spc="-10">
                <a:latin typeface="Verdana"/>
                <a:cs typeface="Verdana"/>
              </a:rPr>
              <a:t> </a:t>
            </a:r>
            <a:r>
              <a:rPr dirty="0" sz="700" spc="-45">
                <a:latin typeface="Verdana"/>
                <a:cs typeface="Verdana"/>
              </a:rPr>
              <a:t>charges</a:t>
            </a:r>
            <a:r>
              <a:rPr dirty="0" sz="700" spc="-15">
                <a:latin typeface="Verdana"/>
                <a:cs typeface="Verdana"/>
              </a:rPr>
              <a:t> </a:t>
            </a:r>
            <a:r>
              <a:rPr dirty="0" sz="700" spc="-35">
                <a:latin typeface="Verdana"/>
                <a:cs typeface="Verdana"/>
              </a:rPr>
              <a:t>related</a:t>
            </a:r>
            <a:r>
              <a:rPr dirty="0" sz="700" spc="-15">
                <a:latin typeface="Verdana"/>
                <a:cs typeface="Verdana"/>
              </a:rPr>
              <a:t> </a:t>
            </a:r>
            <a:r>
              <a:rPr dirty="0" sz="700" spc="-25">
                <a:latin typeface="Verdana"/>
                <a:cs typeface="Verdana"/>
              </a:rPr>
              <a:t>to</a:t>
            </a:r>
            <a:r>
              <a:rPr dirty="0" sz="700" spc="-15">
                <a:latin typeface="Verdana"/>
                <a:cs typeface="Verdana"/>
              </a:rPr>
              <a:t> </a:t>
            </a:r>
            <a:r>
              <a:rPr dirty="0" sz="700" spc="-30">
                <a:latin typeface="Verdana"/>
                <a:cs typeface="Verdana"/>
              </a:rPr>
              <a:t>the</a:t>
            </a:r>
            <a:r>
              <a:rPr dirty="0" sz="700" spc="-10">
                <a:latin typeface="Verdana"/>
                <a:cs typeface="Verdana"/>
              </a:rPr>
              <a:t> </a:t>
            </a:r>
            <a:r>
              <a:rPr dirty="0" sz="700" spc="-40">
                <a:latin typeface="Verdana"/>
                <a:cs typeface="Verdana"/>
              </a:rPr>
              <a:t>restructuring</a:t>
            </a:r>
            <a:r>
              <a:rPr dirty="0" sz="700" spc="-15">
                <a:latin typeface="Verdana"/>
                <a:cs typeface="Verdana"/>
              </a:rPr>
              <a:t> </a:t>
            </a:r>
            <a:r>
              <a:rPr dirty="0" sz="700" spc="-35">
                <a:latin typeface="Verdana"/>
                <a:cs typeface="Verdana"/>
              </a:rPr>
              <a:t>initiatives</a:t>
            </a:r>
            <a:r>
              <a:rPr dirty="0" sz="700" spc="-15">
                <a:latin typeface="Verdana"/>
                <a:cs typeface="Verdana"/>
              </a:rPr>
              <a:t> </a:t>
            </a:r>
            <a:r>
              <a:rPr dirty="0" sz="700" spc="-30">
                <a:latin typeface="Verdana"/>
                <a:cs typeface="Verdana"/>
              </a:rPr>
              <a:t>and</a:t>
            </a:r>
            <a:r>
              <a:rPr dirty="0" sz="700" spc="-15">
                <a:latin typeface="Verdana"/>
                <a:cs typeface="Verdana"/>
              </a:rPr>
              <a:t> </a:t>
            </a:r>
            <a:r>
              <a:rPr dirty="0" sz="700" spc="-30">
                <a:latin typeface="Verdana"/>
                <a:cs typeface="Verdana"/>
              </a:rPr>
              <a:t>acquisition-</a:t>
            </a:r>
            <a:r>
              <a:rPr dirty="0" sz="700" spc="-35">
                <a:latin typeface="Verdana"/>
                <a:cs typeface="Verdana"/>
              </a:rPr>
              <a:t>related</a:t>
            </a:r>
            <a:r>
              <a:rPr dirty="0" sz="700" spc="-15">
                <a:latin typeface="Verdana"/>
                <a:cs typeface="Verdana"/>
              </a:rPr>
              <a:t> </a:t>
            </a:r>
            <a:r>
              <a:rPr dirty="0" sz="700" spc="-40">
                <a:latin typeface="Verdana"/>
                <a:cs typeface="Verdana"/>
              </a:rPr>
              <a:t>costs</a:t>
            </a:r>
            <a:r>
              <a:rPr dirty="0" sz="700" spc="-10">
                <a:latin typeface="Verdana"/>
                <a:cs typeface="Verdana"/>
              </a:rPr>
              <a:t> </a:t>
            </a:r>
            <a:r>
              <a:rPr dirty="0" sz="700" spc="-30">
                <a:latin typeface="Verdana"/>
                <a:cs typeface="Verdana"/>
              </a:rPr>
              <a:t>and</a:t>
            </a:r>
            <a:r>
              <a:rPr dirty="0" sz="700" spc="-15">
                <a:latin typeface="Verdana"/>
                <a:cs typeface="Verdana"/>
              </a:rPr>
              <a:t> </a:t>
            </a:r>
            <a:r>
              <a:rPr dirty="0" sz="700" spc="-20">
                <a:latin typeface="Verdana"/>
                <a:cs typeface="Verdana"/>
              </a:rPr>
              <a:t>income</a:t>
            </a:r>
            <a:r>
              <a:rPr dirty="0" sz="700" spc="-15">
                <a:latin typeface="Verdana"/>
                <a:cs typeface="Verdana"/>
              </a:rPr>
              <a:t> </a:t>
            </a:r>
            <a:r>
              <a:rPr dirty="0" sz="700" spc="-50">
                <a:latin typeface="Verdana"/>
                <a:cs typeface="Verdana"/>
              </a:rPr>
              <a:t>tax</a:t>
            </a:r>
            <a:r>
              <a:rPr dirty="0" sz="700" spc="-1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adjustments.</a:t>
            </a:r>
            <a:endParaRPr sz="700">
              <a:latin typeface="Verdana"/>
              <a:cs typeface="Verdana"/>
            </a:endParaRPr>
          </a:p>
          <a:p>
            <a:pPr marL="38100" marR="78105">
              <a:lnSpc>
                <a:spcPct val="100000"/>
              </a:lnSpc>
            </a:pPr>
            <a:r>
              <a:rPr dirty="0" baseline="30864" sz="675" spc="-52">
                <a:latin typeface="Verdana"/>
                <a:cs typeface="Verdana"/>
              </a:rPr>
              <a:t>7</a:t>
            </a:r>
            <a:r>
              <a:rPr dirty="0" sz="700" spc="-35">
                <a:latin typeface="Verdana"/>
                <a:cs typeface="Verdana"/>
              </a:rPr>
              <a:t>The</a:t>
            </a:r>
            <a:r>
              <a:rPr dirty="0" sz="700" spc="-45">
                <a:latin typeface="Verdana"/>
                <a:cs typeface="Verdana"/>
              </a:rPr>
              <a:t> </a:t>
            </a:r>
            <a:r>
              <a:rPr dirty="0" sz="700" spc="-35">
                <a:latin typeface="Verdana"/>
                <a:cs typeface="Verdana"/>
              </a:rPr>
              <a:t>Company's</a:t>
            </a:r>
            <a:r>
              <a:rPr dirty="0" sz="700" spc="-30">
                <a:latin typeface="Verdana"/>
                <a:cs typeface="Verdana"/>
              </a:rPr>
              <a:t> </a:t>
            </a:r>
            <a:r>
              <a:rPr dirty="0" sz="700" spc="-45">
                <a:latin typeface="Verdana"/>
                <a:cs typeface="Verdana"/>
              </a:rPr>
              <a:t>shares</a:t>
            </a:r>
            <a:r>
              <a:rPr dirty="0" sz="700" spc="-30">
                <a:latin typeface="Verdana"/>
                <a:cs typeface="Verdana"/>
              </a:rPr>
              <a:t> used </a:t>
            </a:r>
            <a:r>
              <a:rPr dirty="0" sz="700" spc="-10">
                <a:latin typeface="Verdana"/>
                <a:cs typeface="Verdana"/>
              </a:rPr>
              <a:t>in</a:t>
            </a:r>
            <a:r>
              <a:rPr dirty="0" sz="700" spc="-30">
                <a:latin typeface="Verdana"/>
                <a:cs typeface="Verdana"/>
              </a:rPr>
              <a:t> </a:t>
            </a:r>
            <a:r>
              <a:rPr dirty="0" sz="700" spc="-25">
                <a:latin typeface="Verdana"/>
                <a:cs typeface="Verdana"/>
              </a:rPr>
              <a:t>computing</a:t>
            </a:r>
            <a:r>
              <a:rPr dirty="0" sz="700" spc="-35">
                <a:latin typeface="Verdana"/>
                <a:cs typeface="Verdana"/>
              </a:rPr>
              <a:t> </a:t>
            </a:r>
            <a:r>
              <a:rPr dirty="0" sz="700" spc="-20">
                <a:latin typeface="Verdana"/>
                <a:cs typeface="Verdana"/>
              </a:rPr>
              <a:t>GAAP</a:t>
            </a:r>
            <a:r>
              <a:rPr dirty="0" sz="700" spc="-30">
                <a:latin typeface="Verdana"/>
                <a:cs typeface="Verdana"/>
              </a:rPr>
              <a:t> net </a:t>
            </a:r>
            <a:r>
              <a:rPr dirty="0" sz="700" spc="-20">
                <a:latin typeface="Verdana"/>
                <a:cs typeface="Verdana"/>
              </a:rPr>
              <a:t>income</a:t>
            </a:r>
            <a:r>
              <a:rPr dirty="0" sz="700" spc="-30">
                <a:latin typeface="Verdana"/>
                <a:cs typeface="Verdana"/>
              </a:rPr>
              <a:t> per </a:t>
            </a:r>
            <a:r>
              <a:rPr dirty="0" sz="700" spc="-45">
                <a:latin typeface="Verdana"/>
                <a:cs typeface="Verdana"/>
              </a:rPr>
              <a:t>share</a:t>
            </a:r>
            <a:r>
              <a:rPr dirty="0" sz="700" spc="-35">
                <a:latin typeface="Verdana"/>
                <a:cs typeface="Verdana"/>
              </a:rPr>
              <a:t> </a:t>
            </a:r>
            <a:r>
              <a:rPr dirty="0" sz="700" spc="-30">
                <a:latin typeface="Verdana"/>
                <a:cs typeface="Verdana"/>
              </a:rPr>
              <a:t>guidance and </a:t>
            </a:r>
            <a:r>
              <a:rPr dirty="0" sz="700" spc="-40">
                <a:latin typeface="Verdana"/>
                <a:cs typeface="Verdana"/>
              </a:rPr>
              <a:t>non-</a:t>
            </a:r>
            <a:r>
              <a:rPr dirty="0" sz="700" spc="-20">
                <a:latin typeface="Verdana"/>
                <a:cs typeface="Verdana"/>
              </a:rPr>
              <a:t>GAAP</a:t>
            </a:r>
            <a:r>
              <a:rPr dirty="0" sz="700" spc="-30">
                <a:latin typeface="Verdana"/>
                <a:cs typeface="Verdana"/>
              </a:rPr>
              <a:t> net </a:t>
            </a:r>
            <a:r>
              <a:rPr dirty="0" sz="700" spc="-20">
                <a:latin typeface="Verdana"/>
                <a:cs typeface="Verdana"/>
              </a:rPr>
              <a:t>income</a:t>
            </a:r>
            <a:r>
              <a:rPr dirty="0" sz="700" spc="-35">
                <a:latin typeface="Verdana"/>
                <a:cs typeface="Verdana"/>
              </a:rPr>
              <a:t> </a:t>
            </a:r>
            <a:r>
              <a:rPr dirty="0" sz="700" spc="-30">
                <a:latin typeface="Verdana"/>
                <a:cs typeface="Verdana"/>
              </a:rPr>
              <a:t>per </a:t>
            </a:r>
            <a:r>
              <a:rPr dirty="0" sz="700" spc="-45">
                <a:latin typeface="Verdana"/>
                <a:cs typeface="Verdana"/>
              </a:rPr>
              <a:t>share</a:t>
            </a:r>
            <a:r>
              <a:rPr dirty="0" sz="700" spc="-30">
                <a:latin typeface="Verdana"/>
                <a:cs typeface="Verdana"/>
              </a:rPr>
              <a:t> guidance reflect the</a:t>
            </a:r>
            <a:r>
              <a:rPr dirty="0" sz="700" spc="-35">
                <a:latin typeface="Verdana"/>
                <a:cs typeface="Verdana"/>
              </a:rPr>
              <a:t> </a:t>
            </a:r>
            <a:r>
              <a:rPr dirty="0" sz="700" spc="-25">
                <a:latin typeface="Verdana"/>
                <a:cs typeface="Verdana"/>
              </a:rPr>
              <a:t>reduction</a:t>
            </a:r>
            <a:r>
              <a:rPr dirty="0" sz="700" spc="-30">
                <a:latin typeface="Verdana"/>
                <a:cs typeface="Verdana"/>
              </a:rPr>
              <a:t> </a:t>
            </a:r>
            <a:r>
              <a:rPr dirty="0" sz="700" spc="-25">
                <a:latin typeface="Verdana"/>
                <a:cs typeface="Verdana"/>
              </a:rPr>
              <a:t>to</a:t>
            </a:r>
            <a:r>
              <a:rPr dirty="0" sz="700" spc="-30">
                <a:latin typeface="Verdana"/>
                <a:cs typeface="Verdana"/>
              </a:rPr>
              <a:t> </a:t>
            </a:r>
            <a:r>
              <a:rPr dirty="0" sz="700" spc="-45">
                <a:latin typeface="Verdana"/>
                <a:cs typeface="Verdana"/>
              </a:rPr>
              <a:t>share</a:t>
            </a:r>
            <a:r>
              <a:rPr dirty="0" sz="700" spc="-30">
                <a:latin typeface="Verdana"/>
                <a:cs typeface="Verdana"/>
              </a:rPr>
              <a:t> </a:t>
            </a:r>
            <a:r>
              <a:rPr dirty="0" sz="700" spc="-20">
                <a:latin typeface="Verdana"/>
                <a:cs typeface="Verdana"/>
              </a:rPr>
              <a:t>count</a:t>
            </a:r>
            <a:r>
              <a:rPr dirty="0" sz="700" spc="-30">
                <a:latin typeface="Verdana"/>
                <a:cs typeface="Verdana"/>
              </a:rPr>
              <a:t> from</a:t>
            </a:r>
            <a:r>
              <a:rPr dirty="0" sz="700" spc="-35">
                <a:latin typeface="Verdana"/>
                <a:cs typeface="Verdana"/>
              </a:rPr>
              <a:t> </a:t>
            </a:r>
            <a:r>
              <a:rPr dirty="0" sz="700" spc="-30">
                <a:latin typeface="Verdana"/>
                <a:cs typeface="Verdana"/>
              </a:rPr>
              <a:t>the </a:t>
            </a:r>
            <a:r>
              <a:rPr dirty="0" sz="700" spc="-35">
                <a:latin typeface="Verdana"/>
                <a:cs typeface="Verdana"/>
              </a:rPr>
              <a:t>103</a:t>
            </a:r>
            <a:r>
              <a:rPr dirty="0" sz="700" spc="-30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million</a:t>
            </a:r>
            <a:r>
              <a:rPr dirty="0" sz="700" spc="-30">
                <a:latin typeface="Verdana"/>
                <a:cs typeface="Verdana"/>
              </a:rPr>
              <a:t> </a:t>
            </a:r>
            <a:r>
              <a:rPr dirty="0" sz="700" spc="-45">
                <a:latin typeface="Verdana"/>
                <a:cs typeface="Verdana"/>
              </a:rPr>
              <a:t>shares</a:t>
            </a:r>
            <a:r>
              <a:rPr dirty="0" sz="700" spc="-30">
                <a:latin typeface="Verdana"/>
                <a:cs typeface="Verdana"/>
              </a:rPr>
              <a:t> initially</a:t>
            </a:r>
            <a:r>
              <a:rPr dirty="0" sz="700" spc="-35">
                <a:latin typeface="Verdana"/>
                <a:cs typeface="Verdana"/>
              </a:rPr>
              <a:t> </a:t>
            </a:r>
            <a:r>
              <a:rPr dirty="0" sz="700" spc="-30">
                <a:latin typeface="Verdana"/>
                <a:cs typeface="Verdana"/>
              </a:rPr>
              <a:t>delivered </a:t>
            </a:r>
            <a:r>
              <a:rPr dirty="0" sz="700" spc="-25">
                <a:latin typeface="Verdana"/>
                <a:cs typeface="Verdana"/>
              </a:rPr>
              <a:t>under</a:t>
            </a:r>
            <a:r>
              <a:rPr dirty="0" sz="700" spc="-30">
                <a:latin typeface="Verdana"/>
                <a:cs typeface="Verdana"/>
              </a:rPr>
              <a:t> the </a:t>
            </a:r>
            <a:r>
              <a:rPr dirty="0" sz="700" spc="-60">
                <a:latin typeface="Verdana"/>
                <a:cs typeface="Verdana"/>
              </a:rPr>
              <a:t>ASR,</a:t>
            </a:r>
            <a:r>
              <a:rPr dirty="0" sz="700" spc="-30">
                <a:latin typeface="Verdana"/>
                <a:cs typeface="Verdana"/>
              </a:rPr>
              <a:t> </a:t>
            </a:r>
            <a:r>
              <a:rPr dirty="0" sz="700" spc="-20">
                <a:latin typeface="Verdana"/>
                <a:cs typeface="Verdana"/>
              </a:rPr>
              <a:t>but</a:t>
            </a:r>
            <a:r>
              <a:rPr dirty="0" sz="700" spc="-35">
                <a:latin typeface="Verdana"/>
                <a:cs typeface="Verdana"/>
              </a:rPr>
              <a:t> </a:t>
            </a:r>
            <a:r>
              <a:rPr dirty="0" sz="700" spc="-30">
                <a:latin typeface="Verdana"/>
                <a:cs typeface="Verdana"/>
              </a:rPr>
              <a:t>excludes </a:t>
            </a:r>
            <a:r>
              <a:rPr dirty="0" sz="700" spc="-55">
                <a:latin typeface="Verdana"/>
                <a:cs typeface="Verdana"/>
              </a:rPr>
              <a:t>any</a:t>
            </a:r>
            <a:r>
              <a:rPr dirty="0" sz="700" spc="-30">
                <a:latin typeface="Verdana"/>
                <a:cs typeface="Verdana"/>
              </a:rPr>
              <a:t> </a:t>
            </a:r>
            <a:r>
              <a:rPr dirty="0" sz="700" spc="-25">
                <a:latin typeface="Verdana"/>
                <a:cs typeface="Verdana"/>
              </a:rPr>
              <a:t>impact</a:t>
            </a:r>
            <a:r>
              <a:rPr dirty="0" sz="700" spc="-30">
                <a:latin typeface="Verdana"/>
                <a:cs typeface="Verdana"/>
              </a:rPr>
              <a:t> </a:t>
            </a:r>
            <a:r>
              <a:rPr dirty="0" sz="700" spc="-25">
                <a:latin typeface="Verdana"/>
                <a:cs typeface="Verdana"/>
              </a:rPr>
              <a:t>to</a:t>
            </a:r>
            <a:r>
              <a:rPr dirty="0" sz="700" spc="-30">
                <a:latin typeface="Verdana"/>
                <a:cs typeface="Verdana"/>
              </a:rPr>
              <a:t> </a:t>
            </a:r>
            <a:r>
              <a:rPr dirty="0" sz="700" spc="-45">
                <a:latin typeface="Verdana"/>
                <a:cs typeface="Verdana"/>
              </a:rPr>
              <a:t>share</a:t>
            </a:r>
            <a:r>
              <a:rPr dirty="0" sz="700" spc="-30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count </a:t>
            </a:r>
            <a:r>
              <a:rPr dirty="0" sz="700" spc="-30">
                <a:latin typeface="Verdana"/>
                <a:cs typeface="Verdana"/>
              </a:rPr>
              <a:t>from</a:t>
            </a:r>
            <a:r>
              <a:rPr dirty="0" sz="700" spc="-40">
                <a:latin typeface="Verdana"/>
                <a:cs typeface="Verdana"/>
              </a:rPr>
              <a:t> </a:t>
            </a:r>
            <a:r>
              <a:rPr dirty="0" sz="700" spc="-30">
                <a:latin typeface="Verdana"/>
                <a:cs typeface="Verdana"/>
              </a:rPr>
              <a:t>the</a:t>
            </a:r>
            <a:r>
              <a:rPr dirty="0" sz="700" spc="-35">
                <a:latin typeface="Verdana"/>
                <a:cs typeface="Verdana"/>
              </a:rPr>
              <a:t> </a:t>
            </a:r>
            <a:r>
              <a:rPr dirty="0" sz="700" spc="-25">
                <a:latin typeface="Verdana"/>
                <a:cs typeface="Verdana"/>
              </a:rPr>
              <a:t>final</a:t>
            </a:r>
            <a:r>
              <a:rPr dirty="0" sz="700" spc="-35">
                <a:latin typeface="Verdana"/>
                <a:cs typeface="Verdana"/>
              </a:rPr>
              <a:t> </a:t>
            </a:r>
            <a:r>
              <a:rPr dirty="0" sz="700" spc="-55">
                <a:latin typeface="Verdana"/>
                <a:cs typeface="Verdana"/>
              </a:rPr>
              <a:t>ASR</a:t>
            </a:r>
            <a:r>
              <a:rPr dirty="0" sz="700" spc="-40">
                <a:latin typeface="Verdana"/>
                <a:cs typeface="Verdana"/>
              </a:rPr>
              <a:t> </a:t>
            </a:r>
            <a:r>
              <a:rPr dirty="0" sz="700" spc="-30">
                <a:latin typeface="Verdana"/>
                <a:cs typeface="Verdana"/>
              </a:rPr>
              <a:t>settlement</a:t>
            </a:r>
            <a:r>
              <a:rPr dirty="0" sz="700" spc="-35">
                <a:latin typeface="Verdana"/>
                <a:cs typeface="Verdana"/>
              </a:rPr>
              <a:t> </a:t>
            </a:r>
            <a:r>
              <a:rPr dirty="0" sz="700" spc="-30">
                <a:latin typeface="Verdana"/>
                <a:cs typeface="Verdana"/>
              </a:rPr>
              <a:t>or</a:t>
            </a:r>
            <a:r>
              <a:rPr dirty="0" sz="700" spc="-35">
                <a:latin typeface="Verdana"/>
                <a:cs typeface="Verdana"/>
              </a:rPr>
              <a:t> </a:t>
            </a:r>
            <a:r>
              <a:rPr dirty="0" sz="700" spc="-25">
                <a:latin typeface="Verdana"/>
                <a:cs typeface="Verdana"/>
              </a:rPr>
              <a:t>potential</a:t>
            </a:r>
            <a:r>
              <a:rPr dirty="0" sz="700" spc="-5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Q3</a:t>
            </a:r>
            <a:r>
              <a:rPr dirty="0" sz="700" spc="-35">
                <a:latin typeface="Verdana"/>
                <a:cs typeface="Verdana"/>
              </a:rPr>
              <a:t> </a:t>
            </a:r>
            <a:r>
              <a:rPr dirty="0" sz="700" spc="-100">
                <a:latin typeface="Verdana"/>
                <a:cs typeface="Verdana"/>
              </a:rPr>
              <a:t>-</a:t>
            </a:r>
            <a:r>
              <a:rPr dirty="0" sz="700" spc="-3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Q4</a:t>
            </a:r>
            <a:r>
              <a:rPr dirty="0" sz="700" spc="-40">
                <a:latin typeface="Verdana"/>
                <a:cs typeface="Verdana"/>
              </a:rPr>
              <a:t> </a:t>
            </a:r>
            <a:r>
              <a:rPr dirty="0" sz="700" spc="-35">
                <a:latin typeface="Verdana"/>
                <a:cs typeface="Verdana"/>
              </a:rPr>
              <a:t>FY27 repurchase </a:t>
            </a:r>
            <a:r>
              <a:rPr dirty="0" sz="700" spc="-45">
                <a:latin typeface="Verdana"/>
                <a:cs typeface="Verdana"/>
              </a:rPr>
              <a:t>activity</a:t>
            </a:r>
            <a:r>
              <a:rPr dirty="0" sz="700" spc="-35">
                <a:latin typeface="Verdana"/>
                <a:cs typeface="Verdana"/>
              </a:rPr>
              <a:t> </a:t>
            </a:r>
            <a:r>
              <a:rPr dirty="0" sz="700" spc="-25">
                <a:latin typeface="Verdana"/>
                <a:cs typeface="Verdana"/>
              </a:rPr>
              <a:t>under</a:t>
            </a:r>
            <a:r>
              <a:rPr dirty="0" sz="700" spc="-40">
                <a:latin typeface="Verdana"/>
                <a:cs typeface="Verdana"/>
              </a:rPr>
              <a:t> </a:t>
            </a:r>
            <a:r>
              <a:rPr dirty="0" sz="700" spc="-25">
                <a:latin typeface="Verdana"/>
                <a:cs typeface="Verdana"/>
              </a:rPr>
              <a:t>our</a:t>
            </a:r>
            <a:r>
              <a:rPr dirty="0" sz="700" spc="-35">
                <a:latin typeface="Verdana"/>
                <a:cs typeface="Verdana"/>
              </a:rPr>
              <a:t> </a:t>
            </a:r>
            <a:r>
              <a:rPr dirty="0" sz="700" spc="-45">
                <a:latin typeface="Verdana"/>
                <a:cs typeface="Verdana"/>
              </a:rPr>
              <a:t>share</a:t>
            </a:r>
            <a:r>
              <a:rPr dirty="0" sz="700" spc="-35">
                <a:latin typeface="Verdana"/>
                <a:cs typeface="Verdana"/>
              </a:rPr>
              <a:t> repurchase </a:t>
            </a:r>
            <a:r>
              <a:rPr dirty="0" sz="700" spc="-10">
                <a:latin typeface="Verdana"/>
                <a:cs typeface="Verdana"/>
              </a:rPr>
              <a:t>program.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453621" y="6583933"/>
            <a:ext cx="18034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>
                <a:latin typeface="Verdana"/>
                <a:cs typeface="Verdana"/>
              </a:rPr>
              <a:t>26</a:t>
            </a:r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85775" y="360045"/>
            <a:ext cx="11302365" cy="6035675"/>
            <a:chOff x="485775" y="360045"/>
            <a:chExt cx="11302365" cy="60356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033252" y="565404"/>
              <a:ext cx="635634" cy="44500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0882121" y="360045"/>
              <a:ext cx="905510" cy="658495"/>
            </a:xfrm>
            <a:custGeom>
              <a:avLst/>
              <a:gdLst/>
              <a:ahLst/>
              <a:cxnLst/>
              <a:rect l="l" t="t" r="r" b="b"/>
              <a:pathLst>
                <a:path w="905509" h="658494">
                  <a:moveTo>
                    <a:pt x="905509" y="0"/>
                  </a:moveTo>
                  <a:lnTo>
                    <a:pt x="0" y="0"/>
                  </a:lnTo>
                  <a:lnTo>
                    <a:pt x="0" y="658495"/>
                  </a:lnTo>
                  <a:lnTo>
                    <a:pt x="905509" y="658495"/>
                  </a:lnTo>
                  <a:lnTo>
                    <a:pt x="905509" y="0"/>
                  </a:lnTo>
                  <a:close/>
                </a:path>
              </a:pathLst>
            </a:custGeom>
            <a:solidFill>
              <a:srgbClr val="CEE9F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485775" y="884554"/>
              <a:ext cx="11194415" cy="5511165"/>
            </a:xfrm>
            <a:custGeom>
              <a:avLst/>
              <a:gdLst/>
              <a:ahLst/>
              <a:cxnLst/>
              <a:rect l="l" t="t" r="r" b="b"/>
              <a:pathLst>
                <a:path w="11194415" h="5511165">
                  <a:moveTo>
                    <a:pt x="10312272" y="0"/>
                  </a:moveTo>
                  <a:lnTo>
                    <a:pt x="881634" y="0"/>
                  </a:lnTo>
                  <a:lnTo>
                    <a:pt x="833260" y="1304"/>
                  </a:lnTo>
                  <a:lnTo>
                    <a:pt x="785569" y="5173"/>
                  </a:lnTo>
                  <a:lnTo>
                    <a:pt x="738627" y="11538"/>
                  </a:lnTo>
                  <a:lnTo>
                    <a:pt x="692501" y="20334"/>
                  </a:lnTo>
                  <a:lnTo>
                    <a:pt x="647259" y="31492"/>
                  </a:lnTo>
                  <a:lnTo>
                    <a:pt x="602967" y="44945"/>
                  </a:lnTo>
                  <a:lnTo>
                    <a:pt x="559694" y="60627"/>
                  </a:lnTo>
                  <a:lnTo>
                    <a:pt x="517505" y="78469"/>
                  </a:lnTo>
                  <a:lnTo>
                    <a:pt x="476470" y="98405"/>
                  </a:lnTo>
                  <a:lnTo>
                    <a:pt x="436654" y="120367"/>
                  </a:lnTo>
                  <a:lnTo>
                    <a:pt x="398125" y="144289"/>
                  </a:lnTo>
                  <a:lnTo>
                    <a:pt x="360950" y="170102"/>
                  </a:lnTo>
                  <a:lnTo>
                    <a:pt x="325196" y="197741"/>
                  </a:lnTo>
                  <a:lnTo>
                    <a:pt x="290931" y="227136"/>
                  </a:lnTo>
                  <a:lnTo>
                    <a:pt x="258222" y="258222"/>
                  </a:lnTo>
                  <a:lnTo>
                    <a:pt x="227136" y="290931"/>
                  </a:lnTo>
                  <a:lnTo>
                    <a:pt x="197741" y="325196"/>
                  </a:lnTo>
                  <a:lnTo>
                    <a:pt x="170102" y="360950"/>
                  </a:lnTo>
                  <a:lnTo>
                    <a:pt x="144289" y="398125"/>
                  </a:lnTo>
                  <a:lnTo>
                    <a:pt x="120367" y="436654"/>
                  </a:lnTo>
                  <a:lnTo>
                    <a:pt x="98405" y="476470"/>
                  </a:lnTo>
                  <a:lnTo>
                    <a:pt x="78469" y="517506"/>
                  </a:lnTo>
                  <a:lnTo>
                    <a:pt x="60627" y="559694"/>
                  </a:lnTo>
                  <a:lnTo>
                    <a:pt x="44945" y="602967"/>
                  </a:lnTo>
                  <a:lnTo>
                    <a:pt x="31492" y="647259"/>
                  </a:lnTo>
                  <a:lnTo>
                    <a:pt x="20334" y="692501"/>
                  </a:lnTo>
                  <a:lnTo>
                    <a:pt x="11538" y="738627"/>
                  </a:lnTo>
                  <a:lnTo>
                    <a:pt x="5173" y="785569"/>
                  </a:lnTo>
                  <a:lnTo>
                    <a:pt x="1304" y="833260"/>
                  </a:lnTo>
                  <a:lnTo>
                    <a:pt x="0" y="881634"/>
                  </a:lnTo>
                  <a:lnTo>
                    <a:pt x="0" y="4629023"/>
                  </a:lnTo>
                  <a:lnTo>
                    <a:pt x="1304" y="4677396"/>
                  </a:lnTo>
                  <a:lnTo>
                    <a:pt x="5173" y="4725087"/>
                  </a:lnTo>
                  <a:lnTo>
                    <a:pt x="11538" y="4772030"/>
                  </a:lnTo>
                  <a:lnTo>
                    <a:pt x="20334" y="4818155"/>
                  </a:lnTo>
                  <a:lnTo>
                    <a:pt x="31492" y="4863398"/>
                  </a:lnTo>
                  <a:lnTo>
                    <a:pt x="44945" y="4907689"/>
                  </a:lnTo>
                  <a:lnTo>
                    <a:pt x="60627" y="4950963"/>
                  </a:lnTo>
                  <a:lnTo>
                    <a:pt x="78469" y="4993151"/>
                  </a:lnTo>
                  <a:lnTo>
                    <a:pt x="98405" y="5034187"/>
                  </a:lnTo>
                  <a:lnTo>
                    <a:pt x="120367" y="5074002"/>
                  </a:lnTo>
                  <a:lnTo>
                    <a:pt x="144289" y="5112532"/>
                  </a:lnTo>
                  <a:lnTo>
                    <a:pt x="170102" y="5149706"/>
                  </a:lnTo>
                  <a:lnTo>
                    <a:pt x="197741" y="5185460"/>
                  </a:lnTo>
                  <a:lnTo>
                    <a:pt x="227136" y="5219725"/>
                  </a:lnTo>
                  <a:lnTo>
                    <a:pt x="258222" y="5252434"/>
                  </a:lnTo>
                  <a:lnTo>
                    <a:pt x="290931" y="5283520"/>
                  </a:lnTo>
                  <a:lnTo>
                    <a:pt x="325196" y="5312916"/>
                  </a:lnTo>
                  <a:lnTo>
                    <a:pt x="360950" y="5340554"/>
                  </a:lnTo>
                  <a:lnTo>
                    <a:pt x="398125" y="5366367"/>
                  </a:lnTo>
                  <a:lnTo>
                    <a:pt x="436654" y="5390289"/>
                  </a:lnTo>
                  <a:lnTo>
                    <a:pt x="476470" y="5412251"/>
                  </a:lnTo>
                  <a:lnTo>
                    <a:pt x="517505" y="5432187"/>
                  </a:lnTo>
                  <a:lnTo>
                    <a:pt x="559694" y="5450029"/>
                  </a:lnTo>
                  <a:lnTo>
                    <a:pt x="602967" y="5465711"/>
                  </a:lnTo>
                  <a:lnTo>
                    <a:pt x="647259" y="5479164"/>
                  </a:lnTo>
                  <a:lnTo>
                    <a:pt x="692501" y="5490322"/>
                  </a:lnTo>
                  <a:lnTo>
                    <a:pt x="738627" y="5499118"/>
                  </a:lnTo>
                  <a:lnTo>
                    <a:pt x="785569" y="5505483"/>
                  </a:lnTo>
                  <a:lnTo>
                    <a:pt x="833260" y="5509352"/>
                  </a:lnTo>
                  <a:lnTo>
                    <a:pt x="881634" y="5510657"/>
                  </a:lnTo>
                  <a:lnTo>
                    <a:pt x="10312272" y="5510657"/>
                  </a:lnTo>
                  <a:lnTo>
                    <a:pt x="10360646" y="5509352"/>
                  </a:lnTo>
                  <a:lnTo>
                    <a:pt x="10408337" y="5505483"/>
                  </a:lnTo>
                  <a:lnTo>
                    <a:pt x="10455279" y="5499118"/>
                  </a:lnTo>
                  <a:lnTo>
                    <a:pt x="10501405" y="5490322"/>
                  </a:lnTo>
                  <a:lnTo>
                    <a:pt x="10546647" y="5479164"/>
                  </a:lnTo>
                  <a:lnTo>
                    <a:pt x="10590939" y="5465711"/>
                  </a:lnTo>
                  <a:lnTo>
                    <a:pt x="10634212" y="5450029"/>
                  </a:lnTo>
                  <a:lnTo>
                    <a:pt x="10676401" y="5432187"/>
                  </a:lnTo>
                  <a:lnTo>
                    <a:pt x="10717436" y="5412251"/>
                  </a:lnTo>
                  <a:lnTo>
                    <a:pt x="10757252" y="5390289"/>
                  </a:lnTo>
                  <a:lnTo>
                    <a:pt x="10795781" y="5366367"/>
                  </a:lnTo>
                  <a:lnTo>
                    <a:pt x="10832956" y="5340554"/>
                  </a:lnTo>
                  <a:lnTo>
                    <a:pt x="10868710" y="5312916"/>
                  </a:lnTo>
                  <a:lnTo>
                    <a:pt x="10902975" y="5283520"/>
                  </a:lnTo>
                  <a:lnTo>
                    <a:pt x="10935684" y="5252434"/>
                  </a:lnTo>
                  <a:lnTo>
                    <a:pt x="10966770" y="5219725"/>
                  </a:lnTo>
                  <a:lnTo>
                    <a:pt x="10996165" y="5185460"/>
                  </a:lnTo>
                  <a:lnTo>
                    <a:pt x="11023804" y="5149706"/>
                  </a:lnTo>
                  <a:lnTo>
                    <a:pt x="11049617" y="5112532"/>
                  </a:lnTo>
                  <a:lnTo>
                    <a:pt x="11073538" y="5074002"/>
                  </a:lnTo>
                  <a:lnTo>
                    <a:pt x="11095501" y="5034187"/>
                  </a:lnTo>
                  <a:lnTo>
                    <a:pt x="11115437" y="4993151"/>
                  </a:lnTo>
                  <a:lnTo>
                    <a:pt x="11133279" y="4950963"/>
                  </a:lnTo>
                  <a:lnTo>
                    <a:pt x="11148960" y="4907689"/>
                  </a:lnTo>
                  <a:lnTo>
                    <a:pt x="11162414" y="4863398"/>
                  </a:lnTo>
                  <a:lnTo>
                    <a:pt x="11173572" y="4818155"/>
                  </a:lnTo>
                  <a:lnTo>
                    <a:pt x="11182367" y="4772030"/>
                  </a:lnTo>
                  <a:lnTo>
                    <a:pt x="11188733" y="4725087"/>
                  </a:lnTo>
                  <a:lnTo>
                    <a:pt x="11192602" y="4677396"/>
                  </a:lnTo>
                  <a:lnTo>
                    <a:pt x="11193906" y="4629023"/>
                  </a:lnTo>
                  <a:lnTo>
                    <a:pt x="11193906" y="881634"/>
                  </a:lnTo>
                  <a:lnTo>
                    <a:pt x="11192602" y="833260"/>
                  </a:lnTo>
                  <a:lnTo>
                    <a:pt x="11188733" y="785569"/>
                  </a:lnTo>
                  <a:lnTo>
                    <a:pt x="11182367" y="738627"/>
                  </a:lnTo>
                  <a:lnTo>
                    <a:pt x="11173572" y="692501"/>
                  </a:lnTo>
                  <a:lnTo>
                    <a:pt x="11162414" y="647259"/>
                  </a:lnTo>
                  <a:lnTo>
                    <a:pt x="11148960" y="602967"/>
                  </a:lnTo>
                  <a:lnTo>
                    <a:pt x="11133279" y="559694"/>
                  </a:lnTo>
                  <a:lnTo>
                    <a:pt x="11115437" y="517506"/>
                  </a:lnTo>
                  <a:lnTo>
                    <a:pt x="11095501" y="476470"/>
                  </a:lnTo>
                  <a:lnTo>
                    <a:pt x="11073538" y="436654"/>
                  </a:lnTo>
                  <a:lnTo>
                    <a:pt x="11049617" y="398125"/>
                  </a:lnTo>
                  <a:lnTo>
                    <a:pt x="11023804" y="360950"/>
                  </a:lnTo>
                  <a:lnTo>
                    <a:pt x="10996165" y="325196"/>
                  </a:lnTo>
                  <a:lnTo>
                    <a:pt x="10966770" y="290931"/>
                  </a:lnTo>
                  <a:lnTo>
                    <a:pt x="10935684" y="258222"/>
                  </a:lnTo>
                  <a:lnTo>
                    <a:pt x="10902975" y="227136"/>
                  </a:lnTo>
                  <a:lnTo>
                    <a:pt x="10868710" y="197741"/>
                  </a:lnTo>
                  <a:lnTo>
                    <a:pt x="10832956" y="170102"/>
                  </a:lnTo>
                  <a:lnTo>
                    <a:pt x="10795781" y="144289"/>
                  </a:lnTo>
                  <a:lnTo>
                    <a:pt x="10757252" y="120367"/>
                  </a:lnTo>
                  <a:lnTo>
                    <a:pt x="10717436" y="98405"/>
                  </a:lnTo>
                  <a:lnTo>
                    <a:pt x="10676401" y="78469"/>
                  </a:lnTo>
                  <a:lnTo>
                    <a:pt x="10634212" y="60627"/>
                  </a:lnTo>
                  <a:lnTo>
                    <a:pt x="10590939" y="44945"/>
                  </a:lnTo>
                  <a:lnTo>
                    <a:pt x="10546647" y="31492"/>
                  </a:lnTo>
                  <a:lnTo>
                    <a:pt x="10501405" y="20334"/>
                  </a:lnTo>
                  <a:lnTo>
                    <a:pt x="10455279" y="11538"/>
                  </a:lnTo>
                  <a:lnTo>
                    <a:pt x="10408337" y="5173"/>
                  </a:lnTo>
                  <a:lnTo>
                    <a:pt x="10360646" y="1304"/>
                  </a:lnTo>
                  <a:lnTo>
                    <a:pt x="103122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669925" y="-62484"/>
            <a:ext cx="9846310" cy="1073150"/>
          </a:xfrm>
          <a:prstGeom prst="rect"/>
        </p:spPr>
        <p:txBody>
          <a:bodyPr wrap="square" lIns="0" tIns="3213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30"/>
              </a:spcBef>
            </a:pPr>
            <a:r>
              <a:rPr dirty="0">
                <a:solidFill>
                  <a:srgbClr val="002D60"/>
                </a:solidFill>
              </a:rPr>
              <a:t>GAAP</a:t>
            </a:r>
            <a:r>
              <a:rPr dirty="0" spc="-25">
                <a:solidFill>
                  <a:srgbClr val="002D60"/>
                </a:solidFill>
              </a:rPr>
              <a:t> </a:t>
            </a:r>
            <a:r>
              <a:rPr dirty="0">
                <a:solidFill>
                  <a:srgbClr val="002D60"/>
                </a:solidFill>
              </a:rPr>
              <a:t>to</a:t>
            </a:r>
            <a:r>
              <a:rPr dirty="0" spc="-20">
                <a:solidFill>
                  <a:srgbClr val="002D60"/>
                </a:solidFill>
              </a:rPr>
              <a:t> </a:t>
            </a:r>
            <a:r>
              <a:rPr dirty="0" spc="100">
                <a:solidFill>
                  <a:srgbClr val="002D60"/>
                </a:solidFill>
              </a:rPr>
              <a:t>Non-</a:t>
            </a:r>
            <a:r>
              <a:rPr dirty="0">
                <a:solidFill>
                  <a:srgbClr val="002D60"/>
                </a:solidFill>
              </a:rPr>
              <a:t>GAAP</a:t>
            </a:r>
            <a:r>
              <a:rPr dirty="0" spc="-25">
                <a:solidFill>
                  <a:srgbClr val="002D60"/>
                </a:solidFill>
              </a:rPr>
              <a:t> </a:t>
            </a:r>
            <a:r>
              <a:rPr dirty="0">
                <a:solidFill>
                  <a:srgbClr val="002D60"/>
                </a:solidFill>
              </a:rPr>
              <a:t>Financial</a:t>
            </a:r>
            <a:r>
              <a:rPr dirty="0" spc="-20">
                <a:solidFill>
                  <a:srgbClr val="002D60"/>
                </a:solidFill>
              </a:rPr>
              <a:t> </a:t>
            </a:r>
            <a:r>
              <a:rPr dirty="0" spc="-10">
                <a:solidFill>
                  <a:srgbClr val="002D60"/>
                </a:solidFill>
              </a:rPr>
              <a:t>Reconciliation</a:t>
            </a:r>
          </a:p>
          <a:p>
            <a:pPr marL="410845">
              <a:lnSpc>
                <a:spcPct val="100000"/>
              </a:lnSpc>
              <a:spcBef>
                <a:spcPts val="540"/>
              </a:spcBef>
            </a:pPr>
            <a:r>
              <a:rPr dirty="0" sz="800" spc="-30">
                <a:solidFill>
                  <a:srgbClr val="000000"/>
                </a:solidFill>
                <a:latin typeface="Tahoma"/>
                <a:cs typeface="Tahoma"/>
              </a:rPr>
              <a:t>(in</a:t>
            </a:r>
            <a:r>
              <a:rPr dirty="0" sz="800" spc="-15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z="800" spc="-10">
                <a:solidFill>
                  <a:srgbClr val="000000"/>
                </a:solidFill>
                <a:latin typeface="Tahoma"/>
                <a:cs typeface="Tahoma"/>
              </a:rPr>
              <a:t>millions)</a:t>
            </a:r>
            <a:endParaRPr sz="800">
              <a:latin typeface="Tahoma"/>
              <a:cs typeface="Taho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26038" y="125729"/>
            <a:ext cx="635634" cy="445008"/>
          </a:xfrm>
          <a:prstGeom prst="rect">
            <a:avLst/>
          </a:prstGeom>
        </p:spPr>
      </p:pic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047750" y="1024559"/>
          <a:ext cx="10172700" cy="5342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81500"/>
                <a:gridCol w="1330960"/>
                <a:gridCol w="1138555"/>
                <a:gridCol w="1131570"/>
                <a:gridCol w="1150620"/>
                <a:gridCol w="965200"/>
              </a:tblGrid>
              <a:tr h="138430">
                <a:tc>
                  <a:txBody>
                    <a:bodyPr/>
                    <a:lstStyle/>
                    <a:p>
                      <a:pPr>
                        <a:lnSpc>
                          <a:spcPts val="955"/>
                        </a:lnSpc>
                        <a:tabLst>
                          <a:tab pos="4304665" algn="l"/>
                        </a:tabLst>
                      </a:pPr>
                      <a:r>
                        <a:rPr dirty="0" u="sng" sz="800" spc="5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u="sng" sz="800" spc="-1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Period</a:t>
                      </a:r>
                      <a:r>
                        <a:rPr dirty="0" u="sng" sz="80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70205">
                        <a:lnSpc>
                          <a:spcPts val="950"/>
                        </a:lnSpc>
                        <a:spcBef>
                          <a:spcPts val="45"/>
                        </a:spcBef>
                      </a:pPr>
                      <a:r>
                        <a:rPr dirty="0" sz="800" b="1">
                          <a:latin typeface="Tahoma"/>
                          <a:cs typeface="Tahoma"/>
                        </a:rPr>
                        <a:t>Q2</a:t>
                      </a:r>
                      <a:r>
                        <a:rPr dirty="0" sz="800" spc="-10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20" b="1">
                          <a:latin typeface="Tahoma"/>
                          <a:cs typeface="Tahoma"/>
                        </a:rPr>
                        <a:t>FY26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5715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7325">
                        <a:lnSpc>
                          <a:spcPts val="950"/>
                        </a:lnSpc>
                        <a:spcBef>
                          <a:spcPts val="45"/>
                        </a:spcBef>
                      </a:pPr>
                      <a:r>
                        <a:rPr dirty="0" sz="800" b="1">
                          <a:latin typeface="Tahoma"/>
                          <a:cs typeface="Tahoma"/>
                        </a:rPr>
                        <a:t>Q3</a:t>
                      </a:r>
                      <a:r>
                        <a:rPr dirty="0" sz="800" spc="-10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20" b="1">
                          <a:latin typeface="Tahoma"/>
                          <a:cs typeface="Tahoma"/>
                        </a:rPr>
                        <a:t>FY26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5715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2245">
                        <a:lnSpc>
                          <a:spcPts val="950"/>
                        </a:lnSpc>
                        <a:spcBef>
                          <a:spcPts val="45"/>
                        </a:spcBef>
                      </a:pPr>
                      <a:r>
                        <a:rPr dirty="0" sz="800" b="1">
                          <a:latin typeface="Tahoma"/>
                          <a:cs typeface="Tahoma"/>
                        </a:rPr>
                        <a:t>Q4</a:t>
                      </a:r>
                      <a:r>
                        <a:rPr dirty="0" sz="800" spc="-10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20" b="1">
                          <a:latin typeface="Tahoma"/>
                          <a:cs typeface="Tahoma"/>
                        </a:rPr>
                        <a:t>FY26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5715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9865">
                        <a:lnSpc>
                          <a:spcPts val="950"/>
                        </a:lnSpc>
                        <a:spcBef>
                          <a:spcPts val="45"/>
                        </a:spcBef>
                      </a:pPr>
                      <a:r>
                        <a:rPr dirty="0" sz="800" b="1">
                          <a:latin typeface="Tahoma"/>
                          <a:cs typeface="Tahoma"/>
                        </a:rPr>
                        <a:t>Q1</a:t>
                      </a:r>
                      <a:r>
                        <a:rPr dirty="0" sz="800" spc="-10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20" b="1">
                          <a:latin typeface="Tahoma"/>
                          <a:cs typeface="Tahoma"/>
                        </a:rPr>
                        <a:t>FY27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5715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7325">
                        <a:lnSpc>
                          <a:spcPts val="950"/>
                        </a:lnSpc>
                        <a:spcBef>
                          <a:spcPts val="45"/>
                        </a:spcBef>
                      </a:pPr>
                      <a:r>
                        <a:rPr dirty="0" sz="800" b="1">
                          <a:latin typeface="Tahoma"/>
                          <a:cs typeface="Tahoma"/>
                        </a:rPr>
                        <a:t>Q2</a:t>
                      </a:r>
                      <a:r>
                        <a:rPr dirty="0" sz="800" spc="-10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20" b="1">
                          <a:latin typeface="Tahoma"/>
                          <a:cs typeface="Tahoma"/>
                        </a:rPr>
                        <a:t>FY27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5715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049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800" spc="-10">
                          <a:latin typeface="Verdana"/>
                          <a:cs typeface="Verdana"/>
                        </a:rPr>
                        <a:t>Revenue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641985">
                        <a:lnSpc>
                          <a:spcPts val="935"/>
                        </a:lnSpc>
                        <a:spcBef>
                          <a:spcPts val="150"/>
                        </a:spcBef>
                      </a:pPr>
                      <a:r>
                        <a:rPr dirty="0" sz="800" spc="-10">
                          <a:latin typeface="Verdana"/>
                          <a:cs typeface="Verdana"/>
                        </a:rPr>
                        <a:t>10,236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1905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54659">
                        <a:lnSpc>
                          <a:spcPts val="935"/>
                        </a:lnSpc>
                        <a:spcBef>
                          <a:spcPts val="150"/>
                        </a:spcBef>
                      </a:pPr>
                      <a:r>
                        <a:rPr dirty="0" sz="800" spc="-10">
                          <a:latin typeface="Verdana"/>
                          <a:cs typeface="Verdana"/>
                        </a:rPr>
                        <a:t>10,259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1905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40055">
                        <a:lnSpc>
                          <a:spcPts val="935"/>
                        </a:lnSpc>
                        <a:spcBef>
                          <a:spcPts val="150"/>
                        </a:spcBef>
                      </a:pPr>
                      <a:r>
                        <a:rPr dirty="0" sz="800" spc="-10">
                          <a:latin typeface="Verdana"/>
                          <a:cs typeface="Verdana"/>
                        </a:rPr>
                        <a:t>11,201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1905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61645">
                        <a:lnSpc>
                          <a:spcPts val="935"/>
                        </a:lnSpc>
                        <a:spcBef>
                          <a:spcPts val="150"/>
                        </a:spcBef>
                      </a:pPr>
                      <a:r>
                        <a:rPr dirty="0" sz="800" spc="-10">
                          <a:latin typeface="Verdana"/>
                          <a:cs typeface="Verdana"/>
                        </a:rPr>
                        <a:t>11,133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1905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54659">
                        <a:lnSpc>
                          <a:spcPts val="935"/>
                        </a:lnSpc>
                        <a:spcBef>
                          <a:spcPts val="150"/>
                        </a:spcBef>
                      </a:pPr>
                      <a:r>
                        <a:rPr dirty="0" sz="800" spc="-10">
                          <a:latin typeface="Verdana"/>
                          <a:cs typeface="Verdana"/>
                        </a:rPr>
                        <a:t>11,345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1905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44780">
                <a:tc>
                  <a:txBody>
                    <a:bodyPr/>
                    <a:lstStyle/>
                    <a:p>
                      <a:pPr marL="33020">
                        <a:lnSpc>
                          <a:spcPts val="960"/>
                        </a:lnSpc>
                      </a:pPr>
                      <a:r>
                        <a:rPr dirty="0" sz="800" spc="-25">
                          <a:latin typeface="Verdana"/>
                          <a:cs typeface="Verdana"/>
                        </a:rPr>
                        <a:t>GAAP</a:t>
                      </a:r>
                      <a:r>
                        <a:rPr dirty="0" sz="800" spc="-5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00" spc="-40">
                          <a:latin typeface="Verdana"/>
                          <a:cs typeface="Verdana"/>
                        </a:rPr>
                        <a:t>Cost</a:t>
                      </a:r>
                      <a:r>
                        <a:rPr dirty="0" sz="800" spc="-5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00" spc="-25">
                          <a:latin typeface="Verdana"/>
                          <a:cs typeface="Verdana"/>
                        </a:rPr>
                        <a:t>of</a:t>
                      </a:r>
                      <a:r>
                        <a:rPr dirty="0" sz="800" spc="-4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00" spc="-10">
                          <a:latin typeface="Verdana"/>
                          <a:cs typeface="Verdana"/>
                        </a:rPr>
                        <a:t>Revenues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04215">
                        <a:lnSpc>
                          <a:spcPts val="955"/>
                        </a:lnSpc>
                        <a:spcBef>
                          <a:spcPts val="85"/>
                        </a:spcBef>
                      </a:pPr>
                      <a:r>
                        <a:rPr dirty="0" sz="800" spc="-10">
                          <a:latin typeface="Verdana"/>
                          <a:cs typeface="Verdana"/>
                        </a:rPr>
                        <a:t>2,242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10795"/>
                </a:tc>
                <a:tc>
                  <a:txBody>
                    <a:bodyPr/>
                    <a:lstStyle/>
                    <a:p>
                      <a:pPr marL="516255">
                        <a:lnSpc>
                          <a:spcPts val="955"/>
                        </a:lnSpc>
                        <a:spcBef>
                          <a:spcPts val="85"/>
                        </a:spcBef>
                      </a:pPr>
                      <a:r>
                        <a:rPr dirty="0" sz="800" spc="-10">
                          <a:latin typeface="Verdana"/>
                          <a:cs typeface="Verdana"/>
                        </a:rPr>
                        <a:t>2,255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10795"/>
                </a:tc>
                <a:tc>
                  <a:txBody>
                    <a:bodyPr/>
                    <a:lstStyle/>
                    <a:p>
                      <a:pPr marL="502284">
                        <a:lnSpc>
                          <a:spcPts val="955"/>
                        </a:lnSpc>
                        <a:spcBef>
                          <a:spcPts val="85"/>
                        </a:spcBef>
                      </a:pPr>
                      <a:r>
                        <a:rPr dirty="0" sz="800" spc="-10">
                          <a:latin typeface="Verdana"/>
                          <a:cs typeface="Verdana"/>
                        </a:rPr>
                        <a:t>2,508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10795"/>
                </a:tc>
                <a:tc>
                  <a:txBody>
                    <a:bodyPr/>
                    <a:lstStyle/>
                    <a:p>
                      <a:pPr marL="523240">
                        <a:lnSpc>
                          <a:spcPts val="955"/>
                        </a:lnSpc>
                        <a:spcBef>
                          <a:spcPts val="85"/>
                        </a:spcBef>
                      </a:pPr>
                      <a:r>
                        <a:rPr dirty="0" sz="800" spc="-10">
                          <a:latin typeface="Verdana"/>
                          <a:cs typeface="Verdana"/>
                        </a:rPr>
                        <a:t>2,570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10795"/>
                </a:tc>
                <a:tc>
                  <a:txBody>
                    <a:bodyPr/>
                    <a:lstStyle/>
                    <a:p>
                      <a:pPr marL="516255">
                        <a:lnSpc>
                          <a:spcPts val="955"/>
                        </a:lnSpc>
                        <a:spcBef>
                          <a:spcPts val="85"/>
                        </a:spcBef>
                      </a:pPr>
                      <a:r>
                        <a:rPr dirty="0" sz="800" spc="-10">
                          <a:latin typeface="Verdana"/>
                          <a:cs typeface="Verdana"/>
                        </a:rPr>
                        <a:t>2,649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10795"/>
                </a:tc>
              </a:tr>
              <a:tr h="14160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800" spc="-10">
                          <a:latin typeface="Verdana"/>
                          <a:cs typeface="Verdana"/>
                        </a:rPr>
                        <a:t>Less: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190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50495">
                <a:tc>
                  <a:txBody>
                    <a:bodyPr/>
                    <a:lstStyle/>
                    <a:p>
                      <a:pPr marL="1644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800" spc="-35">
                          <a:latin typeface="Verdana"/>
                          <a:cs typeface="Verdana"/>
                        </a:rPr>
                        <a:t>Amortization</a:t>
                      </a:r>
                      <a:r>
                        <a:rPr dirty="0" sz="800" spc="-2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00" spc="-25">
                          <a:latin typeface="Verdana"/>
                          <a:cs typeface="Verdana"/>
                        </a:rPr>
                        <a:t>of</a:t>
                      </a:r>
                      <a:r>
                        <a:rPr dirty="0" sz="800" spc="-1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00" spc="-35">
                          <a:latin typeface="Verdana"/>
                          <a:cs typeface="Verdana"/>
                        </a:rPr>
                        <a:t>purchased</a:t>
                      </a:r>
                      <a:r>
                        <a:rPr dirty="0" sz="800" spc="-2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00" spc="-10">
                          <a:latin typeface="Verdana"/>
                          <a:cs typeface="Verdana"/>
                        </a:rPr>
                        <a:t>intangibles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93750">
                        <a:lnSpc>
                          <a:spcPts val="935"/>
                        </a:lnSpc>
                        <a:spcBef>
                          <a:spcPts val="150"/>
                        </a:spcBef>
                      </a:pPr>
                      <a:r>
                        <a:rPr dirty="0" sz="800" spc="-25">
                          <a:latin typeface="Verdana"/>
                          <a:cs typeface="Verdana"/>
                        </a:rPr>
                        <a:t>150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19050"/>
                </a:tc>
                <a:tc>
                  <a:txBody>
                    <a:bodyPr/>
                    <a:lstStyle/>
                    <a:p>
                      <a:pPr marL="605790">
                        <a:lnSpc>
                          <a:spcPts val="935"/>
                        </a:lnSpc>
                        <a:spcBef>
                          <a:spcPts val="150"/>
                        </a:spcBef>
                      </a:pPr>
                      <a:r>
                        <a:rPr dirty="0" sz="800" spc="-25">
                          <a:latin typeface="Verdana"/>
                          <a:cs typeface="Verdana"/>
                        </a:rPr>
                        <a:t>156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19050"/>
                </a:tc>
                <a:tc>
                  <a:txBody>
                    <a:bodyPr/>
                    <a:lstStyle/>
                    <a:p>
                      <a:pPr marL="591820">
                        <a:lnSpc>
                          <a:spcPts val="935"/>
                        </a:lnSpc>
                        <a:spcBef>
                          <a:spcPts val="150"/>
                        </a:spcBef>
                      </a:pPr>
                      <a:r>
                        <a:rPr dirty="0" sz="800" spc="-25">
                          <a:latin typeface="Verdana"/>
                          <a:cs typeface="Verdana"/>
                        </a:rPr>
                        <a:t>224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19050"/>
                </a:tc>
                <a:tc>
                  <a:txBody>
                    <a:bodyPr/>
                    <a:lstStyle/>
                    <a:p>
                      <a:pPr marL="613410">
                        <a:lnSpc>
                          <a:spcPts val="935"/>
                        </a:lnSpc>
                        <a:spcBef>
                          <a:spcPts val="150"/>
                        </a:spcBef>
                      </a:pPr>
                      <a:r>
                        <a:rPr dirty="0" sz="800" spc="-25">
                          <a:latin typeface="Verdana"/>
                          <a:cs typeface="Verdana"/>
                        </a:rPr>
                        <a:t>244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19050"/>
                </a:tc>
                <a:tc>
                  <a:txBody>
                    <a:bodyPr/>
                    <a:lstStyle/>
                    <a:p>
                      <a:pPr marL="605790">
                        <a:lnSpc>
                          <a:spcPts val="935"/>
                        </a:lnSpc>
                        <a:spcBef>
                          <a:spcPts val="150"/>
                        </a:spcBef>
                      </a:pPr>
                      <a:r>
                        <a:rPr dirty="0" sz="800" spc="-25">
                          <a:latin typeface="Verdana"/>
                          <a:cs typeface="Verdana"/>
                        </a:rPr>
                        <a:t>234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19050"/>
                </a:tc>
              </a:tr>
              <a:tr h="142875">
                <a:tc>
                  <a:txBody>
                    <a:bodyPr/>
                    <a:lstStyle/>
                    <a:p>
                      <a:pPr marL="164465">
                        <a:lnSpc>
                          <a:spcPts val="960"/>
                        </a:lnSpc>
                      </a:pPr>
                      <a:r>
                        <a:rPr dirty="0" sz="800" spc="-60">
                          <a:latin typeface="Verdana"/>
                          <a:cs typeface="Verdana"/>
                        </a:rPr>
                        <a:t>Stock-</a:t>
                      </a:r>
                      <a:r>
                        <a:rPr dirty="0" sz="800" spc="-35">
                          <a:latin typeface="Verdana"/>
                          <a:cs typeface="Verdana"/>
                        </a:rPr>
                        <a:t>based</a:t>
                      </a:r>
                      <a:r>
                        <a:rPr dirty="0" sz="8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00" spc="-30">
                          <a:latin typeface="Verdana"/>
                          <a:cs typeface="Verdana"/>
                        </a:rPr>
                        <a:t>compensation</a:t>
                      </a:r>
                      <a:r>
                        <a:rPr dirty="0" sz="800" spc="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00" spc="-10">
                          <a:latin typeface="Verdana"/>
                          <a:cs typeface="Verdana"/>
                        </a:rPr>
                        <a:t>expense</a:t>
                      </a:r>
                      <a:r>
                        <a:rPr dirty="0" baseline="33333" sz="750" spc="-15">
                          <a:solidFill>
                            <a:srgbClr val="707070"/>
                          </a:solidFill>
                          <a:latin typeface="Verdana"/>
                          <a:cs typeface="Verdana"/>
                        </a:rPr>
                        <a:t>1</a:t>
                      </a:r>
                      <a:endParaRPr baseline="33333" sz="750">
                        <a:latin typeface="Verdana"/>
                        <a:cs typeface="Verdan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93750">
                        <a:lnSpc>
                          <a:spcPts val="935"/>
                        </a:lnSpc>
                        <a:spcBef>
                          <a:spcPts val="85"/>
                        </a:spcBef>
                      </a:pPr>
                      <a:r>
                        <a:rPr dirty="0" sz="800" spc="-25">
                          <a:latin typeface="Verdana"/>
                          <a:cs typeface="Verdana"/>
                        </a:rPr>
                        <a:t>126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10795"/>
                </a:tc>
                <a:tc>
                  <a:txBody>
                    <a:bodyPr/>
                    <a:lstStyle/>
                    <a:p>
                      <a:pPr marL="605790">
                        <a:lnSpc>
                          <a:spcPts val="935"/>
                        </a:lnSpc>
                        <a:spcBef>
                          <a:spcPts val="85"/>
                        </a:spcBef>
                      </a:pPr>
                      <a:r>
                        <a:rPr dirty="0" sz="800" spc="-25">
                          <a:latin typeface="Verdana"/>
                          <a:cs typeface="Verdana"/>
                        </a:rPr>
                        <a:t>129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10795"/>
                </a:tc>
                <a:tc>
                  <a:txBody>
                    <a:bodyPr/>
                    <a:lstStyle/>
                    <a:p>
                      <a:pPr marL="591820">
                        <a:lnSpc>
                          <a:spcPts val="935"/>
                        </a:lnSpc>
                        <a:spcBef>
                          <a:spcPts val="85"/>
                        </a:spcBef>
                      </a:pPr>
                      <a:r>
                        <a:rPr dirty="0" sz="800" spc="-25">
                          <a:latin typeface="Verdana"/>
                          <a:cs typeface="Verdana"/>
                        </a:rPr>
                        <a:t>147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10795"/>
                </a:tc>
                <a:tc>
                  <a:txBody>
                    <a:bodyPr/>
                    <a:lstStyle/>
                    <a:p>
                      <a:pPr marL="613410">
                        <a:lnSpc>
                          <a:spcPts val="935"/>
                        </a:lnSpc>
                        <a:spcBef>
                          <a:spcPts val="85"/>
                        </a:spcBef>
                      </a:pPr>
                      <a:r>
                        <a:rPr dirty="0" sz="800" spc="-25">
                          <a:latin typeface="Verdana"/>
                          <a:cs typeface="Verdana"/>
                        </a:rPr>
                        <a:t>138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10795"/>
                </a:tc>
                <a:tc>
                  <a:txBody>
                    <a:bodyPr/>
                    <a:lstStyle/>
                    <a:p>
                      <a:pPr marL="605790">
                        <a:lnSpc>
                          <a:spcPts val="935"/>
                        </a:lnSpc>
                        <a:spcBef>
                          <a:spcPts val="85"/>
                        </a:spcBef>
                      </a:pPr>
                      <a:r>
                        <a:rPr dirty="0" sz="800" spc="-25">
                          <a:latin typeface="Verdana"/>
                          <a:cs typeface="Verdana"/>
                        </a:rPr>
                        <a:t>147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10795"/>
                </a:tc>
              </a:tr>
              <a:tr h="142240">
                <a:tc>
                  <a:txBody>
                    <a:bodyPr/>
                    <a:lstStyle/>
                    <a:p>
                      <a:pPr>
                        <a:lnSpc>
                          <a:spcPts val="960"/>
                        </a:lnSpc>
                        <a:tabLst>
                          <a:tab pos="163830" algn="l"/>
                          <a:tab pos="4304665" algn="l"/>
                        </a:tabLst>
                      </a:pPr>
                      <a:r>
                        <a:rPr dirty="0" u="sng" sz="80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dirty="0" u="sng" sz="800" spc="-35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Acquisition-related</a:t>
                      </a:r>
                      <a:r>
                        <a:rPr dirty="0" u="sng" sz="800" spc="25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u="sng" sz="800" spc="-2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costs</a:t>
                      </a:r>
                      <a:r>
                        <a:rPr dirty="0" u="sng" sz="80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42900">
                        <a:lnSpc>
                          <a:spcPts val="875"/>
                        </a:lnSpc>
                        <a:spcBef>
                          <a:spcPts val="85"/>
                        </a:spcBef>
                      </a:pPr>
                      <a:r>
                        <a:rPr dirty="0" sz="800" spc="-33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10795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2155">
                        <a:lnSpc>
                          <a:spcPts val="875"/>
                        </a:lnSpc>
                        <a:spcBef>
                          <a:spcPts val="85"/>
                        </a:spcBef>
                      </a:pPr>
                      <a:r>
                        <a:rPr dirty="0" sz="800" spc="-33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10795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5645">
                        <a:lnSpc>
                          <a:spcPts val="875"/>
                        </a:lnSpc>
                        <a:spcBef>
                          <a:spcPts val="85"/>
                        </a:spcBef>
                      </a:pPr>
                      <a:r>
                        <a:rPr dirty="0" sz="800" spc="-50">
                          <a:latin typeface="Verdana"/>
                          <a:cs typeface="Verdana"/>
                        </a:rPr>
                        <a:t>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10795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7235">
                        <a:lnSpc>
                          <a:spcPts val="875"/>
                        </a:lnSpc>
                        <a:spcBef>
                          <a:spcPts val="85"/>
                        </a:spcBef>
                      </a:pPr>
                      <a:r>
                        <a:rPr dirty="0" sz="800" spc="-50">
                          <a:latin typeface="Verdana"/>
                          <a:cs typeface="Verdana"/>
                        </a:rPr>
                        <a:t>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10795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4465">
                        <a:lnSpc>
                          <a:spcPts val="875"/>
                        </a:lnSpc>
                        <a:spcBef>
                          <a:spcPts val="85"/>
                        </a:spcBef>
                      </a:pPr>
                      <a:r>
                        <a:rPr dirty="0" sz="800" spc="-33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10795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4304665" algn="l"/>
                        </a:tabLst>
                      </a:pPr>
                      <a:r>
                        <a:rPr dirty="0" u="sng" sz="800" spc="105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u="sng" sz="800" spc="-4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Non-</a:t>
                      </a:r>
                      <a:r>
                        <a:rPr dirty="0" u="sng" sz="800" spc="-25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GAAP</a:t>
                      </a:r>
                      <a:r>
                        <a:rPr dirty="0" u="sng" sz="800" spc="-55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u="sng" sz="800" spc="-4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Cost</a:t>
                      </a:r>
                      <a:r>
                        <a:rPr dirty="0" u="sng" sz="800" spc="-5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u="sng" sz="800" spc="-25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of</a:t>
                      </a:r>
                      <a:r>
                        <a:rPr dirty="0" u="sng" sz="800" spc="-5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u="sng" sz="800" spc="-1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Revenues</a:t>
                      </a:r>
                      <a:r>
                        <a:rPr dirty="0" u="sng" sz="80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04215">
                        <a:lnSpc>
                          <a:spcPts val="875"/>
                        </a:lnSpc>
                        <a:spcBef>
                          <a:spcPts val="150"/>
                        </a:spcBef>
                      </a:pPr>
                      <a:r>
                        <a:rPr dirty="0" sz="800" spc="-10">
                          <a:latin typeface="Verdana"/>
                          <a:cs typeface="Verdana"/>
                        </a:rPr>
                        <a:t>1,966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1905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6255">
                        <a:lnSpc>
                          <a:spcPts val="875"/>
                        </a:lnSpc>
                        <a:spcBef>
                          <a:spcPts val="150"/>
                        </a:spcBef>
                      </a:pPr>
                      <a:r>
                        <a:rPr dirty="0" sz="800" spc="-10">
                          <a:latin typeface="Verdana"/>
                          <a:cs typeface="Verdana"/>
                        </a:rPr>
                        <a:t>1,970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1905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2284">
                        <a:lnSpc>
                          <a:spcPts val="875"/>
                        </a:lnSpc>
                        <a:spcBef>
                          <a:spcPts val="150"/>
                        </a:spcBef>
                      </a:pPr>
                      <a:r>
                        <a:rPr dirty="0" sz="800" spc="-10">
                          <a:latin typeface="Verdana"/>
                          <a:cs typeface="Verdana"/>
                        </a:rPr>
                        <a:t>2,135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1905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3240">
                        <a:lnSpc>
                          <a:spcPts val="875"/>
                        </a:lnSpc>
                        <a:spcBef>
                          <a:spcPts val="150"/>
                        </a:spcBef>
                      </a:pPr>
                      <a:r>
                        <a:rPr dirty="0" sz="800" spc="-10">
                          <a:latin typeface="Verdana"/>
                          <a:cs typeface="Verdana"/>
                        </a:rPr>
                        <a:t>2,187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1905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6255">
                        <a:lnSpc>
                          <a:spcPts val="875"/>
                        </a:lnSpc>
                        <a:spcBef>
                          <a:spcPts val="150"/>
                        </a:spcBef>
                      </a:pPr>
                      <a:r>
                        <a:rPr dirty="0" sz="800" spc="-10">
                          <a:latin typeface="Verdana"/>
                          <a:cs typeface="Verdana"/>
                        </a:rPr>
                        <a:t>2,268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1905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430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800" spc="-35" b="1">
                          <a:latin typeface="Tahoma"/>
                          <a:cs typeface="Tahoma"/>
                        </a:rPr>
                        <a:t>Non-</a:t>
                      </a:r>
                      <a:r>
                        <a:rPr dirty="0" sz="800" spc="-20" b="1">
                          <a:latin typeface="Tahoma"/>
                          <a:cs typeface="Tahoma"/>
                        </a:rPr>
                        <a:t>GAAP Cost </a:t>
                      </a:r>
                      <a:r>
                        <a:rPr dirty="0" sz="800" b="1">
                          <a:latin typeface="Tahoma"/>
                          <a:cs typeface="Tahoma"/>
                        </a:rPr>
                        <a:t>of</a:t>
                      </a:r>
                      <a:r>
                        <a:rPr dirty="0" sz="800" spc="-15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30" b="1">
                          <a:latin typeface="Tahoma"/>
                          <a:cs typeface="Tahoma"/>
                        </a:rPr>
                        <a:t>Revenues</a:t>
                      </a:r>
                      <a:r>
                        <a:rPr dirty="0" sz="800" spc="-20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30" b="1">
                          <a:latin typeface="Tahoma"/>
                          <a:cs typeface="Tahoma"/>
                        </a:rPr>
                        <a:t>as</a:t>
                      </a:r>
                      <a:r>
                        <a:rPr dirty="0" sz="800" spc="-20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b="1">
                          <a:latin typeface="Tahoma"/>
                          <a:cs typeface="Tahoma"/>
                        </a:rPr>
                        <a:t>a</a:t>
                      </a:r>
                      <a:r>
                        <a:rPr dirty="0" sz="800" spc="-15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b="1">
                          <a:latin typeface="Tahoma"/>
                          <a:cs typeface="Tahoma"/>
                        </a:rPr>
                        <a:t>%</a:t>
                      </a:r>
                      <a:r>
                        <a:rPr dirty="0" sz="800" spc="-20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b="1">
                          <a:latin typeface="Tahoma"/>
                          <a:cs typeface="Tahoma"/>
                        </a:rPr>
                        <a:t>of</a:t>
                      </a:r>
                      <a:r>
                        <a:rPr dirty="0" sz="800" spc="-15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10" b="1">
                          <a:latin typeface="Tahoma"/>
                          <a:cs typeface="Tahoma"/>
                        </a:rPr>
                        <a:t>Revenue</a:t>
                      </a:r>
                      <a:r>
                        <a:rPr dirty="0" baseline="33333" sz="750" spc="-15" b="1">
                          <a:latin typeface="Tahoma"/>
                          <a:cs typeface="Tahoma"/>
                        </a:rPr>
                        <a:t>2</a:t>
                      </a:r>
                      <a:endParaRPr baseline="33333" sz="750">
                        <a:latin typeface="Tahoma"/>
                        <a:cs typeface="Tahoma"/>
                      </a:endParaRPr>
                    </a:p>
                  </a:txBody>
                  <a:tcPr marL="0" marR="0" marB="0" marT="17145"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7970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800" b="1">
                          <a:latin typeface="Tahoma"/>
                          <a:cs typeface="Tahoma"/>
                        </a:rPr>
                        <a:t>19</a:t>
                      </a:r>
                      <a:r>
                        <a:rPr dirty="0" sz="800" spc="15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50" b="1">
                          <a:latin typeface="Tahoma"/>
                          <a:cs typeface="Tahoma"/>
                        </a:rPr>
                        <a:t>%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19050"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7526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800" b="1">
                          <a:latin typeface="Tahoma"/>
                          <a:cs typeface="Tahoma"/>
                        </a:rPr>
                        <a:t>19</a:t>
                      </a:r>
                      <a:r>
                        <a:rPr dirty="0" sz="800" spc="15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50" b="1">
                          <a:latin typeface="Tahoma"/>
                          <a:cs typeface="Tahoma"/>
                        </a:rPr>
                        <a:t>%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19050"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8224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800" b="1">
                          <a:latin typeface="Tahoma"/>
                          <a:cs typeface="Tahoma"/>
                        </a:rPr>
                        <a:t>19</a:t>
                      </a:r>
                      <a:r>
                        <a:rPr dirty="0" sz="800" spc="15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50" b="1">
                          <a:latin typeface="Tahoma"/>
                          <a:cs typeface="Tahoma"/>
                        </a:rPr>
                        <a:t>%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19050"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7970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800" b="1">
                          <a:latin typeface="Tahoma"/>
                          <a:cs typeface="Tahoma"/>
                        </a:rPr>
                        <a:t>20</a:t>
                      </a:r>
                      <a:r>
                        <a:rPr dirty="0" sz="800" spc="15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50" b="1">
                          <a:latin typeface="Tahoma"/>
                          <a:cs typeface="Tahoma"/>
                        </a:rPr>
                        <a:t>%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19050"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54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800" b="1">
                          <a:latin typeface="Tahoma"/>
                          <a:cs typeface="Tahoma"/>
                        </a:rPr>
                        <a:t>20</a:t>
                      </a:r>
                      <a:r>
                        <a:rPr dirty="0" sz="800" spc="15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50" b="1">
                          <a:latin typeface="Tahoma"/>
                          <a:cs typeface="Tahoma"/>
                        </a:rPr>
                        <a:t>%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19050"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DADADA"/>
                    </a:solidFill>
                  </a:tcPr>
                </a:tc>
              </a:tr>
              <a:tr h="15303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800" spc="-25">
                          <a:latin typeface="Verdana"/>
                          <a:cs typeface="Verdana"/>
                        </a:rPr>
                        <a:t>GAAP</a:t>
                      </a:r>
                      <a:r>
                        <a:rPr dirty="0" sz="800" spc="-4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00" spc="-60">
                          <a:latin typeface="Verdana"/>
                          <a:cs typeface="Verdana"/>
                        </a:rPr>
                        <a:t>Sales</a:t>
                      </a:r>
                      <a:r>
                        <a:rPr dirty="0" sz="800" spc="-35">
                          <a:latin typeface="Verdana"/>
                          <a:cs typeface="Verdana"/>
                        </a:rPr>
                        <a:t> and</a:t>
                      </a:r>
                      <a:r>
                        <a:rPr dirty="0" sz="800" spc="-4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00" spc="-35">
                          <a:latin typeface="Verdana"/>
                          <a:cs typeface="Verdana"/>
                        </a:rPr>
                        <a:t>Marketing</a:t>
                      </a:r>
                      <a:r>
                        <a:rPr dirty="0" sz="800" spc="-4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00" spc="-10">
                          <a:latin typeface="Verdana"/>
                          <a:cs typeface="Verdana"/>
                        </a:rPr>
                        <a:t>Expense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04215">
                        <a:lnSpc>
                          <a:spcPts val="955"/>
                        </a:lnSpc>
                        <a:spcBef>
                          <a:spcPts val="150"/>
                        </a:spcBef>
                      </a:pPr>
                      <a:r>
                        <a:rPr dirty="0" sz="800" spc="-10">
                          <a:latin typeface="Verdana"/>
                          <a:cs typeface="Verdana"/>
                        </a:rPr>
                        <a:t>3,443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19050"/>
                </a:tc>
                <a:tc>
                  <a:txBody>
                    <a:bodyPr/>
                    <a:lstStyle/>
                    <a:p>
                      <a:pPr marL="516255">
                        <a:lnSpc>
                          <a:spcPts val="955"/>
                        </a:lnSpc>
                        <a:spcBef>
                          <a:spcPts val="150"/>
                        </a:spcBef>
                      </a:pPr>
                      <a:r>
                        <a:rPr dirty="0" sz="800" spc="-10">
                          <a:latin typeface="Verdana"/>
                          <a:cs typeface="Verdana"/>
                        </a:rPr>
                        <a:t>3,456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19050"/>
                </a:tc>
                <a:tc>
                  <a:txBody>
                    <a:bodyPr/>
                    <a:lstStyle/>
                    <a:p>
                      <a:pPr marL="502284">
                        <a:lnSpc>
                          <a:spcPts val="955"/>
                        </a:lnSpc>
                        <a:spcBef>
                          <a:spcPts val="150"/>
                        </a:spcBef>
                      </a:pPr>
                      <a:r>
                        <a:rPr dirty="0" sz="800" spc="-10">
                          <a:latin typeface="Verdana"/>
                          <a:cs typeface="Verdana"/>
                        </a:rPr>
                        <a:t>4,017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19050"/>
                </a:tc>
                <a:tc>
                  <a:txBody>
                    <a:bodyPr/>
                    <a:lstStyle/>
                    <a:p>
                      <a:pPr marL="523240">
                        <a:lnSpc>
                          <a:spcPts val="955"/>
                        </a:lnSpc>
                        <a:spcBef>
                          <a:spcPts val="150"/>
                        </a:spcBef>
                      </a:pPr>
                      <a:r>
                        <a:rPr dirty="0" sz="800" spc="-10">
                          <a:latin typeface="Verdana"/>
                          <a:cs typeface="Verdana"/>
                        </a:rPr>
                        <a:t>3,769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19050"/>
                </a:tc>
                <a:tc>
                  <a:txBody>
                    <a:bodyPr/>
                    <a:lstStyle/>
                    <a:p>
                      <a:pPr marL="516255">
                        <a:lnSpc>
                          <a:spcPts val="955"/>
                        </a:lnSpc>
                        <a:spcBef>
                          <a:spcPts val="150"/>
                        </a:spcBef>
                      </a:pPr>
                      <a:r>
                        <a:rPr dirty="0" sz="800" spc="-10">
                          <a:latin typeface="Verdana"/>
                          <a:cs typeface="Verdana"/>
                        </a:rPr>
                        <a:t>3,859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19050"/>
                </a:tc>
              </a:tr>
              <a:tr h="14160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800" spc="-10">
                          <a:latin typeface="Verdana"/>
                          <a:cs typeface="Verdana"/>
                        </a:rPr>
                        <a:t>Less: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190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50495">
                <a:tc>
                  <a:txBody>
                    <a:bodyPr/>
                    <a:lstStyle/>
                    <a:p>
                      <a:pPr marL="1644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800" spc="-35">
                          <a:latin typeface="Verdana"/>
                          <a:cs typeface="Verdana"/>
                        </a:rPr>
                        <a:t>Amortization</a:t>
                      </a:r>
                      <a:r>
                        <a:rPr dirty="0" sz="800" spc="-2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00" spc="-25">
                          <a:latin typeface="Verdana"/>
                          <a:cs typeface="Verdana"/>
                        </a:rPr>
                        <a:t>of</a:t>
                      </a:r>
                      <a:r>
                        <a:rPr dirty="0" sz="800" spc="-1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00" spc="-35">
                          <a:latin typeface="Verdana"/>
                          <a:cs typeface="Verdana"/>
                        </a:rPr>
                        <a:t>purchased</a:t>
                      </a:r>
                      <a:r>
                        <a:rPr dirty="0" sz="800" spc="-2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00" spc="-10">
                          <a:latin typeface="Verdana"/>
                          <a:cs typeface="Verdana"/>
                        </a:rPr>
                        <a:t>intangibles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93750">
                        <a:lnSpc>
                          <a:spcPts val="935"/>
                        </a:lnSpc>
                        <a:spcBef>
                          <a:spcPts val="150"/>
                        </a:spcBef>
                      </a:pPr>
                      <a:r>
                        <a:rPr dirty="0" sz="800" spc="-25">
                          <a:latin typeface="Verdana"/>
                          <a:cs typeface="Verdana"/>
                        </a:rPr>
                        <a:t>230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19050"/>
                </a:tc>
                <a:tc>
                  <a:txBody>
                    <a:bodyPr/>
                    <a:lstStyle/>
                    <a:p>
                      <a:pPr marL="605790">
                        <a:lnSpc>
                          <a:spcPts val="935"/>
                        </a:lnSpc>
                        <a:spcBef>
                          <a:spcPts val="150"/>
                        </a:spcBef>
                      </a:pPr>
                      <a:r>
                        <a:rPr dirty="0" sz="800" spc="-25">
                          <a:latin typeface="Verdana"/>
                          <a:cs typeface="Verdana"/>
                        </a:rPr>
                        <a:t>230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19050"/>
                </a:tc>
                <a:tc>
                  <a:txBody>
                    <a:bodyPr/>
                    <a:lstStyle/>
                    <a:p>
                      <a:pPr marL="591820">
                        <a:lnSpc>
                          <a:spcPts val="935"/>
                        </a:lnSpc>
                        <a:spcBef>
                          <a:spcPts val="150"/>
                        </a:spcBef>
                      </a:pPr>
                      <a:r>
                        <a:rPr dirty="0" sz="800" spc="-25">
                          <a:latin typeface="Verdana"/>
                          <a:cs typeface="Verdana"/>
                        </a:rPr>
                        <a:t>302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19050"/>
                </a:tc>
                <a:tc>
                  <a:txBody>
                    <a:bodyPr/>
                    <a:lstStyle/>
                    <a:p>
                      <a:pPr marL="613410">
                        <a:lnSpc>
                          <a:spcPts val="935"/>
                        </a:lnSpc>
                        <a:spcBef>
                          <a:spcPts val="150"/>
                        </a:spcBef>
                      </a:pPr>
                      <a:r>
                        <a:rPr dirty="0" sz="800" spc="-25">
                          <a:latin typeface="Verdana"/>
                          <a:cs typeface="Verdana"/>
                        </a:rPr>
                        <a:t>317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19050"/>
                </a:tc>
                <a:tc>
                  <a:txBody>
                    <a:bodyPr/>
                    <a:lstStyle/>
                    <a:p>
                      <a:pPr marL="605790">
                        <a:lnSpc>
                          <a:spcPts val="935"/>
                        </a:lnSpc>
                        <a:spcBef>
                          <a:spcPts val="150"/>
                        </a:spcBef>
                      </a:pPr>
                      <a:r>
                        <a:rPr dirty="0" sz="800" spc="-25">
                          <a:latin typeface="Verdana"/>
                          <a:cs typeface="Verdana"/>
                        </a:rPr>
                        <a:t>288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19050"/>
                </a:tc>
              </a:tr>
              <a:tr h="142875">
                <a:tc>
                  <a:txBody>
                    <a:bodyPr/>
                    <a:lstStyle/>
                    <a:p>
                      <a:pPr marL="164465">
                        <a:lnSpc>
                          <a:spcPts val="960"/>
                        </a:lnSpc>
                      </a:pPr>
                      <a:r>
                        <a:rPr dirty="0" sz="800" spc="-60">
                          <a:latin typeface="Verdana"/>
                          <a:cs typeface="Verdana"/>
                        </a:rPr>
                        <a:t>Stock-</a:t>
                      </a:r>
                      <a:r>
                        <a:rPr dirty="0" sz="800" spc="-35">
                          <a:latin typeface="Verdana"/>
                          <a:cs typeface="Verdana"/>
                        </a:rPr>
                        <a:t>based</a:t>
                      </a:r>
                      <a:r>
                        <a:rPr dirty="0" sz="8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00" spc="-30">
                          <a:latin typeface="Verdana"/>
                          <a:cs typeface="Verdana"/>
                        </a:rPr>
                        <a:t>compensation</a:t>
                      </a:r>
                      <a:r>
                        <a:rPr dirty="0" sz="800" spc="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00" spc="-10">
                          <a:latin typeface="Verdana"/>
                          <a:cs typeface="Verdana"/>
                        </a:rPr>
                        <a:t>expense</a:t>
                      </a:r>
                      <a:r>
                        <a:rPr dirty="0" baseline="33333" sz="750" spc="-15">
                          <a:solidFill>
                            <a:srgbClr val="707070"/>
                          </a:solidFill>
                          <a:latin typeface="Verdana"/>
                          <a:cs typeface="Verdana"/>
                        </a:rPr>
                        <a:t>1</a:t>
                      </a:r>
                      <a:endParaRPr baseline="33333" sz="750">
                        <a:latin typeface="Verdana"/>
                        <a:cs typeface="Verdan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93750">
                        <a:lnSpc>
                          <a:spcPts val="935"/>
                        </a:lnSpc>
                        <a:spcBef>
                          <a:spcPts val="85"/>
                        </a:spcBef>
                      </a:pPr>
                      <a:r>
                        <a:rPr dirty="0" sz="800" spc="-25">
                          <a:latin typeface="Verdana"/>
                          <a:cs typeface="Verdana"/>
                        </a:rPr>
                        <a:t>293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10795"/>
                </a:tc>
                <a:tc>
                  <a:txBody>
                    <a:bodyPr/>
                    <a:lstStyle/>
                    <a:p>
                      <a:pPr marL="605790">
                        <a:lnSpc>
                          <a:spcPts val="935"/>
                        </a:lnSpc>
                        <a:spcBef>
                          <a:spcPts val="85"/>
                        </a:spcBef>
                      </a:pPr>
                      <a:r>
                        <a:rPr dirty="0" sz="800" spc="-25">
                          <a:latin typeface="Verdana"/>
                          <a:cs typeface="Verdana"/>
                        </a:rPr>
                        <a:t>296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10795"/>
                </a:tc>
                <a:tc>
                  <a:txBody>
                    <a:bodyPr/>
                    <a:lstStyle/>
                    <a:p>
                      <a:pPr marL="591820">
                        <a:lnSpc>
                          <a:spcPts val="935"/>
                        </a:lnSpc>
                        <a:spcBef>
                          <a:spcPts val="85"/>
                        </a:spcBef>
                      </a:pPr>
                      <a:r>
                        <a:rPr dirty="0" sz="800" spc="-25">
                          <a:latin typeface="Verdana"/>
                          <a:cs typeface="Verdana"/>
                        </a:rPr>
                        <a:t>413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10795"/>
                </a:tc>
                <a:tc>
                  <a:txBody>
                    <a:bodyPr/>
                    <a:lstStyle/>
                    <a:p>
                      <a:pPr marL="613410">
                        <a:lnSpc>
                          <a:spcPts val="935"/>
                        </a:lnSpc>
                        <a:spcBef>
                          <a:spcPts val="85"/>
                        </a:spcBef>
                      </a:pPr>
                      <a:r>
                        <a:rPr dirty="0" sz="800" spc="-25">
                          <a:latin typeface="Verdana"/>
                          <a:cs typeface="Verdana"/>
                        </a:rPr>
                        <a:t>320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10795"/>
                </a:tc>
                <a:tc>
                  <a:txBody>
                    <a:bodyPr/>
                    <a:lstStyle/>
                    <a:p>
                      <a:pPr marL="605790">
                        <a:lnSpc>
                          <a:spcPts val="935"/>
                        </a:lnSpc>
                        <a:spcBef>
                          <a:spcPts val="85"/>
                        </a:spcBef>
                      </a:pPr>
                      <a:r>
                        <a:rPr dirty="0" sz="800" spc="-25">
                          <a:latin typeface="Verdana"/>
                          <a:cs typeface="Verdana"/>
                        </a:rPr>
                        <a:t>345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10795"/>
                </a:tc>
              </a:tr>
              <a:tr h="142240">
                <a:tc>
                  <a:txBody>
                    <a:bodyPr/>
                    <a:lstStyle/>
                    <a:p>
                      <a:pPr>
                        <a:lnSpc>
                          <a:spcPts val="960"/>
                        </a:lnSpc>
                        <a:tabLst>
                          <a:tab pos="163830" algn="l"/>
                          <a:tab pos="4304665" algn="l"/>
                        </a:tabLst>
                      </a:pPr>
                      <a:r>
                        <a:rPr dirty="0" u="sng" sz="80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dirty="0" u="sng" sz="800" spc="-35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Acquisition-related</a:t>
                      </a:r>
                      <a:r>
                        <a:rPr dirty="0" u="sng" sz="800" spc="25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u="sng" sz="800" spc="-2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costs</a:t>
                      </a:r>
                      <a:r>
                        <a:rPr dirty="0" u="sng" sz="80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42900">
                        <a:lnSpc>
                          <a:spcPts val="875"/>
                        </a:lnSpc>
                        <a:spcBef>
                          <a:spcPts val="85"/>
                        </a:spcBef>
                      </a:pPr>
                      <a:r>
                        <a:rPr dirty="0" sz="800" spc="-33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10795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2155">
                        <a:lnSpc>
                          <a:spcPts val="875"/>
                        </a:lnSpc>
                        <a:spcBef>
                          <a:spcPts val="85"/>
                        </a:spcBef>
                      </a:pPr>
                      <a:r>
                        <a:rPr dirty="0" sz="800" spc="-33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10795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5645">
                        <a:lnSpc>
                          <a:spcPts val="875"/>
                        </a:lnSpc>
                        <a:spcBef>
                          <a:spcPts val="85"/>
                        </a:spcBef>
                      </a:pPr>
                      <a:r>
                        <a:rPr dirty="0" sz="800" spc="-50">
                          <a:latin typeface="Verdana"/>
                          <a:cs typeface="Verdana"/>
                        </a:rPr>
                        <a:t>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10795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7235">
                        <a:lnSpc>
                          <a:spcPts val="875"/>
                        </a:lnSpc>
                        <a:spcBef>
                          <a:spcPts val="85"/>
                        </a:spcBef>
                      </a:pPr>
                      <a:r>
                        <a:rPr dirty="0" sz="800" spc="-50">
                          <a:latin typeface="Verdana"/>
                          <a:cs typeface="Verdana"/>
                        </a:rPr>
                        <a:t>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10795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4465">
                        <a:lnSpc>
                          <a:spcPts val="875"/>
                        </a:lnSpc>
                        <a:spcBef>
                          <a:spcPts val="85"/>
                        </a:spcBef>
                      </a:pPr>
                      <a:r>
                        <a:rPr dirty="0" sz="800" spc="-50">
                          <a:latin typeface="Verdana"/>
                          <a:cs typeface="Verdana"/>
                        </a:rPr>
                        <a:t>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10795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4304665" algn="l"/>
                        </a:tabLst>
                      </a:pPr>
                      <a:r>
                        <a:rPr dirty="0" u="sng" sz="800" spc="12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u="sng" sz="800" spc="-4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Non-</a:t>
                      </a:r>
                      <a:r>
                        <a:rPr dirty="0" u="sng" sz="800" spc="-25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GAAP</a:t>
                      </a:r>
                      <a:r>
                        <a:rPr dirty="0" u="sng" sz="800" spc="-45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u="sng" sz="800" spc="-6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Sales</a:t>
                      </a:r>
                      <a:r>
                        <a:rPr dirty="0" u="sng" sz="800" spc="-45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u="sng" sz="800" spc="-35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u="sng" sz="800" spc="-45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u="sng" sz="800" spc="-35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Marketing</a:t>
                      </a:r>
                      <a:r>
                        <a:rPr dirty="0" u="sng" sz="800" spc="-4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u="sng" sz="800" spc="-1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Expense</a:t>
                      </a:r>
                      <a:r>
                        <a:rPr dirty="0" u="sng" sz="80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04215">
                        <a:lnSpc>
                          <a:spcPts val="875"/>
                        </a:lnSpc>
                        <a:spcBef>
                          <a:spcPts val="150"/>
                        </a:spcBef>
                      </a:pPr>
                      <a:r>
                        <a:rPr dirty="0" sz="800" spc="-10">
                          <a:latin typeface="Verdana"/>
                          <a:cs typeface="Verdana"/>
                        </a:rPr>
                        <a:t>2,920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1905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6255">
                        <a:lnSpc>
                          <a:spcPts val="875"/>
                        </a:lnSpc>
                        <a:spcBef>
                          <a:spcPts val="150"/>
                        </a:spcBef>
                      </a:pPr>
                      <a:r>
                        <a:rPr dirty="0" sz="800" spc="-10">
                          <a:latin typeface="Verdana"/>
                          <a:cs typeface="Verdana"/>
                        </a:rPr>
                        <a:t>2,930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1905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2284">
                        <a:lnSpc>
                          <a:spcPts val="875"/>
                        </a:lnSpc>
                        <a:spcBef>
                          <a:spcPts val="150"/>
                        </a:spcBef>
                      </a:pPr>
                      <a:r>
                        <a:rPr dirty="0" sz="800" spc="-10">
                          <a:latin typeface="Verdana"/>
                          <a:cs typeface="Verdana"/>
                        </a:rPr>
                        <a:t>3,295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1905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3240">
                        <a:lnSpc>
                          <a:spcPts val="875"/>
                        </a:lnSpc>
                        <a:spcBef>
                          <a:spcPts val="150"/>
                        </a:spcBef>
                      </a:pPr>
                      <a:r>
                        <a:rPr dirty="0" sz="800" spc="-10">
                          <a:latin typeface="Verdana"/>
                          <a:cs typeface="Verdana"/>
                        </a:rPr>
                        <a:t>3,129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1905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6255">
                        <a:lnSpc>
                          <a:spcPts val="875"/>
                        </a:lnSpc>
                        <a:spcBef>
                          <a:spcPts val="150"/>
                        </a:spcBef>
                      </a:pPr>
                      <a:r>
                        <a:rPr dirty="0" sz="800" spc="-10">
                          <a:latin typeface="Verdana"/>
                          <a:cs typeface="Verdana"/>
                        </a:rPr>
                        <a:t>3,225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1905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335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dirty="0" sz="800" spc="-35" b="1">
                          <a:latin typeface="Tahoma"/>
                          <a:cs typeface="Tahoma"/>
                        </a:rPr>
                        <a:t>Non-</a:t>
                      </a:r>
                      <a:r>
                        <a:rPr dirty="0" sz="800" spc="-20" b="1">
                          <a:latin typeface="Tahoma"/>
                          <a:cs typeface="Tahoma"/>
                        </a:rPr>
                        <a:t>GAAP</a:t>
                      </a:r>
                      <a:r>
                        <a:rPr dirty="0" sz="800" spc="-25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30" b="1">
                          <a:latin typeface="Tahoma"/>
                          <a:cs typeface="Tahoma"/>
                        </a:rPr>
                        <a:t>Sales</a:t>
                      </a:r>
                      <a:r>
                        <a:rPr dirty="0" sz="800" spc="-20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b="1"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800" spc="-20" b="1">
                          <a:latin typeface="Tahoma"/>
                          <a:cs typeface="Tahoma"/>
                        </a:rPr>
                        <a:t> Marketing </a:t>
                      </a:r>
                      <a:r>
                        <a:rPr dirty="0" sz="800" spc="-25" b="1">
                          <a:latin typeface="Tahoma"/>
                          <a:cs typeface="Tahoma"/>
                        </a:rPr>
                        <a:t>Expense</a:t>
                      </a:r>
                      <a:r>
                        <a:rPr dirty="0" sz="800" spc="-20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30" b="1">
                          <a:latin typeface="Tahoma"/>
                          <a:cs typeface="Tahoma"/>
                        </a:rPr>
                        <a:t>as</a:t>
                      </a:r>
                      <a:r>
                        <a:rPr dirty="0" sz="800" spc="-20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b="1">
                          <a:latin typeface="Tahoma"/>
                          <a:cs typeface="Tahoma"/>
                        </a:rPr>
                        <a:t>a</a:t>
                      </a:r>
                      <a:r>
                        <a:rPr dirty="0" sz="800" spc="-20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b="1">
                          <a:latin typeface="Tahoma"/>
                          <a:cs typeface="Tahoma"/>
                        </a:rPr>
                        <a:t>%</a:t>
                      </a:r>
                      <a:r>
                        <a:rPr dirty="0" sz="800" spc="-20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b="1">
                          <a:latin typeface="Tahoma"/>
                          <a:cs typeface="Tahoma"/>
                        </a:rPr>
                        <a:t>of</a:t>
                      </a:r>
                      <a:r>
                        <a:rPr dirty="0" sz="800" spc="-20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10" b="1">
                          <a:latin typeface="Tahoma"/>
                          <a:cs typeface="Tahoma"/>
                        </a:rPr>
                        <a:t>Revenue</a:t>
                      </a:r>
                      <a:r>
                        <a:rPr dirty="0" baseline="33333" sz="750" spc="-15" b="1">
                          <a:latin typeface="Tahoma"/>
                          <a:cs typeface="Tahoma"/>
                        </a:rPr>
                        <a:t>2</a:t>
                      </a:r>
                      <a:endParaRPr baseline="33333" sz="750">
                        <a:latin typeface="Tahoma"/>
                        <a:cs typeface="Tahoma"/>
                      </a:endParaRPr>
                    </a:p>
                  </a:txBody>
                  <a:tcPr marL="0" marR="0" marB="0" marT="26670"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797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800" b="1">
                          <a:latin typeface="Tahoma"/>
                          <a:cs typeface="Tahoma"/>
                        </a:rPr>
                        <a:t>29</a:t>
                      </a:r>
                      <a:r>
                        <a:rPr dirty="0" sz="800" spc="15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50" b="1">
                          <a:latin typeface="Tahoma"/>
                          <a:cs typeface="Tahoma"/>
                        </a:rPr>
                        <a:t>%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34290"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752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800" b="1">
                          <a:latin typeface="Tahoma"/>
                          <a:cs typeface="Tahoma"/>
                        </a:rPr>
                        <a:t>29</a:t>
                      </a:r>
                      <a:r>
                        <a:rPr dirty="0" sz="800" spc="15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50" b="1">
                          <a:latin typeface="Tahoma"/>
                          <a:cs typeface="Tahoma"/>
                        </a:rPr>
                        <a:t>%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34290"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8224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800" b="1">
                          <a:latin typeface="Tahoma"/>
                          <a:cs typeface="Tahoma"/>
                        </a:rPr>
                        <a:t>29</a:t>
                      </a:r>
                      <a:r>
                        <a:rPr dirty="0" sz="800" spc="15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50" b="1">
                          <a:latin typeface="Tahoma"/>
                          <a:cs typeface="Tahoma"/>
                        </a:rPr>
                        <a:t>%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34290"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797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800" b="1">
                          <a:latin typeface="Tahoma"/>
                          <a:cs typeface="Tahoma"/>
                        </a:rPr>
                        <a:t>28</a:t>
                      </a:r>
                      <a:r>
                        <a:rPr dirty="0" sz="800" spc="15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50" b="1">
                          <a:latin typeface="Tahoma"/>
                          <a:cs typeface="Tahoma"/>
                        </a:rPr>
                        <a:t>%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34290"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5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800" b="1">
                          <a:latin typeface="Tahoma"/>
                          <a:cs typeface="Tahoma"/>
                        </a:rPr>
                        <a:t>29</a:t>
                      </a:r>
                      <a:r>
                        <a:rPr dirty="0" sz="800" spc="15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50" b="1">
                          <a:latin typeface="Tahoma"/>
                          <a:cs typeface="Tahoma"/>
                        </a:rPr>
                        <a:t>%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34290"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DADADA"/>
                    </a:solidFill>
                  </a:tcPr>
                </a:tc>
              </a:tr>
              <a:tr h="28765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800" spc="-25">
                          <a:latin typeface="Verdana"/>
                          <a:cs typeface="Verdana"/>
                        </a:rPr>
                        <a:t>GAAP</a:t>
                      </a:r>
                      <a:r>
                        <a:rPr dirty="0" sz="800" spc="-3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00" spc="-45">
                          <a:latin typeface="Verdana"/>
                          <a:cs typeface="Verdana"/>
                        </a:rPr>
                        <a:t>Research</a:t>
                      </a:r>
                      <a:r>
                        <a:rPr dirty="0" sz="800" spc="-3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00" spc="-35">
                          <a:latin typeface="Verdana"/>
                          <a:cs typeface="Verdana"/>
                        </a:rPr>
                        <a:t>and Development</a:t>
                      </a:r>
                      <a:r>
                        <a:rPr dirty="0" sz="800" spc="-2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00" spc="-10">
                          <a:latin typeface="Verdana"/>
                          <a:cs typeface="Verdana"/>
                        </a:rPr>
                        <a:t>Expense</a:t>
                      </a:r>
                      <a:endParaRPr sz="800">
                        <a:latin typeface="Verdana"/>
                        <a:cs typeface="Verdana"/>
                      </a:endParaRPr>
                    </a:p>
                    <a:p>
                      <a:pPr marL="3302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800" spc="-10">
                          <a:latin typeface="Verdana"/>
                          <a:cs typeface="Verdana"/>
                        </a:rPr>
                        <a:t>Less: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0421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800" spc="-10">
                          <a:latin typeface="Verdana"/>
                          <a:cs typeface="Verdana"/>
                        </a:rPr>
                        <a:t>1,481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19050"/>
                </a:tc>
                <a:tc>
                  <a:txBody>
                    <a:bodyPr/>
                    <a:lstStyle/>
                    <a:p>
                      <a:pPr marL="51625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800" spc="-10">
                          <a:latin typeface="Verdana"/>
                          <a:cs typeface="Verdana"/>
                        </a:rPr>
                        <a:t>1,433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19050"/>
                </a:tc>
                <a:tc>
                  <a:txBody>
                    <a:bodyPr/>
                    <a:lstStyle/>
                    <a:p>
                      <a:pPr marL="502284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800" spc="-10">
                          <a:latin typeface="Verdana"/>
                          <a:cs typeface="Verdana"/>
                        </a:rPr>
                        <a:t>1,619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19050"/>
                </a:tc>
                <a:tc>
                  <a:txBody>
                    <a:bodyPr/>
                    <a:lstStyle/>
                    <a:p>
                      <a:pPr marL="52324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800" spc="-10">
                          <a:latin typeface="Verdana"/>
                          <a:cs typeface="Verdana"/>
                        </a:rPr>
                        <a:t>1,627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19050"/>
                </a:tc>
                <a:tc>
                  <a:txBody>
                    <a:bodyPr/>
                    <a:lstStyle/>
                    <a:p>
                      <a:pPr marL="51625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800" spc="-10">
                          <a:latin typeface="Verdana"/>
                          <a:cs typeface="Verdana"/>
                        </a:rPr>
                        <a:t>1,687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19050"/>
                </a:tc>
              </a:tr>
              <a:tr h="148590">
                <a:tc>
                  <a:txBody>
                    <a:bodyPr/>
                    <a:lstStyle/>
                    <a:p>
                      <a:pPr marL="16446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800" spc="-60">
                          <a:latin typeface="Verdana"/>
                          <a:cs typeface="Verdana"/>
                        </a:rPr>
                        <a:t>Stock-</a:t>
                      </a:r>
                      <a:r>
                        <a:rPr dirty="0" sz="800" spc="-35">
                          <a:latin typeface="Verdana"/>
                          <a:cs typeface="Verdana"/>
                        </a:rPr>
                        <a:t>based</a:t>
                      </a:r>
                      <a:r>
                        <a:rPr dirty="0" sz="8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00" spc="-30">
                          <a:latin typeface="Verdana"/>
                          <a:cs typeface="Verdana"/>
                        </a:rPr>
                        <a:t>compensation</a:t>
                      </a:r>
                      <a:r>
                        <a:rPr dirty="0" sz="800" spc="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00" spc="-10">
                          <a:latin typeface="Verdana"/>
                          <a:cs typeface="Verdana"/>
                        </a:rPr>
                        <a:t>expense</a:t>
                      </a:r>
                      <a:r>
                        <a:rPr dirty="0" baseline="33333" sz="750" spc="-15">
                          <a:solidFill>
                            <a:srgbClr val="707070"/>
                          </a:solidFill>
                          <a:latin typeface="Verdana"/>
                          <a:cs typeface="Verdana"/>
                        </a:rPr>
                        <a:t>1</a:t>
                      </a:r>
                      <a:endParaRPr baseline="33333" sz="750">
                        <a:latin typeface="Verdana"/>
                        <a:cs typeface="Verdana"/>
                      </a:endParaRPr>
                    </a:p>
                  </a:txBody>
                  <a:tcPr marL="0" marR="0" marB="0" marT="5080"/>
                </a:tc>
                <a:tc>
                  <a:txBody>
                    <a:bodyPr/>
                    <a:lstStyle/>
                    <a:p>
                      <a:pPr marL="793750">
                        <a:lnSpc>
                          <a:spcPts val="935"/>
                        </a:lnSpc>
                        <a:spcBef>
                          <a:spcPts val="135"/>
                        </a:spcBef>
                      </a:pPr>
                      <a:r>
                        <a:rPr dirty="0" sz="800" spc="-25">
                          <a:latin typeface="Verdana"/>
                          <a:cs typeface="Verdana"/>
                        </a:rPr>
                        <a:t>280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17145"/>
                </a:tc>
                <a:tc>
                  <a:txBody>
                    <a:bodyPr/>
                    <a:lstStyle/>
                    <a:p>
                      <a:pPr marL="605790">
                        <a:lnSpc>
                          <a:spcPts val="935"/>
                        </a:lnSpc>
                        <a:spcBef>
                          <a:spcPts val="135"/>
                        </a:spcBef>
                      </a:pPr>
                      <a:r>
                        <a:rPr dirty="0" sz="800" spc="-25">
                          <a:latin typeface="Verdana"/>
                          <a:cs typeface="Verdana"/>
                        </a:rPr>
                        <a:t>271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17145"/>
                </a:tc>
                <a:tc>
                  <a:txBody>
                    <a:bodyPr/>
                    <a:lstStyle/>
                    <a:p>
                      <a:pPr marL="591820">
                        <a:lnSpc>
                          <a:spcPts val="935"/>
                        </a:lnSpc>
                        <a:spcBef>
                          <a:spcPts val="135"/>
                        </a:spcBef>
                      </a:pPr>
                      <a:r>
                        <a:rPr dirty="0" sz="800" spc="-25">
                          <a:latin typeface="Verdana"/>
                          <a:cs typeface="Verdana"/>
                        </a:rPr>
                        <a:t>336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17145"/>
                </a:tc>
                <a:tc>
                  <a:txBody>
                    <a:bodyPr/>
                    <a:lstStyle/>
                    <a:p>
                      <a:pPr marL="613410">
                        <a:lnSpc>
                          <a:spcPts val="935"/>
                        </a:lnSpc>
                        <a:spcBef>
                          <a:spcPts val="135"/>
                        </a:spcBef>
                      </a:pPr>
                      <a:r>
                        <a:rPr dirty="0" sz="800" spc="-25">
                          <a:latin typeface="Verdana"/>
                          <a:cs typeface="Verdana"/>
                        </a:rPr>
                        <a:t>310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17145"/>
                </a:tc>
                <a:tc>
                  <a:txBody>
                    <a:bodyPr/>
                    <a:lstStyle/>
                    <a:p>
                      <a:pPr marL="605790">
                        <a:lnSpc>
                          <a:spcPts val="935"/>
                        </a:lnSpc>
                        <a:spcBef>
                          <a:spcPts val="135"/>
                        </a:spcBef>
                      </a:pPr>
                      <a:r>
                        <a:rPr dirty="0" sz="800" spc="-25">
                          <a:latin typeface="Verdana"/>
                          <a:cs typeface="Verdana"/>
                        </a:rPr>
                        <a:t>301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17145"/>
                </a:tc>
              </a:tr>
              <a:tr h="142240">
                <a:tc>
                  <a:txBody>
                    <a:bodyPr/>
                    <a:lstStyle/>
                    <a:p>
                      <a:pPr>
                        <a:lnSpc>
                          <a:spcPts val="960"/>
                        </a:lnSpc>
                        <a:tabLst>
                          <a:tab pos="163830" algn="l"/>
                          <a:tab pos="4304665" algn="l"/>
                        </a:tabLst>
                      </a:pPr>
                      <a:r>
                        <a:rPr dirty="0" u="sng" sz="80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dirty="0" u="sng" sz="800" spc="-35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Acquisition-related</a:t>
                      </a:r>
                      <a:r>
                        <a:rPr dirty="0" u="sng" sz="800" spc="25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u="sng" sz="800" spc="-2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costs</a:t>
                      </a:r>
                      <a:r>
                        <a:rPr dirty="0" u="sng" sz="80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42900">
                        <a:lnSpc>
                          <a:spcPts val="875"/>
                        </a:lnSpc>
                        <a:spcBef>
                          <a:spcPts val="85"/>
                        </a:spcBef>
                      </a:pPr>
                      <a:r>
                        <a:rPr dirty="0" sz="800" spc="-33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10795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2155">
                        <a:lnSpc>
                          <a:spcPts val="875"/>
                        </a:lnSpc>
                        <a:spcBef>
                          <a:spcPts val="85"/>
                        </a:spcBef>
                      </a:pPr>
                      <a:r>
                        <a:rPr dirty="0" sz="800" spc="-33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10795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5645">
                        <a:lnSpc>
                          <a:spcPts val="875"/>
                        </a:lnSpc>
                        <a:spcBef>
                          <a:spcPts val="85"/>
                        </a:spcBef>
                      </a:pPr>
                      <a:r>
                        <a:rPr dirty="0" sz="800" spc="-50">
                          <a:latin typeface="Verdana"/>
                          <a:cs typeface="Verdana"/>
                        </a:rPr>
                        <a:t>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10795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7235">
                        <a:lnSpc>
                          <a:spcPts val="875"/>
                        </a:lnSpc>
                        <a:spcBef>
                          <a:spcPts val="85"/>
                        </a:spcBef>
                      </a:pPr>
                      <a:r>
                        <a:rPr dirty="0" sz="800" spc="-50">
                          <a:latin typeface="Verdana"/>
                          <a:cs typeface="Verdana"/>
                        </a:rPr>
                        <a:t>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10795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4465">
                        <a:lnSpc>
                          <a:spcPts val="875"/>
                        </a:lnSpc>
                        <a:spcBef>
                          <a:spcPts val="85"/>
                        </a:spcBef>
                      </a:pPr>
                      <a:r>
                        <a:rPr dirty="0" sz="800" spc="-50">
                          <a:latin typeface="Verdana"/>
                          <a:cs typeface="Verdana"/>
                        </a:rPr>
                        <a:t>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10795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4304665" algn="l"/>
                        </a:tabLst>
                      </a:pPr>
                      <a:r>
                        <a:rPr dirty="0" u="sng" sz="800" spc="13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u="sng" sz="800" spc="-4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Non-</a:t>
                      </a:r>
                      <a:r>
                        <a:rPr dirty="0" u="sng" sz="800" spc="-25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GAAP</a:t>
                      </a:r>
                      <a:r>
                        <a:rPr dirty="0" u="sng" sz="800" spc="-4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u="sng" sz="800" spc="-45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Research</a:t>
                      </a:r>
                      <a:r>
                        <a:rPr dirty="0" u="sng" sz="800" spc="-35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and</a:t>
                      </a:r>
                      <a:r>
                        <a:rPr dirty="0" u="sng" sz="800" spc="-45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u="sng" sz="800" spc="-35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Development </a:t>
                      </a:r>
                      <a:r>
                        <a:rPr dirty="0" u="sng" sz="800" spc="-1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Expense</a:t>
                      </a:r>
                      <a:r>
                        <a:rPr dirty="0" u="sng" sz="80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04215">
                        <a:lnSpc>
                          <a:spcPts val="875"/>
                        </a:lnSpc>
                        <a:spcBef>
                          <a:spcPts val="150"/>
                        </a:spcBef>
                      </a:pPr>
                      <a:r>
                        <a:rPr dirty="0" sz="800" spc="-10">
                          <a:latin typeface="Verdana"/>
                          <a:cs typeface="Verdana"/>
                        </a:rPr>
                        <a:t>1,201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1905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6255">
                        <a:lnSpc>
                          <a:spcPts val="875"/>
                        </a:lnSpc>
                        <a:spcBef>
                          <a:spcPts val="150"/>
                        </a:spcBef>
                      </a:pPr>
                      <a:r>
                        <a:rPr dirty="0" sz="800" spc="-10">
                          <a:latin typeface="Verdana"/>
                          <a:cs typeface="Verdana"/>
                        </a:rPr>
                        <a:t>1,162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1905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2284">
                        <a:lnSpc>
                          <a:spcPts val="875"/>
                        </a:lnSpc>
                        <a:spcBef>
                          <a:spcPts val="150"/>
                        </a:spcBef>
                      </a:pPr>
                      <a:r>
                        <a:rPr dirty="0" sz="800" spc="-10">
                          <a:latin typeface="Verdana"/>
                          <a:cs typeface="Verdana"/>
                        </a:rPr>
                        <a:t>1,282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1905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3240">
                        <a:lnSpc>
                          <a:spcPts val="875"/>
                        </a:lnSpc>
                        <a:spcBef>
                          <a:spcPts val="150"/>
                        </a:spcBef>
                      </a:pPr>
                      <a:r>
                        <a:rPr dirty="0" sz="800" spc="-10">
                          <a:latin typeface="Verdana"/>
                          <a:cs typeface="Verdana"/>
                        </a:rPr>
                        <a:t>1,315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1905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6255">
                        <a:lnSpc>
                          <a:spcPts val="875"/>
                        </a:lnSpc>
                        <a:spcBef>
                          <a:spcPts val="150"/>
                        </a:spcBef>
                      </a:pPr>
                      <a:r>
                        <a:rPr dirty="0" sz="800" spc="-10">
                          <a:latin typeface="Verdana"/>
                          <a:cs typeface="Verdana"/>
                        </a:rPr>
                        <a:t>1,383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1905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335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dirty="0" sz="800" spc="-35" b="1">
                          <a:latin typeface="Tahoma"/>
                          <a:cs typeface="Tahoma"/>
                        </a:rPr>
                        <a:t>Non-</a:t>
                      </a:r>
                      <a:r>
                        <a:rPr dirty="0" sz="800" spc="-20" b="1">
                          <a:latin typeface="Tahoma"/>
                          <a:cs typeface="Tahoma"/>
                        </a:rPr>
                        <a:t>GAAP</a:t>
                      </a:r>
                      <a:r>
                        <a:rPr dirty="0" sz="800" spc="-15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30" b="1">
                          <a:latin typeface="Tahoma"/>
                          <a:cs typeface="Tahoma"/>
                        </a:rPr>
                        <a:t>Research</a:t>
                      </a:r>
                      <a:r>
                        <a:rPr dirty="0" sz="800" spc="-10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b="1"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800" spc="-15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20" b="1">
                          <a:latin typeface="Tahoma"/>
                          <a:cs typeface="Tahoma"/>
                        </a:rPr>
                        <a:t>Development</a:t>
                      </a:r>
                      <a:r>
                        <a:rPr dirty="0" sz="800" spc="-10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25" b="1">
                          <a:latin typeface="Tahoma"/>
                          <a:cs typeface="Tahoma"/>
                        </a:rPr>
                        <a:t>Expense</a:t>
                      </a:r>
                      <a:r>
                        <a:rPr dirty="0" sz="800" spc="-10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30" b="1">
                          <a:latin typeface="Tahoma"/>
                          <a:cs typeface="Tahoma"/>
                        </a:rPr>
                        <a:t>as</a:t>
                      </a:r>
                      <a:r>
                        <a:rPr dirty="0" sz="800" spc="-15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b="1">
                          <a:latin typeface="Tahoma"/>
                          <a:cs typeface="Tahoma"/>
                        </a:rPr>
                        <a:t>a</a:t>
                      </a:r>
                      <a:r>
                        <a:rPr dirty="0" sz="800" spc="-10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b="1">
                          <a:latin typeface="Tahoma"/>
                          <a:cs typeface="Tahoma"/>
                        </a:rPr>
                        <a:t>%</a:t>
                      </a:r>
                      <a:r>
                        <a:rPr dirty="0" sz="800" spc="-10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b="1">
                          <a:latin typeface="Tahoma"/>
                          <a:cs typeface="Tahoma"/>
                        </a:rPr>
                        <a:t>of</a:t>
                      </a:r>
                      <a:r>
                        <a:rPr dirty="0" sz="800" spc="-15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10" b="1">
                          <a:latin typeface="Tahoma"/>
                          <a:cs typeface="Tahoma"/>
                        </a:rPr>
                        <a:t>Revenue</a:t>
                      </a:r>
                      <a:r>
                        <a:rPr dirty="0" baseline="33333" sz="750" spc="-15" b="1">
                          <a:latin typeface="Tahoma"/>
                          <a:cs typeface="Tahoma"/>
                        </a:rPr>
                        <a:t>2</a:t>
                      </a:r>
                      <a:endParaRPr baseline="33333" sz="750">
                        <a:latin typeface="Tahoma"/>
                        <a:cs typeface="Tahoma"/>
                      </a:endParaRPr>
                    </a:p>
                  </a:txBody>
                  <a:tcPr marL="0" marR="0" marB="0" marT="26670"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797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800" b="1">
                          <a:latin typeface="Tahoma"/>
                          <a:cs typeface="Tahoma"/>
                        </a:rPr>
                        <a:t>12</a:t>
                      </a:r>
                      <a:r>
                        <a:rPr dirty="0" sz="800" spc="15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50" b="1">
                          <a:latin typeface="Tahoma"/>
                          <a:cs typeface="Tahoma"/>
                        </a:rPr>
                        <a:t>%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34290"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752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800" b="1">
                          <a:latin typeface="Tahoma"/>
                          <a:cs typeface="Tahoma"/>
                        </a:rPr>
                        <a:t>11</a:t>
                      </a:r>
                      <a:r>
                        <a:rPr dirty="0" sz="800" spc="15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50" b="1">
                          <a:latin typeface="Tahoma"/>
                          <a:cs typeface="Tahoma"/>
                        </a:rPr>
                        <a:t>%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34290"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8224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800" b="1">
                          <a:latin typeface="Tahoma"/>
                          <a:cs typeface="Tahoma"/>
                        </a:rPr>
                        <a:t>12</a:t>
                      </a:r>
                      <a:r>
                        <a:rPr dirty="0" sz="800" spc="15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50" b="1">
                          <a:latin typeface="Tahoma"/>
                          <a:cs typeface="Tahoma"/>
                        </a:rPr>
                        <a:t>%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34290"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797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800" b="1">
                          <a:latin typeface="Tahoma"/>
                          <a:cs typeface="Tahoma"/>
                        </a:rPr>
                        <a:t>12</a:t>
                      </a:r>
                      <a:r>
                        <a:rPr dirty="0" sz="800" spc="15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50" b="1">
                          <a:latin typeface="Tahoma"/>
                          <a:cs typeface="Tahoma"/>
                        </a:rPr>
                        <a:t>%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34290"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5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800" b="1">
                          <a:latin typeface="Tahoma"/>
                          <a:cs typeface="Tahoma"/>
                        </a:rPr>
                        <a:t>12</a:t>
                      </a:r>
                      <a:r>
                        <a:rPr dirty="0" sz="800" spc="15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50" b="1">
                          <a:latin typeface="Tahoma"/>
                          <a:cs typeface="Tahoma"/>
                        </a:rPr>
                        <a:t>%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34290"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DADADA"/>
                    </a:solidFill>
                  </a:tcPr>
                </a:tc>
              </a:tr>
              <a:tr h="28765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800" spc="-25">
                          <a:latin typeface="Verdana"/>
                          <a:cs typeface="Verdana"/>
                        </a:rPr>
                        <a:t>GAAP</a:t>
                      </a:r>
                      <a:r>
                        <a:rPr dirty="0" sz="800" spc="-3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00" spc="-40">
                          <a:latin typeface="Verdana"/>
                          <a:cs typeface="Verdana"/>
                        </a:rPr>
                        <a:t>General</a:t>
                      </a:r>
                      <a:r>
                        <a:rPr dirty="0" sz="800" spc="-2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00" spc="-35"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sz="800" spc="-3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00" spc="-40">
                          <a:latin typeface="Verdana"/>
                          <a:cs typeface="Verdana"/>
                        </a:rPr>
                        <a:t>Administrative</a:t>
                      </a:r>
                      <a:r>
                        <a:rPr dirty="0" sz="800" spc="-2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00" spc="-10">
                          <a:latin typeface="Verdana"/>
                          <a:cs typeface="Verdana"/>
                        </a:rPr>
                        <a:t>Expense</a:t>
                      </a:r>
                      <a:endParaRPr sz="800">
                        <a:latin typeface="Verdana"/>
                        <a:cs typeface="Verdana"/>
                      </a:endParaRPr>
                    </a:p>
                    <a:p>
                      <a:pPr marL="3302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800" spc="-10">
                          <a:latin typeface="Verdana"/>
                          <a:cs typeface="Verdana"/>
                        </a:rPr>
                        <a:t>Less: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9375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800" spc="-25">
                          <a:latin typeface="Verdana"/>
                          <a:cs typeface="Verdana"/>
                        </a:rPr>
                        <a:t>734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19050"/>
                </a:tc>
                <a:tc>
                  <a:txBody>
                    <a:bodyPr/>
                    <a:lstStyle/>
                    <a:p>
                      <a:pPr marL="60579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800" spc="-25">
                          <a:latin typeface="Verdana"/>
                          <a:cs typeface="Verdana"/>
                        </a:rPr>
                        <a:t>667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19050"/>
                </a:tc>
                <a:tc>
                  <a:txBody>
                    <a:bodyPr/>
                    <a:lstStyle/>
                    <a:p>
                      <a:pPr marL="59182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800" spc="-25">
                          <a:latin typeface="Verdana"/>
                          <a:cs typeface="Verdana"/>
                        </a:rPr>
                        <a:t>902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19050"/>
                </a:tc>
                <a:tc>
                  <a:txBody>
                    <a:bodyPr/>
                    <a:lstStyle/>
                    <a:p>
                      <a:pPr marL="61341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800" spc="-25">
                          <a:latin typeface="Verdana"/>
                          <a:cs typeface="Verdana"/>
                        </a:rPr>
                        <a:t>740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19050"/>
                </a:tc>
                <a:tc>
                  <a:txBody>
                    <a:bodyPr/>
                    <a:lstStyle/>
                    <a:p>
                      <a:pPr marL="60579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800" spc="-25">
                          <a:latin typeface="Verdana"/>
                          <a:cs typeface="Verdana"/>
                        </a:rPr>
                        <a:t>725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19050"/>
                </a:tc>
              </a:tr>
              <a:tr h="150495">
                <a:tc>
                  <a:txBody>
                    <a:bodyPr/>
                    <a:lstStyle/>
                    <a:p>
                      <a:pPr marL="16446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800" spc="-60">
                          <a:latin typeface="Verdana"/>
                          <a:cs typeface="Verdana"/>
                        </a:rPr>
                        <a:t>Stock-</a:t>
                      </a:r>
                      <a:r>
                        <a:rPr dirty="0" sz="800" spc="-35">
                          <a:latin typeface="Verdana"/>
                          <a:cs typeface="Verdana"/>
                        </a:rPr>
                        <a:t>based</a:t>
                      </a:r>
                      <a:r>
                        <a:rPr dirty="0" sz="8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00" spc="-30">
                          <a:latin typeface="Verdana"/>
                          <a:cs typeface="Verdana"/>
                        </a:rPr>
                        <a:t>compensation</a:t>
                      </a:r>
                      <a:r>
                        <a:rPr dirty="0" sz="800" spc="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00" spc="-10">
                          <a:latin typeface="Verdana"/>
                          <a:cs typeface="Verdana"/>
                        </a:rPr>
                        <a:t>expense</a:t>
                      </a:r>
                      <a:r>
                        <a:rPr dirty="0" baseline="33333" sz="750" spc="-15">
                          <a:solidFill>
                            <a:srgbClr val="707070"/>
                          </a:solidFill>
                          <a:latin typeface="Verdana"/>
                          <a:cs typeface="Verdana"/>
                        </a:rPr>
                        <a:t>1</a:t>
                      </a:r>
                      <a:endParaRPr baseline="33333" sz="750">
                        <a:latin typeface="Verdana"/>
                        <a:cs typeface="Verdana"/>
                      </a:endParaRPr>
                    </a:p>
                  </a:txBody>
                  <a:tcPr marL="0" marR="0" marB="0" marT="5080"/>
                </a:tc>
                <a:tc>
                  <a:txBody>
                    <a:bodyPr/>
                    <a:lstStyle/>
                    <a:p>
                      <a:pPr marL="855344">
                        <a:lnSpc>
                          <a:spcPts val="955"/>
                        </a:lnSpc>
                        <a:spcBef>
                          <a:spcPts val="135"/>
                        </a:spcBef>
                      </a:pPr>
                      <a:r>
                        <a:rPr dirty="0" sz="800" spc="-25">
                          <a:latin typeface="Verdana"/>
                          <a:cs typeface="Verdana"/>
                        </a:rPr>
                        <a:t>94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17145"/>
                </a:tc>
                <a:tc>
                  <a:txBody>
                    <a:bodyPr/>
                    <a:lstStyle/>
                    <a:p>
                      <a:pPr marL="605790">
                        <a:lnSpc>
                          <a:spcPts val="955"/>
                        </a:lnSpc>
                        <a:spcBef>
                          <a:spcPts val="135"/>
                        </a:spcBef>
                      </a:pPr>
                      <a:r>
                        <a:rPr dirty="0" sz="800" spc="-25">
                          <a:latin typeface="Verdana"/>
                          <a:cs typeface="Verdana"/>
                        </a:rPr>
                        <a:t>109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17145"/>
                </a:tc>
                <a:tc>
                  <a:txBody>
                    <a:bodyPr/>
                    <a:lstStyle/>
                    <a:p>
                      <a:pPr marL="591820">
                        <a:lnSpc>
                          <a:spcPts val="955"/>
                        </a:lnSpc>
                        <a:spcBef>
                          <a:spcPts val="135"/>
                        </a:spcBef>
                      </a:pPr>
                      <a:r>
                        <a:rPr dirty="0" sz="800" spc="-25">
                          <a:latin typeface="Verdana"/>
                          <a:cs typeface="Verdana"/>
                        </a:rPr>
                        <a:t>187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17145"/>
                </a:tc>
                <a:tc>
                  <a:txBody>
                    <a:bodyPr/>
                    <a:lstStyle/>
                    <a:p>
                      <a:pPr marL="613410">
                        <a:lnSpc>
                          <a:spcPts val="955"/>
                        </a:lnSpc>
                        <a:spcBef>
                          <a:spcPts val="135"/>
                        </a:spcBef>
                      </a:pPr>
                      <a:r>
                        <a:rPr dirty="0" sz="800" spc="-25">
                          <a:latin typeface="Verdana"/>
                          <a:cs typeface="Verdana"/>
                        </a:rPr>
                        <a:t>102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17145"/>
                </a:tc>
                <a:tc>
                  <a:txBody>
                    <a:bodyPr/>
                    <a:lstStyle/>
                    <a:p>
                      <a:pPr marL="605790">
                        <a:lnSpc>
                          <a:spcPts val="955"/>
                        </a:lnSpc>
                        <a:spcBef>
                          <a:spcPts val="135"/>
                        </a:spcBef>
                      </a:pPr>
                      <a:r>
                        <a:rPr dirty="0" sz="800" spc="-25">
                          <a:latin typeface="Verdana"/>
                          <a:cs typeface="Verdana"/>
                        </a:rPr>
                        <a:t>111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17145"/>
                </a:tc>
              </a:tr>
              <a:tr h="1416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  <a:tabLst>
                          <a:tab pos="163830" algn="l"/>
                          <a:tab pos="4304665" algn="l"/>
                        </a:tabLst>
                      </a:pPr>
                      <a:r>
                        <a:rPr dirty="0" u="sng" sz="80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dirty="0" u="sng" sz="800" spc="-35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Acquisition-related</a:t>
                      </a:r>
                      <a:r>
                        <a:rPr dirty="0" u="sng" sz="800" spc="25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u="sng" sz="800" spc="-2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costs</a:t>
                      </a:r>
                      <a:r>
                        <a:rPr dirty="0" u="sng" sz="80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1905"/>
                </a:tc>
                <a:tc>
                  <a:txBody>
                    <a:bodyPr/>
                    <a:lstStyle/>
                    <a:p>
                      <a:pPr algn="r" marR="342900">
                        <a:lnSpc>
                          <a:spcPts val="950"/>
                        </a:lnSpc>
                        <a:spcBef>
                          <a:spcPts val="70"/>
                        </a:spcBef>
                      </a:pPr>
                      <a:r>
                        <a:rPr dirty="0" sz="800" spc="-33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889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2155">
                        <a:lnSpc>
                          <a:spcPts val="950"/>
                        </a:lnSpc>
                        <a:spcBef>
                          <a:spcPts val="70"/>
                        </a:spcBef>
                      </a:pPr>
                      <a:r>
                        <a:rPr dirty="0" sz="800" spc="-33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889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53415">
                        <a:lnSpc>
                          <a:spcPts val="950"/>
                        </a:lnSpc>
                        <a:spcBef>
                          <a:spcPts val="70"/>
                        </a:spcBef>
                      </a:pPr>
                      <a:r>
                        <a:rPr dirty="0" sz="800" spc="-25">
                          <a:latin typeface="Verdana"/>
                          <a:cs typeface="Verdana"/>
                        </a:rPr>
                        <a:t>62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889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5005">
                        <a:lnSpc>
                          <a:spcPts val="950"/>
                        </a:lnSpc>
                        <a:spcBef>
                          <a:spcPts val="70"/>
                        </a:spcBef>
                      </a:pPr>
                      <a:r>
                        <a:rPr dirty="0" sz="800" spc="-25">
                          <a:latin typeface="Verdana"/>
                          <a:cs typeface="Verdana"/>
                        </a:rPr>
                        <a:t>10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889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4465">
                        <a:lnSpc>
                          <a:spcPts val="950"/>
                        </a:lnSpc>
                        <a:spcBef>
                          <a:spcPts val="70"/>
                        </a:spcBef>
                      </a:pPr>
                      <a:r>
                        <a:rPr dirty="0" sz="800" spc="-25">
                          <a:latin typeface="Verdana"/>
                          <a:cs typeface="Verdana"/>
                        </a:rPr>
                        <a:t>17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889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800" spc="-40">
                          <a:latin typeface="Verdana"/>
                          <a:cs typeface="Verdana"/>
                        </a:rPr>
                        <a:t>Non-</a:t>
                      </a:r>
                      <a:r>
                        <a:rPr dirty="0" sz="800" spc="-25">
                          <a:latin typeface="Verdana"/>
                          <a:cs typeface="Verdana"/>
                        </a:rPr>
                        <a:t>GAAP </a:t>
                      </a:r>
                      <a:r>
                        <a:rPr dirty="0" sz="800" spc="-40">
                          <a:latin typeface="Verdana"/>
                          <a:cs typeface="Verdana"/>
                        </a:rPr>
                        <a:t>General</a:t>
                      </a:r>
                      <a:r>
                        <a:rPr dirty="0" sz="8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00" spc="-35"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sz="800" spc="-2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00" spc="-40">
                          <a:latin typeface="Verdana"/>
                          <a:cs typeface="Verdana"/>
                        </a:rPr>
                        <a:t>Administrative</a:t>
                      </a:r>
                      <a:r>
                        <a:rPr dirty="0" sz="800" spc="-2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00" spc="-10">
                          <a:latin typeface="Verdana"/>
                          <a:cs typeface="Verdana"/>
                        </a:rPr>
                        <a:t>Expense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2159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9375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800" spc="-25">
                          <a:latin typeface="Verdana"/>
                          <a:cs typeface="Verdana"/>
                        </a:rPr>
                        <a:t>640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2476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579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800" spc="-25">
                          <a:latin typeface="Verdana"/>
                          <a:cs typeface="Verdana"/>
                        </a:rPr>
                        <a:t>558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2476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9182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800" spc="-25">
                          <a:latin typeface="Verdana"/>
                          <a:cs typeface="Verdana"/>
                        </a:rPr>
                        <a:t>653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2476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341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800" spc="-25">
                          <a:latin typeface="Verdana"/>
                          <a:cs typeface="Verdana"/>
                        </a:rPr>
                        <a:t>628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2476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579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800" spc="-25">
                          <a:latin typeface="Verdana"/>
                          <a:cs typeface="Verdana"/>
                        </a:rPr>
                        <a:t>597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2476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dirty="0" sz="800" spc="-35" b="1">
                          <a:latin typeface="Tahoma"/>
                          <a:cs typeface="Tahoma"/>
                        </a:rPr>
                        <a:t>Non-</a:t>
                      </a:r>
                      <a:r>
                        <a:rPr dirty="0" sz="800" spc="-20" b="1">
                          <a:latin typeface="Tahoma"/>
                          <a:cs typeface="Tahoma"/>
                        </a:rPr>
                        <a:t>GAAP</a:t>
                      </a:r>
                      <a:r>
                        <a:rPr dirty="0" sz="800" spc="-15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20" b="1">
                          <a:latin typeface="Tahoma"/>
                          <a:cs typeface="Tahoma"/>
                        </a:rPr>
                        <a:t>General</a:t>
                      </a:r>
                      <a:r>
                        <a:rPr dirty="0" sz="800" spc="-15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b="1"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800" spc="-10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25" b="1">
                          <a:latin typeface="Tahoma"/>
                          <a:cs typeface="Tahoma"/>
                        </a:rPr>
                        <a:t>Administrative</a:t>
                      </a:r>
                      <a:r>
                        <a:rPr dirty="0" sz="800" spc="-15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25" b="1">
                          <a:latin typeface="Tahoma"/>
                          <a:cs typeface="Tahoma"/>
                        </a:rPr>
                        <a:t>Expense</a:t>
                      </a:r>
                      <a:r>
                        <a:rPr dirty="0" sz="800" spc="-10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30" b="1">
                          <a:latin typeface="Tahoma"/>
                          <a:cs typeface="Tahoma"/>
                        </a:rPr>
                        <a:t>as</a:t>
                      </a:r>
                      <a:r>
                        <a:rPr dirty="0" sz="800" spc="-15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b="1">
                          <a:latin typeface="Tahoma"/>
                          <a:cs typeface="Tahoma"/>
                        </a:rPr>
                        <a:t>a</a:t>
                      </a:r>
                      <a:r>
                        <a:rPr dirty="0" sz="800" spc="-10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b="1">
                          <a:latin typeface="Tahoma"/>
                          <a:cs typeface="Tahoma"/>
                        </a:rPr>
                        <a:t>%</a:t>
                      </a:r>
                      <a:r>
                        <a:rPr dirty="0" sz="800" spc="-15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b="1">
                          <a:latin typeface="Tahoma"/>
                          <a:cs typeface="Tahoma"/>
                        </a:rPr>
                        <a:t>of</a:t>
                      </a:r>
                      <a:r>
                        <a:rPr dirty="0" sz="800" spc="-15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10" b="1">
                          <a:latin typeface="Tahoma"/>
                          <a:cs typeface="Tahoma"/>
                        </a:rPr>
                        <a:t>Revenue</a:t>
                      </a:r>
                      <a:r>
                        <a:rPr dirty="0" baseline="33333" sz="750" spc="-15" b="1">
                          <a:latin typeface="Tahoma"/>
                          <a:cs typeface="Tahoma"/>
                        </a:rPr>
                        <a:t>2</a:t>
                      </a:r>
                      <a:endParaRPr baseline="33333" sz="750">
                        <a:latin typeface="Tahoma"/>
                        <a:cs typeface="Tahoma"/>
                      </a:endParaRPr>
                    </a:p>
                  </a:txBody>
                  <a:tcPr marL="0" marR="0" marB="0" marT="2667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ADADA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797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800" b="1">
                          <a:latin typeface="Tahoma"/>
                          <a:cs typeface="Tahoma"/>
                        </a:rPr>
                        <a:t>6</a:t>
                      </a:r>
                      <a:r>
                        <a:rPr dirty="0" sz="800" spc="40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60" b="1">
                          <a:latin typeface="Tahoma"/>
                          <a:cs typeface="Tahoma"/>
                        </a:rPr>
                        <a:t>%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3429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752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800" b="1">
                          <a:latin typeface="Tahoma"/>
                          <a:cs typeface="Tahoma"/>
                        </a:rPr>
                        <a:t>6</a:t>
                      </a:r>
                      <a:r>
                        <a:rPr dirty="0" sz="800" spc="40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60" b="1">
                          <a:latin typeface="Tahoma"/>
                          <a:cs typeface="Tahoma"/>
                        </a:rPr>
                        <a:t>%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3429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8224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800" b="1">
                          <a:latin typeface="Tahoma"/>
                          <a:cs typeface="Tahoma"/>
                        </a:rPr>
                        <a:t>6</a:t>
                      </a:r>
                      <a:r>
                        <a:rPr dirty="0" sz="800" spc="40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60" b="1">
                          <a:latin typeface="Tahoma"/>
                          <a:cs typeface="Tahoma"/>
                        </a:rPr>
                        <a:t>%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3429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797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800" b="1">
                          <a:latin typeface="Tahoma"/>
                          <a:cs typeface="Tahoma"/>
                        </a:rPr>
                        <a:t>5</a:t>
                      </a:r>
                      <a:r>
                        <a:rPr dirty="0" sz="800" spc="40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60" b="1">
                          <a:latin typeface="Tahoma"/>
                          <a:cs typeface="Tahoma"/>
                        </a:rPr>
                        <a:t>%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3429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5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800" b="1">
                          <a:latin typeface="Tahoma"/>
                          <a:cs typeface="Tahoma"/>
                        </a:rPr>
                        <a:t>5</a:t>
                      </a:r>
                      <a:r>
                        <a:rPr dirty="0" sz="800" spc="40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60" b="1">
                          <a:latin typeface="Tahoma"/>
                          <a:cs typeface="Tahoma"/>
                        </a:rPr>
                        <a:t>%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3429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800" spc="-25">
                          <a:latin typeface="Verdana"/>
                          <a:cs typeface="Verdana"/>
                        </a:rPr>
                        <a:t>GAAP</a:t>
                      </a:r>
                      <a:r>
                        <a:rPr dirty="0" sz="800" spc="-4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00" spc="-35">
                          <a:latin typeface="Verdana"/>
                          <a:cs typeface="Verdana"/>
                        </a:rPr>
                        <a:t>Operating</a:t>
                      </a:r>
                      <a:r>
                        <a:rPr dirty="0" sz="800" spc="-2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00" spc="-30">
                          <a:latin typeface="Verdana"/>
                          <a:cs typeface="Verdana"/>
                        </a:rPr>
                        <a:t>Margin </a:t>
                      </a:r>
                      <a:r>
                        <a:rPr dirty="0" sz="800" spc="6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102870">
                    <a:lnT w="1270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79705"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r>
                        <a:rPr dirty="0" sz="800" spc="-20">
                          <a:latin typeface="Verdana"/>
                          <a:cs typeface="Verdana"/>
                        </a:rPr>
                        <a:t>22.8</a:t>
                      </a:r>
                      <a:r>
                        <a:rPr dirty="0" sz="800" spc="-5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00" spc="6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110489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75260"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r>
                        <a:rPr dirty="0" sz="800" spc="-20">
                          <a:latin typeface="Verdana"/>
                          <a:cs typeface="Verdana"/>
                        </a:rPr>
                        <a:t>21.3</a:t>
                      </a:r>
                      <a:r>
                        <a:rPr dirty="0" sz="800" spc="-5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00" spc="6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110489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82245"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r>
                        <a:rPr dirty="0" sz="800" spc="-20">
                          <a:latin typeface="Verdana"/>
                          <a:cs typeface="Verdana"/>
                        </a:rPr>
                        <a:t>16.7</a:t>
                      </a:r>
                      <a:r>
                        <a:rPr dirty="0" sz="800" spc="-5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00" spc="6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110489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79705"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r>
                        <a:rPr dirty="0" sz="800" spc="-20">
                          <a:latin typeface="Verdana"/>
                          <a:cs typeface="Verdana"/>
                        </a:rPr>
                        <a:t>21.1</a:t>
                      </a:r>
                      <a:r>
                        <a:rPr dirty="0" sz="800" spc="-5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00" spc="6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110489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905"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r>
                        <a:rPr dirty="0" sz="800" spc="-20">
                          <a:latin typeface="Verdana"/>
                          <a:cs typeface="Verdana"/>
                        </a:rPr>
                        <a:t>20.5</a:t>
                      </a:r>
                      <a:r>
                        <a:rPr dirty="0" sz="800" spc="-5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00" spc="6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110489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7716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800" spc="-10">
                          <a:latin typeface="Verdana"/>
                          <a:cs typeface="Verdana"/>
                        </a:rPr>
                        <a:t>Plus: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203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84150">
                <a:tc>
                  <a:txBody>
                    <a:bodyPr/>
                    <a:lstStyle/>
                    <a:p>
                      <a:pPr marL="16446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800" spc="-35">
                          <a:latin typeface="Verdana"/>
                          <a:cs typeface="Verdana"/>
                        </a:rPr>
                        <a:t>Amortization</a:t>
                      </a:r>
                      <a:r>
                        <a:rPr dirty="0" sz="800" spc="-2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00" spc="-25">
                          <a:latin typeface="Verdana"/>
                          <a:cs typeface="Verdana"/>
                        </a:rPr>
                        <a:t>of</a:t>
                      </a:r>
                      <a:r>
                        <a:rPr dirty="0" sz="800" spc="-1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00" spc="-35">
                          <a:latin typeface="Verdana"/>
                          <a:cs typeface="Verdana"/>
                        </a:rPr>
                        <a:t>purchased</a:t>
                      </a:r>
                      <a:r>
                        <a:rPr dirty="0" sz="800" spc="-2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00" spc="-10">
                          <a:latin typeface="Verdana"/>
                          <a:cs typeface="Verdana"/>
                        </a:rPr>
                        <a:t>intangibles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24130"/>
                </a:tc>
                <a:tc>
                  <a:txBody>
                    <a:bodyPr/>
                    <a:lstStyle/>
                    <a:p>
                      <a:pPr algn="r" marR="17970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800" spc="-20">
                          <a:latin typeface="Verdana"/>
                          <a:cs typeface="Verdana"/>
                        </a:rPr>
                        <a:t>3.7</a:t>
                      </a:r>
                      <a:r>
                        <a:rPr dirty="0" sz="800" spc="-4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00" spc="6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31750"/>
                </a:tc>
                <a:tc>
                  <a:txBody>
                    <a:bodyPr/>
                    <a:lstStyle/>
                    <a:p>
                      <a:pPr algn="r" marR="17526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800" spc="-20">
                          <a:latin typeface="Verdana"/>
                          <a:cs typeface="Verdana"/>
                        </a:rPr>
                        <a:t>3.8</a:t>
                      </a:r>
                      <a:r>
                        <a:rPr dirty="0" sz="800" spc="-4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00" spc="6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31750"/>
                </a:tc>
                <a:tc>
                  <a:txBody>
                    <a:bodyPr/>
                    <a:lstStyle/>
                    <a:p>
                      <a:pPr algn="r" marR="1822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800" spc="-20">
                          <a:latin typeface="Verdana"/>
                          <a:cs typeface="Verdana"/>
                        </a:rPr>
                        <a:t>4.7</a:t>
                      </a:r>
                      <a:r>
                        <a:rPr dirty="0" sz="800" spc="-4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00" spc="6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31750"/>
                </a:tc>
                <a:tc>
                  <a:txBody>
                    <a:bodyPr/>
                    <a:lstStyle/>
                    <a:p>
                      <a:pPr algn="r" marR="17970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800" spc="-20">
                          <a:latin typeface="Verdana"/>
                          <a:cs typeface="Verdana"/>
                        </a:rPr>
                        <a:t>5.0</a:t>
                      </a:r>
                      <a:r>
                        <a:rPr dirty="0" sz="800" spc="-4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00" spc="6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31750"/>
                </a:tc>
                <a:tc>
                  <a:txBody>
                    <a:bodyPr/>
                    <a:lstStyle/>
                    <a:p>
                      <a:pPr algn="r" marR="190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800" spc="-20">
                          <a:latin typeface="Verdana"/>
                          <a:cs typeface="Verdana"/>
                        </a:rPr>
                        <a:t>4.6</a:t>
                      </a:r>
                      <a:r>
                        <a:rPr dirty="0" sz="800" spc="-4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00" spc="6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31750"/>
                </a:tc>
              </a:tr>
              <a:tr h="180975">
                <a:tc>
                  <a:txBody>
                    <a:bodyPr/>
                    <a:lstStyle/>
                    <a:p>
                      <a:pPr marL="16446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800" spc="-60">
                          <a:latin typeface="Verdana"/>
                          <a:cs typeface="Verdana"/>
                        </a:rPr>
                        <a:t>Stock-</a:t>
                      </a:r>
                      <a:r>
                        <a:rPr dirty="0" sz="800" spc="-35">
                          <a:latin typeface="Verdana"/>
                          <a:cs typeface="Verdana"/>
                        </a:rPr>
                        <a:t>based</a:t>
                      </a:r>
                      <a:r>
                        <a:rPr dirty="0" sz="8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00" spc="-30">
                          <a:latin typeface="Verdana"/>
                          <a:cs typeface="Verdana"/>
                        </a:rPr>
                        <a:t>compensation</a:t>
                      </a:r>
                      <a:r>
                        <a:rPr dirty="0" sz="800" spc="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00" spc="-10">
                          <a:latin typeface="Verdana"/>
                          <a:cs typeface="Verdana"/>
                        </a:rPr>
                        <a:t>expense</a:t>
                      </a:r>
                      <a:r>
                        <a:rPr dirty="0" baseline="33333" sz="750" spc="-15">
                          <a:solidFill>
                            <a:srgbClr val="707070"/>
                          </a:solidFill>
                          <a:latin typeface="Verdana"/>
                          <a:cs typeface="Verdana"/>
                        </a:rPr>
                        <a:t>1</a:t>
                      </a:r>
                      <a:endParaRPr baseline="33333" sz="750">
                        <a:latin typeface="Verdana"/>
                        <a:cs typeface="Verdana"/>
                      </a:endParaRPr>
                    </a:p>
                  </a:txBody>
                  <a:tcPr marL="0" marR="0" marB="0" marT="20320"/>
                </a:tc>
                <a:tc>
                  <a:txBody>
                    <a:bodyPr/>
                    <a:lstStyle/>
                    <a:p>
                      <a:pPr algn="r" marR="17970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800" spc="-20">
                          <a:latin typeface="Verdana"/>
                          <a:cs typeface="Verdana"/>
                        </a:rPr>
                        <a:t>7.8</a:t>
                      </a:r>
                      <a:r>
                        <a:rPr dirty="0" sz="800" spc="-4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00" spc="6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27940"/>
                </a:tc>
                <a:tc>
                  <a:txBody>
                    <a:bodyPr/>
                    <a:lstStyle/>
                    <a:p>
                      <a:pPr algn="r" marR="17526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800" spc="-20">
                          <a:latin typeface="Verdana"/>
                          <a:cs typeface="Verdana"/>
                        </a:rPr>
                        <a:t>7.9</a:t>
                      </a:r>
                      <a:r>
                        <a:rPr dirty="0" sz="800" spc="-4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00" spc="6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27940"/>
                </a:tc>
                <a:tc>
                  <a:txBody>
                    <a:bodyPr/>
                    <a:lstStyle/>
                    <a:p>
                      <a:pPr algn="r" marR="18224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800" spc="-20">
                          <a:latin typeface="Verdana"/>
                          <a:cs typeface="Verdana"/>
                        </a:rPr>
                        <a:t>9.6</a:t>
                      </a:r>
                      <a:r>
                        <a:rPr dirty="0" sz="800" spc="-4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00" spc="6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27940"/>
                </a:tc>
                <a:tc>
                  <a:txBody>
                    <a:bodyPr/>
                    <a:lstStyle/>
                    <a:p>
                      <a:pPr algn="r" marR="17970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800" spc="-20">
                          <a:latin typeface="Verdana"/>
                          <a:cs typeface="Verdana"/>
                        </a:rPr>
                        <a:t>7.8</a:t>
                      </a:r>
                      <a:r>
                        <a:rPr dirty="0" sz="800" spc="-4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00" spc="6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27940"/>
                </a:tc>
                <a:tc>
                  <a:txBody>
                    <a:bodyPr/>
                    <a:lstStyle/>
                    <a:p>
                      <a:pPr algn="r" marR="190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800" spc="-20">
                          <a:latin typeface="Verdana"/>
                          <a:cs typeface="Verdana"/>
                        </a:rPr>
                        <a:t>8.0</a:t>
                      </a:r>
                      <a:r>
                        <a:rPr dirty="0" sz="800" spc="-4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00" spc="6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27940"/>
                </a:tc>
              </a:tr>
              <a:tr h="174625">
                <a:tc>
                  <a:txBody>
                    <a:bodyPr/>
                    <a:lstStyle/>
                    <a:p>
                      <a:pPr marL="16446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800" spc="-35">
                          <a:latin typeface="Verdana"/>
                          <a:cs typeface="Verdana"/>
                        </a:rPr>
                        <a:t>Acquisition-related</a:t>
                      </a:r>
                      <a:r>
                        <a:rPr dirty="0" sz="800" spc="2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00" spc="-20">
                          <a:latin typeface="Verdana"/>
                          <a:cs typeface="Verdana"/>
                        </a:rPr>
                        <a:t>costs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2032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7970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800" spc="-330">
                          <a:latin typeface="Verdana"/>
                          <a:cs typeface="Verdana"/>
                        </a:rPr>
                        <a:t>—</a:t>
                      </a:r>
                      <a:r>
                        <a:rPr dirty="0" sz="800" spc="2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00" spc="5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2794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7526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800" spc="-20">
                          <a:latin typeface="Verdana"/>
                          <a:cs typeface="Verdana"/>
                        </a:rPr>
                        <a:t>2.5</a:t>
                      </a:r>
                      <a:r>
                        <a:rPr dirty="0" sz="800" spc="-4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00" spc="6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2794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8224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800" spc="-20">
                          <a:latin typeface="Verdana"/>
                          <a:cs typeface="Verdana"/>
                        </a:rPr>
                        <a:t>3.2</a:t>
                      </a:r>
                      <a:r>
                        <a:rPr dirty="0" sz="800" spc="-4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00" spc="6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2794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7970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800" spc="-20">
                          <a:latin typeface="Verdana"/>
                          <a:cs typeface="Verdana"/>
                        </a:rPr>
                        <a:t>0.9</a:t>
                      </a:r>
                      <a:r>
                        <a:rPr dirty="0" sz="800" spc="-4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00" spc="6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2794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90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800" spc="-20">
                          <a:latin typeface="Verdana"/>
                          <a:cs typeface="Verdana"/>
                        </a:rPr>
                        <a:t>1.0</a:t>
                      </a:r>
                      <a:r>
                        <a:rPr dirty="0" sz="800" spc="-4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00" spc="6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2794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dirty="0" sz="800" spc="-35" b="1">
                          <a:latin typeface="Tahoma"/>
                          <a:cs typeface="Tahoma"/>
                        </a:rPr>
                        <a:t>Non-</a:t>
                      </a:r>
                      <a:r>
                        <a:rPr dirty="0" sz="800" spc="-20" b="1">
                          <a:latin typeface="Tahoma"/>
                          <a:cs typeface="Tahoma"/>
                        </a:rPr>
                        <a:t>GAAP</a:t>
                      </a:r>
                      <a:r>
                        <a:rPr dirty="0" sz="800" spc="15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20" b="1">
                          <a:latin typeface="Tahoma"/>
                          <a:cs typeface="Tahoma"/>
                        </a:rPr>
                        <a:t>Operating</a:t>
                      </a:r>
                      <a:r>
                        <a:rPr dirty="0" sz="800" spc="20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20" b="1">
                          <a:latin typeface="Tahoma"/>
                          <a:cs typeface="Tahoma"/>
                        </a:rPr>
                        <a:t>Margin</a:t>
                      </a:r>
                      <a:r>
                        <a:rPr dirty="0" sz="800" spc="20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25" b="1">
                          <a:latin typeface="Tahoma"/>
                          <a:cs typeface="Tahoma"/>
                        </a:rPr>
                        <a:t>%</a:t>
                      </a:r>
                      <a:r>
                        <a:rPr dirty="0" baseline="33333" sz="750" spc="-37" b="1">
                          <a:latin typeface="Tahoma"/>
                          <a:cs typeface="Tahoma"/>
                        </a:rPr>
                        <a:t>2</a:t>
                      </a:r>
                      <a:endParaRPr baseline="33333" sz="750">
                        <a:latin typeface="Tahoma"/>
                        <a:cs typeface="Tahoma"/>
                      </a:endParaRPr>
                    </a:p>
                  </a:txBody>
                  <a:tcPr marL="0" marR="0" marB="0" marT="26670"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797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800" b="1">
                          <a:latin typeface="Tahoma"/>
                          <a:cs typeface="Tahoma"/>
                        </a:rPr>
                        <a:t>34.3</a:t>
                      </a:r>
                      <a:r>
                        <a:rPr dirty="0" sz="800" spc="-35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50" b="1">
                          <a:latin typeface="Tahoma"/>
                          <a:cs typeface="Tahoma"/>
                        </a:rPr>
                        <a:t>%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34290"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746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800" b="1">
                          <a:latin typeface="Tahoma"/>
                          <a:cs typeface="Tahoma"/>
                        </a:rPr>
                        <a:t>35.5</a:t>
                      </a:r>
                      <a:r>
                        <a:rPr dirty="0" sz="800" spc="-35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50" b="1">
                          <a:latin typeface="Tahoma"/>
                          <a:cs typeface="Tahoma"/>
                        </a:rPr>
                        <a:t>%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34290"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8224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800" b="1">
                          <a:latin typeface="Tahoma"/>
                          <a:cs typeface="Tahoma"/>
                        </a:rPr>
                        <a:t>34.2</a:t>
                      </a:r>
                      <a:r>
                        <a:rPr dirty="0" sz="800" spc="-35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50" b="1">
                          <a:latin typeface="Tahoma"/>
                          <a:cs typeface="Tahoma"/>
                        </a:rPr>
                        <a:t>%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34290"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797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800" b="1">
                          <a:latin typeface="Tahoma"/>
                          <a:cs typeface="Tahoma"/>
                        </a:rPr>
                        <a:t>34.8</a:t>
                      </a:r>
                      <a:r>
                        <a:rPr dirty="0" sz="800" spc="-35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50" b="1">
                          <a:latin typeface="Tahoma"/>
                          <a:cs typeface="Tahoma"/>
                        </a:rPr>
                        <a:t>%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34290"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2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800" b="1">
                          <a:latin typeface="Tahoma"/>
                          <a:cs typeface="Tahoma"/>
                        </a:rPr>
                        <a:t>34.1</a:t>
                      </a:r>
                      <a:r>
                        <a:rPr dirty="0" sz="800" spc="-35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50" b="1">
                          <a:latin typeface="Tahoma"/>
                          <a:cs typeface="Tahoma"/>
                        </a:rPr>
                        <a:t>%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34290"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DADADA"/>
                    </a:solidFill>
                  </a:tcPr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232156" y="6465823"/>
            <a:ext cx="1088453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00"/>
              </a:spcBef>
            </a:pPr>
            <a:r>
              <a:rPr dirty="0" baseline="30864" sz="675" spc="-75">
                <a:latin typeface="Verdana"/>
                <a:cs typeface="Verdana"/>
              </a:rPr>
              <a:t>1</a:t>
            </a:r>
            <a:r>
              <a:rPr dirty="0" sz="700" spc="-50">
                <a:latin typeface="Verdana"/>
                <a:cs typeface="Verdana"/>
              </a:rPr>
              <a:t>Stock-</a:t>
            </a:r>
            <a:r>
              <a:rPr dirty="0" sz="700" spc="-35">
                <a:latin typeface="Verdana"/>
                <a:cs typeface="Verdana"/>
              </a:rPr>
              <a:t>based</a:t>
            </a:r>
            <a:r>
              <a:rPr dirty="0" sz="700" spc="-20">
                <a:latin typeface="Verdana"/>
                <a:cs typeface="Verdana"/>
              </a:rPr>
              <a:t> </a:t>
            </a:r>
            <a:r>
              <a:rPr dirty="0" sz="700" spc="-25">
                <a:latin typeface="Verdana"/>
                <a:cs typeface="Verdana"/>
              </a:rPr>
              <a:t>compensation</a:t>
            </a:r>
            <a:r>
              <a:rPr dirty="0" sz="700" spc="-20">
                <a:latin typeface="Verdana"/>
                <a:cs typeface="Verdana"/>
              </a:rPr>
              <a:t> </a:t>
            </a:r>
            <a:r>
              <a:rPr dirty="0" sz="700" spc="-35">
                <a:latin typeface="Verdana"/>
                <a:cs typeface="Verdana"/>
              </a:rPr>
              <a:t>expense</a:t>
            </a:r>
            <a:r>
              <a:rPr dirty="0" sz="700" spc="-20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included</a:t>
            </a:r>
            <a:r>
              <a:rPr dirty="0" sz="700" spc="-20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in</a:t>
            </a:r>
            <a:r>
              <a:rPr dirty="0" sz="700" spc="-20">
                <a:latin typeface="Verdana"/>
                <a:cs typeface="Verdana"/>
              </a:rPr>
              <a:t> </a:t>
            </a:r>
            <a:r>
              <a:rPr dirty="0" sz="700" spc="-30">
                <a:latin typeface="Verdana"/>
                <a:cs typeface="Verdana"/>
              </a:rPr>
              <a:t>the</a:t>
            </a:r>
            <a:r>
              <a:rPr dirty="0" sz="700" spc="-20">
                <a:latin typeface="Verdana"/>
                <a:cs typeface="Verdana"/>
              </a:rPr>
              <a:t> GAAP </a:t>
            </a:r>
            <a:r>
              <a:rPr dirty="0" sz="700" spc="-25">
                <a:latin typeface="Verdana"/>
                <a:cs typeface="Verdana"/>
              </a:rPr>
              <a:t>to</a:t>
            </a:r>
            <a:r>
              <a:rPr dirty="0" sz="700" spc="-15">
                <a:latin typeface="Verdana"/>
                <a:cs typeface="Verdana"/>
              </a:rPr>
              <a:t> </a:t>
            </a:r>
            <a:r>
              <a:rPr dirty="0" sz="700" spc="-40">
                <a:latin typeface="Verdana"/>
                <a:cs typeface="Verdana"/>
              </a:rPr>
              <a:t>non-</a:t>
            </a:r>
            <a:r>
              <a:rPr dirty="0" sz="700" spc="-20">
                <a:latin typeface="Verdana"/>
                <a:cs typeface="Verdana"/>
              </a:rPr>
              <a:t>GAAP </a:t>
            </a:r>
            <a:r>
              <a:rPr dirty="0" sz="700" spc="-25">
                <a:latin typeface="Verdana"/>
                <a:cs typeface="Verdana"/>
              </a:rPr>
              <a:t>reconciliation</a:t>
            </a:r>
            <a:r>
              <a:rPr dirty="0" sz="700" spc="-20">
                <a:latin typeface="Verdana"/>
                <a:cs typeface="Verdana"/>
              </a:rPr>
              <a:t> </a:t>
            </a:r>
            <a:r>
              <a:rPr dirty="0" sz="700" spc="-35">
                <a:latin typeface="Verdana"/>
                <a:cs typeface="Verdana"/>
              </a:rPr>
              <a:t>tables</a:t>
            </a:r>
            <a:r>
              <a:rPr dirty="0" sz="700" spc="-20">
                <a:latin typeface="Verdana"/>
                <a:cs typeface="Verdana"/>
              </a:rPr>
              <a:t> </a:t>
            </a:r>
            <a:r>
              <a:rPr dirty="0" sz="700" spc="-35">
                <a:latin typeface="Verdana"/>
                <a:cs typeface="Verdana"/>
              </a:rPr>
              <a:t>above</a:t>
            </a:r>
            <a:r>
              <a:rPr dirty="0" sz="700" spc="-20">
                <a:latin typeface="Verdana"/>
                <a:cs typeface="Verdana"/>
              </a:rPr>
              <a:t> </a:t>
            </a:r>
            <a:r>
              <a:rPr dirty="0" sz="700" spc="-30">
                <a:latin typeface="Verdana"/>
                <a:cs typeface="Verdana"/>
              </a:rPr>
              <a:t>excludes</a:t>
            </a:r>
            <a:r>
              <a:rPr dirty="0" sz="700" spc="-20">
                <a:latin typeface="Verdana"/>
                <a:cs typeface="Verdana"/>
              </a:rPr>
              <a:t> </a:t>
            </a:r>
            <a:r>
              <a:rPr dirty="0" sz="700" spc="-30">
                <a:latin typeface="Verdana"/>
                <a:cs typeface="Verdana"/>
              </a:rPr>
              <a:t>those</a:t>
            </a:r>
            <a:r>
              <a:rPr dirty="0" sz="700" spc="-20">
                <a:latin typeface="Verdana"/>
                <a:cs typeface="Verdana"/>
              </a:rPr>
              <a:t> </a:t>
            </a:r>
            <a:r>
              <a:rPr dirty="0" sz="700" spc="-35">
                <a:latin typeface="Verdana"/>
                <a:cs typeface="Verdana"/>
              </a:rPr>
              <a:t>expenses</a:t>
            </a:r>
            <a:r>
              <a:rPr dirty="0" sz="700" spc="-15">
                <a:latin typeface="Verdana"/>
                <a:cs typeface="Verdana"/>
              </a:rPr>
              <a:t> </a:t>
            </a:r>
            <a:r>
              <a:rPr dirty="0" sz="700" spc="-35">
                <a:latin typeface="Verdana"/>
                <a:cs typeface="Verdana"/>
              </a:rPr>
              <a:t>related</a:t>
            </a:r>
            <a:r>
              <a:rPr dirty="0" sz="700" spc="-20">
                <a:latin typeface="Verdana"/>
                <a:cs typeface="Verdana"/>
              </a:rPr>
              <a:t> </a:t>
            </a:r>
            <a:r>
              <a:rPr dirty="0" sz="700" spc="-25">
                <a:latin typeface="Verdana"/>
                <a:cs typeface="Verdana"/>
              </a:rPr>
              <a:t>to</a:t>
            </a:r>
            <a:r>
              <a:rPr dirty="0" sz="700" spc="-20">
                <a:latin typeface="Verdana"/>
                <a:cs typeface="Verdana"/>
              </a:rPr>
              <a:t> </a:t>
            </a:r>
            <a:r>
              <a:rPr dirty="0" sz="700" spc="-30">
                <a:latin typeface="Verdana"/>
                <a:cs typeface="Verdana"/>
              </a:rPr>
              <a:t>the</a:t>
            </a:r>
            <a:r>
              <a:rPr dirty="0" sz="700" spc="-20">
                <a:latin typeface="Verdana"/>
                <a:cs typeface="Verdana"/>
              </a:rPr>
              <a:t> </a:t>
            </a:r>
            <a:r>
              <a:rPr dirty="0" sz="700" spc="-35">
                <a:latin typeface="Verdana"/>
                <a:cs typeface="Verdana"/>
              </a:rPr>
              <a:t>Company's</a:t>
            </a:r>
            <a:r>
              <a:rPr dirty="0" sz="700" spc="-20">
                <a:latin typeface="Verdana"/>
                <a:cs typeface="Verdana"/>
              </a:rPr>
              <a:t> </a:t>
            </a:r>
            <a:r>
              <a:rPr dirty="0" sz="700" spc="-40">
                <a:latin typeface="Verdana"/>
                <a:cs typeface="Verdana"/>
              </a:rPr>
              <a:t>restructuring</a:t>
            </a:r>
            <a:r>
              <a:rPr dirty="0" sz="700" spc="-20">
                <a:latin typeface="Verdana"/>
                <a:cs typeface="Verdana"/>
              </a:rPr>
              <a:t> </a:t>
            </a:r>
            <a:r>
              <a:rPr dirty="0" sz="700" spc="-40">
                <a:latin typeface="Verdana"/>
                <a:cs typeface="Verdana"/>
              </a:rPr>
              <a:t>initiatives,</a:t>
            </a:r>
            <a:r>
              <a:rPr dirty="0" sz="700" spc="-20">
                <a:latin typeface="Verdana"/>
                <a:cs typeface="Verdana"/>
              </a:rPr>
              <a:t> </a:t>
            </a:r>
            <a:r>
              <a:rPr dirty="0" sz="700" spc="-25">
                <a:latin typeface="Verdana"/>
                <a:cs typeface="Verdana"/>
              </a:rPr>
              <a:t>which</a:t>
            </a:r>
            <a:r>
              <a:rPr dirty="0" sz="700" spc="-20">
                <a:latin typeface="Verdana"/>
                <a:cs typeface="Verdana"/>
              </a:rPr>
              <a:t> </a:t>
            </a:r>
            <a:r>
              <a:rPr dirty="0" sz="700" spc="-50">
                <a:latin typeface="Verdana"/>
                <a:cs typeface="Verdana"/>
              </a:rPr>
              <a:t>are</a:t>
            </a:r>
            <a:r>
              <a:rPr dirty="0" sz="700" spc="-1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included</a:t>
            </a:r>
            <a:r>
              <a:rPr dirty="0" sz="700" spc="-20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in</a:t>
            </a:r>
            <a:r>
              <a:rPr dirty="0" sz="700" spc="-20">
                <a:latin typeface="Verdana"/>
                <a:cs typeface="Verdana"/>
              </a:rPr>
              <a:t> </a:t>
            </a:r>
            <a:r>
              <a:rPr dirty="0" sz="700" spc="-30">
                <a:latin typeface="Verdana"/>
                <a:cs typeface="Verdana"/>
              </a:rPr>
              <a:t>the</a:t>
            </a:r>
            <a:r>
              <a:rPr dirty="0" sz="700" spc="-20">
                <a:latin typeface="Verdana"/>
                <a:cs typeface="Verdana"/>
              </a:rPr>
              <a:t> </a:t>
            </a:r>
            <a:r>
              <a:rPr dirty="0" sz="700" spc="-40">
                <a:latin typeface="Verdana"/>
                <a:cs typeface="Verdana"/>
              </a:rPr>
              <a:t>restructuring</a:t>
            </a:r>
            <a:r>
              <a:rPr dirty="0" sz="700" spc="-20">
                <a:latin typeface="Verdana"/>
                <a:cs typeface="Verdana"/>
              </a:rPr>
              <a:t> </a:t>
            </a:r>
            <a:r>
              <a:rPr dirty="0" sz="700" spc="-30">
                <a:latin typeface="Verdana"/>
                <a:cs typeface="Verdana"/>
              </a:rPr>
              <a:t>and</a:t>
            </a:r>
            <a:r>
              <a:rPr dirty="0" sz="700" spc="-20">
                <a:latin typeface="Verdana"/>
                <a:cs typeface="Verdana"/>
              </a:rPr>
              <a:t> </a:t>
            </a:r>
            <a:r>
              <a:rPr dirty="0" sz="700" spc="-30">
                <a:latin typeface="Verdana"/>
                <a:cs typeface="Verdana"/>
              </a:rPr>
              <a:t>acquisition-</a:t>
            </a:r>
            <a:r>
              <a:rPr dirty="0" sz="700" spc="-35">
                <a:latin typeface="Verdana"/>
                <a:cs typeface="Verdana"/>
              </a:rPr>
              <a:t>related</a:t>
            </a:r>
            <a:r>
              <a:rPr dirty="0" sz="700" spc="-20">
                <a:latin typeface="Verdana"/>
                <a:cs typeface="Verdana"/>
              </a:rPr>
              <a:t> </a:t>
            </a:r>
            <a:r>
              <a:rPr dirty="0" sz="700" spc="-40">
                <a:latin typeface="Verdana"/>
                <a:cs typeface="Verdana"/>
              </a:rPr>
              <a:t>costs</a:t>
            </a:r>
            <a:r>
              <a:rPr dirty="0" sz="700" spc="-15">
                <a:latin typeface="Verdana"/>
                <a:cs typeface="Verdana"/>
              </a:rPr>
              <a:t> </a:t>
            </a:r>
            <a:r>
              <a:rPr dirty="0" sz="700" spc="-30">
                <a:latin typeface="Verdana"/>
                <a:cs typeface="Verdana"/>
              </a:rPr>
              <a:t>line.</a:t>
            </a:r>
            <a:r>
              <a:rPr dirty="0" sz="700" spc="-20">
                <a:latin typeface="Verdana"/>
                <a:cs typeface="Verdana"/>
              </a:rPr>
              <a:t> </a:t>
            </a:r>
            <a:r>
              <a:rPr dirty="0" sz="700" spc="-30">
                <a:latin typeface="Verdana"/>
                <a:cs typeface="Verdana"/>
              </a:rPr>
              <a:t>For</a:t>
            </a:r>
            <a:r>
              <a:rPr dirty="0" sz="700" spc="-20">
                <a:latin typeface="Verdana"/>
                <a:cs typeface="Verdana"/>
              </a:rPr>
              <a:t> </a:t>
            </a:r>
            <a:r>
              <a:rPr dirty="0" sz="700" spc="-30">
                <a:latin typeface="Verdana"/>
                <a:cs typeface="Verdana"/>
              </a:rPr>
              <a:t>the</a:t>
            </a:r>
            <a:r>
              <a:rPr dirty="0" sz="700" spc="-20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three </a:t>
            </a:r>
            <a:r>
              <a:rPr dirty="0" sz="700" spc="-30">
                <a:latin typeface="Verdana"/>
                <a:cs typeface="Verdana"/>
              </a:rPr>
              <a:t>months </a:t>
            </a:r>
            <a:r>
              <a:rPr dirty="0" sz="700" spc="-20">
                <a:latin typeface="Verdana"/>
                <a:cs typeface="Verdana"/>
              </a:rPr>
              <a:t>ended</a:t>
            </a:r>
            <a:r>
              <a:rPr dirty="0" sz="700" spc="-30">
                <a:latin typeface="Verdana"/>
                <a:cs typeface="Verdana"/>
              </a:rPr>
              <a:t> </a:t>
            </a:r>
            <a:r>
              <a:rPr dirty="0" sz="700" spc="-40">
                <a:latin typeface="Verdana"/>
                <a:cs typeface="Verdana"/>
              </a:rPr>
              <a:t>July</a:t>
            </a:r>
            <a:r>
              <a:rPr dirty="0" sz="700" spc="-30">
                <a:latin typeface="Verdana"/>
                <a:cs typeface="Verdana"/>
              </a:rPr>
              <a:t> </a:t>
            </a:r>
            <a:r>
              <a:rPr dirty="0" sz="700" spc="-45">
                <a:latin typeface="Verdana"/>
                <a:cs typeface="Verdana"/>
              </a:rPr>
              <a:t>31,</a:t>
            </a:r>
            <a:r>
              <a:rPr dirty="0" sz="700" spc="-30">
                <a:latin typeface="Verdana"/>
                <a:cs typeface="Verdana"/>
              </a:rPr>
              <a:t> </a:t>
            </a:r>
            <a:r>
              <a:rPr dirty="0" sz="700" spc="-35">
                <a:latin typeface="Verdana"/>
                <a:cs typeface="Verdana"/>
              </a:rPr>
              <a:t>2026</a:t>
            </a:r>
            <a:r>
              <a:rPr dirty="0" sz="700" spc="-30">
                <a:latin typeface="Verdana"/>
                <a:cs typeface="Verdana"/>
              </a:rPr>
              <a:t> and </a:t>
            </a:r>
            <a:r>
              <a:rPr dirty="0" sz="700" spc="-25">
                <a:latin typeface="Verdana"/>
                <a:cs typeface="Verdana"/>
              </a:rPr>
              <a:t>April</a:t>
            </a:r>
            <a:r>
              <a:rPr dirty="0" sz="700" spc="-30">
                <a:latin typeface="Verdana"/>
                <a:cs typeface="Verdana"/>
              </a:rPr>
              <a:t> </a:t>
            </a:r>
            <a:r>
              <a:rPr dirty="0" sz="700" spc="-45">
                <a:latin typeface="Verdana"/>
                <a:cs typeface="Verdana"/>
              </a:rPr>
              <a:t>30,</a:t>
            </a:r>
            <a:r>
              <a:rPr dirty="0" sz="700" spc="-25">
                <a:latin typeface="Verdana"/>
                <a:cs typeface="Verdana"/>
              </a:rPr>
              <a:t> </a:t>
            </a:r>
            <a:r>
              <a:rPr dirty="0" sz="700" spc="-40">
                <a:latin typeface="Verdana"/>
                <a:cs typeface="Verdana"/>
              </a:rPr>
              <a:t>2026,</a:t>
            </a:r>
            <a:r>
              <a:rPr dirty="0" sz="700" spc="-30">
                <a:latin typeface="Verdana"/>
                <a:cs typeface="Verdana"/>
              </a:rPr>
              <a:t> </a:t>
            </a:r>
            <a:r>
              <a:rPr dirty="0" sz="700" spc="-45">
                <a:latin typeface="Verdana"/>
                <a:cs typeface="Verdana"/>
              </a:rPr>
              <a:t>S2</a:t>
            </a:r>
            <a:r>
              <a:rPr dirty="0" sz="700" spc="-30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million</a:t>
            </a:r>
            <a:r>
              <a:rPr dirty="0" sz="700" spc="-30">
                <a:latin typeface="Verdana"/>
                <a:cs typeface="Verdana"/>
              </a:rPr>
              <a:t> and </a:t>
            </a:r>
            <a:r>
              <a:rPr dirty="0" sz="700" spc="-45">
                <a:latin typeface="Verdana"/>
                <a:cs typeface="Verdana"/>
              </a:rPr>
              <a:t>S10</a:t>
            </a:r>
            <a:r>
              <a:rPr dirty="0" sz="700" spc="-30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million</a:t>
            </a:r>
            <a:r>
              <a:rPr dirty="0" sz="700" spc="-30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of</a:t>
            </a:r>
            <a:r>
              <a:rPr dirty="0" sz="700" spc="-25">
                <a:latin typeface="Verdana"/>
                <a:cs typeface="Verdana"/>
              </a:rPr>
              <a:t> </a:t>
            </a:r>
            <a:r>
              <a:rPr dirty="0" sz="700" spc="-30">
                <a:latin typeface="Verdana"/>
                <a:cs typeface="Verdana"/>
              </a:rPr>
              <a:t>such </a:t>
            </a:r>
            <a:r>
              <a:rPr dirty="0" sz="700" spc="-35">
                <a:latin typeface="Verdana"/>
                <a:cs typeface="Verdana"/>
              </a:rPr>
              <a:t>expense</a:t>
            </a:r>
            <a:r>
              <a:rPr dirty="0" sz="700" spc="-30">
                <a:latin typeface="Verdana"/>
                <a:cs typeface="Verdana"/>
              </a:rPr>
              <a:t> </a:t>
            </a:r>
            <a:r>
              <a:rPr dirty="0" sz="700" spc="-40">
                <a:latin typeface="Verdana"/>
                <a:cs typeface="Verdana"/>
              </a:rPr>
              <a:t>is</a:t>
            </a:r>
            <a:r>
              <a:rPr dirty="0" sz="700" spc="-30">
                <a:latin typeface="Verdana"/>
                <a:cs typeface="Verdana"/>
              </a:rPr>
              <a:t> excluded, </a:t>
            </a:r>
            <a:r>
              <a:rPr dirty="0" sz="700" spc="-45">
                <a:latin typeface="Verdana"/>
                <a:cs typeface="Verdana"/>
              </a:rPr>
              <a:t>respectively.</a:t>
            </a:r>
            <a:r>
              <a:rPr dirty="0" sz="700" spc="-3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No</a:t>
            </a:r>
            <a:r>
              <a:rPr dirty="0" sz="700" spc="-30">
                <a:latin typeface="Verdana"/>
                <a:cs typeface="Verdana"/>
              </a:rPr>
              <a:t> other</a:t>
            </a:r>
            <a:r>
              <a:rPr dirty="0" sz="700" spc="-25">
                <a:latin typeface="Verdana"/>
                <a:cs typeface="Verdana"/>
              </a:rPr>
              <a:t> </a:t>
            </a:r>
            <a:r>
              <a:rPr dirty="0" sz="700" spc="-40">
                <a:latin typeface="Verdana"/>
                <a:cs typeface="Verdana"/>
              </a:rPr>
              <a:t>quarters</a:t>
            </a:r>
            <a:r>
              <a:rPr dirty="0" sz="700" spc="-30">
                <a:latin typeface="Verdana"/>
                <a:cs typeface="Verdana"/>
              </a:rPr>
              <a:t> presented </a:t>
            </a:r>
            <a:r>
              <a:rPr dirty="0" sz="700" spc="-10">
                <a:latin typeface="Verdana"/>
                <a:cs typeface="Verdana"/>
              </a:rPr>
              <a:t>in</a:t>
            </a:r>
            <a:r>
              <a:rPr dirty="0" sz="700" spc="-30">
                <a:latin typeface="Verdana"/>
                <a:cs typeface="Verdana"/>
              </a:rPr>
              <a:t> </a:t>
            </a:r>
            <a:r>
              <a:rPr dirty="0" sz="700" spc="-35">
                <a:latin typeface="Verdana"/>
                <a:cs typeface="Verdana"/>
              </a:rPr>
              <a:t>this</a:t>
            </a:r>
            <a:r>
              <a:rPr dirty="0" sz="700" spc="-30">
                <a:latin typeface="Verdana"/>
                <a:cs typeface="Verdana"/>
              </a:rPr>
              <a:t> </a:t>
            </a:r>
            <a:r>
              <a:rPr dirty="0" sz="700" spc="-25">
                <a:latin typeface="Verdana"/>
                <a:cs typeface="Verdana"/>
              </a:rPr>
              <a:t>slide</a:t>
            </a:r>
            <a:r>
              <a:rPr dirty="0" sz="700" spc="-30">
                <a:latin typeface="Verdana"/>
                <a:cs typeface="Verdana"/>
              </a:rPr>
              <a:t> incurred </a:t>
            </a:r>
            <a:r>
              <a:rPr dirty="0" sz="700" spc="-35">
                <a:latin typeface="Verdana"/>
                <a:cs typeface="Verdana"/>
              </a:rPr>
              <a:t>material</a:t>
            </a:r>
            <a:r>
              <a:rPr dirty="0" sz="700" spc="-30">
                <a:latin typeface="Verdana"/>
                <a:cs typeface="Verdana"/>
              </a:rPr>
              <a:t> </a:t>
            </a:r>
            <a:r>
              <a:rPr dirty="0" sz="700" spc="-45">
                <a:latin typeface="Verdana"/>
                <a:cs typeface="Verdana"/>
              </a:rPr>
              <a:t>stock-</a:t>
            </a:r>
            <a:r>
              <a:rPr dirty="0" sz="700" spc="-35">
                <a:latin typeface="Verdana"/>
                <a:cs typeface="Verdana"/>
              </a:rPr>
              <a:t>based</a:t>
            </a:r>
            <a:r>
              <a:rPr dirty="0" sz="700" spc="-25">
                <a:latin typeface="Verdana"/>
                <a:cs typeface="Verdana"/>
              </a:rPr>
              <a:t> compensation</a:t>
            </a:r>
            <a:r>
              <a:rPr dirty="0" sz="700" spc="-30">
                <a:latin typeface="Verdana"/>
                <a:cs typeface="Verdana"/>
              </a:rPr>
              <a:t> </a:t>
            </a:r>
            <a:r>
              <a:rPr dirty="0" sz="700" spc="-35">
                <a:latin typeface="Verdana"/>
                <a:cs typeface="Verdana"/>
              </a:rPr>
              <a:t>expense</a:t>
            </a:r>
            <a:r>
              <a:rPr dirty="0" sz="700" spc="-30">
                <a:latin typeface="Verdana"/>
                <a:cs typeface="Verdana"/>
              </a:rPr>
              <a:t> </a:t>
            </a:r>
            <a:r>
              <a:rPr dirty="0" sz="700" spc="-35">
                <a:latin typeface="Verdana"/>
                <a:cs typeface="Verdana"/>
              </a:rPr>
              <a:t>related</a:t>
            </a:r>
            <a:r>
              <a:rPr dirty="0" sz="700" spc="-30">
                <a:latin typeface="Verdana"/>
                <a:cs typeface="Verdana"/>
              </a:rPr>
              <a:t> </a:t>
            </a:r>
            <a:r>
              <a:rPr dirty="0" sz="700" spc="-25">
                <a:latin typeface="Verdana"/>
                <a:cs typeface="Verdana"/>
              </a:rPr>
              <a:t>to</a:t>
            </a:r>
            <a:r>
              <a:rPr dirty="0" sz="700" spc="-30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restructuring.</a:t>
            </a:r>
            <a:endParaRPr sz="700">
              <a:latin typeface="Verdana"/>
              <a:cs typeface="Verdana"/>
            </a:endParaRPr>
          </a:p>
          <a:p>
            <a:pPr marL="38100">
              <a:lnSpc>
                <a:spcPct val="100000"/>
              </a:lnSpc>
            </a:pPr>
            <a:r>
              <a:rPr dirty="0" baseline="30864" sz="675" spc="-44">
                <a:latin typeface="Verdana"/>
                <a:cs typeface="Verdana"/>
              </a:rPr>
              <a:t>2</a:t>
            </a:r>
            <a:r>
              <a:rPr dirty="0" sz="700" spc="-30">
                <a:latin typeface="Verdana"/>
                <a:cs typeface="Verdana"/>
              </a:rPr>
              <a:t>Non-</a:t>
            </a:r>
            <a:r>
              <a:rPr dirty="0" sz="700" spc="-20">
                <a:latin typeface="Verdana"/>
                <a:cs typeface="Verdana"/>
              </a:rPr>
              <a:t>GAAP</a:t>
            </a:r>
            <a:r>
              <a:rPr dirty="0" sz="700" spc="-35">
                <a:latin typeface="Verdana"/>
                <a:cs typeface="Verdana"/>
              </a:rPr>
              <a:t> expense</a:t>
            </a:r>
            <a:r>
              <a:rPr dirty="0" sz="700" spc="-30">
                <a:latin typeface="Verdana"/>
                <a:cs typeface="Verdana"/>
              </a:rPr>
              <a:t> </a:t>
            </a:r>
            <a:r>
              <a:rPr dirty="0" sz="700" spc="-35">
                <a:latin typeface="Verdana"/>
                <a:cs typeface="Verdana"/>
              </a:rPr>
              <a:t>categories</a:t>
            </a:r>
            <a:r>
              <a:rPr dirty="0" sz="700" spc="-30">
                <a:latin typeface="Verdana"/>
                <a:cs typeface="Verdana"/>
              </a:rPr>
              <a:t> </a:t>
            </a:r>
            <a:r>
              <a:rPr dirty="0" sz="700" spc="-60">
                <a:latin typeface="Verdana"/>
                <a:cs typeface="Verdana"/>
              </a:rPr>
              <a:t>as</a:t>
            </a:r>
            <a:r>
              <a:rPr dirty="0" sz="700" spc="-30">
                <a:latin typeface="Verdana"/>
                <a:cs typeface="Verdana"/>
              </a:rPr>
              <a:t> </a:t>
            </a:r>
            <a:r>
              <a:rPr dirty="0" sz="700" spc="-55">
                <a:latin typeface="Verdana"/>
                <a:cs typeface="Verdana"/>
              </a:rPr>
              <a:t>a</a:t>
            </a:r>
            <a:r>
              <a:rPr dirty="0" sz="700" spc="-35">
                <a:latin typeface="Verdana"/>
                <a:cs typeface="Verdana"/>
              </a:rPr>
              <a:t> </a:t>
            </a:r>
            <a:r>
              <a:rPr dirty="0" sz="700" spc="95">
                <a:latin typeface="Verdana"/>
                <a:cs typeface="Verdana"/>
              </a:rPr>
              <a:t>%</a:t>
            </a:r>
            <a:r>
              <a:rPr dirty="0" sz="700" spc="-30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of</a:t>
            </a:r>
            <a:r>
              <a:rPr dirty="0" sz="700" spc="-30">
                <a:latin typeface="Verdana"/>
                <a:cs typeface="Verdana"/>
              </a:rPr>
              <a:t> </a:t>
            </a:r>
            <a:r>
              <a:rPr dirty="0" sz="700" spc="-40">
                <a:latin typeface="Verdana"/>
                <a:cs typeface="Verdana"/>
              </a:rPr>
              <a:t>revenue</a:t>
            </a:r>
            <a:r>
              <a:rPr dirty="0" sz="700" spc="-30">
                <a:latin typeface="Verdana"/>
                <a:cs typeface="Verdana"/>
              </a:rPr>
              <a:t> and</a:t>
            </a:r>
            <a:r>
              <a:rPr dirty="0" sz="700" spc="-35">
                <a:latin typeface="Verdana"/>
                <a:cs typeface="Verdana"/>
              </a:rPr>
              <a:t> </a:t>
            </a:r>
            <a:r>
              <a:rPr dirty="0" sz="700" spc="-30">
                <a:latin typeface="Verdana"/>
                <a:cs typeface="Verdana"/>
              </a:rPr>
              <a:t>Non-</a:t>
            </a:r>
            <a:r>
              <a:rPr dirty="0" sz="700" spc="-20">
                <a:latin typeface="Verdana"/>
                <a:cs typeface="Verdana"/>
              </a:rPr>
              <a:t>GAAP</a:t>
            </a:r>
            <a:r>
              <a:rPr dirty="0" sz="700" spc="-30">
                <a:latin typeface="Verdana"/>
                <a:cs typeface="Verdana"/>
              </a:rPr>
              <a:t> Operating </a:t>
            </a:r>
            <a:r>
              <a:rPr dirty="0" sz="700" spc="-25">
                <a:latin typeface="Verdana"/>
                <a:cs typeface="Verdana"/>
              </a:rPr>
              <a:t>Margin</a:t>
            </a:r>
            <a:r>
              <a:rPr dirty="0" sz="700" spc="-30">
                <a:latin typeface="Verdana"/>
                <a:cs typeface="Verdana"/>
              </a:rPr>
              <a:t> </a:t>
            </a:r>
            <a:r>
              <a:rPr dirty="0" sz="700" spc="-50">
                <a:latin typeface="Verdana"/>
                <a:cs typeface="Verdana"/>
              </a:rPr>
              <a:t>are</a:t>
            </a:r>
            <a:r>
              <a:rPr dirty="0" sz="700" spc="-35">
                <a:latin typeface="Verdana"/>
                <a:cs typeface="Verdana"/>
              </a:rPr>
              <a:t> </a:t>
            </a:r>
            <a:r>
              <a:rPr dirty="0" sz="700" spc="-25">
                <a:latin typeface="Verdana"/>
                <a:cs typeface="Verdana"/>
              </a:rPr>
              <a:t>calculated</a:t>
            </a:r>
            <a:r>
              <a:rPr dirty="0" sz="700" spc="-30">
                <a:latin typeface="Verdana"/>
                <a:cs typeface="Verdana"/>
              </a:rPr>
              <a:t> </a:t>
            </a:r>
            <a:r>
              <a:rPr dirty="0" sz="700" spc="-35">
                <a:latin typeface="Verdana"/>
                <a:cs typeface="Verdana"/>
              </a:rPr>
              <a:t>using</a:t>
            </a:r>
            <a:r>
              <a:rPr dirty="0" sz="700" spc="-30">
                <a:latin typeface="Verdana"/>
                <a:cs typeface="Verdana"/>
              </a:rPr>
              <a:t> </a:t>
            </a:r>
            <a:r>
              <a:rPr dirty="0" sz="700" spc="-20">
                <a:latin typeface="Verdana"/>
                <a:cs typeface="Verdana"/>
              </a:rPr>
              <a:t>GAAP</a:t>
            </a:r>
            <a:r>
              <a:rPr dirty="0" sz="700" spc="-30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revenue.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453621" y="6583933"/>
            <a:ext cx="18034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>
                <a:latin typeface="Verdana"/>
                <a:cs typeface="Verdana"/>
              </a:rPr>
              <a:t>27</a:t>
            </a:r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anonymous</dc:creator>
  <dc:title>Q2 FY27 Quarterly Investor Deck</dc:title>
  <dcterms:created xsi:type="dcterms:W3CDTF">2026-09-23T19:09:12Z</dcterms:created>
  <dcterms:modified xsi:type="dcterms:W3CDTF">2026-09-23T19:09:12Z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v10.0.20070.1</vt:lpwstr>
  </property>
  <property fmtid="{D5CDD505-2E9C-101B-9397-08002B2CF9AE}" pid="3" name="Created">
    <vt:filetime>2026-08-26T00:00:00Z</vt:filetime>
  </property>
  <property fmtid="{D5CDD505-2E9C-101B-9397-08002B2CF9AE}" pid="4" name="Creator">
    <vt:lpwstr>Workiva</vt:lpwstr>
  </property>
  <property fmtid="{D5CDD505-2E9C-101B-9397-08002B2CF9AE}" pid="5" name="LastSaved">
    <vt:filetime>2026-09-23T00:00:00Z</vt:filetime>
  </property>
  <property fmtid="{D5CDD505-2E9C-101B-9397-08002B2CF9AE}" pid="6" name="Producer">
    <vt:lpwstr>Wdesk Fidelity Content Translations Version 015.002.037</vt:lpwstr>
  </property>
</Properties>
</file>